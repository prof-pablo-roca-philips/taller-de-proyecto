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Arrancar conectando con lo que ya hicieron: el flujograma con el '?'. Esta slide es el punto de partida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flujograma completo. Preguntar a la clase: '¿Qué pusieron ustedes en el ???' Dejar que compartan. Escribir las respuestas en el pizarrón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Construir la definición CON ellos primero. Preguntar: '¿Qué tenían en común las preguntas que usaron en el ejercicio?' Después mostrar esta slide como confirmación.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cada tipo, pedir a los alumnos que reformulen UNA de las preguntas del pizarrón usando ese inicio. No pasar de largo — que lo practiquen en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Anclar cada eje a las 9 soluciones que ya trabajaron. Elegir 3 contrastantes y trabajarlas en voz alta con la clase. No dar los 9 — solo 3 bien elegidos.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nodo central de la clase. Mostrar cómo cada pregunta dispara exactamente una componente. El criterio de validez es clave — si la respuesta sigue siendo vaga, la pregunta no sirvió.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transición a FASE 1. Presentar como el primer gran momento de trabajo de proyecto. Los 5 pasos que siguen son el proceso completo de análisis del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Pasos 1 y 2 de FASE 1. La barra inferior ancla estos dos pasos con la componente CONTEXTO y su pregunta disparadora. Los alumnos ya conocen esta herramienta — el ancla refuerza la conexión.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Pasos 3 y 4 de FASE 1. El paso 4 (variables) es el mas tecnico. La barra inferior conecta con la componente VARIABLE y su disparadora — refuerza que ya saben esta herramienta.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5 — el cierre de FASE 1. La formula conecta exactamente con las 4 componentes. Si algun hueco esta vacio o es subjetivo, hay que volver al paso anterior. Los ejemplos de bien/mal son para trabajar en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Trabajar este ejemplo en voz alta, paso a paso. Mostrar cómo el objetivo casi se escribe solo cuando el problema técnico está bien construido.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colectiva — 15 minutos. Vos guiás, ellos proponen. Escribir en el pizarrón real las respuestas que van surgiendo. No avanzar al siguiente paso hasta que el anterior esté cerrado.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Ronda 2 — 25 minutos. Circular por cada pareja. El mayor desafío suele ser el punto de quiebre — que no quede en términos subjetivos. Forzar un número o una condición lógica.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Puesta en común — 15 minutos. El docente cierra cada caso con UNA observación puntual, breve. No extenderse en cada pareja — el valor está en la variedad de casos.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individual — 45 minutos. El docente circula y trabaja caso por caso. Con 10-20 alumnos hay tiempo de pasar por todos. El paso 4 (justificación del eje) es el que más cuesta — priorizar ese acompañamiento.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— 20 minutos. 3-4 voluntarios comparten su pregunta propia. Después mostrar el flujo completo con el ??? ya reemplazado. La frase del cuadro central va al pizarrón para que la copien.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486400" cy="5486400"/>
          </a:xfrm>
          <a:prstGeom prst="ellipse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4114800" cy="41148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2A"/>
                </a:solidFill>
              </a:rPr>
              <a:t>TALLER DE PROYECTO · 1er AÑO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Preguntas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00D4FF"/>
                </a:solidFill>
              </a:rPr>
              <a:t>Disparadoras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EDF5"/>
                </a:solidFill>
              </a:rPr>
              <a:t>Del problema vago al proyecto técnico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645920" cy="64008"/>
          </a:xfrm>
          <a:prstGeom prst="roundRect">
            <a:avLst>
              <a:gd name="adj" fmla="val 42857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97B8"/>
                </a:solidFill>
              </a:rPr>
              <a:t>Industria 4.0 · Electromecánica · Electrónica · IA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3716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E2A"/>
                </a:solidFill>
              </a:rPr>
              <a:t>El flujo que ya conocen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325880"/>
            <a:ext cx="1508760" cy="1005840"/>
          </a:xfrm>
          <a:prstGeom prst="roundRect">
            <a:avLst>
              <a:gd name="adj" fmla="val 10909"/>
            </a:avLst>
          </a:prstGeom>
          <a:solidFill>
            <a:srgbClr val="E8EDF5"/>
          </a:solidFill>
          <a:ln w="19050">
            <a:solidFill>
              <a:srgbClr val="0097B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3258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PROBLEMA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VAGO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965960" y="1325880"/>
            <a:ext cx="1508760" cy="1005840"/>
          </a:xfrm>
          <a:prstGeom prst="roundRect">
            <a:avLst>
              <a:gd name="adj" fmla="val 10909"/>
            </a:avLst>
          </a:prstGeom>
          <a:solidFill>
            <a:srgbClr val="0A0E2A"/>
          </a:solidFill>
          <a:ln w="31750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965960" y="13258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800"/>
                </a:solidFill>
              </a:rPr>
              <a:t>???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0" y="1325880"/>
            <a:ext cx="1508760" cy="1005840"/>
          </a:xfrm>
          <a:prstGeom prst="roundRect">
            <a:avLst>
              <a:gd name="adj" fmla="val 10909"/>
            </a:avLst>
          </a:prstGeom>
          <a:solidFill>
            <a:srgbClr val="E8EDF5"/>
          </a:solidFill>
          <a:ln w="19050">
            <a:solidFill>
              <a:srgbClr val="0097B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3258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COMPONENTES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49240" y="1325880"/>
            <a:ext cx="1508760" cy="1005840"/>
          </a:xfrm>
          <a:prstGeom prst="roundRect">
            <a:avLst>
              <a:gd name="adj" fmla="val 10909"/>
            </a:avLst>
          </a:prstGeom>
          <a:solidFill>
            <a:srgbClr val="E8EDF5"/>
          </a:solidFill>
          <a:ln w="19050">
            <a:solidFill>
              <a:srgbClr val="0097B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49240" y="13258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PROBLEMA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TÉCNICO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40880" y="1325880"/>
            <a:ext cx="1508760" cy="1005840"/>
          </a:xfrm>
          <a:prstGeom prst="roundRect">
            <a:avLst>
              <a:gd name="adj" fmla="val 10909"/>
            </a:avLst>
          </a:prstGeom>
          <a:solidFill>
            <a:srgbClr val="E8EDF5"/>
          </a:solidFill>
          <a:ln w="19050">
            <a:solidFill>
              <a:srgbClr val="0097B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0" y="13258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OBJETIVO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83080" y="1828800"/>
            <a:ext cx="182880" cy="0"/>
          </a:xfrm>
          <a:prstGeom prst="line">
            <a:avLst/>
          </a:prstGeom>
          <a:noFill/>
          <a:ln w="3175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74720" y="1828800"/>
            <a:ext cx="182880" cy="0"/>
          </a:xfrm>
          <a:prstGeom prst="line">
            <a:avLst/>
          </a:prstGeom>
          <a:noFill/>
          <a:ln w="3175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66360" y="1828800"/>
            <a:ext cx="182880" cy="0"/>
          </a:xfrm>
          <a:prstGeom prst="line">
            <a:avLst/>
          </a:prstGeom>
          <a:noFill/>
          <a:ln w="3175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58000" y="1828800"/>
            <a:ext cx="182880" cy="0"/>
          </a:xfrm>
          <a:prstGeom prst="line">
            <a:avLst/>
          </a:prstGeom>
          <a:noFill/>
          <a:ln w="3175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40880" y="2743200"/>
            <a:ext cx="1508760" cy="822960"/>
          </a:xfrm>
          <a:prstGeom prst="roundRect">
            <a:avLst>
              <a:gd name="adj" fmla="val 13333"/>
            </a:avLst>
          </a:prstGeom>
          <a:solidFill>
            <a:srgbClr val="00C896">
              <a:alpha val="90000"/>
            </a:srgbClr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27432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SOLUCIÓN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95260" y="2331720"/>
            <a:ext cx="0" cy="411480"/>
          </a:xfrm>
          <a:prstGeom prst="line">
            <a:avLst/>
          </a:prstGeom>
          <a:noFill/>
          <a:ln w="31750">
            <a:solidFill>
              <a:srgbClr val="00C89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554480" y="274320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FFB800">
              <a:alpha val="90000"/>
            </a:srgbClr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2743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A"/>
                </a:solidFill>
              </a:rPr>
              <a:t>← Hoy cerramos este nodo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66060" y="2743200"/>
            <a:ext cx="0" cy="-411480"/>
          </a:xfrm>
          <a:prstGeom prst="line">
            <a:avLst/>
          </a:prstGeom>
          <a:noFill/>
          <a:ln w="22860">
            <a:solidFill>
              <a:srgbClr val="FFB8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¿Qué es una pregunta disparadora?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234440"/>
          </a:xfrm>
          <a:prstGeom prst="roundRect">
            <a:avLst>
              <a:gd name="adj" fmla="val 11111"/>
            </a:avLst>
          </a:prstGeom>
          <a:solidFill>
            <a:srgbClr val="1A2550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234440"/>
          </a:xfrm>
          <a:prstGeom prst="rect">
            <a:avLst/>
          </a:prstGeom>
          <a:noFill/>
          <a:ln/>
        </p:spPr>
        <p:txBody>
          <a:bodyPr wrap="square" lIns="3175" tIns="3175" rIns="3175" bIns="3175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EDF5"/>
                </a:solidFill>
              </a:rPr>
              <a:t>Una pregunta </a:t>
            </a:r>
            <a:pPr algn="ctr" indent="0" marL="0">
              <a:buNone/>
            </a:pPr>
            <a:r>
              <a:rPr lang="en-US" sz="1700" b="1" dirty="0">
                <a:solidFill>
                  <a:srgbClr val="00D4FF"/>
                </a:solidFill>
              </a:rPr>
              <a:t>abierta y precisa</a:t>
            </a:r>
            <a:pPr algn="ctr" indent="0" marL="0">
              <a:buNone/>
            </a:pPr>
            <a:r>
              <a:rPr lang="en-US" sz="1700" dirty="0">
                <a:solidFill>
                  <a:srgbClr val="E8EDF5"/>
                </a:solidFill>
              </a:rPr>
              <a:t> que despierta curiosidad y da inicio a un proyecto.</a:t>
            </a:r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EDF5"/>
                </a:solidFill>
              </a:rPr>
              <a:t>No se responde con sí/no. Obliga a 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B800"/>
                </a:solidFill>
              </a:rPr>
              <a:t>investigar, definir o crear</a:t>
            </a:r>
            <a:pPr algn="ctr" indent="0" marL="0">
              <a:buNone/>
            </a:pPr>
            <a:r>
              <a:rPr lang="en-US" sz="1400" dirty="0">
                <a:solidFill>
                  <a:srgbClr val="E8EDF5"/>
                </a:solidFill>
              </a:rPr>
              <a:t> algo.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1A2550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472" y="257860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ABIERTA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34015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No admite sí/ni no.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Abre un campo de indagación.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237744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1A2550"/>
          </a:solidFill>
          <a:ln w="1524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578608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800"/>
                </a:solidFill>
              </a:rPr>
              <a:t>PRECISA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74720" y="34015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Sin ambigüedad.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Se puede medir o verificar.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237744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1A2550"/>
          </a:solidFill>
          <a:ln w="1524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2578608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0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ORIENTADA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55080" y="34015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Apunta a un destino: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informe, solución o producto.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E2A"/>
                </a:solidFill>
              </a:rPr>
              <a:t>Los 6 tipos de preguntas disparadoras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4048" y="941832"/>
            <a:ext cx="2478024" cy="384048"/>
          </a:xfrm>
          <a:prstGeom prst="roundRect">
            <a:avLst>
              <a:gd name="adj" fmla="val 16667"/>
            </a:avLst>
          </a:prstGeom>
          <a:solidFill>
            <a:srgbClr val="00D4FF">
              <a:alpha val="85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41832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¿Cómo...?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" y="139903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5C"/>
                </a:solidFill>
              </a:rPr>
              <a:t>Busca crear un proceso o solución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700784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A6A8A"/>
                </a:solidFill>
              </a:rPr>
              <a:t>"¿Cómo diseñamos un sensor que detecte fallos?"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63240" y="82296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25400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941832"/>
            <a:ext cx="2478024" cy="384048"/>
          </a:xfrm>
          <a:prstGeom prst="roundRect">
            <a:avLst>
              <a:gd name="adj" fmla="val 16667"/>
            </a:avLst>
          </a:prstGeom>
          <a:solidFill>
            <a:srgbClr val="FFB800">
              <a:alpha val="85000"/>
            </a:srgbClr>
          </a:solidFill>
          <a:ln w="1270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941832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¿Por qué...?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139903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5C"/>
                </a:solidFill>
              </a:rPr>
              <a:t>Investiga causas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72968" y="1700784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A6A8A"/>
                </a:solidFill>
              </a:rPr>
              <a:t>"¿Por qué las fábricas usan robots en vez de personas?"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52160" y="82296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61888" y="941832"/>
            <a:ext cx="2478024" cy="384048"/>
          </a:xfrm>
          <a:prstGeom prst="roundRect">
            <a:avLst>
              <a:gd name="adj" fmla="val 16667"/>
            </a:avLst>
          </a:prstGeom>
          <a:solidFill>
            <a:srgbClr val="00C896">
              <a:alpha val="85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1888" y="941832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¿Para qué...?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61888" y="139903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5C"/>
                </a:solidFill>
              </a:rPr>
              <a:t>Explora el propósito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61888" y="1700784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A6A8A"/>
                </a:solidFill>
              </a:rPr>
              <a:t>"¿Para qué usamos IA en una fábrica?"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587752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25400">
            <a:solidFill>
              <a:srgbClr val="9B59B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2706624"/>
            <a:ext cx="2478024" cy="384048"/>
          </a:xfrm>
          <a:prstGeom prst="roundRect">
            <a:avLst>
              <a:gd name="adj" fmla="val 16667"/>
            </a:avLst>
          </a:prstGeom>
          <a:solidFill>
            <a:srgbClr val="9B59B6">
              <a:alpha val="85000"/>
            </a:srgbClr>
          </a:solidFill>
          <a:ln w="12700">
            <a:solidFill>
              <a:srgbClr val="9B59B6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706624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¿Qué harías...?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" y="3163824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5C"/>
                </a:solidFill>
              </a:rPr>
              <a:t>Imagina soluciones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3465576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A6A8A"/>
                </a:solidFill>
              </a:rPr>
              <a:t>"¿Qué harías para programar un robot que clasifique reciclaje?"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063240" y="2587752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25400">
            <a:solidFill>
              <a:srgbClr val="FF4D6A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72968" y="2706624"/>
            <a:ext cx="2478024" cy="384048"/>
          </a:xfrm>
          <a:prstGeom prst="roundRect">
            <a:avLst>
              <a:gd name="adj" fmla="val 16667"/>
            </a:avLst>
          </a:prstGeom>
          <a:solidFill>
            <a:srgbClr val="FF4D6A">
              <a:alpha val="85000"/>
            </a:srgbClr>
          </a:solidFill>
          <a:ln w="12700">
            <a:solidFill>
              <a:srgbClr val="FF4D6A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72968" y="2706624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¿De qué manera...?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72968" y="3163824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5C"/>
                </a:solidFill>
              </a:rPr>
              <a:t>Busca métodos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72968" y="3465576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A6A8A"/>
                </a:solidFill>
              </a:rPr>
              <a:t>"¿De qué manera usamos IA para ahorrar energía?"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52160" y="2587752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25400">
            <a:solidFill>
              <a:srgbClr val="0097B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61888" y="2706624"/>
            <a:ext cx="2478024" cy="384048"/>
          </a:xfrm>
          <a:prstGeom prst="roundRect">
            <a:avLst>
              <a:gd name="adj" fmla="val 16667"/>
            </a:avLst>
          </a:prstGeom>
          <a:solidFill>
            <a:srgbClr val="0097B8">
              <a:alpha val="85000"/>
            </a:srgbClr>
          </a:solidFill>
          <a:ln w="12700">
            <a:solidFill>
              <a:srgbClr val="0097B8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61888" y="2706624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¿Cuál es...?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61888" y="3163824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A5C"/>
                </a:solidFill>
              </a:rPr>
              <a:t>Compara opciones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61888" y="3465576"/>
            <a:ext cx="2478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A6A8A"/>
                </a:solidFill>
              </a:rPr>
              <a:t>"¿Cuál es la mejor forma de conectar sensores a una app?"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Los 3 ejes disparadores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DF5"/>
                </a:solidFill>
              </a:rPr>
              <a:t>La pregunta no solo abre el proyecto — define hacia dónde va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560320" cy="3291840"/>
          </a:xfrm>
          <a:prstGeom prst="roundRect">
            <a:avLst>
              <a:gd name="adj" fmla="val 5357"/>
            </a:avLst>
          </a:prstGeom>
          <a:solidFill>
            <a:srgbClr val="1A2550"/>
          </a:solidFill>
          <a:ln w="2286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261872"/>
            <a:ext cx="548640" cy="548640"/>
          </a:xfrm>
          <a:prstGeom prst="ellipse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01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192024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RESPUESTA A UNA PREGUNTA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Investigamos para entender algo.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3246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8EDF5"/>
                </a:solidFill>
              </a:rPr>
              <a:t>"¿Por qué los paneles solares son más eficientes con ciertos materiales?"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85800" y="4005072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→ INFORME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1097280"/>
            <a:ext cx="2560320" cy="3291840"/>
          </a:xfrm>
          <a:prstGeom prst="roundRect">
            <a:avLst>
              <a:gd name="adj" fmla="val 5357"/>
            </a:avLst>
          </a:prstGeom>
          <a:solidFill>
            <a:srgbClr val="1A2550"/>
          </a:solidFill>
          <a:ln w="2286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97680" y="1261872"/>
            <a:ext cx="548640" cy="548640"/>
          </a:xfrm>
          <a:prstGeom prst="ellipse">
            <a:avLst/>
          </a:prstGeom>
          <a:solidFill>
            <a:srgbClr val="FFB800">
              <a:alpha val="9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02</a:t>
            </a:r>
            <a:endParaRPr lang="en-US" sz="1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920240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8328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RESOLUCIÓN DE UN PROBLEMA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42900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Solucionamos un desafío concreto.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429000" y="3246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8EDF5"/>
                </a:solidFill>
              </a:rPr>
              <a:t>"¿Cómo reducimos errores en una máquina de producción?"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474720" y="4005072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FFB800">
              <a:alpha val="8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74720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→ DISEÑO / SENSOR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080760" y="1097280"/>
            <a:ext cx="2560320" cy="3291840"/>
          </a:xfrm>
          <a:prstGeom prst="roundRect">
            <a:avLst>
              <a:gd name="adj" fmla="val 5357"/>
            </a:avLst>
          </a:prstGeom>
          <a:solidFill>
            <a:srgbClr val="1A2550"/>
          </a:solidFill>
          <a:ln w="2286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086600" y="1261872"/>
            <a:ext cx="548640" cy="548640"/>
          </a:xfrm>
          <a:prstGeom prst="ellipse">
            <a:avLst/>
          </a:prstGeom>
          <a:solidFill>
            <a:srgbClr val="00C896">
              <a:alpha val="9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086600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03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1920240"/>
            <a:ext cx="402336" cy="4023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7220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CREACIÓN DE UN PRODUCTO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21792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Inventamos algo tangible.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217920" y="3246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8EDF5"/>
                </a:solidFill>
              </a:rPr>
              <a:t>"¿De qué manera creamos un brazo robótico para clasificar piezas?"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263640" y="4005072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00C896">
              <a:alpha val="8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63640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→ PROTOTIPO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E2A"/>
                </a:solidFill>
              </a:rPr>
              <a:t>La pregunta disparadora y las 4 componentes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A8A"/>
                </a:solidFill>
              </a:rPr>
              <a:t>Cada pregunta apunta a extraer UNA componente del problema vago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8463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160">
            <a:solidFill>
              <a:srgbClr val="5A6A8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E2A"/>
                </a:solidFill>
              </a:rPr>
              <a:t>¿En qué sistema o espacio ocurre esto, y quién está involucrado?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0" y="1453896"/>
            <a:ext cx="411480" cy="0"/>
          </a:xfrm>
          <a:prstGeom prst="line">
            <a:avLst/>
          </a:prstGeom>
          <a:noFill/>
          <a:ln w="2794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532120" y="1143000"/>
            <a:ext cx="1417320" cy="621792"/>
          </a:xfrm>
          <a:prstGeom prst="roundRect">
            <a:avLst>
              <a:gd name="adj" fmla="val 14706"/>
            </a:avLst>
          </a:prstGeom>
          <a:solidFill>
            <a:srgbClr val="00D4FF">
              <a:alpha val="92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32120" y="114300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CONTEXTO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0" y="118872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A"/>
                </a:solidFill>
              </a:rPr>
              <a:t>Debe poder delimitarse o dibujarse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47672"/>
            <a:ext cx="48463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160">
            <a:solidFill>
              <a:srgbClr val="5A6A8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947672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E2A"/>
                </a:solidFill>
              </a:rPr>
              <a:t>¿Qué es lo único que, si lo mido, me dice si el problema existe?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2350008"/>
            <a:ext cx="411480" cy="0"/>
          </a:xfrm>
          <a:prstGeom prst="line">
            <a:avLst/>
          </a:prstGeom>
          <a:noFill/>
          <a:ln w="27940">
            <a:solidFill>
              <a:srgbClr val="FFB8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32120" y="2039112"/>
            <a:ext cx="1417320" cy="621792"/>
          </a:xfrm>
          <a:prstGeom prst="roundRect">
            <a:avLst>
              <a:gd name="adj" fmla="val 14706"/>
            </a:avLst>
          </a:prstGeom>
          <a:solidFill>
            <a:srgbClr val="FFB800">
              <a:alpha val="92000"/>
            </a:srgbClr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203911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VARIABLE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0" y="20848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A"/>
                </a:solidFill>
              </a:rPr>
              <a:t>Tiene que ser observable o medible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843784"/>
            <a:ext cx="48463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160">
            <a:solidFill>
              <a:srgbClr val="5A6A8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843784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E2A"/>
                </a:solidFill>
              </a:rPr>
              <a:t>¿En qué valor o estado de esa variable digo que el problema empieza?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3246120"/>
            <a:ext cx="411480" cy="0"/>
          </a:xfrm>
          <a:prstGeom prst="line">
            <a:avLst/>
          </a:prstGeom>
          <a:noFill/>
          <a:ln w="27940">
            <a:solidFill>
              <a:srgbClr val="FF4D6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532120" y="2935224"/>
            <a:ext cx="1417320" cy="621792"/>
          </a:xfrm>
          <a:prstGeom prst="roundRect">
            <a:avLst>
              <a:gd name="adj" fmla="val 14706"/>
            </a:avLst>
          </a:prstGeom>
          <a:solidFill>
            <a:srgbClr val="FF4D6A">
              <a:alpha val="92000"/>
            </a:srgbClr>
          </a:solidFill>
          <a:ln w="19050">
            <a:solidFill>
              <a:srgbClr val="FF4D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293522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PUNTO DE QUIEBRE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0" y="298094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A"/>
                </a:solidFill>
              </a:rPr>
              <a:t>Debe escribirse como condición objetiva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739896"/>
            <a:ext cx="48463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160">
            <a:solidFill>
              <a:srgbClr val="5A6A8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739896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E2A"/>
                </a:solidFill>
              </a:rPr>
              <a:t>Dado ese contexto, variable y quiebre, ¿qué efecto no deseado ocurre?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4142232"/>
            <a:ext cx="411480" cy="0"/>
          </a:xfrm>
          <a:prstGeom prst="line">
            <a:avLst/>
          </a:prstGeom>
          <a:noFill/>
          <a:ln w="27940">
            <a:solidFill>
              <a:srgbClr val="00C89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532120" y="3831336"/>
            <a:ext cx="1417320" cy="621792"/>
          </a:xfrm>
          <a:prstGeom prst="roundRect">
            <a:avLst>
              <a:gd name="adj" fmla="val 14706"/>
            </a:avLst>
          </a:prstGeom>
          <a:solidFill>
            <a:srgbClr val="00C896">
              <a:alpha val="92000"/>
            </a:srgbClr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383133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PROBLEMA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387705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A"/>
                </a:solidFill>
              </a:rPr>
              <a:t>Una sola oración, sin adjetivos valorativos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-4572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0" b="1" dirty="0">
                <a:solidFill>
                  <a:srgbClr val="1A2550"/>
                </a:solidFill>
              </a:rPr>
              <a:t>01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2926080" cy="384048"/>
          </a:xfrm>
          <a:prstGeom prst="roundRect">
            <a:avLst>
              <a:gd name="adj" fmla="val 16667"/>
            </a:avLst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2A"/>
                </a:solidFill>
              </a:rPr>
              <a:t>FASE 1  ·  SEMANAS 1–3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Análisis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0D4FF"/>
                </a:solidFill>
              </a:rPr>
              <a:t>del Problema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DF5"/>
                </a:solidFill>
              </a:rPr>
              <a:t>Objetivo: comprender qué problema se quiere resolver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8EDF5"/>
                </a:solidFill>
              </a:rPr>
              <a:t>antes de proponer cualquier solución.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88136" y="4005072"/>
            <a:ext cx="402336" cy="402336"/>
          </a:xfrm>
          <a:prstGeom prst="ellipse">
            <a:avLst/>
          </a:prstGeom>
          <a:solidFill>
            <a:srgbClr val="00D4FF">
              <a:alpha val="9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A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46227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Problema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Original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29968" y="4206240"/>
            <a:ext cx="91440" cy="0"/>
          </a:xfrm>
          <a:prstGeom prst="line">
            <a:avLst/>
          </a:prstGeom>
          <a:noFill/>
          <a:ln w="15240">
            <a:solidFill>
              <a:srgbClr val="0097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4005072"/>
            <a:ext cx="402336" cy="402336"/>
          </a:xfrm>
          <a:prstGeom prst="ellipse">
            <a:avLst/>
          </a:prstGeom>
          <a:solidFill>
            <a:srgbClr val="FFB800">
              <a:alpha val="95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60904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A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21408" y="446227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Contexto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02736" y="4206240"/>
            <a:ext cx="91440" cy="0"/>
          </a:xfrm>
          <a:prstGeom prst="line">
            <a:avLst/>
          </a:prstGeom>
          <a:noFill/>
          <a:ln w="15240">
            <a:solidFill>
              <a:srgbClr val="0097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33672" y="4005072"/>
            <a:ext cx="402336" cy="402336"/>
          </a:xfrm>
          <a:prstGeom prst="ellipse">
            <a:avLst/>
          </a:prstGeom>
          <a:solidFill>
            <a:srgbClr val="FF4D6A">
              <a:alpha val="95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367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A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94176" y="446227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Impacto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75504" y="4206240"/>
            <a:ext cx="91440" cy="0"/>
          </a:xfrm>
          <a:prstGeom prst="line">
            <a:avLst/>
          </a:prstGeom>
          <a:noFill/>
          <a:ln w="15240">
            <a:solidFill>
              <a:srgbClr val="0097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4005072"/>
            <a:ext cx="402336" cy="402336"/>
          </a:xfrm>
          <a:prstGeom prst="ellipse">
            <a:avLst/>
          </a:prstGeom>
          <a:solidFill>
            <a:srgbClr val="9B59B6">
              <a:alpha val="95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A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66944" y="446227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Variables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48272" y="4206240"/>
            <a:ext cx="91440" cy="0"/>
          </a:xfrm>
          <a:prstGeom prst="line">
            <a:avLst/>
          </a:prstGeom>
          <a:noFill/>
          <a:ln w="15240">
            <a:solidFill>
              <a:srgbClr val="0097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79208" y="4005072"/>
            <a:ext cx="402336" cy="402336"/>
          </a:xfrm>
          <a:prstGeom prst="ellipse">
            <a:avLst/>
          </a:prstGeom>
          <a:solidFill>
            <a:srgbClr val="00C896">
              <a:alpha val="9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79208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A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39712" y="446227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Problema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DF5"/>
                </a:solidFill>
              </a:rPr>
              <a:t>Técnico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347472"/>
          </a:xfrm>
          <a:prstGeom prst="roundRect">
            <a:avLst>
              <a:gd name="adj" fmla="val 18421"/>
            </a:avLst>
          </a:prstGeom>
          <a:solidFill>
            <a:srgbClr val="0A0E2A"/>
          </a:solidFill>
          <a:ln w="12700">
            <a:solidFill>
              <a:srgbClr val="0A0E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FASE 1 · ANÁLISIS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2A"/>
                </a:solidFill>
              </a:rPr>
              <a:t>Del problema vago al problema situado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41605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804672"/>
            <a:ext cx="475488" cy="47548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04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80467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PROBLEMA ORIGINAL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3533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Describan el problema tal como lo identificaron.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" y="1673352"/>
            <a:ext cx="3749040" cy="246888"/>
          </a:xfrm>
          <a:prstGeom prst="roundRect">
            <a:avLst>
              <a:gd name="adj" fmla="val 18519"/>
            </a:avLst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7335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E2A"/>
                </a:solidFill>
              </a:rPr>
              <a:t>◆  ¿Dónde ocurre?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1956816"/>
            <a:ext cx="3749040" cy="246888"/>
          </a:xfrm>
          <a:prstGeom prst="roundRect">
            <a:avLst>
              <a:gd name="adj" fmla="val 18519"/>
            </a:avLst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5681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E2A"/>
                </a:solidFill>
              </a:rPr>
              <a:t>◆  ¿Quién se ve afectado?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2240280"/>
            <a:ext cx="3749040" cy="246888"/>
          </a:xfrm>
          <a:prstGeom prst="roundRect">
            <a:avLst>
              <a:gd name="adj" fmla="val 18519"/>
            </a:avLst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24028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E2A"/>
                </a:solidFill>
              </a:rPr>
              <a:t>◆  ¿En qué situación aparece?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16352"/>
            <a:ext cx="4160520" cy="960120"/>
          </a:xfrm>
          <a:prstGeom prst="roundRect">
            <a:avLst>
              <a:gd name="adj" fmla="val 11429"/>
            </a:avLst>
          </a:prstGeom>
          <a:solidFill>
            <a:srgbClr val="EBF8FF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8620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B8"/>
                </a:solidFill>
              </a:rPr>
              <a:t>💡  ¿Tu problema todavía es muy amplio?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0906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A5C"/>
                </a:solidFill>
              </a:rPr>
              <a:t>Preguntate: ¿Dónde pasa exactamente? · ¿Cuándo pasa? · ¿A quién afecta?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62272" y="1709928"/>
            <a:ext cx="292608" cy="0"/>
          </a:xfrm>
          <a:prstGeom prst="line">
            <a:avLst/>
          </a:prstGeom>
          <a:noFill/>
          <a:ln w="27940">
            <a:solidFill>
              <a:srgbClr val="FFB8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736592" y="658368"/>
            <a:ext cx="41148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9472" y="804672"/>
            <a:ext cx="475488" cy="475488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804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04688" y="80467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</a:rPr>
              <a:t>CONTEXTO DEL PROBLEMA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9472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2A"/>
                </a:solidFill>
              </a:rPr>
              <a:t>Describan el entorno donde ocurre el problema.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19472" y="1673352"/>
            <a:ext cx="1828800" cy="246888"/>
          </a:xfrm>
          <a:prstGeom prst="roundRect">
            <a:avLst>
              <a:gd name="adj" fmla="val 18519"/>
            </a:avLst>
          </a:prstGeom>
          <a:solidFill>
            <a:srgbClr val="FFB800">
              <a:alpha val="12000"/>
            </a:srgbClr>
          </a:solidFill>
          <a:ln w="1270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67335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E2A"/>
                </a:solidFill>
              </a:rPr>
              <a:t>Aula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39712" y="1673352"/>
            <a:ext cx="1828800" cy="246888"/>
          </a:xfrm>
          <a:prstGeom prst="roundRect">
            <a:avLst>
              <a:gd name="adj" fmla="val 18519"/>
            </a:avLst>
          </a:prstGeom>
          <a:solidFill>
            <a:srgbClr val="FFB800">
              <a:alpha val="12000"/>
            </a:srgbClr>
          </a:solidFill>
          <a:ln w="1270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167335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E2A"/>
                </a:solidFill>
              </a:rPr>
              <a:t>Casa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19472" y="1956816"/>
            <a:ext cx="1828800" cy="246888"/>
          </a:xfrm>
          <a:prstGeom prst="roundRect">
            <a:avLst>
              <a:gd name="adj" fmla="val 18519"/>
            </a:avLst>
          </a:prstGeom>
          <a:solidFill>
            <a:srgbClr val="FFB800">
              <a:alpha val="12000"/>
            </a:srgbClr>
          </a:solidFill>
          <a:ln w="1270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95681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E2A"/>
                </a:solidFill>
              </a:rPr>
              <a:t>Transporte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39712" y="1956816"/>
            <a:ext cx="1828800" cy="246888"/>
          </a:xfrm>
          <a:prstGeom prst="roundRect">
            <a:avLst>
              <a:gd name="adj" fmla="val 18519"/>
            </a:avLst>
          </a:prstGeom>
          <a:solidFill>
            <a:srgbClr val="FFB800">
              <a:alpha val="12000"/>
            </a:srgbClr>
          </a:solidFill>
          <a:ln w="1270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195681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E2A"/>
                </a:solidFill>
              </a:rPr>
              <a:t>Taller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19472" y="2240280"/>
            <a:ext cx="1828800" cy="246888"/>
          </a:xfrm>
          <a:prstGeom prst="roundRect">
            <a:avLst>
              <a:gd name="adj" fmla="val 18519"/>
            </a:avLst>
          </a:prstGeom>
          <a:solidFill>
            <a:srgbClr val="FFB800">
              <a:alpha val="12000"/>
            </a:srgbClr>
          </a:solidFill>
          <a:ln w="1270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24028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E2A"/>
                </a:solidFill>
              </a:rPr>
              <a:t>Patio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39712" y="2240280"/>
            <a:ext cx="1828800" cy="246888"/>
          </a:xfrm>
          <a:prstGeom prst="roundRect">
            <a:avLst>
              <a:gd name="adj" fmla="val 18519"/>
            </a:avLst>
          </a:prstGeom>
          <a:solidFill>
            <a:srgbClr val="FFB800">
              <a:alpha val="12000"/>
            </a:srgbClr>
          </a:solidFill>
          <a:ln w="12700">
            <a:solidFill>
              <a:srgbClr val="FFB800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224028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E2A"/>
                </a:solidFill>
              </a:rPr>
              <a:t>Industria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886200"/>
            <a:ext cx="8595360" cy="804672"/>
          </a:xfrm>
          <a:prstGeom prst="roundRect">
            <a:avLst>
              <a:gd name="adj" fmla="val 13636"/>
            </a:avLst>
          </a:prstGeom>
          <a:solidFill>
            <a:srgbClr val="0A0E2A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9593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COMPONENTE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CONTEXTO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91840" y="39593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B800"/>
                </a:solidFill>
              </a:rPr>
              <a:t>DISPARADORA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9184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¿En qué sistema ocurre? ¿Quién está involucrado?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26480" y="39593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96"/>
                </a:solidFill>
              </a:rPr>
              <a:t>VALIDEZ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2648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Debe poder delimitarse o dibujarse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347472"/>
          </a:xfrm>
          <a:prstGeom prst="roundRect">
            <a:avLst>
              <a:gd name="adj" fmla="val 18421"/>
            </a:avLst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FASE 1 · ANÁLISIS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Impacto y Variables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4160520" cy="2331720"/>
          </a:xfrm>
          <a:prstGeom prst="roundRect">
            <a:avLst>
              <a:gd name="adj" fmla="val 5882"/>
            </a:avLst>
          </a:prstGeom>
          <a:solidFill>
            <a:srgbClr val="1A2550"/>
          </a:solidFill>
          <a:ln w="2540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804672"/>
            <a:ext cx="475488" cy="475488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04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80467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6A"/>
                </a:solidFill>
              </a:rPr>
              <a:t>IMPACTO DEL PROBLEMA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3533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¿Qué consecuencias genera este problema?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" y="1673352"/>
            <a:ext cx="3749040" cy="237744"/>
          </a:xfrm>
          <a:prstGeom prst="roundRect">
            <a:avLst>
              <a:gd name="adj" fmla="val 19231"/>
            </a:avLst>
          </a:prstGeom>
          <a:solidFill>
            <a:srgbClr val="FF4D6A">
              <a:alpha val="15000"/>
            </a:srgbClr>
          </a:solidFill>
          <a:ln w="12700">
            <a:solidFill>
              <a:srgbClr val="FF4D6A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733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▸  ¿Qué pasa si no se resuelve?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1947672"/>
            <a:ext cx="3749040" cy="237744"/>
          </a:xfrm>
          <a:prstGeom prst="roundRect">
            <a:avLst>
              <a:gd name="adj" fmla="val 19231"/>
            </a:avLst>
          </a:prstGeom>
          <a:solidFill>
            <a:srgbClr val="FF4D6A">
              <a:alpha val="15000"/>
            </a:srgbClr>
          </a:solidFill>
          <a:ln w="12700">
            <a:solidFill>
              <a:srgbClr val="FF4D6A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476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▸  ¿Quién sufre las consecuencias?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2221992"/>
            <a:ext cx="3749040" cy="237744"/>
          </a:xfrm>
          <a:prstGeom prst="roundRect">
            <a:avLst>
              <a:gd name="adj" fmla="val 19231"/>
            </a:avLst>
          </a:prstGeom>
          <a:solidFill>
            <a:srgbClr val="FF4D6A">
              <a:alpha val="15000"/>
            </a:srgbClr>
          </a:solidFill>
          <a:ln w="12700">
            <a:solidFill>
              <a:srgbClr val="FF4D6A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2219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▸  ¿Con qué frecuencia ocurre?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2496312"/>
            <a:ext cx="3749040" cy="237744"/>
          </a:xfrm>
          <a:prstGeom prst="roundRect">
            <a:avLst>
              <a:gd name="adj" fmla="val 19231"/>
            </a:avLst>
          </a:prstGeom>
          <a:solidFill>
            <a:srgbClr val="FF4D6A">
              <a:alpha val="15000"/>
            </a:srgbClr>
          </a:solidFill>
          <a:ln w="12700">
            <a:solidFill>
              <a:srgbClr val="FF4D6A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4963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▸  ¿Qué tan grave es el efecto?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4160520" cy="658368"/>
          </a:xfrm>
          <a:prstGeom prst="roundRect">
            <a:avLst>
              <a:gd name="adj" fmla="val 13889"/>
            </a:avLst>
          </a:prstGeom>
          <a:solidFill>
            <a:srgbClr val="1A2550"/>
          </a:solidFill>
          <a:ln w="12700">
            <a:solidFill>
              <a:srgbClr val="FF4D6A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815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EDF5"/>
                </a:solidFill>
              </a:rPr>
              <a:t>⚠️  Si el problema no tiene consecuencias reales, el proyecto pierde su razón de ser.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62272" y="1828800"/>
            <a:ext cx="292608" cy="0"/>
          </a:xfrm>
          <a:prstGeom prst="line">
            <a:avLst/>
          </a:prstGeom>
          <a:noFill/>
          <a:ln w="27940">
            <a:solidFill>
              <a:srgbClr val="9B59B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36592" y="658368"/>
            <a:ext cx="4114800" cy="2331720"/>
          </a:xfrm>
          <a:prstGeom prst="roundRect">
            <a:avLst>
              <a:gd name="adj" fmla="val 5882"/>
            </a:avLst>
          </a:prstGeom>
          <a:solidFill>
            <a:srgbClr val="1A2550"/>
          </a:solidFill>
          <a:ln w="254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19472" y="804672"/>
            <a:ext cx="475488" cy="47548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804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04688" y="80467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</a:rPr>
              <a:t>VARIABLES DEL PROBLEMA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9472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Todo sistema automático detecta una variable.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19472" y="1673352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6733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Temperatura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39712" y="1673352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6733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Luz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19472" y="1938528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9385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Sonido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39712" y="1938528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19385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Movimiento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19472" y="2203704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2037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Distancia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39712" y="2203704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22037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Humedad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19472" y="246888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24688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Tiempo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39712" y="246888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9B59B6">
              <a:alpha val="18000"/>
            </a:srgbClr>
          </a:solidFill>
          <a:ln w="12700">
            <a:solidFill>
              <a:srgbClr val="9B59B6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24688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Corriente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36592" y="306324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9B59B6">
              <a:alpha val="88000"/>
            </a:srgbClr>
          </a:solidFill>
          <a:ln w="15240">
            <a:solidFill>
              <a:srgbClr val="9B59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0815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sensor = medir variable  |  Este paso prepara la elección de sensores.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858768"/>
            <a:ext cx="8595360" cy="822960"/>
          </a:xfrm>
          <a:prstGeom prst="roundRect">
            <a:avLst>
              <a:gd name="adj" fmla="val 13333"/>
            </a:avLst>
          </a:prstGeom>
          <a:solidFill>
            <a:srgbClr val="111840"/>
          </a:solidFill>
          <a:ln w="15240">
            <a:solidFill>
              <a:srgbClr val="9B59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931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B800"/>
                </a:solidFill>
              </a:rPr>
              <a:t>COMPONENTE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413308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VARIABLE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291840" y="3931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59B6"/>
                </a:solidFill>
              </a:rPr>
              <a:t>DISPARADORA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91840" y="413308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¿Qué es lo único que, si lo mido, me dice si el problema existe?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26480" y="3931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96"/>
                </a:solidFill>
              </a:rPr>
              <a:t>VALIDEZ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26480" y="413308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Tiene que ser observable o medible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194560" cy="347472"/>
          </a:xfrm>
          <a:prstGeom prst="roundRect">
            <a:avLst>
              <a:gd name="adj" fmla="val 18421"/>
            </a:avLst>
          </a:prstGeom>
          <a:solidFill>
            <a:srgbClr val="0A0E2A"/>
          </a:solidFill>
          <a:ln w="12700">
            <a:solidFill>
              <a:srgbClr val="0A0E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</a:rPr>
              <a:t>FASE 1 · PASO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2A"/>
                </a:solidFill>
              </a:rPr>
              <a:t>El Problema Técnico Definitivo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A8A"/>
                </a:solidFill>
              </a:rPr>
              <a:t>Reescribir el problema en lenguaje técnico — sin ambigüedad, sin adjetivos subjetivos.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960120"/>
          </a:xfrm>
          <a:prstGeom prst="roundRect">
            <a:avLst>
              <a:gd name="adj" fmla="val 14286"/>
            </a:avLst>
          </a:prstGeom>
          <a:solidFill>
            <a:srgbClr val="0A0E2A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</a:rPr>
              <a:t>ESTRUCTURA: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2070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</a:rPr>
              <a:t>En </a:t>
            </a:r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[CONTEXTO]</a:t>
            </a:r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</a:rPr>
              <a:t>  ocurre  </a:t>
            </a:r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</a:rPr>
              <a:t>[PROBLEMA]</a:t>
            </a:r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</a:rPr>
              <a:t>  cuando  </a:t>
            </a:r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</a:rPr>
              <a:t>[VARIABLE]</a:t>
            </a:r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</a:rPr>
              <a:t>  supera  </a:t>
            </a:r>
            <a:pPr indent="0" marL="0">
              <a:buNone/>
            </a:pPr>
            <a:r>
              <a:rPr lang="en-US" sz="1300" b="1" dirty="0">
                <a:solidFill>
                  <a:srgbClr val="FF4D6A"/>
                </a:solidFill>
              </a:rPr>
              <a:t>[PTO.QUIEBRE]</a:t>
            </a:r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</a:rPr>
              <a:t>,  lo que genera  </a:t>
            </a:r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[EFECTO NO DESEADO]</a:t>
            </a:r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</a:rPr>
              <a:t>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00D4FF">
              <a:alpha val="92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167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CONTEXTO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0E2A"/>
                </a:solidFill>
              </a:rPr>
              <a:t>¿En qué sistema?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25880" y="1892808"/>
            <a:ext cx="0" cy="1371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87168" y="2029968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9B59B6">
              <a:alpha val="92000"/>
            </a:srgbClr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78608" y="2167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VARIABLE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78608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0E2A"/>
                </a:solidFill>
              </a:rPr>
              <a:t>¿Qué se mide?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93008" y="1892808"/>
            <a:ext cx="0" cy="137160"/>
          </a:xfrm>
          <a:prstGeom prst="line">
            <a:avLst/>
          </a:prstGeom>
          <a:noFill/>
          <a:ln w="19050">
            <a:solidFill>
              <a:srgbClr val="9B59B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45152" y="2029968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FF4D6A">
              <a:alpha val="92000"/>
            </a:srgbClr>
          </a:solidFill>
          <a:ln w="19050">
            <a:solidFill>
              <a:srgbClr val="FF4D6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36592" y="2167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PUNTO DE QUIEBRE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36592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0E2A"/>
                </a:solidFill>
              </a:rPr>
              <a:t>¿Cuándo es problema?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50992" y="1892808"/>
            <a:ext cx="0" cy="137160"/>
          </a:xfrm>
          <a:prstGeom prst="line">
            <a:avLst/>
          </a:prstGeom>
          <a:noFill/>
          <a:ln w="19050">
            <a:solidFill>
              <a:srgbClr val="FF4D6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03136" y="2029968"/>
            <a:ext cx="2011680" cy="1051560"/>
          </a:xfrm>
          <a:prstGeom prst="roundRect">
            <a:avLst>
              <a:gd name="adj" fmla="val 10435"/>
            </a:avLst>
          </a:prstGeom>
          <a:solidFill>
            <a:srgbClr val="00C896">
              <a:alpha val="92000"/>
            </a:srgbClr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94576" y="2167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EFECTO/PROBLEMA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94576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0E2A"/>
                </a:solidFill>
              </a:rPr>
              <a:t>¿Qué consecuencia ocurre?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08976" y="1892808"/>
            <a:ext cx="0" cy="13716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20040" y="3200400"/>
            <a:ext cx="8503920" cy="210312"/>
          </a:xfrm>
          <a:prstGeom prst="roundRect">
            <a:avLst>
              <a:gd name="adj" fmla="val 21739"/>
            </a:avLst>
          </a:prstGeom>
          <a:solidFill>
            <a:srgbClr val="00C896">
              <a:alpha val="10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00400"/>
            <a:ext cx="8321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6640"/>
                </a:solidFill>
              </a:rPr>
              <a:t>✔  Una sola oración — no usar 'y' para unir dos problemas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465576"/>
            <a:ext cx="8503920" cy="210312"/>
          </a:xfrm>
          <a:prstGeom prst="roundRect">
            <a:avLst>
              <a:gd name="adj" fmla="val 21739"/>
            </a:avLst>
          </a:prstGeom>
          <a:solidFill>
            <a:srgbClr val="00C896">
              <a:alpha val="10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65576"/>
            <a:ext cx="8321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6640"/>
                </a:solidFill>
              </a:rPr>
              <a:t>✔  Sin adjetivos subjetivos: no 'mucho', 'grave', 'excesivo'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730752"/>
            <a:ext cx="8503920" cy="210312"/>
          </a:xfrm>
          <a:prstGeom prst="roundRect">
            <a:avLst>
              <a:gd name="adj" fmla="val 21739"/>
            </a:avLst>
          </a:prstGeom>
          <a:solidFill>
            <a:srgbClr val="00C896">
              <a:alpha val="10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30752"/>
            <a:ext cx="8321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6640"/>
                </a:solidFill>
              </a:rPr>
              <a:t>✔  Cada término entre corchetes ya debe estar definido en los pasos anteriores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995928"/>
            <a:ext cx="8503920" cy="210312"/>
          </a:xfrm>
          <a:prstGeom prst="roundRect">
            <a:avLst>
              <a:gd name="adj" fmla="val 21739"/>
            </a:avLst>
          </a:prstGeom>
          <a:solidFill>
            <a:srgbClr val="FF4D6A">
              <a:alpha val="10000"/>
            </a:srgbClr>
          </a:solidFill>
          <a:ln w="12700">
            <a:solidFill>
              <a:srgbClr val="FF4D6A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995928"/>
            <a:ext cx="8321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0000"/>
                </a:solidFill>
              </a:rPr>
              <a:t>✘  NO: 'Hay mucho calor en la oficina que molesta a la gente'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261104"/>
            <a:ext cx="8503920" cy="210312"/>
          </a:xfrm>
          <a:prstGeom prst="roundRect">
            <a:avLst>
              <a:gd name="adj" fmla="val 21739"/>
            </a:avLst>
          </a:prstGeom>
          <a:solidFill>
            <a:srgbClr val="00C896">
              <a:alpha val="10000"/>
            </a:srgbClr>
          </a:solidFill>
          <a:ln w="1270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261104"/>
            <a:ext cx="8321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6640"/>
                </a:solidFill>
              </a:rPr>
              <a:t>✔  SÍ: 'La temperatura del ambiente supera los 26 °C por más de 30 min en horario laboral'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Ejemplo completo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1A2550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858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</a:rPr>
              <a:t>PROBLEMA VAGO:  </a:t>
            </a:r>
            <a:pPr indent="0" marL="0">
              <a:buNone/>
            </a:pPr>
            <a:r>
              <a:rPr lang="en-US" sz="1300" i="1" dirty="0">
                <a:solidFill>
                  <a:srgbClr val="E8EDF5"/>
                </a:solidFill>
              </a:rPr>
              <a:t>"En la oficina hace mucho calor."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57200" cy="457200"/>
          </a:xfrm>
          <a:prstGeom prst="ellipse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FF"/>
                </a:solidFill>
              </a:rPr>
              <a:t>CONTEXTO: "¿En qué sistema y cuándo?"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161848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→  La oficina, en horario laboral, con el personal administrativo presente.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267712"/>
            <a:ext cx="457200" cy="457200"/>
          </a:xfrm>
          <a:prstGeom prst="ellipse">
            <a:avLst/>
          </a:prstGeom>
          <a:solidFill>
            <a:srgbClr val="FFB800">
              <a:alpha val="9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1305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B800"/>
                </a:solidFill>
              </a:rPr>
              <a:t>VARIABLE: "¿Qué mido para saber si el problema existe?"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→  Temperatura ambiente del espacio de trabajo.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072384"/>
            <a:ext cx="457200" cy="457200"/>
          </a:xfrm>
          <a:prstGeom prst="ellipse">
            <a:avLst/>
          </a:prstGeom>
          <a:solidFill>
            <a:srgbClr val="FF4D6A">
              <a:alpha val="90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9352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4D6A"/>
                </a:solidFill>
              </a:rPr>
              <a:t>PTO. DE QUIEBRE: "¿A partir de qué valor es un problema?"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322783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→  Temperatura &gt; 26 °C sostenida por más de 30 minutos.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877056"/>
            <a:ext cx="457200" cy="457200"/>
          </a:xfrm>
          <a:prstGeom prst="ellipse">
            <a:avLst/>
          </a:prstGeom>
          <a:solidFill>
            <a:srgbClr val="00C896">
              <a:alpha val="9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7398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96"/>
                </a:solidFill>
              </a:rPr>
              <a:t>PROBLEMA TÉCNICO: "¿Qué efecto no deseado ocurre cuando se cruza ese umbral?"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403250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→  La temperatura del ambiente supera los 26 °C durante más de 30 min en horario laboral.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34340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00C896">
              <a:alpha val="88000"/>
            </a:srgbClr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</a:rPr>
              <a:t>OBJETIVO:  </a:t>
            </a:r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Detectar cuando la temperatura supere los 26 °C por más de 30 min y activar un mecanismo de enfriamiento.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RONDA 1 · COLECTIVA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2A"/>
                </a:solidFill>
              </a:rPr>
              <a:t>Ejercitación guiada — todos juntos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0A0E2A"/>
          </a:solidFill>
          <a:ln w="25400">
            <a:solidFill>
              <a:srgbClr val="FFB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800"/>
                </a:solidFill>
              </a:rPr>
              <a:t>PROBLEMA VAGO:  </a:t>
            </a:r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"En el taller de la escuela, a veces pasan accidentes."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636776"/>
            <a:ext cx="457200" cy="457200"/>
          </a:xfrm>
          <a:prstGeom prst="ellipse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50876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E2A"/>
                </a:solidFill>
              </a:rPr>
              <a:t>Aplicar la disparadora de CONTEXTO: ¿en qué parte del taller, con quién, en qué momento?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240">
            <a:solidFill>
              <a:srgbClr val="FFB8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441448"/>
            <a:ext cx="457200" cy="457200"/>
          </a:xfrm>
          <a:prstGeom prst="ellipse">
            <a:avLst/>
          </a:prstGeom>
          <a:solidFill>
            <a:srgbClr val="FFB800">
              <a:alpha val="9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31343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E2A"/>
                </a:solidFill>
              </a:rPr>
              <a:t>Aplicar la disparadora de VARIABLE: ¿qué es lo único que, si lo mido, me dice que hay peligro?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18104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240">
            <a:solidFill>
              <a:srgbClr val="FF4D6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246120"/>
            <a:ext cx="457200" cy="457200"/>
          </a:xfrm>
          <a:prstGeom prst="ellipse">
            <a:avLst/>
          </a:prstGeom>
          <a:solidFill>
            <a:srgbClr val="FF4D6A">
              <a:alpha val="90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18104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E2A"/>
                </a:solidFill>
              </a:rPr>
              <a:t>Aplicar la disparadora de PUNTO DE QUIEBRE: ¿a partir de qué valor o condición hay problema?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22776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240">
            <a:solidFill>
              <a:srgbClr val="00C89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4050792"/>
            <a:ext cx="457200" cy="457200"/>
          </a:xfrm>
          <a:prstGeom prst="ellipse">
            <a:avLst/>
          </a:prstGeom>
          <a:solidFill>
            <a:srgbClr val="00C896">
              <a:alpha val="9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92277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E2A"/>
                </a:solidFill>
              </a:rPr>
              <a:t>Enunciar el PROBLEMA TÉCNICO con una sola oración, sin adjetivos valorativos.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RONDA 2 · EN PAREJAS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Ingeniería directa — desde el problema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A2550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3152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</a:rPr>
              <a:t>Cada pareja recibe una tarjeta con un problema vago de distinto dominio. Tienen 25 minutos.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1A2550"/>
          </a:solidFill>
          <a:ln w="2286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600200"/>
            <a:ext cx="475488" cy="475488"/>
          </a:xfrm>
          <a:prstGeom prst="ellipse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600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Aplicar las 4 disparadoras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8483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Contexto · Variable · Punto de quiebre · Problema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46304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1A2550"/>
          </a:solidFill>
          <a:ln w="2286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600200"/>
            <a:ext cx="475488" cy="475488"/>
          </a:xfrm>
          <a:prstGeom prst="ellipse">
            <a:avLst/>
          </a:prstGeom>
          <a:solidFill>
            <a:srgbClr val="FFB800">
              <a:alpha val="9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0" y="1600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</a:rPr>
              <a:t>Enunciar el problema técnico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08483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Una sola oración. Sin 'y'. Sin adjetivos subjetivos.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99232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1A2550"/>
          </a:solidFill>
          <a:ln w="2286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136392"/>
            <a:ext cx="475488" cy="475488"/>
          </a:xfrm>
          <a:prstGeom prst="ellipse">
            <a:avLst/>
          </a:prstGeom>
          <a:solidFill>
            <a:srgbClr val="00C896">
              <a:alpha val="9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31363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</a:rPr>
              <a:t>Definir el eje del proyecto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62102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¿Es respuesta a una pregunta, resolución de problema o creación de producto?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2999232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1A2550"/>
          </a:solidFill>
          <a:ln w="2286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136392"/>
            <a:ext cx="475488" cy="475488"/>
          </a:xfrm>
          <a:prstGeom prst="ellipse">
            <a:avLst/>
          </a:prstGeom>
          <a:solidFill>
            <a:srgbClr val="FF4D6A">
              <a:alpha val="90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A"/>
                </a:solidFill>
              </a:rPr>
              <a:t>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03520" y="31363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A"/>
                </a:solidFill>
              </a:rPr>
              <a:t>Redactar la pregunta disparadora final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362102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Abierta, precisa, con el inicio correcto (¿Cómo...? / ¿Qué harías...? / etc.)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</a:rPr>
              <a:t>RONDA 3 · PUESTA EN COMÚN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2A"/>
                </a:solidFill>
              </a:rPr>
              <a:t>Compartir, votar, reflexionar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051560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A"/>
                </a:solidFill>
              </a:rPr>
              <a:t>Cada pareja presenta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1488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8A"/>
                </a:solidFill>
              </a:rPr>
              <a:t>1–2 minutos: problema vago → pregunta disparadora final + eje elegido.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82296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051560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A"/>
                </a:solidFill>
              </a:rPr>
              <a:t>La clase vota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74720" y="21488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8A"/>
                </a:solidFill>
              </a:rPr>
              <a:t>¿El eje elegido es el correcto? ¿La pregunta es abierta y precisa?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82296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00C89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3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051560"/>
            <a:ext cx="512064" cy="5120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936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A"/>
                </a:solidFill>
              </a:rPr>
              <a:t>Reflexión colectiva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55080" y="21488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8A"/>
                </a:solidFill>
              </a:rPr>
              <a:t>¿Cuál proyecto les gustó más y por qué? ¿Qué mejorarían de la pregunta?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200400" y="3291840"/>
            <a:ext cx="2743200" cy="411480"/>
          </a:xfrm>
          <a:prstGeom prst="roundRect">
            <a:avLst>
              <a:gd name="adj" fmla="val 22222"/>
            </a:avLst>
          </a:prstGeom>
          <a:solidFill>
            <a:srgbClr val="0A0E2A"/>
          </a:solidFill>
          <a:ln w="12700">
            <a:solidFill>
              <a:srgbClr val="0097B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0" y="3291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⏱  15 minutos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BLOQUE 4 · PROYECTO PROPIO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Tu pregunta disparadora de proyecto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33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EDF5"/>
                </a:solidFill>
              </a:rPr>
              <a:t>Trabajo individual — 45 minutos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2550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81328"/>
            <a:ext cx="438912" cy="438912"/>
          </a:xfrm>
          <a:prstGeom prst="ellipse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8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Escribí un problema vago que hayas observado en tu entorno (barrio, casa, escuela, industria).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93976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2550"/>
          </a:solidFill>
          <a:ln w="1524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203704"/>
            <a:ext cx="438912" cy="438912"/>
          </a:xfrm>
          <a:prstGeom prst="ellipse">
            <a:avLst/>
          </a:prstGeom>
          <a:solidFill>
            <a:srgbClr val="FFB800">
              <a:alpha val="9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03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09397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Aplicá las 4 preguntas disparadoras para extraer las 4 componentes.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2550"/>
          </a:solidFill>
          <a:ln w="1524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926080"/>
            <a:ext cx="438912" cy="438912"/>
          </a:xfrm>
          <a:prstGeom prst="ellipse">
            <a:avLst/>
          </a:prstGeom>
          <a:solidFill>
            <a:srgbClr val="00C896">
              <a:alpha val="9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26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81635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Enunciá el problema técnico en una sola oración precisa.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38728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2550"/>
          </a:solidFill>
          <a:ln w="1524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648456"/>
            <a:ext cx="438912" cy="438912"/>
          </a:xfrm>
          <a:prstGeom prst="ellipse">
            <a:avLst/>
          </a:prstGeom>
          <a:solidFill>
            <a:srgbClr val="FF4D6A">
              <a:alpha val="90000"/>
            </a:srgbClr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648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5387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Elegí el eje del proyecto (respuesta / problema / producto) y justificá en una oración por qué.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61104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2550"/>
          </a:solidFill>
          <a:ln w="1524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4370832"/>
            <a:ext cx="438912" cy="438912"/>
          </a:xfrm>
          <a:prstGeom prst="ellipse">
            <a:avLst/>
          </a:prstGeom>
          <a:solidFill>
            <a:srgbClr val="9B59B6">
              <a:alpha val="9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426110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Formulá la pregunta disparadora final que daría inicio a tu proyecto.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El arco completo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868680"/>
          </a:xfrm>
          <a:prstGeom prst="roundRect">
            <a:avLst>
              <a:gd name="adj" fmla="val 10526"/>
            </a:avLst>
          </a:prstGeom>
          <a:solidFill>
            <a:srgbClr val="1A2550"/>
          </a:solidFill>
          <a:ln w="15240">
            <a:solidFill>
              <a:srgbClr val="0097B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5"/>
                </a:solidFill>
              </a:rPr>
              <a:t>Robot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DF5"/>
                </a:solidFill>
              </a:rPr>
              <a:t>&amp; instrucción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DF5"/>
                </a:solidFill>
              </a:rPr>
              <a:t>atómica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554480" y="1348740"/>
            <a:ext cx="91440" cy="0"/>
          </a:xfrm>
          <a:prstGeom prst="line">
            <a:avLst/>
          </a:prstGeom>
          <a:noFill/>
          <a:ln w="1905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645920" y="914400"/>
            <a:ext cx="1097280" cy="868680"/>
          </a:xfrm>
          <a:prstGeom prst="roundRect">
            <a:avLst>
              <a:gd name="adj" fmla="val 10526"/>
            </a:avLst>
          </a:prstGeom>
          <a:solidFill>
            <a:srgbClr val="1A2550"/>
          </a:solidFill>
          <a:ln w="15240">
            <a:solidFill>
              <a:srgbClr val="0097B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0" y="9144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5"/>
                </a:solidFill>
              </a:rPr>
              <a:t>Problema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DF5"/>
                </a:solidFill>
              </a:rPr>
              <a:t>Vago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0" y="1348740"/>
            <a:ext cx="91440" cy="0"/>
          </a:xfrm>
          <a:prstGeom prst="line">
            <a:avLst/>
          </a:prstGeom>
          <a:noFill/>
          <a:ln w="1905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4640" y="914400"/>
            <a:ext cx="1097280" cy="868680"/>
          </a:xfrm>
          <a:prstGeom prst="roundRect">
            <a:avLst>
              <a:gd name="adj" fmla="val 10526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9144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2A"/>
                </a:solidFill>
              </a:rPr>
              <a:t>Preguntas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0E2A"/>
                </a:solidFill>
              </a:rPr>
              <a:t>Disparadoras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31920" y="1348740"/>
            <a:ext cx="91440" cy="0"/>
          </a:xfrm>
          <a:prstGeom prst="line">
            <a:avLst/>
          </a:prstGeom>
          <a:noFill/>
          <a:ln w="1905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23360" y="914400"/>
            <a:ext cx="1097280" cy="868680"/>
          </a:xfrm>
          <a:prstGeom prst="roundRect">
            <a:avLst>
              <a:gd name="adj" fmla="val 10526"/>
            </a:avLst>
          </a:prstGeom>
          <a:solidFill>
            <a:srgbClr val="1A2550"/>
          </a:solidFill>
          <a:ln w="15240">
            <a:solidFill>
              <a:srgbClr val="0097B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9144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5"/>
                </a:solidFill>
              </a:rPr>
              <a:t>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DF5"/>
                </a:solidFill>
              </a:rPr>
              <a:t>Componentes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120640" y="1348740"/>
            <a:ext cx="91440" cy="0"/>
          </a:xfrm>
          <a:prstGeom prst="line">
            <a:avLst/>
          </a:prstGeom>
          <a:noFill/>
          <a:ln w="1905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12080" y="914400"/>
            <a:ext cx="1097280" cy="868680"/>
          </a:xfrm>
          <a:prstGeom prst="roundRect">
            <a:avLst>
              <a:gd name="adj" fmla="val 10526"/>
            </a:avLst>
          </a:prstGeom>
          <a:solidFill>
            <a:srgbClr val="1A2550"/>
          </a:solidFill>
          <a:ln w="15240">
            <a:solidFill>
              <a:srgbClr val="0097B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0" y="9144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5"/>
                </a:solidFill>
              </a:rPr>
              <a:t>Problema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DF5"/>
                </a:solidFill>
              </a:rPr>
              <a:t>Técnico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09360" y="1348740"/>
            <a:ext cx="91440" cy="0"/>
          </a:xfrm>
          <a:prstGeom prst="line">
            <a:avLst/>
          </a:prstGeom>
          <a:noFill/>
          <a:ln w="1905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0" y="914400"/>
            <a:ext cx="1097280" cy="868680"/>
          </a:xfrm>
          <a:prstGeom prst="roundRect">
            <a:avLst>
              <a:gd name="adj" fmla="val 10526"/>
            </a:avLst>
          </a:prstGeom>
          <a:solidFill>
            <a:srgbClr val="1A2550"/>
          </a:solidFill>
          <a:ln w="15240">
            <a:solidFill>
              <a:srgbClr val="0097B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9144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5"/>
                </a:solidFill>
              </a:rPr>
              <a:t>Objetivo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498080" y="1348740"/>
            <a:ext cx="91440" cy="0"/>
          </a:xfrm>
          <a:prstGeom prst="line">
            <a:avLst/>
          </a:prstGeom>
          <a:noFill/>
          <a:ln w="19050">
            <a:solidFill>
              <a:srgbClr val="0097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89520" y="914400"/>
            <a:ext cx="1097280" cy="868680"/>
          </a:xfrm>
          <a:prstGeom prst="roundRect">
            <a:avLst>
              <a:gd name="adj" fmla="val 10526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89520" y="9144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2A"/>
                </a:solidFill>
              </a:rPr>
              <a:t>Solución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" y="2057400"/>
            <a:ext cx="7680960" cy="1234440"/>
          </a:xfrm>
          <a:prstGeom prst="roundRect">
            <a:avLst>
              <a:gd name="adj" fmla="val 11111"/>
            </a:avLst>
          </a:prstGeom>
          <a:solidFill>
            <a:srgbClr val="1A2550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2057400"/>
            <a:ext cx="7498080" cy="123444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4FF"/>
                </a:solidFill>
              </a:rPr>
              <a:t>"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Una buena pregunta disparadora ya contiene el problema bien enunciado.</a:t>
            </a:r>
            <a:pPr algn="ctr" indent="0" marL="0">
              <a:buNone/>
            </a:pPr>
            <a:endParaRPr lang="en-US" sz="42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E8EDF5"/>
                </a:solidFill>
              </a:rPr>
              <a:t> Si la pregunta es vaga, el proyecto va a ser vago."</a:t>
            </a:r>
            <a:endParaRPr lang="en-US" sz="4200" dirty="0"/>
          </a:p>
        </p:txBody>
      </p:sp>
      <p:sp>
        <p:nvSpPr>
          <p:cNvPr id="25" name="Shape 23"/>
          <p:cNvSpPr/>
          <p:nvPr/>
        </p:nvSpPr>
        <p:spPr>
          <a:xfrm>
            <a:off x="685800" y="3456432"/>
            <a:ext cx="2468880" cy="658368"/>
          </a:xfrm>
          <a:prstGeom prst="roundRect">
            <a:avLst>
              <a:gd name="adj" fmla="val 13889"/>
            </a:avLst>
          </a:prstGeom>
          <a:solidFill>
            <a:srgbClr val="1A2550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456432"/>
            <a:ext cx="2468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FF"/>
                </a:solidFill>
              </a:rPr>
              <a:t>La pregunta disparadora
</a:t>
            </a:r>
            <a:endParaRPr lang="en-US" sz="10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llena el '?' del flujograma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37560" y="3456432"/>
            <a:ext cx="2468880" cy="658368"/>
          </a:xfrm>
          <a:prstGeom prst="roundRect">
            <a:avLst>
              <a:gd name="adj" fmla="val 13889"/>
            </a:avLst>
          </a:prstGeom>
          <a:solidFill>
            <a:srgbClr val="1A2550"/>
          </a:solidFill>
          <a:ln w="15240">
            <a:solidFill>
              <a:srgbClr val="FFB8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456432"/>
            <a:ext cx="2468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800"/>
                </a:solidFill>
              </a:rPr>
              <a:t>Cada pregunta
</a:t>
            </a:r>
            <a:endParaRPr lang="en-US" sz="10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extrae una componente específica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3456432"/>
            <a:ext cx="2468880" cy="658368"/>
          </a:xfrm>
          <a:prstGeom prst="roundRect">
            <a:avLst>
              <a:gd name="adj" fmla="val 13889"/>
            </a:avLst>
          </a:prstGeom>
          <a:solidFill>
            <a:srgbClr val="1A2550"/>
          </a:solidFill>
          <a:ln w="15240">
            <a:solidFill>
              <a:srgbClr val="00C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3456432"/>
            <a:ext cx="2468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896"/>
                </a:solidFill>
              </a:rPr>
              <a:t>El eje elegido
</a:t>
            </a:r>
            <a:endParaRPr lang="en-US" sz="10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define el tipo de proyecto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0" y="4251960"/>
            <a:ext cx="4572000" cy="594360"/>
          </a:xfrm>
          <a:prstGeom prst="roundRect">
            <a:avLst>
              <a:gd name="adj" fmla="val 15385"/>
            </a:avLst>
          </a:prstGeom>
          <a:solidFill>
            <a:srgbClr val="FFB800">
              <a:alpha val="90000"/>
            </a:srgbClr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4251960"/>
            <a:ext cx="4572000" cy="594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TAREA → Traer una pregunta disparadora de proyecto para la próxima clase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Preguntas Disparadoras — Taller de Proyecto</dc:title>
  <dc:subject>PptxGenJS Presentation</dc:subject>
  <dc:creator>PptxGenJS</dc:creator>
  <cp:lastModifiedBy>PptxGenJS</cp:lastModifiedBy>
  <cp:revision>1</cp:revision>
  <dcterms:created xsi:type="dcterms:W3CDTF">2026-06-22T04:40:56Z</dcterms:created>
  <dcterms:modified xsi:type="dcterms:W3CDTF">2026-06-22T04:40:56Z</dcterms:modified>
</cp:coreProperties>
</file>