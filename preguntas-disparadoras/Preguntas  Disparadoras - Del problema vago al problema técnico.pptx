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PORTADA. Arrancar conectando con lo que ya hicieron: el flujograma con el '?'. Esta slide es el punto de partida visual.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Mostrar el flujograma completo. Preguntar a la clase: '¿Qué pusieron ustedes en el ???' Dejar que compartan. Escribir las respuestas en el pizarrón real.</a:t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Construir la definición CON ellos primero. Preguntar: '¿Qué tenían en común las preguntas que usaron en el ejercicio?' Después mostrar esta slide como confirmación.</a:t>
            </a:r>
            <a:endParaRPr/>
          </a:p>
        </p:txBody>
      </p:sp>
      <p:sp>
        <p:nvSpPr>
          <p:cNvPr id="54" name="Google Shape;5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Para cada tipo, pedir a los alumnos que reformulen UNA de las preguntas del pizarrón usando ese inicio. No pasar de largo — que lo practiquen en voz alta.</a:t>
            </a:r>
            <a:endParaRPr/>
          </a:p>
        </p:txBody>
      </p:sp>
      <p:sp>
        <p:nvSpPr>
          <p:cNvPr id="74" name="Google Shape;7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Anclar cada eje a las 9 soluciones que ya trabajaron. Elegir 3 contrastantes y trabajarlas en voz alta con la clase. No dar los 9 — solo 3 bien elegidos.</a:t>
            </a:r>
            <a:endParaRPr/>
          </a:p>
        </p:txBody>
      </p:sp>
      <p:sp>
        <p:nvSpPr>
          <p:cNvPr id="110" name="Google Shape;11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Este es el nodo central de la clase. Mostrar cómo cada pregunta dispara exactamente una componente. El criterio de validez es clave — si la respuesta sigue siendo vaga, la pregunta no sirvió.</a:t>
            </a:r>
            <a:endParaRPr/>
          </a:p>
        </p:txBody>
      </p:sp>
      <p:sp>
        <p:nvSpPr>
          <p:cNvPr id="144" name="Google Shape;14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Slide de transición a FASE 1. Presentar como el primer gran momento de trabajo de proyecto. Los 5 pasos que siguen son el proceso completo de análisis del problema.</a:t>
            </a:r>
            <a:endParaRPr/>
          </a:p>
        </p:txBody>
      </p:sp>
      <p:sp>
        <p:nvSpPr>
          <p:cNvPr id="175" name="Google Shape;17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Pasos 1 y 2 de FASE 1. La barra inferior ancla estos dos pasos con la componente CONTEXTO y su pregunta disparadora. Los alumnos ya conocen esta herramienta — el ancla refuerza la conexión.</a:t>
            </a:r>
            <a:endParaRPr/>
          </a:p>
        </p:txBody>
      </p:sp>
      <p:sp>
        <p:nvSpPr>
          <p:cNvPr id="205" name="Google Shape;20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" name="Google Shape;2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Pasos 3 y 4 de FASE 1. El paso 4 (variables) es el mas tecnico. La barra inferior conecta con la componente VARIABLE y su disparadora — refuerza que ya saben esta herramienta.</a:t>
            </a:r>
            <a:endParaRPr/>
          </a:p>
        </p:txBody>
      </p:sp>
      <p:sp>
        <p:nvSpPr>
          <p:cNvPr id="252" name="Google Shape;25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5" name="Google Shape;30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Paso 5 — el cierre de FASE 1. La formula conecta exactamente con las 4 componentes. Si algun hueco esta vacio o es subjetivo, hay que volver al paso anterior. Los ejemplos de bien/mal son para trabajar en voz alta.</a:t>
            </a:r>
            <a:endParaRPr/>
          </a:p>
        </p:txBody>
      </p:sp>
      <p:sp>
        <p:nvSpPr>
          <p:cNvPr id="306" name="Google Shape;30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Trabajar este ejemplo en voz alta, paso a paso. Mostrar cómo el objetivo casi se escribe solo cuando el problema técnico está bien construido.</a:t>
            </a:r>
            <a:endParaRPr/>
          </a:p>
        </p:txBody>
      </p:sp>
      <p:sp>
        <p:nvSpPr>
          <p:cNvPr id="344" name="Google Shape;34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" name="Google Shape;36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Actividad colectiva — 15 minutos. Vos guiás, ellos proponen. Escribir en el pizarrón real las respuestas que van surgiendo. No avanzar al siguiente paso hasta que el anterior esté cerrado.</a:t>
            </a:r>
            <a:endParaRPr/>
          </a:p>
        </p:txBody>
      </p:sp>
      <p:sp>
        <p:nvSpPr>
          <p:cNvPr id="370" name="Google Shape;37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" name="Google Shape;395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Ronda 2 — 25 minutos. Circular por cada pareja. El mayor desafío suele ser el punto de quiebre — que no quede en términos subjetivos. Forzar un número o una condición lógica.</a:t>
            </a:r>
            <a:endParaRPr/>
          </a:p>
        </p:txBody>
      </p:sp>
      <p:sp>
        <p:nvSpPr>
          <p:cNvPr id="396" name="Google Shape;396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5" name="Google Shape;42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Puesta en común — 15 minutos. El docente cierra cada caso con UNA observación puntual, breve. No extenderse en cada pareja — el valor está en la variedad de casos.</a:t>
            </a:r>
            <a:endParaRPr/>
          </a:p>
        </p:txBody>
      </p:sp>
      <p:sp>
        <p:nvSpPr>
          <p:cNvPr id="426" name="Google Shape;426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7" name="Google Shape;447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Bloque individual — 45 minutos. El docente circula y trabaja caso por caso. Con 10-20 alumnos hay tiempo de pasar por todos. El paso 4 (justificación del eje) es el que más cuesta — priorizar ese acompañamiento.</a:t>
            </a:r>
            <a:endParaRPr/>
          </a:p>
        </p:txBody>
      </p:sp>
      <p:sp>
        <p:nvSpPr>
          <p:cNvPr id="448" name="Google Shape;448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Cierre — 20 minutos. 3-4 voluntarios comparten su pregunta propia. Después mostrar el flujo completo con el ??? ya reemplazado. La frase del cuadro central va al pizarrón para que la copien.</a:t>
            </a:r>
            <a:endParaRPr/>
          </a:p>
        </p:txBody>
      </p:sp>
      <p:sp>
        <p:nvSpPr>
          <p:cNvPr id="477" name="Google Shape;477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5943600" y="-1097280"/>
            <a:ext cx="5486400" cy="5486400"/>
          </a:xfrm>
          <a:prstGeom prst="ellipse">
            <a:avLst/>
          </a:prstGeom>
          <a:solidFill>
            <a:srgbClr val="1A2550"/>
          </a:solidFill>
          <a:ln cap="flat" cmpd="sng" w="12700">
            <a:solidFill>
              <a:srgbClr val="1A25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6583680" y="-457200"/>
            <a:ext cx="4114800" cy="4114800"/>
          </a:xfrm>
          <a:prstGeom prst="ellipse">
            <a:avLst/>
          </a:prstGeom>
          <a:solidFill>
            <a:srgbClr val="00D4FF">
              <a:alpha val="12156"/>
            </a:srgbClr>
          </a:solidFill>
          <a:ln cap="flat" cmpd="sng" w="12700">
            <a:solidFill>
              <a:srgbClr val="00D4FF">
                <a:alpha val="3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48640" y="502920"/>
            <a:ext cx="2560320" cy="347472"/>
          </a:xfrm>
          <a:prstGeom prst="roundRect">
            <a:avLst>
              <a:gd fmla="val 13158" name="adj"/>
            </a:avLst>
          </a:prstGeom>
          <a:solidFill>
            <a:srgbClr val="00D4FF">
              <a:alpha val="85098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548640" y="50292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TALLER DE PROYECTO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548640" y="1005840"/>
            <a:ext cx="6400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Preguntas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Disparadoras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3246120"/>
            <a:ext cx="5943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800"/>
              <a:buFont typeface="Calibri"/>
              <a:buNone/>
            </a:pPr>
            <a:r>
              <a:rPr b="0" i="1" lang="en-US" sz="18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Del problema vago al proyecto técnico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548640" y="3749040"/>
            <a:ext cx="1645920" cy="64008"/>
          </a:xfrm>
          <a:prstGeom prst="roundRect">
            <a:avLst>
              <a:gd fmla="val 42857" name="adj"/>
            </a:avLst>
          </a:prstGeom>
          <a:solidFill>
            <a:srgbClr val="FFB800"/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97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0097B8"/>
                </a:solidFill>
                <a:latin typeface="Calibri"/>
                <a:ea typeface="Calibri"/>
                <a:cs typeface="Calibri"/>
                <a:sym typeface="Calibri"/>
              </a:rPr>
              <a:t>Industria 4.0 · Electromecánica · Electrónica · 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63840" y="1371600"/>
            <a:ext cx="822960" cy="8229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El flujo que ya conocen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274320" y="1325880"/>
            <a:ext cx="1508760" cy="1005840"/>
          </a:xfrm>
          <a:prstGeom prst="roundRect">
            <a:avLst>
              <a:gd fmla="val 10909" name="adj"/>
            </a:avLst>
          </a:prstGeom>
          <a:solidFill>
            <a:srgbClr val="E8EDF5"/>
          </a:solidFill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274320" y="1325880"/>
            <a:ext cx="15087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VAGO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1965960" y="1325880"/>
            <a:ext cx="1508760" cy="1005840"/>
          </a:xfrm>
          <a:prstGeom prst="roundRect">
            <a:avLst>
              <a:gd fmla="val 10909" name="adj"/>
            </a:avLst>
          </a:prstGeom>
          <a:solidFill>
            <a:srgbClr val="0A0E2A"/>
          </a:solidFill>
          <a:ln cap="flat" cmpd="sng" w="317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1965960" y="1325880"/>
            <a:ext cx="15087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???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3657600" y="1325880"/>
            <a:ext cx="1508760" cy="1005840"/>
          </a:xfrm>
          <a:prstGeom prst="roundRect">
            <a:avLst>
              <a:gd fmla="val 10909" name="adj"/>
            </a:avLst>
          </a:prstGeom>
          <a:solidFill>
            <a:srgbClr val="E8EDF5"/>
          </a:solidFill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3657600" y="1325880"/>
            <a:ext cx="15087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COMPONENTES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5349240" y="1325880"/>
            <a:ext cx="1508760" cy="1005840"/>
          </a:xfrm>
          <a:prstGeom prst="roundRect">
            <a:avLst>
              <a:gd fmla="val 10909" name="adj"/>
            </a:avLst>
          </a:prstGeom>
          <a:solidFill>
            <a:srgbClr val="E8EDF5"/>
          </a:solidFill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349240" y="1325880"/>
            <a:ext cx="15087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TÉCNICO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7040880" y="1325880"/>
            <a:ext cx="1508760" cy="1005840"/>
          </a:xfrm>
          <a:prstGeom prst="roundRect">
            <a:avLst>
              <a:gd fmla="val 10909" name="adj"/>
            </a:avLst>
          </a:prstGeom>
          <a:solidFill>
            <a:srgbClr val="E8EDF5"/>
          </a:solidFill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7040880" y="1325880"/>
            <a:ext cx="15087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" name="Google Shape;41;p4"/>
          <p:cNvCxnSpPr/>
          <p:nvPr/>
        </p:nvCxnSpPr>
        <p:spPr>
          <a:xfrm>
            <a:off x="1783080" y="1828800"/>
            <a:ext cx="182880" cy="0"/>
          </a:xfrm>
          <a:prstGeom prst="straightConnector1">
            <a:avLst/>
          </a:prstGeom>
          <a:noFill/>
          <a:ln cap="flat" cmpd="sng" w="317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2" name="Google Shape;42;p4"/>
          <p:cNvCxnSpPr/>
          <p:nvPr/>
        </p:nvCxnSpPr>
        <p:spPr>
          <a:xfrm>
            <a:off x="3474720" y="1828800"/>
            <a:ext cx="182880" cy="0"/>
          </a:xfrm>
          <a:prstGeom prst="straightConnector1">
            <a:avLst/>
          </a:prstGeom>
          <a:noFill/>
          <a:ln cap="flat" cmpd="sng" w="317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3" name="Google Shape;43;p4"/>
          <p:cNvCxnSpPr/>
          <p:nvPr/>
        </p:nvCxnSpPr>
        <p:spPr>
          <a:xfrm>
            <a:off x="5166360" y="1828800"/>
            <a:ext cx="182880" cy="0"/>
          </a:xfrm>
          <a:prstGeom prst="straightConnector1">
            <a:avLst/>
          </a:prstGeom>
          <a:noFill/>
          <a:ln cap="flat" cmpd="sng" w="317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4" name="Google Shape;44;p4"/>
          <p:cNvCxnSpPr/>
          <p:nvPr/>
        </p:nvCxnSpPr>
        <p:spPr>
          <a:xfrm>
            <a:off x="6858000" y="1828800"/>
            <a:ext cx="182880" cy="0"/>
          </a:xfrm>
          <a:prstGeom prst="straightConnector1">
            <a:avLst/>
          </a:prstGeom>
          <a:noFill/>
          <a:ln cap="flat" cmpd="sng" w="317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5" name="Google Shape;45;p4"/>
          <p:cNvSpPr/>
          <p:nvPr/>
        </p:nvSpPr>
        <p:spPr>
          <a:xfrm>
            <a:off x="7040880" y="2743200"/>
            <a:ext cx="1508760" cy="822960"/>
          </a:xfrm>
          <a:prstGeom prst="roundRect">
            <a:avLst>
              <a:gd fmla="val 13333" name="adj"/>
            </a:avLst>
          </a:prstGeom>
          <a:solidFill>
            <a:srgbClr val="00C896">
              <a:alpha val="90196"/>
            </a:srgbClr>
          </a:solidFill>
          <a:ln cap="flat" cmpd="sng" w="190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7040880" y="2743200"/>
            <a:ext cx="15087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7795260" y="2331720"/>
            <a:ext cx="0" cy="411480"/>
          </a:xfrm>
          <a:prstGeom prst="straightConnector1">
            <a:avLst/>
          </a:prstGeom>
          <a:noFill/>
          <a:ln cap="flat" cmpd="sng" w="31750">
            <a:solidFill>
              <a:srgbClr val="00C896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8" name="Google Shape;48;p4"/>
          <p:cNvSpPr/>
          <p:nvPr/>
        </p:nvSpPr>
        <p:spPr>
          <a:xfrm>
            <a:off x="1554480" y="2743200"/>
            <a:ext cx="2377440" cy="685800"/>
          </a:xfrm>
          <a:prstGeom prst="roundRect">
            <a:avLst>
              <a:gd fmla="val 13333" name="adj"/>
            </a:avLst>
          </a:prstGeom>
          <a:solidFill>
            <a:srgbClr val="FFB800">
              <a:alpha val="90196"/>
            </a:srgbClr>
          </a:solidFill>
          <a:ln cap="flat" cmpd="sng" w="190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1554480" y="2743200"/>
            <a:ext cx="23774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← Hoy cerramos este nodo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" name="Google Shape;50;p4"/>
          <p:cNvCxnSpPr/>
          <p:nvPr/>
        </p:nvCxnSpPr>
        <p:spPr>
          <a:xfrm rot="10800000">
            <a:off x="2766060" y="2331720"/>
            <a:ext cx="0" cy="411480"/>
          </a:xfrm>
          <a:prstGeom prst="straightConnector1">
            <a:avLst/>
          </a:prstGeom>
          <a:noFill/>
          <a:ln cap="flat" cmpd="sng" w="22850">
            <a:solidFill>
              <a:srgbClr val="FFB800"/>
            </a:solidFill>
            <a:prstDash val="solid"/>
            <a:round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¿Qué es una pregunta disparadora?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457200" y="914400"/>
            <a:ext cx="8229600" cy="1234440"/>
          </a:xfrm>
          <a:prstGeom prst="roundRect">
            <a:avLst>
              <a:gd fmla="val 11111" name="adj"/>
            </a:avLst>
          </a:prstGeom>
          <a:solidFill>
            <a:srgbClr val="1A2550"/>
          </a:solidFill>
          <a:ln cap="flat" cmpd="sng" w="190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457200" y="914400"/>
            <a:ext cx="822960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175" lIns="3175" spcFirstLastPara="1" rIns="3175" wrap="square" tIns="31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Una pregunta </a:t>
            </a:r>
            <a:r>
              <a:rPr b="1" i="0" lang="en-US" sz="17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abierta y precisa</a:t>
            </a:r>
            <a:r>
              <a:rPr b="0" i="0" lang="en-US" sz="17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 que despierta curiosidad y da inicio a un proyecto.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No se responde con sí/no. </a:t>
            </a:r>
            <a:endParaRPr b="0" i="0" sz="1400" u="none" cap="none" strike="noStrike">
              <a:solidFill>
                <a:srgbClr val="E8ED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Obliga a </a:t>
            </a:r>
            <a:r>
              <a:rPr b="1" i="0" lang="en-US" sz="14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investigar, definir o crear</a:t>
            </a:r>
            <a:r>
              <a:rPr b="0" i="0" lang="en-US" sz="14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 algo.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457200" y="2377440"/>
            <a:ext cx="2468880" cy="1645920"/>
          </a:xfrm>
          <a:prstGeom prst="roundRect">
            <a:avLst>
              <a:gd fmla="val 6667" name="adj"/>
            </a:avLst>
          </a:prstGeom>
          <a:solidFill>
            <a:srgbClr val="1A2550"/>
          </a:solidFill>
          <a:ln cap="flat" cmpd="sng" w="15225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0" name="Google Shape;6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472" y="2578608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"/>
          <p:cNvSpPr/>
          <p:nvPr/>
        </p:nvSpPr>
        <p:spPr>
          <a:xfrm>
            <a:off x="457200" y="306324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ABIERTA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94360" y="3401568"/>
            <a:ext cx="2194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No admite sí/ni no.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Abre un campo de indagación.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3337560" y="2377440"/>
            <a:ext cx="2468880" cy="1645920"/>
          </a:xfrm>
          <a:prstGeom prst="roundRect">
            <a:avLst>
              <a:gd fmla="val 6667" name="adj"/>
            </a:avLst>
          </a:prstGeom>
          <a:solidFill>
            <a:srgbClr val="1A2550"/>
          </a:solidFill>
          <a:ln cap="flat" cmpd="sng" w="15225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4" name="Google Shape;64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70832" y="2578608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5"/>
          <p:cNvSpPr/>
          <p:nvPr/>
        </p:nvSpPr>
        <p:spPr>
          <a:xfrm>
            <a:off x="3337560" y="306324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PRECISA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3474720" y="3401568"/>
            <a:ext cx="2194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Sin ambigüedad.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Se puede medir o verificar.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217920" y="2377440"/>
            <a:ext cx="2468880" cy="1645920"/>
          </a:xfrm>
          <a:prstGeom prst="roundRect">
            <a:avLst>
              <a:gd fmla="val 6667" name="adj"/>
            </a:avLst>
          </a:prstGeom>
          <a:solidFill>
            <a:srgbClr val="1A2550"/>
          </a:solidFill>
          <a:ln cap="flat" cmpd="sng" w="15225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" name="Google Shape;6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51192" y="2578608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5"/>
          <p:cNvSpPr/>
          <p:nvPr/>
        </p:nvSpPr>
        <p:spPr>
          <a:xfrm>
            <a:off x="6217920" y="306324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ORIENTADA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6355080" y="3401568"/>
            <a:ext cx="2194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Apunta a un destino: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informe, solución o producto.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Los 6 tipos de preguntas disparadoras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274320" y="822960"/>
            <a:ext cx="2697480" cy="1600200"/>
          </a:xfrm>
          <a:prstGeom prst="roundRect">
            <a:avLst>
              <a:gd fmla="val 6857" name="adj"/>
            </a:avLst>
          </a:prstGeom>
          <a:solidFill>
            <a:srgbClr val="FFFFFF"/>
          </a:solidFill>
          <a:ln cap="flat" cmpd="sng" w="254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6"/>
          <p:cNvSpPr/>
          <p:nvPr/>
        </p:nvSpPr>
        <p:spPr>
          <a:xfrm>
            <a:off x="384048" y="941832"/>
            <a:ext cx="2478024" cy="384048"/>
          </a:xfrm>
          <a:prstGeom prst="roundRect">
            <a:avLst>
              <a:gd fmla="val 16667" name="adj"/>
            </a:avLst>
          </a:prstGeom>
          <a:solidFill>
            <a:srgbClr val="00D4FF">
              <a:alpha val="85098"/>
            </a:srgbClr>
          </a:solidFill>
          <a:ln cap="flat" cmpd="sng" w="12700">
            <a:solidFill>
              <a:srgbClr val="00D4FF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6"/>
          <p:cNvSpPr/>
          <p:nvPr/>
        </p:nvSpPr>
        <p:spPr>
          <a:xfrm>
            <a:off x="384048" y="941832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¿Cómo...?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384048" y="1399032"/>
            <a:ext cx="24780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3A5C"/>
                </a:solidFill>
                <a:latin typeface="Calibri"/>
                <a:ea typeface="Calibri"/>
                <a:cs typeface="Calibri"/>
                <a:sym typeface="Calibri"/>
              </a:rPr>
              <a:t>Busca crear un proceso o solución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384048" y="1700784"/>
            <a:ext cx="247802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"¿Cómo diseñamos un sensor que detecte fallos?"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3063240" y="822960"/>
            <a:ext cx="2697480" cy="1600200"/>
          </a:xfrm>
          <a:prstGeom prst="roundRect">
            <a:avLst>
              <a:gd fmla="val 6857" name="adj"/>
            </a:avLst>
          </a:prstGeom>
          <a:solidFill>
            <a:srgbClr val="FFFFFF"/>
          </a:solidFill>
          <a:ln cap="flat" cmpd="sng" w="254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6"/>
          <p:cNvSpPr/>
          <p:nvPr/>
        </p:nvSpPr>
        <p:spPr>
          <a:xfrm>
            <a:off x="3172968" y="941832"/>
            <a:ext cx="2478024" cy="384048"/>
          </a:xfrm>
          <a:prstGeom prst="roundRect">
            <a:avLst>
              <a:gd fmla="val 16667" name="adj"/>
            </a:avLst>
          </a:prstGeom>
          <a:solidFill>
            <a:srgbClr val="FFB800">
              <a:alpha val="85098"/>
            </a:srgbClr>
          </a:solidFill>
          <a:ln cap="flat" cmpd="sng" w="12700">
            <a:solidFill>
              <a:srgbClr val="FFB80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>
            <a:off x="3172968" y="941832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¿Por qué...?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3172968" y="1399032"/>
            <a:ext cx="24780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3A5C"/>
                </a:solidFill>
                <a:latin typeface="Calibri"/>
                <a:ea typeface="Calibri"/>
                <a:cs typeface="Calibri"/>
                <a:sym typeface="Calibri"/>
              </a:rPr>
              <a:t>Investiga causas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3172968" y="1700784"/>
            <a:ext cx="247802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"¿Por qué las fábricas usan robots </a:t>
            </a:r>
            <a:endParaRPr b="0" i="1" sz="950" u="none" cap="none" strike="noStrike">
              <a:solidFill>
                <a:srgbClr val="5A6A8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en vez de personas?"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5852160" y="822960"/>
            <a:ext cx="2697480" cy="1600200"/>
          </a:xfrm>
          <a:prstGeom prst="roundRect">
            <a:avLst>
              <a:gd fmla="val 6857" name="adj"/>
            </a:avLst>
          </a:prstGeom>
          <a:solidFill>
            <a:srgbClr val="FFFFFF"/>
          </a:solidFill>
          <a:ln cap="flat" cmpd="sng" w="254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5961888" y="941832"/>
            <a:ext cx="2478024" cy="384048"/>
          </a:xfrm>
          <a:prstGeom prst="roundRect">
            <a:avLst>
              <a:gd fmla="val 16667" name="adj"/>
            </a:avLst>
          </a:prstGeom>
          <a:solidFill>
            <a:srgbClr val="00C896">
              <a:alpha val="85098"/>
            </a:srgbClr>
          </a:solidFill>
          <a:ln cap="flat" cmpd="sng" w="12700">
            <a:solidFill>
              <a:srgbClr val="00C896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5961888" y="941832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¿Para qué...?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5961888" y="1399032"/>
            <a:ext cx="24780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3A5C"/>
                </a:solidFill>
                <a:latin typeface="Calibri"/>
                <a:ea typeface="Calibri"/>
                <a:cs typeface="Calibri"/>
                <a:sym typeface="Calibri"/>
              </a:rPr>
              <a:t>Explora el propósito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5961888" y="1700784"/>
            <a:ext cx="247802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"¿Para qué usamos IA en una fábrica?"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274320" y="2587752"/>
            <a:ext cx="2697480" cy="1600200"/>
          </a:xfrm>
          <a:prstGeom prst="roundRect">
            <a:avLst>
              <a:gd fmla="val 6857" name="adj"/>
            </a:avLst>
          </a:prstGeom>
          <a:solidFill>
            <a:srgbClr val="FFFFFF"/>
          </a:solidFill>
          <a:ln cap="flat" cmpd="sng" w="25400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/>
          <p:nvPr/>
        </p:nvSpPr>
        <p:spPr>
          <a:xfrm>
            <a:off x="384048" y="2706624"/>
            <a:ext cx="2478024" cy="384048"/>
          </a:xfrm>
          <a:prstGeom prst="roundRect">
            <a:avLst>
              <a:gd fmla="val 16667" name="adj"/>
            </a:avLst>
          </a:prstGeom>
          <a:solidFill>
            <a:srgbClr val="9B59B6">
              <a:alpha val="85098"/>
            </a:srgbClr>
          </a:solidFill>
          <a:ln cap="flat" cmpd="sng" w="12700">
            <a:solidFill>
              <a:srgbClr val="9B59B6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"/>
          <p:cNvSpPr/>
          <p:nvPr/>
        </p:nvSpPr>
        <p:spPr>
          <a:xfrm>
            <a:off x="384048" y="2706624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¿Qué harías...?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384048" y="3163824"/>
            <a:ext cx="24780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3A5C"/>
                </a:solidFill>
                <a:latin typeface="Calibri"/>
                <a:ea typeface="Calibri"/>
                <a:cs typeface="Calibri"/>
                <a:sym typeface="Calibri"/>
              </a:rPr>
              <a:t>Imagina soluciones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384048" y="3465576"/>
            <a:ext cx="247802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"¿Qué harías para programar un robot </a:t>
            </a:r>
            <a:endParaRPr b="0" i="1" sz="950" u="none" cap="none" strike="noStrike">
              <a:solidFill>
                <a:srgbClr val="5A6A8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que clasifique reciclaje?"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3063240" y="2587752"/>
            <a:ext cx="2697480" cy="1600200"/>
          </a:xfrm>
          <a:prstGeom prst="roundRect">
            <a:avLst>
              <a:gd fmla="val 6857" name="adj"/>
            </a:avLst>
          </a:prstGeom>
          <a:solidFill>
            <a:srgbClr val="FFFFFF"/>
          </a:solidFill>
          <a:ln cap="flat" cmpd="sng" w="254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3172968" y="2706624"/>
            <a:ext cx="2478024" cy="384048"/>
          </a:xfrm>
          <a:prstGeom prst="roundRect">
            <a:avLst>
              <a:gd fmla="val 16667" name="adj"/>
            </a:avLst>
          </a:prstGeom>
          <a:solidFill>
            <a:srgbClr val="FF4D6A">
              <a:alpha val="85098"/>
            </a:srgbClr>
          </a:solidFill>
          <a:ln cap="flat" cmpd="sng" w="12700">
            <a:solidFill>
              <a:srgbClr val="FF4D6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3172968" y="2706624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¿De qué manera...?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3172968" y="3163824"/>
            <a:ext cx="24780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3A5C"/>
                </a:solidFill>
                <a:latin typeface="Calibri"/>
                <a:ea typeface="Calibri"/>
                <a:cs typeface="Calibri"/>
                <a:sym typeface="Calibri"/>
              </a:rPr>
              <a:t>Busca métodos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3172968" y="3465576"/>
            <a:ext cx="24780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"¿De qué manera usamos IA para </a:t>
            </a:r>
            <a:endParaRPr b="0" i="1" sz="950" u="none" cap="none" strike="noStrike">
              <a:solidFill>
                <a:srgbClr val="5A6A8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ahorrar energía?"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5852160" y="2587752"/>
            <a:ext cx="2697480" cy="1600200"/>
          </a:xfrm>
          <a:prstGeom prst="roundRect">
            <a:avLst>
              <a:gd fmla="val 6857" name="adj"/>
            </a:avLst>
          </a:prstGeom>
          <a:solidFill>
            <a:srgbClr val="FFFFFF"/>
          </a:solidFill>
          <a:ln cap="flat" cmpd="sng" w="25400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5961888" y="2706624"/>
            <a:ext cx="2478024" cy="384048"/>
          </a:xfrm>
          <a:prstGeom prst="roundRect">
            <a:avLst>
              <a:gd fmla="val 16667" name="adj"/>
            </a:avLst>
          </a:prstGeom>
          <a:solidFill>
            <a:srgbClr val="0097B8">
              <a:alpha val="85098"/>
            </a:srgbClr>
          </a:solidFill>
          <a:ln cap="flat" cmpd="sng" w="12700">
            <a:solidFill>
              <a:srgbClr val="0097B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5961888" y="2706624"/>
            <a:ext cx="24780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¿Cuál es...?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5961888" y="3163824"/>
            <a:ext cx="247802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E3A5C"/>
                </a:solidFill>
                <a:latin typeface="Calibri"/>
                <a:ea typeface="Calibri"/>
                <a:cs typeface="Calibri"/>
                <a:sym typeface="Calibri"/>
              </a:rPr>
              <a:t>Compara opciones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5961888" y="3465576"/>
            <a:ext cx="2478024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"¿Cuál es la mejor forma de conectar sensores </a:t>
            </a:r>
            <a:endParaRPr b="0" i="1" sz="950" u="none" cap="none" strike="noStrike">
              <a:solidFill>
                <a:srgbClr val="5A6A8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a una app?"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7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Los 3 ejes disparadores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457200" y="65836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La pregunta no solo abre el proyecto — define hacia dónde va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502920" y="1097280"/>
            <a:ext cx="2560320" cy="3291840"/>
          </a:xfrm>
          <a:prstGeom prst="roundRect">
            <a:avLst>
              <a:gd fmla="val 5357" name="adj"/>
            </a:avLst>
          </a:prstGeom>
          <a:solidFill>
            <a:srgbClr val="1A2550"/>
          </a:solidFill>
          <a:ln cap="flat" cmpd="sng" w="228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1508760" y="1261872"/>
            <a:ext cx="548640" cy="548640"/>
          </a:xfrm>
          <a:prstGeom prst="ellipse">
            <a:avLst/>
          </a:prstGeom>
          <a:solidFill>
            <a:srgbClr val="00D4FF">
              <a:alpha val="90196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7"/>
          <p:cNvSpPr/>
          <p:nvPr/>
        </p:nvSpPr>
        <p:spPr>
          <a:xfrm>
            <a:off x="1508760" y="126187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7" name="Google Shape;11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1912" y="1920240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7"/>
          <p:cNvSpPr/>
          <p:nvPr/>
        </p:nvSpPr>
        <p:spPr>
          <a:xfrm>
            <a:off x="594360" y="239572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RESPUESTA A UNA PREGUNTA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640080" y="2834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Investigamos para entender algo.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640080" y="324612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"¿Por qué los paneles solares son </a:t>
            </a:r>
            <a:endParaRPr b="0" i="1" sz="950" u="none" cap="none" strike="noStrike">
              <a:solidFill>
                <a:srgbClr val="E8ED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más eficientes con ciertos materiales?"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685800" y="4005072"/>
            <a:ext cx="2194560" cy="274320"/>
          </a:xfrm>
          <a:prstGeom prst="roundRect">
            <a:avLst>
              <a:gd fmla="val 16667" name="adj"/>
            </a:avLst>
          </a:prstGeom>
          <a:solidFill>
            <a:srgbClr val="00D4FF">
              <a:alpha val="80000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685800" y="4005072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→ INFORME</a:t>
            </a:r>
            <a:endParaRPr b="0" i="0" sz="11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3291840" y="1097280"/>
            <a:ext cx="2560320" cy="3291840"/>
          </a:xfrm>
          <a:prstGeom prst="roundRect">
            <a:avLst>
              <a:gd fmla="val 5357" name="adj"/>
            </a:avLst>
          </a:prstGeom>
          <a:solidFill>
            <a:srgbClr val="1A2550"/>
          </a:solidFill>
          <a:ln cap="flat" cmpd="sng" w="228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7"/>
          <p:cNvSpPr/>
          <p:nvPr/>
        </p:nvSpPr>
        <p:spPr>
          <a:xfrm>
            <a:off x="4297680" y="1261872"/>
            <a:ext cx="548640" cy="548640"/>
          </a:xfrm>
          <a:prstGeom prst="ellipse">
            <a:avLst/>
          </a:prstGeom>
          <a:solidFill>
            <a:srgbClr val="FFB800">
              <a:alpha val="90196"/>
            </a:srgbClr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4297680" y="126187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6" name="Google Shape;12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70832" y="1920240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7"/>
          <p:cNvSpPr/>
          <p:nvPr/>
        </p:nvSpPr>
        <p:spPr>
          <a:xfrm>
            <a:off x="3383280" y="239572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RESOLUCIÓN DE UN PROBLEMA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3429000" y="2834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Solucionamos un desafío concreto.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3429000" y="324612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"¿Cómo reducimos errores </a:t>
            </a:r>
            <a:endParaRPr b="0" i="1" sz="950" u="none" cap="none" strike="noStrike">
              <a:solidFill>
                <a:srgbClr val="E8ED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en una máquina de producción?"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7"/>
          <p:cNvSpPr/>
          <p:nvPr/>
        </p:nvSpPr>
        <p:spPr>
          <a:xfrm>
            <a:off x="3474720" y="4005072"/>
            <a:ext cx="2194560" cy="274320"/>
          </a:xfrm>
          <a:prstGeom prst="roundRect">
            <a:avLst>
              <a:gd fmla="val 16667" name="adj"/>
            </a:avLst>
          </a:prstGeom>
          <a:solidFill>
            <a:srgbClr val="FFB800">
              <a:alpha val="80000"/>
            </a:srgbClr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3474720" y="4005072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2CC"/>
                </a:solidFill>
                <a:latin typeface="Calibri"/>
                <a:ea typeface="Calibri"/>
                <a:cs typeface="Calibri"/>
                <a:sym typeface="Calibri"/>
              </a:rPr>
              <a:t>→ DISEÑO / SENSOR</a:t>
            </a:r>
            <a:endParaRPr b="0" i="0" sz="1100" u="none" cap="none" strike="noStrike">
              <a:solidFill>
                <a:srgbClr val="FFF2C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6080760" y="1097280"/>
            <a:ext cx="2560320" cy="3291840"/>
          </a:xfrm>
          <a:prstGeom prst="roundRect">
            <a:avLst>
              <a:gd fmla="val 5357" name="adj"/>
            </a:avLst>
          </a:prstGeom>
          <a:solidFill>
            <a:srgbClr val="1A2550"/>
          </a:solidFill>
          <a:ln cap="flat" cmpd="sng" w="228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7086600" y="1261872"/>
            <a:ext cx="548640" cy="548640"/>
          </a:xfrm>
          <a:prstGeom prst="ellipse">
            <a:avLst/>
          </a:prstGeom>
          <a:solidFill>
            <a:srgbClr val="00C896">
              <a:alpha val="90196"/>
            </a:srgbClr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7"/>
          <p:cNvSpPr/>
          <p:nvPr/>
        </p:nvSpPr>
        <p:spPr>
          <a:xfrm>
            <a:off x="7086600" y="126187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5" name="Google Shape;135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59752" y="1920240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7"/>
          <p:cNvSpPr/>
          <p:nvPr/>
        </p:nvSpPr>
        <p:spPr>
          <a:xfrm>
            <a:off x="6172200" y="239572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CREACIÓN DE UN PRODUCTO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6217920" y="2834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Inventamos algo tangible.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217920" y="324612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"¿De qué manera creamos un brazo robótico para clasificar piezas?"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263640" y="4005072"/>
            <a:ext cx="2194560" cy="274320"/>
          </a:xfrm>
          <a:prstGeom prst="roundRect">
            <a:avLst>
              <a:gd fmla="val 16667" name="adj"/>
            </a:avLst>
          </a:prstGeom>
          <a:solidFill>
            <a:srgbClr val="00C896">
              <a:alpha val="80000"/>
            </a:srgbClr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6263640" y="4005072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D9EAD3"/>
                </a:solidFill>
                <a:latin typeface="Calibri"/>
                <a:ea typeface="Calibri"/>
                <a:cs typeface="Calibri"/>
                <a:sym typeface="Calibri"/>
              </a:rPr>
              <a:t>→ PROTOTIPO</a:t>
            </a:r>
            <a:endParaRPr b="0" i="0" sz="1100" u="none" cap="none" strike="noStrike">
              <a:solidFill>
                <a:srgbClr val="D9EAD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La pregunta disparadora y las 4 componentes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Cada pregunta apunta a extraer UNA componente del problema vago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274320" y="1051560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0150">
            <a:solidFill>
              <a:srgbClr val="5A6A8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457200" y="1051560"/>
            <a:ext cx="4663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¿En qué sistema o espacio ocurre esto, y quién está involucrado?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0" name="Google Shape;150;p8"/>
          <p:cNvCxnSpPr/>
          <p:nvPr/>
        </p:nvCxnSpPr>
        <p:spPr>
          <a:xfrm>
            <a:off x="5120640" y="1453896"/>
            <a:ext cx="411480" cy="0"/>
          </a:xfrm>
          <a:prstGeom prst="straightConnector1">
            <a:avLst/>
          </a:prstGeom>
          <a:noFill/>
          <a:ln cap="flat" cmpd="sng" w="27925">
            <a:solidFill>
              <a:srgbClr val="00D4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1" name="Google Shape;151;p8"/>
          <p:cNvSpPr/>
          <p:nvPr/>
        </p:nvSpPr>
        <p:spPr>
          <a:xfrm>
            <a:off x="5532120" y="1143000"/>
            <a:ext cx="1417320" cy="621792"/>
          </a:xfrm>
          <a:prstGeom prst="roundRect">
            <a:avLst>
              <a:gd fmla="val 14706" name="adj"/>
            </a:avLst>
          </a:prstGeom>
          <a:solidFill>
            <a:srgbClr val="00D4FF">
              <a:alpha val="92156"/>
            </a:srgbClr>
          </a:solidFill>
          <a:ln cap="flat" cmpd="sng" w="190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5532120" y="1143000"/>
            <a:ext cx="14173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7040880" y="118872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Debe poder delimitarse o dibujarse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274320" y="1947672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0150">
            <a:solidFill>
              <a:srgbClr val="5A6A8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457200" y="1947672"/>
            <a:ext cx="4663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¿Qué es lo único que, si lo mido, me dice si el problema existe?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6" name="Google Shape;156;p8"/>
          <p:cNvCxnSpPr/>
          <p:nvPr/>
        </p:nvCxnSpPr>
        <p:spPr>
          <a:xfrm>
            <a:off x="5120640" y="2350008"/>
            <a:ext cx="411480" cy="0"/>
          </a:xfrm>
          <a:prstGeom prst="straightConnector1">
            <a:avLst/>
          </a:prstGeom>
          <a:noFill/>
          <a:ln cap="flat" cmpd="sng" w="27925">
            <a:solidFill>
              <a:srgbClr val="FFB8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57" name="Google Shape;157;p8"/>
          <p:cNvSpPr/>
          <p:nvPr/>
        </p:nvSpPr>
        <p:spPr>
          <a:xfrm>
            <a:off x="5532120" y="2039112"/>
            <a:ext cx="1417320" cy="621792"/>
          </a:xfrm>
          <a:prstGeom prst="roundRect">
            <a:avLst>
              <a:gd fmla="val 14706" name="adj"/>
            </a:avLst>
          </a:prstGeom>
          <a:solidFill>
            <a:srgbClr val="FFB800">
              <a:alpha val="92156"/>
            </a:srgbClr>
          </a:solidFill>
          <a:ln cap="flat" cmpd="sng" w="190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8"/>
          <p:cNvSpPr/>
          <p:nvPr/>
        </p:nvSpPr>
        <p:spPr>
          <a:xfrm>
            <a:off x="5532120" y="2039112"/>
            <a:ext cx="14173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7040880" y="2084832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Tiene que ser observable o medible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274320" y="2843784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0150">
            <a:solidFill>
              <a:srgbClr val="5A6A8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8"/>
          <p:cNvSpPr/>
          <p:nvPr/>
        </p:nvSpPr>
        <p:spPr>
          <a:xfrm>
            <a:off x="457200" y="2843784"/>
            <a:ext cx="4663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¿En qué valor o estado de esa variable digo que el problema empieza?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2" name="Google Shape;162;p8"/>
          <p:cNvCxnSpPr/>
          <p:nvPr/>
        </p:nvCxnSpPr>
        <p:spPr>
          <a:xfrm>
            <a:off x="5120640" y="3246120"/>
            <a:ext cx="411480" cy="0"/>
          </a:xfrm>
          <a:prstGeom prst="straightConnector1">
            <a:avLst/>
          </a:prstGeom>
          <a:noFill/>
          <a:ln cap="flat" cmpd="sng" w="27925">
            <a:solidFill>
              <a:srgbClr val="FF4D6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3" name="Google Shape;163;p8"/>
          <p:cNvSpPr/>
          <p:nvPr/>
        </p:nvSpPr>
        <p:spPr>
          <a:xfrm>
            <a:off x="5532120" y="2935224"/>
            <a:ext cx="1417320" cy="621792"/>
          </a:xfrm>
          <a:prstGeom prst="roundRect">
            <a:avLst>
              <a:gd fmla="val 14706" name="adj"/>
            </a:avLst>
          </a:prstGeom>
          <a:solidFill>
            <a:srgbClr val="FF4D6A">
              <a:alpha val="92156"/>
            </a:srgbClr>
          </a:solidFill>
          <a:ln cap="flat" cmpd="sng" w="1905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/>
          <p:nvPr/>
        </p:nvSpPr>
        <p:spPr>
          <a:xfrm>
            <a:off x="5532120" y="2935224"/>
            <a:ext cx="14173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PUNTO DE QUIEBRE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7040880" y="2980944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Debe escribirse como condición objetiva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274320" y="3739896"/>
            <a:ext cx="4846320" cy="804672"/>
          </a:xfrm>
          <a:prstGeom prst="roundRect">
            <a:avLst>
              <a:gd fmla="val 11364" name="adj"/>
            </a:avLst>
          </a:prstGeom>
          <a:solidFill>
            <a:srgbClr val="FFFFFF"/>
          </a:solidFill>
          <a:ln cap="flat" cmpd="sng" w="10150">
            <a:solidFill>
              <a:srgbClr val="5A6A8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"/>
          <p:cNvSpPr/>
          <p:nvPr/>
        </p:nvSpPr>
        <p:spPr>
          <a:xfrm>
            <a:off x="457200" y="3739896"/>
            <a:ext cx="4663440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Dado </a:t>
            </a:r>
            <a:r>
              <a:rPr i="1" lang="en-US" sz="1100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este</a:t>
            </a:r>
            <a:r>
              <a:rPr b="0" i="1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 contexto, variable y quiebre, ¿qué efecto no deseado ocurre?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8" name="Google Shape;168;p8"/>
          <p:cNvCxnSpPr/>
          <p:nvPr/>
        </p:nvCxnSpPr>
        <p:spPr>
          <a:xfrm>
            <a:off x="5120640" y="4142232"/>
            <a:ext cx="411480" cy="0"/>
          </a:xfrm>
          <a:prstGeom prst="straightConnector1">
            <a:avLst/>
          </a:prstGeom>
          <a:noFill/>
          <a:ln cap="flat" cmpd="sng" w="27925">
            <a:solidFill>
              <a:srgbClr val="00C896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69" name="Google Shape;169;p8"/>
          <p:cNvSpPr/>
          <p:nvPr/>
        </p:nvSpPr>
        <p:spPr>
          <a:xfrm>
            <a:off x="5532120" y="3831336"/>
            <a:ext cx="1417320" cy="621792"/>
          </a:xfrm>
          <a:prstGeom prst="roundRect">
            <a:avLst>
              <a:gd fmla="val 14706" name="adj"/>
            </a:avLst>
          </a:prstGeom>
          <a:solidFill>
            <a:srgbClr val="00C896">
              <a:alpha val="92156"/>
            </a:srgbClr>
          </a:solidFill>
          <a:ln cap="flat" cmpd="sng" w="190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/>
          <p:nvPr/>
        </p:nvSpPr>
        <p:spPr>
          <a:xfrm>
            <a:off x="5532120" y="3831336"/>
            <a:ext cx="14173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7040880" y="3877056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Una sola oración, sin adjetivos valorativos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9"/>
          <p:cNvSpPr/>
          <p:nvPr/>
        </p:nvSpPr>
        <p:spPr>
          <a:xfrm>
            <a:off x="5303520" y="-457200"/>
            <a:ext cx="4114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2550"/>
              </a:buClr>
              <a:buSzPts val="23000"/>
              <a:buFont typeface="Calibri"/>
              <a:buNone/>
            </a:pPr>
            <a:r>
              <a:rPr b="1" i="0" lang="en-US" sz="23000" u="none" cap="none" strike="noStrike">
                <a:solidFill>
                  <a:srgbClr val="1A2550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548640" y="411480"/>
            <a:ext cx="2926080" cy="384048"/>
          </a:xfrm>
          <a:prstGeom prst="roundRect">
            <a:avLst>
              <a:gd fmla="val 16667" name="adj"/>
            </a:avLst>
          </a:prstGeom>
          <a:solidFill>
            <a:srgbClr val="00D4FF">
              <a:alpha val="90196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9"/>
          <p:cNvSpPr/>
          <p:nvPr/>
        </p:nvSpPr>
        <p:spPr>
          <a:xfrm>
            <a:off x="548640" y="411480"/>
            <a:ext cx="292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FASE 1  ·  SEMANAS 1–3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548640" y="914400"/>
            <a:ext cx="5943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548640" y="1691640"/>
            <a:ext cx="5943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5200"/>
              <a:buFont typeface="Calibri"/>
              <a:buNone/>
            </a:pPr>
            <a:r>
              <a:rPr b="1" i="0" lang="en-US" sz="5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del Problema</a:t>
            </a:r>
            <a:endParaRPr b="0" i="0" sz="5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548640" y="2880360"/>
            <a:ext cx="5029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Objetivo: comprender qué problema se quiere resolver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antes de proponer cualquier solución.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1088136" y="4005072"/>
            <a:ext cx="402336" cy="402336"/>
          </a:xfrm>
          <a:prstGeom prst="ellipse">
            <a:avLst/>
          </a:prstGeom>
          <a:solidFill>
            <a:srgbClr val="00D4FF">
              <a:alpha val="94901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1088136" y="400507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548640" y="4462272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Original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6" name="Google Shape;186;p9"/>
          <p:cNvCxnSpPr/>
          <p:nvPr/>
        </p:nvCxnSpPr>
        <p:spPr>
          <a:xfrm>
            <a:off x="2029968" y="4206240"/>
            <a:ext cx="91440" cy="0"/>
          </a:xfrm>
          <a:prstGeom prst="straightConnector1">
            <a:avLst/>
          </a:prstGeom>
          <a:noFill/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9"/>
          <p:cNvSpPr/>
          <p:nvPr/>
        </p:nvSpPr>
        <p:spPr>
          <a:xfrm>
            <a:off x="2660904" y="4005072"/>
            <a:ext cx="402336" cy="402336"/>
          </a:xfrm>
          <a:prstGeom prst="ellipse">
            <a:avLst/>
          </a:prstGeom>
          <a:solidFill>
            <a:srgbClr val="FFB800">
              <a:alpha val="94901"/>
            </a:srgbClr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9"/>
          <p:cNvSpPr/>
          <p:nvPr/>
        </p:nvSpPr>
        <p:spPr>
          <a:xfrm>
            <a:off x="2660904" y="400507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2121408" y="4462272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0" name="Google Shape;190;p9"/>
          <p:cNvCxnSpPr/>
          <p:nvPr/>
        </p:nvCxnSpPr>
        <p:spPr>
          <a:xfrm>
            <a:off x="3602736" y="4206240"/>
            <a:ext cx="91440" cy="0"/>
          </a:xfrm>
          <a:prstGeom prst="straightConnector1">
            <a:avLst/>
          </a:prstGeom>
          <a:noFill/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1" name="Google Shape;191;p9"/>
          <p:cNvSpPr/>
          <p:nvPr/>
        </p:nvSpPr>
        <p:spPr>
          <a:xfrm>
            <a:off x="4233672" y="4005072"/>
            <a:ext cx="402336" cy="402336"/>
          </a:xfrm>
          <a:prstGeom prst="ellipse">
            <a:avLst/>
          </a:prstGeom>
          <a:solidFill>
            <a:srgbClr val="FF4D6A">
              <a:alpha val="94901"/>
            </a:srgbClr>
          </a:solidFill>
          <a:ln cap="flat" cmpd="sng" w="127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9"/>
          <p:cNvSpPr/>
          <p:nvPr/>
        </p:nvSpPr>
        <p:spPr>
          <a:xfrm>
            <a:off x="4233672" y="400507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3694176" y="4462272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Impacto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4" name="Google Shape;194;p9"/>
          <p:cNvCxnSpPr/>
          <p:nvPr/>
        </p:nvCxnSpPr>
        <p:spPr>
          <a:xfrm>
            <a:off x="5175504" y="4206240"/>
            <a:ext cx="91440" cy="0"/>
          </a:xfrm>
          <a:prstGeom prst="straightConnector1">
            <a:avLst/>
          </a:prstGeom>
          <a:noFill/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5" name="Google Shape;195;p9"/>
          <p:cNvSpPr/>
          <p:nvPr/>
        </p:nvSpPr>
        <p:spPr>
          <a:xfrm>
            <a:off x="5806440" y="4005072"/>
            <a:ext cx="402336" cy="402336"/>
          </a:xfrm>
          <a:prstGeom prst="ellipse">
            <a:avLst/>
          </a:prstGeom>
          <a:solidFill>
            <a:srgbClr val="9B59B6">
              <a:alpha val="94901"/>
            </a:srgbClr>
          </a:solidFill>
          <a:ln cap="flat" cmpd="sng" w="12700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"/>
          <p:cNvSpPr/>
          <p:nvPr/>
        </p:nvSpPr>
        <p:spPr>
          <a:xfrm>
            <a:off x="5806440" y="400507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5266944" y="4462272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" name="Google Shape;198;p9"/>
          <p:cNvCxnSpPr/>
          <p:nvPr/>
        </p:nvCxnSpPr>
        <p:spPr>
          <a:xfrm>
            <a:off x="6748272" y="4206240"/>
            <a:ext cx="91440" cy="0"/>
          </a:xfrm>
          <a:prstGeom prst="straightConnector1">
            <a:avLst/>
          </a:prstGeom>
          <a:noFill/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9" name="Google Shape;199;p9"/>
          <p:cNvSpPr/>
          <p:nvPr/>
        </p:nvSpPr>
        <p:spPr>
          <a:xfrm>
            <a:off x="7379208" y="4005072"/>
            <a:ext cx="402336" cy="402336"/>
          </a:xfrm>
          <a:prstGeom prst="ellipse">
            <a:avLst/>
          </a:prstGeom>
          <a:solidFill>
            <a:srgbClr val="00C896">
              <a:alpha val="94901"/>
            </a:srgbClr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9"/>
          <p:cNvSpPr/>
          <p:nvPr/>
        </p:nvSpPr>
        <p:spPr>
          <a:xfrm>
            <a:off x="7379208" y="400507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6839712" y="4462272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Técnico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0"/>
          <p:cNvSpPr/>
          <p:nvPr/>
        </p:nvSpPr>
        <p:spPr>
          <a:xfrm>
            <a:off x="365760" y="164592"/>
            <a:ext cx="2194560" cy="347472"/>
          </a:xfrm>
          <a:prstGeom prst="roundRect">
            <a:avLst>
              <a:gd fmla="val 18421" name="adj"/>
            </a:avLst>
          </a:prstGeom>
          <a:solidFill>
            <a:srgbClr val="0A0E2A"/>
          </a:solidFill>
          <a:ln cap="flat" cmpd="sng" w="12700">
            <a:solidFill>
              <a:srgbClr val="0A0E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0"/>
          <p:cNvSpPr/>
          <p:nvPr/>
        </p:nvSpPr>
        <p:spPr>
          <a:xfrm>
            <a:off x="365760" y="164592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FASE 1 · ANÁLISIS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2560322" y="164600"/>
            <a:ext cx="6217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Del problema vago al problema situado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274320" y="658368"/>
            <a:ext cx="4160520" cy="2103120"/>
          </a:xfrm>
          <a:prstGeom prst="roundRect">
            <a:avLst>
              <a:gd fmla="val 6522" name="adj"/>
            </a:avLst>
          </a:prstGeom>
          <a:solidFill>
            <a:srgbClr val="FFFFFF"/>
          </a:solidFill>
          <a:ln cap="flat" cmpd="sng" w="254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0"/>
          <p:cNvSpPr/>
          <p:nvPr/>
        </p:nvSpPr>
        <p:spPr>
          <a:xfrm>
            <a:off x="475488" y="804672"/>
            <a:ext cx="475488" cy="475488"/>
          </a:xfrm>
          <a:prstGeom prst="ellipse">
            <a:avLst/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0"/>
          <p:cNvSpPr/>
          <p:nvPr/>
        </p:nvSpPr>
        <p:spPr>
          <a:xfrm>
            <a:off x="475488" y="804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1051560" y="804672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PROBLEMA ORIGINAL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475488" y="1353312"/>
            <a:ext cx="3794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Describan el problema tal como lo identificaron.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475488" y="1673352"/>
            <a:ext cx="3749040" cy="246888"/>
          </a:xfrm>
          <a:prstGeom prst="roundRect">
            <a:avLst>
              <a:gd fmla="val 18519" name="adj"/>
            </a:avLst>
          </a:prstGeom>
          <a:solidFill>
            <a:srgbClr val="00D4FF">
              <a:alpha val="12156"/>
            </a:srgbClr>
          </a:solidFill>
          <a:ln cap="flat" cmpd="sng" w="12700">
            <a:solidFill>
              <a:srgbClr val="00D4FF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594360" y="1673352"/>
            <a:ext cx="35661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◆  ¿Dónde ocurre?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475488" y="1956816"/>
            <a:ext cx="3749040" cy="246888"/>
          </a:xfrm>
          <a:prstGeom prst="roundRect">
            <a:avLst>
              <a:gd fmla="val 18519" name="adj"/>
            </a:avLst>
          </a:prstGeom>
          <a:solidFill>
            <a:srgbClr val="00D4FF">
              <a:alpha val="12156"/>
            </a:srgbClr>
          </a:solidFill>
          <a:ln cap="flat" cmpd="sng" w="12700">
            <a:solidFill>
              <a:srgbClr val="00D4FF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0"/>
          <p:cNvSpPr/>
          <p:nvPr/>
        </p:nvSpPr>
        <p:spPr>
          <a:xfrm>
            <a:off x="594360" y="1956816"/>
            <a:ext cx="35661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◆  ¿Quién se ve afectado?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475488" y="2240280"/>
            <a:ext cx="3749040" cy="246888"/>
          </a:xfrm>
          <a:prstGeom prst="roundRect">
            <a:avLst>
              <a:gd fmla="val 18519" name="adj"/>
            </a:avLst>
          </a:prstGeom>
          <a:solidFill>
            <a:srgbClr val="00D4FF">
              <a:alpha val="12156"/>
            </a:srgbClr>
          </a:solidFill>
          <a:ln cap="flat" cmpd="sng" w="12700">
            <a:solidFill>
              <a:srgbClr val="00D4FF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594360" y="2240280"/>
            <a:ext cx="35661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◆  ¿En qué situación aparece?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274320" y="2816352"/>
            <a:ext cx="4160520" cy="960120"/>
          </a:xfrm>
          <a:prstGeom prst="roundRect">
            <a:avLst>
              <a:gd fmla="val 11429" name="adj"/>
            </a:avLst>
          </a:prstGeom>
          <a:solidFill>
            <a:srgbClr val="EBF8FF"/>
          </a:solidFill>
          <a:ln cap="flat" cmpd="sng" w="12700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0"/>
          <p:cNvSpPr/>
          <p:nvPr/>
        </p:nvSpPr>
        <p:spPr>
          <a:xfrm>
            <a:off x="438912" y="2862072"/>
            <a:ext cx="38404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97B8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97B8"/>
                </a:solidFill>
                <a:latin typeface="Calibri"/>
                <a:ea typeface="Calibri"/>
                <a:cs typeface="Calibri"/>
                <a:sym typeface="Calibri"/>
              </a:rPr>
              <a:t>💡  ¿Tu problema todavía es muy amplio?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438912" y="3090672"/>
            <a:ext cx="3840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3A5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2E3A5C"/>
                </a:solidFill>
                <a:latin typeface="Calibri"/>
                <a:ea typeface="Calibri"/>
                <a:cs typeface="Calibri"/>
                <a:sym typeface="Calibri"/>
              </a:rPr>
              <a:t>Preguntate: ¿Dónde pasa exactamente? · ¿Cuándo pasa? · ¿A quién afecta?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" name="Google Shape;224;p10"/>
          <p:cNvCxnSpPr/>
          <p:nvPr/>
        </p:nvCxnSpPr>
        <p:spPr>
          <a:xfrm>
            <a:off x="4462272" y="1709928"/>
            <a:ext cx="292608" cy="0"/>
          </a:xfrm>
          <a:prstGeom prst="straightConnector1">
            <a:avLst/>
          </a:prstGeom>
          <a:noFill/>
          <a:ln cap="flat" cmpd="sng" w="27925">
            <a:solidFill>
              <a:srgbClr val="FFB800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5" name="Google Shape;225;p10"/>
          <p:cNvSpPr/>
          <p:nvPr/>
        </p:nvSpPr>
        <p:spPr>
          <a:xfrm>
            <a:off x="4736592" y="658368"/>
            <a:ext cx="4114800" cy="2103120"/>
          </a:xfrm>
          <a:prstGeom prst="roundRect">
            <a:avLst>
              <a:gd fmla="val 6522" name="adj"/>
            </a:avLst>
          </a:prstGeom>
          <a:solidFill>
            <a:srgbClr val="FFFFFF"/>
          </a:solidFill>
          <a:ln cap="flat" cmpd="sng" w="254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0"/>
          <p:cNvSpPr/>
          <p:nvPr/>
        </p:nvSpPr>
        <p:spPr>
          <a:xfrm>
            <a:off x="4919472" y="804672"/>
            <a:ext cx="475488" cy="475488"/>
          </a:xfrm>
          <a:prstGeom prst="ellipse">
            <a:avLst/>
          </a:prstGeom>
          <a:solidFill>
            <a:srgbClr val="FFB800"/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0"/>
          <p:cNvSpPr/>
          <p:nvPr/>
        </p:nvSpPr>
        <p:spPr>
          <a:xfrm>
            <a:off x="4919472" y="804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5504688" y="804672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CONTEXTO DEL PROBLEMA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4919472" y="1353312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Describan el entorno donde ocurre el problema.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4919472" y="1673352"/>
            <a:ext cx="1828800" cy="246888"/>
          </a:xfrm>
          <a:prstGeom prst="roundRect">
            <a:avLst>
              <a:gd fmla="val 18519" name="adj"/>
            </a:avLst>
          </a:prstGeom>
          <a:solidFill>
            <a:srgbClr val="FFB800">
              <a:alpha val="12156"/>
            </a:srgbClr>
          </a:solidFill>
          <a:ln cap="flat" cmpd="sng" w="12700">
            <a:solidFill>
              <a:srgbClr val="FFB80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0"/>
          <p:cNvSpPr/>
          <p:nvPr/>
        </p:nvSpPr>
        <p:spPr>
          <a:xfrm>
            <a:off x="4983480" y="1673352"/>
            <a:ext cx="17373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Aula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0"/>
          <p:cNvSpPr/>
          <p:nvPr/>
        </p:nvSpPr>
        <p:spPr>
          <a:xfrm>
            <a:off x="6839712" y="1673352"/>
            <a:ext cx="1828800" cy="246888"/>
          </a:xfrm>
          <a:prstGeom prst="roundRect">
            <a:avLst>
              <a:gd fmla="val 18519" name="adj"/>
            </a:avLst>
          </a:prstGeom>
          <a:solidFill>
            <a:srgbClr val="FFB800">
              <a:alpha val="12156"/>
            </a:srgbClr>
          </a:solidFill>
          <a:ln cap="flat" cmpd="sng" w="12700">
            <a:solidFill>
              <a:srgbClr val="FFB80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0"/>
          <p:cNvSpPr/>
          <p:nvPr/>
        </p:nvSpPr>
        <p:spPr>
          <a:xfrm>
            <a:off x="6903720" y="1673352"/>
            <a:ext cx="17373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Casa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919472" y="1956816"/>
            <a:ext cx="1828800" cy="246888"/>
          </a:xfrm>
          <a:prstGeom prst="roundRect">
            <a:avLst>
              <a:gd fmla="val 18519" name="adj"/>
            </a:avLst>
          </a:prstGeom>
          <a:solidFill>
            <a:srgbClr val="FFB800">
              <a:alpha val="12156"/>
            </a:srgbClr>
          </a:solidFill>
          <a:ln cap="flat" cmpd="sng" w="12700">
            <a:solidFill>
              <a:srgbClr val="FFB80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0"/>
          <p:cNvSpPr/>
          <p:nvPr/>
        </p:nvSpPr>
        <p:spPr>
          <a:xfrm>
            <a:off x="4983480" y="1956816"/>
            <a:ext cx="17373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Transporte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6839712" y="1956816"/>
            <a:ext cx="1828800" cy="246888"/>
          </a:xfrm>
          <a:prstGeom prst="roundRect">
            <a:avLst>
              <a:gd fmla="val 18519" name="adj"/>
            </a:avLst>
          </a:prstGeom>
          <a:solidFill>
            <a:srgbClr val="FFB800">
              <a:alpha val="12156"/>
            </a:srgbClr>
          </a:solidFill>
          <a:ln cap="flat" cmpd="sng" w="12700">
            <a:solidFill>
              <a:srgbClr val="FFB80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6903720" y="1956816"/>
            <a:ext cx="17373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Taller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4919472" y="2240280"/>
            <a:ext cx="1828800" cy="246888"/>
          </a:xfrm>
          <a:prstGeom prst="roundRect">
            <a:avLst>
              <a:gd fmla="val 18519" name="adj"/>
            </a:avLst>
          </a:prstGeom>
          <a:solidFill>
            <a:srgbClr val="FFB800">
              <a:alpha val="12156"/>
            </a:srgbClr>
          </a:solidFill>
          <a:ln cap="flat" cmpd="sng" w="12700">
            <a:solidFill>
              <a:srgbClr val="FFB80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4983480" y="2240280"/>
            <a:ext cx="17373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Patio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6839712" y="2240280"/>
            <a:ext cx="1828800" cy="246888"/>
          </a:xfrm>
          <a:prstGeom prst="roundRect">
            <a:avLst>
              <a:gd fmla="val 18519" name="adj"/>
            </a:avLst>
          </a:prstGeom>
          <a:solidFill>
            <a:srgbClr val="FFB800">
              <a:alpha val="12156"/>
            </a:srgbClr>
          </a:solidFill>
          <a:ln cap="flat" cmpd="sng" w="12700">
            <a:solidFill>
              <a:srgbClr val="FFB800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6903720" y="2240280"/>
            <a:ext cx="173736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Industria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274320" y="3886200"/>
            <a:ext cx="8595360" cy="804672"/>
          </a:xfrm>
          <a:prstGeom prst="roundRect">
            <a:avLst>
              <a:gd fmla="val 13636" name="adj"/>
            </a:avLst>
          </a:prstGeom>
          <a:solidFill>
            <a:srgbClr val="0A0E2A"/>
          </a:solidFill>
          <a:ln cap="flat" cmpd="sng" w="15225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0"/>
          <p:cNvSpPr/>
          <p:nvPr/>
        </p:nvSpPr>
        <p:spPr>
          <a:xfrm>
            <a:off x="457200" y="3959352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COMPONENTE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457200" y="416052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3291840" y="3959352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DISPARADORA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3291840" y="416052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¿En qué sistema ocurre? ¿Quién está involucrado?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6126480" y="3959352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VALIDEZ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6126480" y="416052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Debe poder delimitarse o dibujarse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1"/>
          <p:cNvSpPr/>
          <p:nvPr/>
        </p:nvSpPr>
        <p:spPr>
          <a:xfrm>
            <a:off x="365760" y="164592"/>
            <a:ext cx="2194560" cy="347472"/>
          </a:xfrm>
          <a:prstGeom prst="roundRect">
            <a:avLst>
              <a:gd fmla="val 18421" name="adj"/>
            </a:avLst>
          </a:prstGeom>
          <a:solidFill>
            <a:srgbClr val="00D4FF">
              <a:alpha val="85098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1"/>
          <p:cNvSpPr/>
          <p:nvPr/>
        </p:nvSpPr>
        <p:spPr>
          <a:xfrm>
            <a:off x="365760" y="164592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FASE 1 · ANÁLISIS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2560322" y="164600"/>
            <a:ext cx="6217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Impacto y Variables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274320" y="658368"/>
            <a:ext cx="4160520" cy="2331720"/>
          </a:xfrm>
          <a:prstGeom prst="roundRect">
            <a:avLst>
              <a:gd fmla="val 5882" name="adj"/>
            </a:avLst>
          </a:prstGeom>
          <a:solidFill>
            <a:srgbClr val="1A2550"/>
          </a:solidFill>
          <a:ln cap="flat" cmpd="sng" w="254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1"/>
          <p:cNvSpPr/>
          <p:nvPr/>
        </p:nvSpPr>
        <p:spPr>
          <a:xfrm>
            <a:off x="475488" y="804672"/>
            <a:ext cx="475488" cy="475488"/>
          </a:xfrm>
          <a:prstGeom prst="ellipse">
            <a:avLst/>
          </a:prstGeom>
          <a:solidFill>
            <a:srgbClr val="FF4D6A"/>
          </a:solidFill>
          <a:ln cap="flat" cmpd="sng" w="127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475488" y="804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1051560" y="804672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D6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4D6A"/>
                </a:solidFill>
                <a:latin typeface="Calibri"/>
                <a:ea typeface="Calibri"/>
                <a:cs typeface="Calibri"/>
                <a:sym typeface="Calibri"/>
              </a:rPr>
              <a:t>IMPACTO DEL PROBLEMA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475488" y="1353312"/>
            <a:ext cx="3794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¿Qué consecuencias genera este problema?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475488" y="1673352"/>
            <a:ext cx="3749040" cy="237744"/>
          </a:xfrm>
          <a:prstGeom prst="roundRect">
            <a:avLst>
              <a:gd fmla="val 19231" name="adj"/>
            </a:avLst>
          </a:prstGeom>
          <a:solidFill>
            <a:srgbClr val="FF4D6A">
              <a:alpha val="14901"/>
            </a:srgbClr>
          </a:solidFill>
          <a:ln cap="flat" cmpd="sng" w="12700">
            <a:solidFill>
              <a:srgbClr val="FF4D6A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1"/>
          <p:cNvSpPr/>
          <p:nvPr/>
        </p:nvSpPr>
        <p:spPr>
          <a:xfrm>
            <a:off x="594360" y="167335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▸  ¿Qué pasa si no se resuelve?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475488" y="1947672"/>
            <a:ext cx="3749040" cy="237744"/>
          </a:xfrm>
          <a:prstGeom prst="roundRect">
            <a:avLst>
              <a:gd fmla="val 19231" name="adj"/>
            </a:avLst>
          </a:prstGeom>
          <a:solidFill>
            <a:srgbClr val="FF4D6A">
              <a:alpha val="14901"/>
            </a:srgbClr>
          </a:solidFill>
          <a:ln cap="flat" cmpd="sng" w="12700">
            <a:solidFill>
              <a:srgbClr val="FF4D6A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1"/>
          <p:cNvSpPr/>
          <p:nvPr/>
        </p:nvSpPr>
        <p:spPr>
          <a:xfrm>
            <a:off x="594360" y="194767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▸  ¿Quién sufre las consecuencias?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475488" y="2221992"/>
            <a:ext cx="3749040" cy="237744"/>
          </a:xfrm>
          <a:prstGeom prst="roundRect">
            <a:avLst>
              <a:gd fmla="val 19231" name="adj"/>
            </a:avLst>
          </a:prstGeom>
          <a:solidFill>
            <a:srgbClr val="FF4D6A">
              <a:alpha val="14901"/>
            </a:srgbClr>
          </a:solidFill>
          <a:ln cap="flat" cmpd="sng" w="12700">
            <a:solidFill>
              <a:srgbClr val="FF4D6A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594360" y="222199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▸  ¿Con qué frecuencia ocurre?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475488" y="2496312"/>
            <a:ext cx="3749040" cy="237744"/>
          </a:xfrm>
          <a:prstGeom prst="roundRect">
            <a:avLst>
              <a:gd fmla="val 19231" name="adj"/>
            </a:avLst>
          </a:prstGeom>
          <a:solidFill>
            <a:srgbClr val="FF4D6A">
              <a:alpha val="14901"/>
            </a:srgbClr>
          </a:solidFill>
          <a:ln cap="flat" cmpd="sng" w="12700">
            <a:solidFill>
              <a:srgbClr val="FF4D6A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1"/>
          <p:cNvSpPr/>
          <p:nvPr/>
        </p:nvSpPr>
        <p:spPr>
          <a:xfrm>
            <a:off x="594360" y="2496312"/>
            <a:ext cx="3566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▸  ¿Qué tan grave es el efecto?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274320" y="3063240"/>
            <a:ext cx="4160520" cy="658368"/>
          </a:xfrm>
          <a:prstGeom prst="roundRect">
            <a:avLst>
              <a:gd fmla="val 13889" name="adj"/>
            </a:avLst>
          </a:prstGeom>
          <a:solidFill>
            <a:srgbClr val="1A2550"/>
          </a:solidFill>
          <a:ln cap="flat" cmpd="sng" w="12700">
            <a:solidFill>
              <a:srgbClr val="FF4D6A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411480" y="3081528"/>
            <a:ext cx="3840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⚠️  Si el problema no tiene consecuencias reales, </a:t>
            </a:r>
            <a:endParaRPr b="0" i="1" sz="950" u="none" cap="none" strike="noStrike">
              <a:solidFill>
                <a:srgbClr val="E8ED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i="1" lang="en-US" sz="950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b="0" i="1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el proyecto pierde su razón de ser.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2" name="Google Shape;272;p11"/>
          <p:cNvCxnSpPr/>
          <p:nvPr/>
        </p:nvCxnSpPr>
        <p:spPr>
          <a:xfrm>
            <a:off x="4462272" y="1828800"/>
            <a:ext cx="292608" cy="0"/>
          </a:xfrm>
          <a:prstGeom prst="straightConnector1">
            <a:avLst/>
          </a:prstGeom>
          <a:noFill/>
          <a:ln cap="flat" cmpd="sng" w="27925">
            <a:solidFill>
              <a:srgbClr val="9B59B6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73" name="Google Shape;273;p11"/>
          <p:cNvSpPr/>
          <p:nvPr/>
        </p:nvSpPr>
        <p:spPr>
          <a:xfrm>
            <a:off x="4736592" y="658368"/>
            <a:ext cx="4114800" cy="2331720"/>
          </a:xfrm>
          <a:prstGeom prst="roundRect">
            <a:avLst>
              <a:gd fmla="val 5882" name="adj"/>
            </a:avLst>
          </a:prstGeom>
          <a:solidFill>
            <a:srgbClr val="1A2550"/>
          </a:solidFill>
          <a:ln cap="flat" cmpd="sng" w="25400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4919472" y="804672"/>
            <a:ext cx="475488" cy="475488"/>
          </a:xfrm>
          <a:prstGeom prst="ellipse">
            <a:avLst/>
          </a:prstGeom>
          <a:solidFill>
            <a:srgbClr val="9B59B6"/>
          </a:solidFill>
          <a:ln cap="flat" cmpd="sng" w="12700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1"/>
          <p:cNvSpPr/>
          <p:nvPr/>
        </p:nvSpPr>
        <p:spPr>
          <a:xfrm>
            <a:off x="4919472" y="804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5504688" y="804672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B59B6"/>
                </a:solidFill>
                <a:latin typeface="Calibri"/>
                <a:ea typeface="Calibri"/>
                <a:cs typeface="Calibri"/>
                <a:sym typeface="Calibri"/>
              </a:rPr>
              <a:t>VARIABLES DEL PROBLEMA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4919472" y="1353312"/>
            <a:ext cx="3749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Todo sistema automático detecta una variable.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4919472" y="1673352"/>
            <a:ext cx="1828800" cy="237744"/>
          </a:xfrm>
          <a:prstGeom prst="roundRect">
            <a:avLst>
              <a:gd fmla="val 19231" name="adj"/>
            </a:avLst>
          </a:prstGeom>
          <a:solidFill>
            <a:srgbClr val="9B59B6">
              <a:alpha val="18039"/>
            </a:srgbClr>
          </a:solidFill>
          <a:ln cap="flat" cmpd="sng" w="12700">
            <a:solidFill>
              <a:srgbClr val="9B59B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4983480" y="1673352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Temperatura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6839712" y="1673352"/>
            <a:ext cx="1828800" cy="237744"/>
          </a:xfrm>
          <a:prstGeom prst="roundRect">
            <a:avLst>
              <a:gd fmla="val 19231" name="adj"/>
            </a:avLst>
          </a:prstGeom>
          <a:solidFill>
            <a:srgbClr val="9B59B6">
              <a:alpha val="18039"/>
            </a:srgbClr>
          </a:solidFill>
          <a:ln cap="flat" cmpd="sng" w="12700">
            <a:solidFill>
              <a:srgbClr val="9B59B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1"/>
          <p:cNvSpPr/>
          <p:nvPr/>
        </p:nvSpPr>
        <p:spPr>
          <a:xfrm>
            <a:off x="6903720" y="1673352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Luz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4919472" y="1938528"/>
            <a:ext cx="1828800" cy="237744"/>
          </a:xfrm>
          <a:prstGeom prst="roundRect">
            <a:avLst>
              <a:gd fmla="val 19231" name="adj"/>
            </a:avLst>
          </a:prstGeom>
          <a:solidFill>
            <a:srgbClr val="9B59B6">
              <a:alpha val="18039"/>
            </a:srgbClr>
          </a:solidFill>
          <a:ln cap="flat" cmpd="sng" w="12700">
            <a:solidFill>
              <a:srgbClr val="9B59B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4983480" y="1938528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Sonido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839712" y="1938528"/>
            <a:ext cx="1828800" cy="237744"/>
          </a:xfrm>
          <a:prstGeom prst="roundRect">
            <a:avLst>
              <a:gd fmla="val 19231" name="adj"/>
            </a:avLst>
          </a:prstGeom>
          <a:solidFill>
            <a:srgbClr val="9B59B6">
              <a:alpha val="18039"/>
            </a:srgbClr>
          </a:solidFill>
          <a:ln cap="flat" cmpd="sng" w="12700">
            <a:solidFill>
              <a:srgbClr val="9B59B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1"/>
          <p:cNvSpPr/>
          <p:nvPr/>
        </p:nvSpPr>
        <p:spPr>
          <a:xfrm>
            <a:off x="6903720" y="1938528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Movimiento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4919472" y="2203704"/>
            <a:ext cx="1828800" cy="237744"/>
          </a:xfrm>
          <a:prstGeom prst="roundRect">
            <a:avLst>
              <a:gd fmla="val 19231" name="adj"/>
            </a:avLst>
          </a:prstGeom>
          <a:solidFill>
            <a:srgbClr val="9B59B6">
              <a:alpha val="18039"/>
            </a:srgbClr>
          </a:solidFill>
          <a:ln cap="flat" cmpd="sng" w="12700">
            <a:solidFill>
              <a:srgbClr val="9B59B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1"/>
          <p:cNvSpPr/>
          <p:nvPr/>
        </p:nvSpPr>
        <p:spPr>
          <a:xfrm>
            <a:off x="4983480" y="2203704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Distancia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/>
          <p:nvPr/>
        </p:nvSpPr>
        <p:spPr>
          <a:xfrm>
            <a:off x="6839712" y="2203704"/>
            <a:ext cx="1828800" cy="237744"/>
          </a:xfrm>
          <a:prstGeom prst="roundRect">
            <a:avLst>
              <a:gd fmla="val 19231" name="adj"/>
            </a:avLst>
          </a:prstGeom>
          <a:solidFill>
            <a:srgbClr val="9B59B6">
              <a:alpha val="18039"/>
            </a:srgbClr>
          </a:solidFill>
          <a:ln cap="flat" cmpd="sng" w="12700">
            <a:solidFill>
              <a:srgbClr val="9B59B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6903720" y="2203704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Humedad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4919472" y="2468880"/>
            <a:ext cx="1828800" cy="237744"/>
          </a:xfrm>
          <a:prstGeom prst="roundRect">
            <a:avLst>
              <a:gd fmla="val 19231" name="adj"/>
            </a:avLst>
          </a:prstGeom>
          <a:solidFill>
            <a:srgbClr val="9B59B6">
              <a:alpha val="18039"/>
            </a:srgbClr>
          </a:solidFill>
          <a:ln cap="flat" cmpd="sng" w="12700">
            <a:solidFill>
              <a:srgbClr val="9B59B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1"/>
          <p:cNvSpPr/>
          <p:nvPr/>
        </p:nvSpPr>
        <p:spPr>
          <a:xfrm>
            <a:off x="4983480" y="2468880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6839712" y="2468880"/>
            <a:ext cx="1828800" cy="237744"/>
          </a:xfrm>
          <a:prstGeom prst="roundRect">
            <a:avLst>
              <a:gd fmla="val 19231" name="adj"/>
            </a:avLst>
          </a:prstGeom>
          <a:solidFill>
            <a:srgbClr val="9B59B6">
              <a:alpha val="18039"/>
            </a:srgbClr>
          </a:solidFill>
          <a:ln cap="flat" cmpd="sng" w="12700">
            <a:solidFill>
              <a:srgbClr val="9B59B6">
                <a:alpha val="45098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1"/>
          <p:cNvSpPr/>
          <p:nvPr/>
        </p:nvSpPr>
        <p:spPr>
          <a:xfrm>
            <a:off x="6903720" y="2468880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Corriente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4736592" y="3063240"/>
            <a:ext cx="4114800" cy="658368"/>
          </a:xfrm>
          <a:prstGeom prst="roundRect">
            <a:avLst>
              <a:gd fmla="val 13889" name="adj"/>
            </a:avLst>
          </a:prstGeom>
          <a:solidFill>
            <a:srgbClr val="9B59B6">
              <a:alpha val="87843"/>
            </a:srgbClr>
          </a:solidFill>
          <a:ln cap="flat" cmpd="sng" w="15225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4864608" y="3081528"/>
            <a:ext cx="3840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sensor = medir variable  |  Este paso prepara la elección de         </a:t>
            </a:r>
            <a:endParaRPr b="1" i="0" sz="11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                  </a:t>
            </a: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sensores.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274320" y="3858768"/>
            <a:ext cx="8595360" cy="822960"/>
          </a:xfrm>
          <a:prstGeom prst="roundRect">
            <a:avLst>
              <a:gd fmla="val 13333" name="adj"/>
            </a:avLst>
          </a:prstGeom>
          <a:solidFill>
            <a:srgbClr val="111840"/>
          </a:solidFill>
          <a:ln cap="flat" cmpd="sng" w="15225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1"/>
          <p:cNvSpPr/>
          <p:nvPr/>
        </p:nvSpPr>
        <p:spPr>
          <a:xfrm>
            <a:off x="457200" y="3931920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COMPONENTE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457200" y="4133088"/>
            <a:ext cx="2651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3291840" y="3931920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9B59B6"/>
                </a:solidFill>
                <a:latin typeface="Calibri"/>
                <a:ea typeface="Calibri"/>
                <a:cs typeface="Calibri"/>
                <a:sym typeface="Calibri"/>
              </a:rPr>
              <a:t>DISPARADORA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1"/>
          <p:cNvSpPr/>
          <p:nvPr/>
        </p:nvSpPr>
        <p:spPr>
          <a:xfrm>
            <a:off x="3291840" y="4133088"/>
            <a:ext cx="2651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¿Qué es lo único que, si lo mido, me dice si el problema existe?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1"/>
          <p:cNvSpPr/>
          <p:nvPr/>
        </p:nvSpPr>
        <p:spPr>
          <a:xfrm>
            <a:off x="6126480" y="3931920"/>
            <a:ext cx="2651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VALIDEZ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6126480" y="4133088"/>
            <a:ext cx="265176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Tiene que ser observable o medible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2"/>
          <p:cNvSpPr/>
          <p:nvPr/>
        </p:nvSpPr>
        <p:spPr>
          <a:xfrm>
            <a:off x="365760" y="164592"/>
            <a:ext cx="2194560" cy="347472"/>
          </a:xfrm>
          <a:prstGeom prst="roundRect">
            <a:avLst>
              <a:gd fmla="val 18421" name="adj"/>
            </a:avLst>
          </a:prstGeom>
          <a:solidFill>
            <a:srgbClr val="0A0E2A"/>
          </a:solidFill>
          <a:ln cap="flat" cmpd="sng" w="12700">
            <a:solidFill>
              <a:srgbClr val="0A0E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2"/>
          <p:cNvSpPr/>
          <p:nvPr/>
        </p:nvSpPr>
        <p:spPr>
          <a:xfrm>
            <a:off x="365760" y="164592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FASE 1 · PASO 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2578597" y="164600"/>
            <a:ext cx="6199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El Problema Técnico Definitivo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457200" y="5669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Reescribir el problema en lenguaje técnico — sin ambigüedad, sin adjetivos subjetivos.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/>
          <p:nvPr/>
        </p:nvSpPr>
        <p:spPr>
          <a:xfrm>
            <a:off x="365760" y="914400"/>
            <a:ext cx="8412480" cy="960120"/>
          </a:xfrm>
          <a:prstGeom prst="roundRect">
            <a:avLst>
              <a:gd fmla="val 14286" name="adj"/>
            </a:avLst>
          </a:prstGeom>
          <a:solidFill>
            <a:srgbClr val="0A0E2A"/>
          </a:solidFill>
          <a:ln cap="flat" cmpd="sng" w="254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2"/>
          <p:cNvSpPr/>
          <p:nvPr/>
        </p:nvSpPr>
        <p:spPr>
          <a:xfrm>
            <a:off x="594360" y="9601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ESTRUCTURA: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594360" y="1207008"/>
            <a:ext cx="804672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En </a:t>
            </a: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[el</a:t>
            </a:r>
            <a:r>
              <a:rPr b="1" lang="en-US" sz="1300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CONTEXTO]</a:t>
            </a:r>
            <a:r>
              <a:rPr b="0" i="0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  ocurre  </a:t>
            </a:r>
            <a:r>
              <a:rPr b="1" i="0" lang="en-US" sz="13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[el PROBLEMA]</a:t>
            </a:r>
            <a:r>
              <a:rPr b="0" i="0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  cuando  </a:t>
            </a:r>
            <a:r>
              <a:rPr b="1" i="0" lang="en-US" sz="1300" u="none" cap="none" strike="noStrike">
                <a:solidFill>
                  <a:srgbClr val="9B59B6"/>
                </a:solidFill>
                <a:latin typeface="Calibri"/>
                <a:ea typeface="Calibri"/>
                <a:cs typeface="Calibri"/>
                <a:sym typeface="Calibri"/>
              </a:rPr>
              <a:t>[la VARIABLE]</a:t>
            </a:r>
            <a:r>
              <a:rPr b="0" i="0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  supera  </a:t>
            </a:r>
            <a:r>
              <a:rPr b="1" i="0" lang="en-US" sz="1300" u="none" cap="none" strike="noStrike">
                <a:solidFill>
                  <a:srgbClr val="FF4D6A"/>
                </a:solidFill>
                <a:latin typeface="Calibri"/>
                <a:ea typeface="Calibri"/>
                <a:cs typeface="Calibri"/>
                <a:sym typeface="Calibri"/>
              </a:rPr>
              <a:t>[el PUNTO DE QUIEBRE]</a:t>
            </a:r>
            <a:r>
              <a:rPr b="0" i="0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,  </a:t>
            </a:r>
            <a:endParaRPr b="0" i="0" sz="1300" u="none" cap="none" strike="noStrike">
              <a:solidFill>
                <a:srgbClr val="E8ED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lo que genera  </a:t>
            </a:r>
            <a:r>
              <a:rPr b="1" i="0" lang="en-US" sz="13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[un EFECTO NO DESEADO]</a:t>
            </a:r>
            <a:r>
              <a:rPr b="0" i="0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/>
          <p:nvPr/>
        </p:nvSpPr>
        <p:spPr>
          <a:xfrm>
            <a:off x="320040" y="2029968"/>
            <a:ext cx="2011680" cy="1051560"/>
          </a:xfrm>
          <a:prstGeom prst="roundRect">
            <a:avLst>
              <a:gd fmla="val 10435" name="adj"/>
            </a:avLst>
          </a:prstGeom>
          <a:solidFill>
            <a:srgbClr val="00D4FF">
              <a:alpha val="92156"/>
            </a:srgbClr>
          </a:solidFill>
          <a:ln cap="flat" cmpd="sng" w="190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2"/>
          <p:cNvSpPr/>
          <p:nvPr/>
        </p:nvSpPr>
        <p:spPr>
          <a:xfrm>
            <a:off x="411480" y="216712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CONTEXTO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2"/>
          <p:cNvSpPr/>
          <p:nvPr/>
        </p:nvSpPr>
        <p:spPr>
          <a:xfrm>
            <a:off x="411480" y="256032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¿En qué sistema?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8" name="Google Shape;318;p12"/>
          <p:cNvCxnSpPr/>
          <p:nvPr/>
        </p:nvCxnSpPr>
        <p:spPr>
          <a:xfrm>
            <a:off x="1325880" y="1892808"/>
            <a:ext cx="0" cy="137160"/>
          </a:xfrm>
          <a:prstGeom prst="straightConnector1">
            <a:avLst/>
          </a:prstGeom>
          <a:noFill/>
          <a:ln cap="flat" cmpd="sng" w="19050">
            <a:solidFill>
              <a:srgbClr val="00D4FF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19" name="Google Shape;319;p12"/>
          <p:cNvSpPr/>
          <p:nvPr/>
        </p:nvSpPr>
        <p:spPr>
          <a:xfrm>
            <a:off x="2487168" y="2029968"/>
            <a:ext cx="2011680" cy="1051560"/>
          </a:xfrm>
          <a:prstGeom prst="roundRect">
            <a:avLst>
              <a:gd fmla="val 10435" name="adj"/>
            </a:avLst>
          </a:prstGeom>
          <a:solidFill>
            <a:srgbClr val="9B59B6">
              <a:alpha val="92156"/>
            </a:srgbClr>
          </a:solidFill>
          <a:ln cap="flat" cmpd="sng" w="19050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"/>
          <p:cNvSpPr/>
          <p:nvPr/>
        </p:nvSpPr>
        <p:spPr>
          <a:xfrm>
            <a:off x="2578608" y="216712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2"/>
          <p:cNvSpPr/>
          <p:nvPr/>
        </p:nvSpPr>
        <p:spPr>
          <a:xfrm>
            <a:off x="2578608" y="256032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¿Qué se mide?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2" name="Google Shape;322;p12"/>
          <p:cNvCxnSpPr/>
          <p:nvPr/>
        </p:nvCxnSpPr>
        <p:spPr>
          <a:xfrm>
            <a:off x="3493008" y="1892808"/>
            <a:ext cx="0" cy="137160"/>
          </a:xfrm>
          <a:prstGeom prst="straightConnector1">
            <a:avLst/>
          </a:prstGeom>
          <a:noFill/>
          <a:ln cap="flat" cmpd="sng" w="19050">
            <a:solidFill>
              <a:srgbClr val="9B59B6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23" name="Google Shape;323;p12"/>
          <p:cNvSpPr/>
          <p:nvPr/>
        </p:nvSpPr>
        <p:spPr>
          <a:xfrm>
            <a:off x="4645152" y="2029968"/>
            <a:ext cx="2011680" cy="1051560"/>
          </a:xfrm>
          <a:prstGeom prst="roundRect">
            <a:avLst>
              <a:gd fmla="val 10435" name="adj"/>
            </a:avLst>
          </a:prstGeom>
          <a:solidFill>
            <a:srgbClr val="FF4D6A">
              <a:alpha val="92156"/>
            </a:srgbClr>
          </a:solidFill>
          <a:ln cap="flat" cmpd="sng" w="1905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2"/>
          <p:cNvSpPr/>
          <p:nvPr/>
        </p:nvSpPr>
        <p:spPr>
          <a:xfrm>
            <a:off x="4736592" y="216712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PUNTO DE QUIEBRE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2"/>
          <p:cNvSpPr/>
          <p:nvPr/>
        </p:nvSpPr>
        <p:spPr>
          <a:xfrm>
            <a:off x="4736592" y="256032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¿Cuándo es problema?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6" name="Google Shape;326;p12"/>
          <p:cNvCxnSpPr/>
          <p:nvPr/>
        </p:nvCxnSpPr>
        <p:spPr>
          <a:xfrm>
            <a:off x="5650992" y="1892808"/>
            <a:ext cx="0" cy="137160"/>
          </a:xfrm>
          <a:prstGeom prst="straightConnector1">
            <a:avLst/>
          </a:prstGeom>
          <a:noFill/>
          <a:ln cap="flat" cmpd="sng" w="19050">
            <a:solidFill>
              <a:srgbClr val="FF4D6A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27" name="Google Shape;327;p12"/>
          <p:cNvSpPr/>
          <p:nvPr/>
        </p:nvSpPr>
        <p:spPr>
          <a:xfrm>
            <a:off x="6803136" y="2029968"/>
            <a:ext cx="2011680" cy="1051560"/>
          </a:xfrm>
          <a:prstGeom prst="roundRect">
            <a:avLst>
              <a:gd fmla="val 10435" name="adj"/>
            </a:avLst>
          </a:prstGeom>
          <a:solidFill>
            <a:srgbClr val="00C896">
              <a:alpha val="92156"/>
            </a:srgbClr>
          </a:solidFill>
          <a:ln cap="flat" cmpd="sng" w="190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27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2"/>
          <p:cNvSpPr/>
          <p:nvPr/>
        </p:nvSpPr>
        <p:spPr>
          <a:xfrm>
            <a:off x="6894576" y="216712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EFECTO/PROBLEMA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2"/>
          <p:cNvSpPr/>
          <p:nvPr/>
        </p:nvSpPr>
        <p:spPr>
          <a:xfrm>
            <a:off x="6894576" y="256032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¿Qué consecuencia ocurre?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0" name="Google Shape;330;p12"/>
          <p:cNvCxnSpPr/>
          <p:nvPr/>
        </p:nvCxnSpPr>
        <p:spPr>
          <a:xfrm>
            <a:off x="7808976" y="1892808"/>
            <a:ext cx="0" cy="137160"/>
          </a:xfrm>
          <a:prstGeom prst="straightConnector1">
            <a:avLst/>
          </a:prstGeom>
          <a:noFill/>
          <a:ln cap="flat" cmpd="sng" w="19050">
            <a:solidFill>
              <a:srgbClr val="00C896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331" name="Google Shape;331;p12"/>
          <p:cNvSpPr/>
          <p:nvPr/>
        </p:nvSpPr>
        <p:spPr>
          <a:xfrm>
            <a:off x="320040" y="3200400"/>
            <a:ext cx="8503920" cy="210312"/>
          </a:xfrm>
          <a:prstGeom prst="roundRect">
            <a:avLst>
              <a:gd fmla="val 21739" name="adj"/>
            </a:avLst>
          </a:prstGeom>
          <a:solidFill>
            <a:srgbClr val="00C896">
              <a:alpha val="10196"/>
            </a:srgbClr>
          </a:solidFill>
          <a:ln cap="flat" cmpd="sng" w="12700">
            <a:solidFill>
              <a:srgbClr val="00C896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2"/>
          <p:cNvSpPr/>
          <p:nvPr/>
        </p:nvSpPr>
        <p:spPr>
          <a:xfrm>
            <a:off x="457200" y="3200400"/>
            <a:ext cx="832104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664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6640"/>
                </a:solidFill>
                <a:latin typeface="Calibri"/>
                <a:ea typeface="Calibri"/>
                <a:cs typeface="Calibri"/>
                <a:sym typeface="Calibri"/>
              </a:rPr>
              <a:t>✔  Una sola oración — no usar 'y' para unir dos problemas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2"/>
          <p:cNvSpPr/>
          <p:nvPr/>
        </p:nvSpPr>
        <p:spPr>
          <a:xfrm>
            <a:off x="320040" y="3465576"/>
            <a:ext cx="8503920" cy="210312"/>
          </a:xfrm>
          <a:prstGeom prst="roundRect">
            <a:avLst>
              <a:gd fmla="val 21739" name="adj"/>
            </a:avLst>
          </a:prstGeom>
          <a:solidFill>
            <a:srgbClr val="00C896">
              <a:alpha val="10196"/>
            </a:srgbClr>
          </a:solidFill>
          <a:ln cap="flat" cmpd="sng" w="12700">
            <a:solidFill>
              <a:srgbClr val="00C896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2"/>
          <p:cNvSpPr/>
          <p:nvPr/>
        </p:nvSpPr>
        <p:spPr>
          <a:xfrm>
            <a:off x="457200" y="3465576"/>
            <a:ext cx="832104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664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6640"/>
                </a:solidFill>
                <a:latin typeface="Calibri"/>
                <a:ea typeface="Calibri"/>
                <a:cs typeface="Calibri"/>
                <a:sym typeface="Calibri"/>
              </a:rPr>
              <a:t>✔  Sin adjetivos subjetivos: no 'mucho', 'grave', 'excesivo'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2"/>
          <p:cNvSpPr/>
          <p:nvPr/>
        </p:nvSpPr>
        <p:spPr>
          <a:xfrm>
            <a:off x="320040" y="3730752"/>
            <a:ext cx="8503920" cy="210312"/>
          </a:xfrm>
          <a:prstGeom prst="roundRect">
            <a:avLst>
              <a:gd fmla="val 21739" name="adj"/>
            </a:avLst>
          </a:prstGeom>
          <a:solidFill>
            <a:srgbClr val="00C896">
              <a:alpha val="10196"/>
            </a:srgbClr>
          </a:solidFill>
          <a:ln cap="flat" cmpd="sng" w="12700">
            <a:solidFill>
              <a:srgbClr val="00C896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2"/>
          <p:cNvSpPr/>
          <p:nvPr/>
        </p:nvSpPr>
        <p:spPr>
          <a:xfrm>
            <a:off x="457200" y="3730752"/>
            <a:ext cx="832104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664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6640"/>
                </a:solidFill>
                <a:latin typeface="Calibri"/>
                <a:ea typeface="Calibri"/>
                <a:cs typeface="Calibri"/>
                <a:sym typeface="Calibri"/>
              </a:rPr>
              <a:t>✔  Cada término entre corchetes ya debe estar definido en los pasos anteriores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2"/>
          <p:cNvSpPr/>
          <p:nvPr/>
        </p:nvSpPr>
        <p:spPr>
          <a:xfrm>
            <a:off x="320040" y="3995928"/>
            <a:ext cx="8503920" cy="210312"/>
          </a:xfrm>
          <a:prstGeom prst="roundRect">
            <a:avLst>
              <a:gd fmla="val 21739" name="adj"/>
            </a:avLst>
          </a:prstGeom>
          <a:solidFill>
            <a:srgbClr val="FF4D6A">
              <a:alpha val="10196"/>
            </a:srgbClr>
          </a:solidFill>
          <a:ln cap="flat" cmpd="sng" w="12700">
            <a:solidFill>
              <a:srgbClr val="FF4D6A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2"/>
          <p:cNvSpPr/>
          <p:nvPr/>
        </p:nvSpPr>
        <p:spPr>
          <a:xfrm>
            <a:off x="457200" y="3995928"/>
            <a:ext cx="832104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0000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8B0000"/>
                </a:solidFill>
                <a:latin typeface="Calibri"/>
                <a:ea typeface="Calibri"/>
                <a:cs typeface="Calibri"/>
                <a:sym typeface="Calibri"/>
              </a:rPr>
              <a:t>✘  NO: 'Hay mucho calor en la oficina que molesta a la gente'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2"/>
          <p:cNvSpPr/>
          <p:nvPr/>
        </p:nvSpPr>
        <p:spPr>
          <a:xfrm>
            <a:off x="320040" y="4261104"/>
            <a:ext cx="8503920" cy="210312"/>
          </a:xfrm>
          <a:prstGeom prst="roundRect">
            <a:avLst>
              <a:gd fmla="val 21739" name="adj"/>
            </a:avLst>
          </a:prstGeom>
          <a:solidFill>
            <a:srgbClr val="00C896">
              <a:alpha val="10196"/>
            </a:srgbClr>
          </a:solidFill>
          <a:ln cap="flat" cmpd="sng" w="12700">
            <a:solidFill>
              <a:srgbClr val="00C896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2"/>
          <p:cNvSpPr/>
          <p:nvPr/>
        </p:nvSpPr>
        <p:spPr>
          <a:xfrm>
            <a:off x="457200" y="4261104"/>
            <a:ext cx="8321040" cy="2103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6640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A6640"/>
                </a:solidFill>
                <a:latin typeface="Calibri"/>
                <a:ea typeface="Calibri"/>
                <a:cs typeface="Calibri"/>
                <a:sym typeface="Calibri"/>
              </a:rPr>
              <a:t>✔  SÍ: 'La temperatura del ambiente supera los 26 °C por más de 30 min en horario laboral'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3"/>
          <p:cNvSpPr/>
          <p:nvPr/>
        </p:nvSpPr>
        <p:spPr>
          <a:xfrm>
            <a:off x="457200" y="164592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Ejemplo completo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365760" y="685800"/>
            <a:ext cx="8412480" cy="530352"/>
          </a:xfrm>
          <a:prstGeom prst="roundRect">
            <a:avLst>
              <a:gd fmla="val 17241" name="adj"/>
            </a:avLst>
          </a:prstGeom>
          <a:solidFill>
            <a:srgbClr val="1A2550"/>
          </a:solidFill>
          <a:ln cap="flat" cmpd="sng" w="190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3"/>
          <p:cNvSpPr/>
          <p:nvPr/>
        </p:nvSpPr>
        <p:spPr>
          <a:xfrm>
            <a:off x="502920" y="685800"/>
            <a:ext cx="82296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PROBLEMA VAGO:  </a:t>
            </a:r>
            <a:r>
              <a:rPr b="0" i="1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"En la oficina hace mucho calor."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3"/>
          <p:cNvSpPr/>
          <p:nvPr/>
        </p:nvSpPr>
        <p:spPr>
          <a:xfrm>
            <a:off x="365760" y="1463040"/>
            <a:ext cx="457200" cy="457200"/>
          </a:xfrm>
          <a:prstGeom prst="ellipse">
            <a:avLst/>
          </a:prstGeom>
          <a:solidFill>
            <a:srgbClr val="00D4FF">
              <a:alpha val="90196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365760" y="14630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960120" y="1325880"/>
            <a:ext cx="8046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CONTEXTO: "¿En qué sistema y cuándo?"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960120" y="1618488"/>
            <a:ext cx="80467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→  La oficina, en horario laboral, con el personal administrativo presente.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3"/>
          <p:cNvSpPr/>
          <p:nvPr/>
        </p:nvSpPr>
        <p:spPr>
          <a:xfrm>
            <a:off x="365760" y="2267712"/>
            <a:ext cx="457200" cy="457200"/>
          </a:xfrm>
          <a:prstGeom prst="ellipse">
            <a:avLst/>
          </a:prstGeom>
          <a:solidFill>
            <a:srgbClr val="FFB800">
              <a:alpha val="90196"/>
            </a:srgbClr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365760" y="22677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3"/>
          <p:cNvSpPr/>
          <p:nvPr/>
        </p:nvSpPr>
        <p:spPr>
          <a:xfrm>
            <a:off x="960120" y="2130552"/>
            <a:ext cx="8046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VARIABLE: "¿Qué mido para saber si el problema existe?"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960120" y="2423160"/>
            <a:ext cx="80467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→  Temperatura ambiente del espacio de trabajo.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3"/>
          <p:cNvSpPr/>
          <p:nvPr/>
        </p:nvSpPr>
        <p:spPr>
          <a:xfrm>
            <a:off x="365760" y="3072384"/>
            <a:ext cx="457200" cy="457200"/>
          </a:xfrm>
          <a:prstGeom prst="ellipse">
            <a:avLst/>
          </a:prstGeom>
          <a:solidFill>
            <a:srgbClr val="FF4D6A">
              <a:alpha val="90196"/>
            </a:srgbClr>
          </a:solidFill>
          <a:ln cap="flat" cmpd="sng" w="127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365760" y="307238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3"/>
          <p:cNvSpPr/>
          <p:nvPr/>
        </p:nvSpPr>
        <p:spPr>
          <a:xfrm>
            <a:off x="960120" y="2935224"/>
            <a:ext cx="8046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D6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4D6A"/>
                </a:solidFill>
                <a:latin typeface="Calibri"/>
                <a:ea typeface="Calibri"/>
                <a:cs typeface="Calibri"/>
                <a:sym typeface="Calibri"/>
              </a:rPr>
              <a:t>PUNTO DE QUIEBRE: "¿A partir de qué valor es un problema?"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3"/>
          <p:cNvSpPr/>
          <p:nvPr/>
        </p:nvSpPr>
        <p:spPr>
          <a:xfrm>
            <a:off x="960120" y="3227832"/>
            <a:ext cx="80467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→  Temperatura &gt; 26 °C sostenida por más de 30 minutos.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3"/>
          <p:cNvSpPr/>
          <p:nvPr/>
        </p:nvSpPr>
        <p:spPr>
          <a:xfrm>
            <a:off x="365760" y="3877056"/>
            <a:ext cx="457200" cy="457200"/>
          </a:xfrm>
          <a:prstGeom prst="ellipse">
            <a:avLst/>
          </a:prstGeom>
          <a:solidFill>
            <a:srgbClr val="00C896">
              <a:alpha val="90196"/>
            </a:srgbClr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3"/>
          <p:cNvSpPr/>
          <p:nvPr/>
        </p:nvSpPr>
        <p:spPr>
          <a:xfrm>
            <a:off x="365760" y="38770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3"/>
          <p:cNvSpPr/>
          <p:nvPr/>
        </p:nvSpPr>
        <p:spPr>
          <a:xfrm>
            <a:off x="960120" y="3739896"/>
            <a:ext cx="80467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PROBLEMA TÉCNICO: "¿Qué efecto no deseado ocurre cuando se cruza ese umbral?"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3"/>
          <p:cNvSpPr/>
          <p:nvPr/>
        </p:nvSpPr>
        <p:spPr>
          <a:xfrm>
            <a:off x="960120" y="4032504"/>
            <a:ext cx="80467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→  La temperatura del ambiente supera los 26 °C durante más de 30 min en horario laboral.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3"/>
          <p:cNvSpPr/>
          <p:nvPr/>
        </p:nvSpPr>
        <p:spPr>
          <a:xfrm>
            <a:off x="365750" y="4451398"/>
            <a:ext cx="8412600" cy="332700"/>
          </a:xfrm>
          <a:prstGeom prst="roundRect">
            <a:avLst>
              <a:gd fmla="val 16667" name="adj"/>
            </a:avLst>
          </a:prstGeom>
          <a:solidFill>
            <a:srgbClr val="00C896">
              <a:alpha val="87843"/>
            </a:srgbClr>
          </a:solidFill>
          <a:ln cap="flat" cmpd="sng" w="190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3"/>
          <p:cNvSpPr/>
          <p:nvPr/>
        </p:nvSpPr>
        <p:spPr>
          <a:xfrm>
            <a:off x="502920" y="434340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34F5C"/>
                </a:solidFill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0" i="0" lang="en-US" sz="12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Detectar cuando la temperatura supere los 26 °C por más de 30 min y activar un mecanismo de enfriamiento.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4"/>
          <p:cNvSpPr/>
          <p:nvPr/>
        </p:nvSpPr>
        <p:spPr>
          <a:xfrm>
            <a:off x="365760" y="201168"/>
            <a:ext cx="2011680" cy="365760"/>
          </a:xfrm>
          <a:prstGeom prst="roundRect">
            <a:avLst>
              <a:gd fmla="val 20000" name="adj"/>
            </a:avLst>
          </a:prstGeom>
          <a:solidFill>
            <a:srgbClr val="00D4FF"/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4"/>
          <p:cNvSpPr/>
          <p:nvPr/>
        </p:nvSpPr>
        <p:spPr>
          <a:xfrm>
            <a:off x="365760" y="20116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RONDA 1 · COLECTIVA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4"/>
          <p:cNvSpPr/>
          <p:nvPr/>
        </p:nvSpPr>
        <p:spPr>
          <a:xfrm>
            <a:off x="2377448" y="201175"/>
            <a:ext cx="6400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Ejercitación guiada — todos juntos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4"/>
          <p:cNvSpPr/>
          <p:nvPr/>
        </p:nvSpPr>
        <p:spPr>
          <a:xfrm>
            <a:off x="457200" y="713232"/>
            <a:ext cx="8229600" cy="658368"/>
          </a:xfrm>
          <a:prstGeom prst="roundRect">
            <a:avLst>
              <a:gd fmla="val 16667" name="adj"/>
            </a:avLst>
          </a:prstGeom>
          <a:solidFill>
            <a:srgbClr val="0A0E2A"/>
          </a:solidFill>
          <a:ln cap="flat" cmpd="sng" w="254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4"/>
          <p:cNvSpPr/>
          <p:nvPr/>
        </p:nvSpPr>
        <p:spPr>
          <a:xfrm>
            <a:off x="594360" y="713232"/>
            <a:ext cx="7955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PROBLEMA VAGO:  </a:t>
            </a:r>
            <a:r>
              <a:rPr b="0" i="1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"En el taller de la escuela, a veces pasan accidentes."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457200" y="1508760"/>
            <a:ext cx="8229600" cy="713232"/>
          </a:xfrm>
          <a:prstGeom prst="roundRect">
            <a:avLst>
              <a:gd fmla="val 12821" name="adj"/>
            </a:avLst>
          </a:prstGeom>
          <a:solidFill>
            <a:srgbClr val="FFFFFF"/>
          </a:solidFill>
          <a:ln cap="flat" cmpd="sng" w="15225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4"/>
          <p:cNvSpPr/>
          <p:nvPr/>
        </p:nvSpPr>
        <p:spPr>
          <a:xfrm>
            <a:off x="594360" y="1636776"/>
            <a:ext cx="457200" cy="457200"/>
          </a:xfrm>
          <a:prstGeom prst="ellipse">
            <a:avLst/>
          </a:prstGeom>
          <a:solidFill>
            <a:srgbClr val="00D4FF">
              <a:alpha val="90196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4"/>
          <p:cNvSpPr/>
          <p:nvPr/>
        </p:nvSpPr>
        <p:spPr>
          <a:xfrm>
            <a:off x="594360" y="163677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1234440" y="1508760"/>
            <a:ext cx="7315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Aplicar la pregunta disparadora de CONTEXTO: ¿en qué parte del taller, con quién, en qué momento?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4"/>
          <p:cNvSpPr/>
          <p:nvPr/>
        </p:nvSpPr>
        <p:spPr>
          <a:xfrm>
            <a:off x="457200" y="2313432"/>
            <a:ext cx="8229600" cy="713232"/>
          </a:xfrm>
          <a:prstGeom prst="roundRect">
            <a:avLst>
              <a:gd fmla="val 12821" name="adj"/>
            </a:avLst>
          </a:prstGeom>
          <a:solidFill>
            <a:srgbClr val="FFFFFF"/>
          </a:solidFill>
          <a:ln cap="flat" cmpd="sng" w="15225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4"/>
          <p:cNvSpPr/>
          <p:nvPr/>
        </p:nvSpPr>
        <p:spPr>
          <a:xfrm>
            <a:off x="594360" y="2441448"/>
            <a:ext cx="457200" cy="457200"/>
          </a:xfrm>
          <a:prstGeom prst="ellipse">
            <a:avLst/>
          </a:prstGeom>
          <a:solidFill>
            <a:srgbClr val="FFB800">
              <a:alpha val="90196"/>
            </a:srgbClr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4"/>
          <p:cNvSpPr/>
          <p:nvPr/>
        </p:nvSpPr>
        <p:spPr>
          <a:xfrm>
            <a:off x="594360" y="24414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4"/>
          <p:cNvSpPr/>
          <p:nvPr/>
        </p:nvSpPr>
        <p:spPr>
          <a:xfrm>
            <a:off x="1234440" y="2313432"/>
            <a:ext cx="7315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Aplicar la pregunta disparadora de VARIABLE: ¿qué es lo único que, si lo mido, me dice que hay peligro?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4"/>
          <p:cNvSpPr/>
          <p:nvPr/>
        </p:nvSpPr>
        <p:spPr>
          <a:xfrm>
            <a:off x="457200" y="3118104"/>
            <a:ext cx="8229600" cy="713232"/>
          </a:xfrm>
          <a:prstGeom prst="roundRect">
            <a:avLst>
              <a:gd fmla="val 12821" name="adj"/>
            </a:avLst>
          </a:prstGeom>
          <a:solidFill>
            <a:srgbClr val="FFFFFF"/>
          </a:solidFill>
          <a:ln cap="flat" cmpd="sng" w="15225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4"/>
          <p:cNvSpPr/>
          <p:nvPr/>
        </p:nvSpPr>
        <p:spPr>
          <a:xfrm>
            <a:off x="594360" y="3246120"/>
            <a:ext cx="457200" cy="457200"/>
          </a:xfrm>
          <a:prstGeom prst="ellipse">
            <a:avLst/>
          </a:prstGeom>
          <a:solidFill>
            <a:srgbClr val="FF4D6A">
              <a:alpha val="90196"/>
            </a:srgbClr>
          </a:solidFill>
          <a:ln cap="flat" cmpd="sng" w="127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4"/>
          <p:cNvSpPr/>
          <p:nvPr/>
        </p:nvSpPr>
        <p:spPr>
          <a:xfrm>
            <a:off x="594360" y="32461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1234440" y="3118104"/>
            <a:ext cx="7315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Aplicar la pregunta disparadora de PUNTO DE QUIEBRE: ¿a partir de qué valor o condición hay problema?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4"/>
          <p:cNvSpPr/>
          <p:nvPr/>
        </p:nvSpPr>
        <p:spPr>
          <a:xfrm>
            <a:off x="457200" y="3922776"/>
            <a:ext cx="8229600" cy="713232"/>
          </a:xfrm>
          <a:prstGeom prst="roundRect">
            <a:avLst>
              <a:gd fmla="val 12821" name="adj"/>
            </a:avLst>
          </a:prstGeom>
          <a:solidFill>
            <a:srgbClr val="FFFFFF"/>
          </a:solidFill>
          <a:ln cap="flat" cmpd="sng" w="15225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2700000" dist="254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4"/>
          <p:cNvSpPr/>
          <p:nvPr/>
        </p:nvSpPr>
        <p:spPr>
          <a:xfrm>
            <a:off x="594360" y="4050792"/>
            <a:ext cx="457200" cy="457200"/>
          </a:xfrm>
          <a:prstGeom prst="ellipse">
            <a:avLst/>
          </a:prstGeom>
          <a:solidFill>
            <a:srgbClr val="00C896">
              <a:alpha val="90196"/>
            </a:srgbClr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4"/>
          <p:cNvSpPr/>
          <p:nvPr/>
        </p:nvSpPr>
        <p:spPr>
          <a:xfrm>
            <a:off x="594360" y="405079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4"/>
          <p:cNvSpPr/>
          <p:nvPr/>
        </p:nvSpPr>
        <p:spPr>
          <a:xfrm>
            <a:off x="1234440" y="3922776"/>
            <a:ext cx="73152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Enunciar el PROBLEMA TÉCNICO con una sola oración, sin adjetivos valorativos.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5"/>
          <p:cNvSpPr/>
          <p:nvPr/>
        </p:nvSpPr>
        <p:spPr>
          <a:xfrm>
            <a:off x="365760" y="201168"/>
            <a:ext cx="2194560" cy="365760"/>
          </a:xfrm>
          <a:prstGeom prst="roundRect">
            <a:avLst>
              <a:gd fmla="val 20000" name="adj"/>
            </a:avLst>
          </a:prstGeom>
          <a:solidFill>
            <a:srgbClr val="FFB800"/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5"/>
          <p:cNvSpPr/>
          <p:nvPr/>
        </p:nvSpPr>
        <p:spPr>
          <a:xfrm>
            <a:off x="365760" y="201168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RONDA 2 · EN PAREJAS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5"/>
          <p:cNvSpPr/>
          <p:nvPr/>
        </p:nvSpPr>
        <p:spPr>
          <a:xfrm>
            <a:off x="2560322" y="201175"/>
            <a:ext cx="6217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Ingeniería directa — desde el problema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457200" y="731520"/>
            <a:ext cx="8229600" cy="594360"/>
          </a:xfrm>
          <a:prstGeom prst="roundRect">
            <a:avLst>
              <a:gd fmla="val 15385" name="adj"/>
            </a:avLst>
          </a:prstGeom>
          <a:solidFill>
            <a:srgbClr val="1A2550"/>
          </a:solidFill>
          <a:ln cap="flat" cmpd="sng" w="190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5"/>
          <p:cNvSpPr/>
          <p:nvPr/>
        </p:nvSpPr>
        <p:spPr>
          <a:xfrm>
            <a:off x="594360" y="731520"/>
            <a:ext cx="79552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Cada pareja recibe una tarjeta con un problema vago de distinto dominio. Tienen 25 minutos.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5"/>
          <p:cNvSpPr/>
          <p:nvPr/>
        </p:nvSpPr>
        <p:spPr>
          <a:xfrm>
            <a:off x="365760" y="1463040"/>
            <a:ext cx="3840480" cy="1417320"/>
          </a:xfrm>
          <a:prstGeom prst="roundRect">
            <a:avLst>
              <a:gd fmla="val 7742" name="adj"/>
            </a:avLst>
          </a:prstGeom>
          <a:solidFill>
            <a:srgbClr val="1A2550"/>
          </a:solidFill>
          <a:ln cap="flat" cmpd="sng" w="228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5"/>
          <p:cNvSpPr/>
          <p:nvPr/>
        </p:nvSpPr>
        <p:spPr>
          <a:xfrm>
            <a:off x="502920" y="1600200"/>
            <a:ext cx="475488" cy="475488"/>
          </a:xfrm>
          <a:prstGeom prst="ellipse">
            <a:avLst/>
          </a:prstGeom>
          <a:solidFill>
            <a:srgbClr val="00D4FF">
              <a:alpha val="90196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5"/>
          <p:cNvSpPr/>
          <p:nvPr/>
        </p:nvSpPr>
        <p:spPr>
          <a:xfrm>
            <a:off x="502920" y="1600200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5"/>
          <p:cNvSpPr/>
          <p:nvPr/>
        </p:nvSpPr>
        <p:spPr>
          <a:xfrm>
            <a:off x="1097280" y="16002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Aplicar las 4 preguntas disparadoras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5"/>
          <p:cNvSpPr/>
          <p:nvPr/>
        </p:nvSpPr>
        <p:spPr>
          <a:xfrm>
            <a:off x="502920" y="2084832"/>
            <a:ext cx="35661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Contexto · Variable · Punto de quiebre · Problema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5"/>
          <p:cNvSpPr/>
          <p:nvPr/>
        </p:nvSpPr>
        <p:spPr>
          <a:xfrm>
            <a:off x="4572000" y="1463040"/>
            <a:ext cx="3840480" cy="1417320"/>
          </a:xfrm>
          <a:prstGeom prst="roundRect">
            <a:avLst>
              <a:gd fmla="val 7742" name="adj"/>
            </a:avLst>
          </a:prstGeom>
          <a:solidFill>
            <a:srgbClr val="1A2550"/>
          </a:solidFill>
          <a:ln cap="flat" cmpd="sng" w="228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5"/>
          <p:cNvSpPr/>
          <p:nvPr/>
        </p:nvSpPr>
        <p:spPr>
          <a:xfrm>
            <a:off x="4709160" y="1600200"/>
            <a:ext cx="475488" cy="475488"/>
          </a:xfrm>
          <a:prstGeom prst="ellipse">
            <a:avLst/>
          </a:prstGeom>
          <a:solidFill>
            <a:srgbClr val="FFB800">
              <a:alpha val="90196"/>
            </a:srgbClr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5"/>
          <p:cNvSpPr/>
          <p:nvPr/>
        </p:nvSpPr>
        <p:spPr>
          <a:xfrm>
            <a:off x="4709160" y="1600200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5"/>
          <p:cNvSpPr/>
          <p:nvPr/>
        </p:nvSpPr>
        <p:spPr>
          <a:xfrm>
            <a:off x="5303520" y="16002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Enunciar el problema técnico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5"/>
          <p:cNvSpPr/>
          <p:nvPr/>
        </p:nvSpPr>
        <p:spPr>
          <a:xfrm>
            <a:off x="4709160" y="2084832"/>
            <a:ext cx="35661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Una sola oración. Sin 'y'. Sin adjetivos subjetivos.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5"/>
          <p:cNvSpPr/>
          <p:nvPr/>
        </p:nvSpPr>
        <p:spPr>
          <a:xfrm>
            <a:off x="365760" y="2999232"/>
            <a:ext cx="3840480" cy="1417320"/>
          </a:xfrm>
          <a:prstGeom prst="roundRect">
            <a:avLst>
              <a:gd fmla="val 7742" name="adj"/>
            </a:avLst>
          </a:prstGeom>
          <a:solidFill>
            <a:srgbClr val="1A2550"/>
          </a:solidFill>
          <a:ln cap="flat" cmpd="sng" w="228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5"/>
          <p:cNvSpPr/>
          <p:nvPr/>
        </p:nvSpPr>
        <p:spPr>
          <a:xfrm>
            <a:off x="502920" y="3136392"/>
            <a:ext cx="475488" cy="475488"/>
          </a:xfrm>
          <a:prstGeom prst="ellipse">
            <a:avLst/>
          </a:prstGeom>
          <a:solidFill>
            <a:srgbClr val="00C896">
              <a:alpha val="90196"/>
            </a:srgbClr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15"/>
          <p:cNvSpPr/>
          <p:nvPr/>
        </p:nvSpPr>
        <p:spPr>
          <a:xfrm>
            <a:off x="502920" y="313639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1097280" y="3136392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Definir el eje del proyecto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502920" y="3621024"/>
            <a:ext cx="35661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¿Es respuesta a una pregunta, resolución de problema </a:t>
            </a:r>
            <a:endParaRPr sz="1050">
              <a:solidFill>
                <a:srgbClr val="E8ED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o creación de producto?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5"/>
          <p:cNvSpPr/>
          <p:nvPr/>
        </p:nvSpPr>
        <p:spPr>
          <a:xfrm>
            <a:off x="4572000" y="2999232"/>
            <a:ext cx="3840480" cy="1417320"/>
          </a:xfrm>
          <a:prstGeom prst="roundRect">
            <a:avLst>
              <a:gd fmla="val 7742" name="adj"/>
            </a:avLst>
          </a:prstGeom>
          <a:solidFill>
            <a:srgbClr val="1A2550"/>
          </a:solidFill>
          <a:ln cap="flat" cmpd="sng" w="2285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5"/>
          <p:cNvSpPr/>
          <p:nvPr/>
        </p:nvSpPr>
        <p:spPr>
          <a:xfrm>
            <a:off x="4709160" y="3136392"/>
            <a:ext cx="475488" cy="475488"/>
          </a:xfrm>
          <a:prstGeom prst="ellipse">
            <a:avLst/>
          </a:prstGeom>
          <a:solidFill>
            <a:srgbClr val="FF4D6A">
              <a:alpha val="90196"/>
            </a:srgbClr>
          </a:solidFill>
          <a:ln cap="flat" cmpd="sng" w="127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5"/>
          <p:cNvSpPr/>
          <p:nvPr/>
        </p:nvSpPr>
        <p:spPr>
          <a:xfrm>
            <a:off x="4709160" y="313639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5303520" y="3136392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4D6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4D6A"/>
                </a:solidFill>
                <a:latin typeface="Calibri"/>
                <a:ea typeface="Calibri"/>
                <a:cs typeface="Calibri"/>
                <a:sym typeface="Calibri"/>
              </a:rPr>
              <a:t>Redactar la pregunta disparadora final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5"/>
          <p:cNvSpPr/>
          <p:nvPr/>
        </p:nvSpPr>
        <p:spPr>
          <a:xfrm>
            <a:off x="4709160" y="3621024"/>
            <a:ext cx="35661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Abierta, precisa, con el inicio correcto </a:t>
            </a:r>
            <a:endParaRPr b="0" i="0" sz="1050" u="none" cap="none" strike="noStrike">
              <a:solidFill>
                <a:srgbClr val="E8EDF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(¿Cómo...? / ¿Qué harías...? / etc.)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4FA"/>
        </a:solidFill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6"/>
          <p:cNvSpPr/>
          <p:nvPr/>
        </p:nvSpPr>
        <p:spPr>
          <a:xfrm>
            <a:off x="365760" y="201168"/>
            <a:ext cx="2377440" cy="365760"/>
          </a:xfrm>
          <a:prstGeom prst="roundRect">
            <a:avLst>
              <a:gd fmla="val 20000" name="adj"/>
            </a:avLst>
          </a:prstGeom>
          <a:solidFill>
            <a:srgbClr val="00C896"/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6"/>
          <p:cNvSpPr/>
          <p:nvPr/>
        </p:nvSpPr>
        <p:spPr>
          <a:xfrm>
            <a:off x="365760" y="201168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RONDA 3 · PUESTA EN COMÚN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6"/>
          <p:cNvSpPr/>
          <p:nvPr/>
        </p:nvSpPr>
        <p:spPr>
          <a:xfrm>
            <a:off x="2743197" y="201175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Compartir, votar, reflexionar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6"/>
          <p:cNvSpPr/>
          <p:nvPr/>
        </p:nvSpPr>
        <p:spPr>
          <a:xfrm>
            <a:off x="457200" y="1131510"/>
            <a:ext cx="2469000" cy="22860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228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2" name="Google Shape;43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35608" y="1360110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16"/>
          <p:cNvSpPr/>
          <p:nvPr/>
        </p:nvSpPr>
        <p:spPr>
          <a:xfrm>
            <a:off x="548640" y="2000190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Cada pareja presenta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6"/>
          <p:cNvSpPr/>
          <p:nvPr/>
        </p:nvSpPr>
        <p:spPr>
          <a:xfrm>
            <a:off x="594360" y="2457390"/>
            <a:ext cx="21945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1–2 minutos: problema vago → pregunta disparadora final + eje elegido.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6"/>
          <p:cNvSpPr/>
          <p:nvPr/>
        </p:nvSpPr>
        <p:spPr>
          <a:xfrm>
            <a:off x="3337560" y="1131510"/>
            <a:ext cx="2469000" cy="22860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228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6" name="Google Shape;43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15968" y="1360110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6"/>
          <p:cNvSpPr/>
          <p:nvPr/>
        </p:nvSpPr>
        <p:spPr>
          <a:xfrm>
            <a:off x="3429000" y="2000190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La clase vota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6"/>
          <p:cNvSpPr/>
          <p:nvPr/>
        </p:nvSpPr>
        <p:spPr>
          <a:xfrm>
            <a:off x="3474720" y="2457390"/>
            <a:ext cx="21945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¿El eje elegido es el correcto? ¿La pregunta es abierta y precisa?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/>
          <p:nvPr/>
        </p:nvSpPr>
        <p:spPr>
          <a:xfrm>
            <a:off x="6217920" y="1131510"/>
            <a:ext cx="2469000" cy="22860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2285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bl" dir="2700000" dist="50800">
              <a:srgbClr val="000000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40" name="Google Shape;44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96328" y="1360110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16"/>
          <p:cNvSpPr/>
          <p:nvPr/>
        </p:nvSpPr>
        <p:spPr>
          <a:xfrm>
            <a:off x="6309360" y="2000190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Reflexión colectiva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6"/>
          <p:cNvSpPr/>
          <p:nvPr/>
        </p:nvSpPr>
        <p:spPr>
          <a:xfrm>
            <a:off x="6355080" y="2457390"/>
            <a:ext cx="21945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A8A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¿Cuál proyecto les gustó más y por qué? ¿Qué mejorarían de la pregunta?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/>
          <p:nvPr/>
        </p:nvSpPr>
        <p:spPr>
          <a:xfrm>
            <a:off x="3200400" y="4017215"/>
            <a:ext cx="2743200" cy="411600"/>
          </a:xfrm>
          <a:prstGeom prst="roundRect">
            <a:avLst>
              <a:gd fmla="val 22222" name="adj"/>
            </a:avLst>
          </a:prstGeom>
          <a:solidFill>
            <a:srgbClr val="0A0E2A"/>
          </a:solidFill>
          <a:ln cap="flat" cmpd="sng" w="12700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16"/>
          <p:cNvSpPr/>
          <p:nvPr/>
        </p:nvSpPr>
        <p:spPr>
          <a:xfrm>
            <a:off x="3200400" y="4017215"/>
            <a:ext cx="274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⏱  15 minutos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7"/>
          <p:cNvSpPr/>
          <p:nvPr/>
        </p:nvSpPr>
        <p:spPr>
          <a:xfrm>
            <a:off x="365760" y="164592"/>
            <a:ext cx="2926080" cy="347472"/>
          </a:xfrm>
          <a:prstGeom prst="roundRect">
            <a:avLst>
              <a:gd fmla="val 21053" name="adj"/>
            </a:avLst>
          </a:prstGeom>
          <a:solidFill>
            <a:srgbClr val="FF4D6A"/>
          </a:solidFill>
          <a:ln cap="flat" cmpd="sng" w="127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7"/>
          <p:cNvSpPr/>
          <p:nvPr/>
        </p:nvSpPr>
        <p:spPr>
          <a:xfrm>
            <a:off x="365760" y="16459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BLOQUE 4 · PROYECTO PROPIO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7"/>
          <p:cNvSpPr/>
          <p:nvPr/>
        </p:nvSpPr>
        <p:spPr>
          <a:xfrm>
            <a:off x="365760" y="566928"/>
            <a:ext cx="84124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Tu pregunta disparadora de proyecto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7"/>
          <p:cNvSpPr/>
          <p:nvPr/>
        </p:nvSpPr>
        <p:spPr>
          <a:xfrm>
            <a:off x="457200" y="103327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Trabajo individual — 45 minutos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7"/>
          <p:cNvSpPr/>
          <p:nvPr/>
        </p:nvSpPr>
        <p:spPr>
          <a:xfrm>
            <a:off x="457200" y="1371600"/>
            <a:ext cx="8229600" cy="640080"/>
          </a:xfrm>
          <a:prstGeom prst="roundRect">
            <a:avLst>
              <a:gd fmla="val 14286" name="adj"/>
            </a:avLst>
          </a:prstGeom>
          <a:solidFill>
            <a:srgbClr val="1A2550"/>
          </a:solidFill>
          <a:ln cap="flat" cmpd="sng" w="15225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7"/>
          <p:cNvSpPr/>
          <p:nvPr/>
        </p:nvSpPr>
        <p:spPr>
          <a:xfrm>
            <a:off x="594360" y="1481328"/>
            <a:ext cx="438912" cy="438912"/>
          </a:xfrm>
          <a:prstGeom prst="ellipse">
            <a:avLst/>
          </a:prstGeom>
          <a:solidFill>
            <a:srgbClr val="00D4FF">
              <a:alpha val="90196"/>
            </a:srgbClr>
          </a:solidFill>
          <a:ln cap="flat" cmpd="sng" w="1270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7"/>
          <p:cNvSpPr/>
          <p:nvPr/>
        </p:nvSpPr>
        <p:spPr>
          <a:xfrm>
            <a:off x="594360" y="148132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7"/>
          <p:cNvSpPr/>
          <p:nvPr/>
        </p:nvSpPr>
        <p:spPr>
          <a:xfrm>
            <a:off x="1188720" y="137160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Escribí un problema vago que hayas observado en tu entorno (barrio, casa, escuela, industria).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7"/>
          <p:cNvSpPr/>
          <p:nvPr/>
        </p:nvSpPr>
        <p:spPr>
          <a:xfrm>
            <a:off x="457200" y="2093976"/>
            <a:ext cx="8229600" cy="640080"/>
          </a:xfrm>
          <a:prstGeom prst="roundRect">
            <a:avLst>
              <a:gd fmla="val 14286" name="adj"/>
            </a:avLst>
          </a:prstGeom>
          <a:solidFill>
            <a:srgbClr val="1A2550"/>
          </a:solidFill>
          <a:ln cap="flat" cmpd="sng" w="15225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7"/>
          <p:cNvSpPr/>
          <p:nvPr/>
        </p:nvSpPr>
        <p:spPr>
          <a:xfrm>
            <a:off x="594360" y="2203704"/>
            <a:ext cx="438912" cy="438912"/>
          </a:xfrm>
          <a:prstGeom prst="ellipse">
            <a:avLst/>
          </a:prstGeom>
          <a:solidFill>
            <a:srgbClr val="FFB800">
              <a:alpha val="90196"/>
            </a:srgbClr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7"/>
          <p:cNvSpPr/>
          <p:nvPr/>
        </p:nvSpPr>
        <p:spPr>
          <a:xfrm>
            <a:off x="594360" y="220370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7"/>
          <p:cNvSpPr/>
          <p:nvPr/>
        </p:nvSpPr>
        <p:spPr>
          <a:xfrm>
            <a:off x="1188720" y="2093976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Aplicá las 4 preguntas disparadoras para extraer las 4 componentes.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7"/>
          <p:cNvSpPr/>
          <p:nvPr/>
        </p:nvSpPr>
        <p:spPr>
          <a:xfrm>
            <a:off x="457200" y="2816352"/>
            <a:ext cx="8229600" cy="640080"/>
          </a:xfrm>
          <a:prstGeom prst="roundRect">
            <a:avLst>
              <a:gd fmla="val 14286" name="adj"/>
            </a:avLst>
          </a:prstGeom>
          <a:solidFill>
            <a:srgbClr val="1A2550"/>
          </a:solidFill>
          <a:ln cap="flat" cmpd="sng" w="15225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7"/>
          <p:cNvSpPr/>
          <p:nvPr/>
        </p:nvSpPr>
        <p:spPr>
          <a:xfrm>
            <a:off x="594360" y="2926080"/>
            <a:ext cx="438912" cy="438912"/>
          </a:xfrm>
          <a:prstGeom prst="ellipse">
            <a:avLst/>
          </a:prstGeom>
          <a:solidFill>
            <a:srgbClr val="00C896">
              <a:alpha val="90196"/>
            </a:srgbClr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7"/>
          <p:cNvSpPr/>
          <p:nvPr/>
        </p:nvSpPr>
        <p:spPr>
          <a:xfrm>
            <a:off x="594360" y="292608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/>
          <p:nvPr/>
        </p:nvSpPr>
        <p:spPr>
          <a:xfrm>
            <a:off x="1188720" y="2816352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Enunciá el problema técnico en una sola oración precisa.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7"/>
          <p:cNvSpPr/>
          <p:nvPr/>
        </p:nvSpPr>
        <p:spPr>
          <a:xfrm>
            <a:off x="457200" y="3538728"/>
            <a:ext cx="8229600" cy="640080"/>
          </a:xfrm>
          <a:prstGeom prst="roundRect">
            <a:avLst>
              <a:gd fmla="val 14286" name="adj"/>
            </a:avLst>
          </a:prstGeom>
          <a:solidFill>
            <a:srgbClr val="1A2550"/>
          </a:solidFill>
          <a:ln cap="flat" cmpd="sng" w="15225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7"/>
          <p:cNvSpPr/>
          <p:nvPr/>
        </p:nvSpPr>
        <p:spPr>
          <a:xfrm>
            <a:off x="594360" y="3648456"/>
            <a:ext cx="438912" cy="438912"/>
          </a:xfrm>
          <a:prstGeom prst="ellipse">
            <a:avLst/>
          </a:prstGeom>
          <a:solidFill>
            <a:srgbClr val="FF4D6A">
              <a:alpha val="90196"/>
            </a:srgbClr>
          </a:solidFill>
          <a:ln cap="flat" cmpd="sng" w="12700">
            <a:solidFill>
              <a:srgbClr val="FF4D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7"/>
          <p:cNvSpPr/>
          <p:nvPr/>
        </p:nvSpPr>
        <p:spPr>
          <a:xfrm>
            <a:off x="594360" y="364845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1188720" y="3538728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Elegí el eje del proyecto (respuesta / problema / producto) y justificá en una oración por qué.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7"/>
          <p:cNvSpPr/>
          <p:nvPr/>
        </p:nvSpPr>
        <p:spPr>
          <a:xfrm>
            <a:off x="457200" y="4261104"/>
            <a:ext cx="8229600" cy="640080"/>
          </a:xfrm>
          <a:prstGeom prst="roundRect">
            <a:avLst>
              <a:gd fmla="val 14286" name="adj"/>
            </a:avLst>
          </a:prstGeom>
          <a:solidFill>
            <a:srgbClr val="1A2550"/>
          </a:solidFill>
          <a:ln cap="flat" cmpd="sng" w="15225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7"/>
          <p:cNvSpPr/>
          <p:nvPr/>
        </p:nvSpPr>
        <p:spPr>
          <a:xfrm>
            <a:off x="594360" y="4370832"/>
            <a:ext cx="438912" cy="438912"/>
          </a:xfrm>
          <a:prstGeom prst="ellipse">
            <a:avLst/>
          </a:prstGeom>
          <a:solidFill>
            <a:srgbClr val="9B59B6">
              <a:alpha val="90196"/>
            </a:srgbClr>
          </a:solidFill>
          <a:ln cap="flat" cmpd="sng" w="12700">
            <a:solidFill>
              <a:srgbClr val="9B59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7"/>
          <p:cNvSpPr/>
          <p:nvPr/>
        </p:nvSpPr>
        <p:spPr>
          <a:xfrm>
            <a:off x="594360" y="437083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1188720" y="4261104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Formulá la pregunta disparadora final que daría inicio a tu proyecto.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E2A"/>
        </a:solidFill>
      </p:bgPr>
    </p:bg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"/>
          <p:cNvSpPr/>
          <p:nvPr/>
        </p:nvSpPr>
        <p:spPr>
          <a:xfrm>
            <a:off x="457200" y="201168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El arco completo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8"/>
          <p:cNvSpPr/>
          <p:nvPr/>
        </p:nvSpPr>
        <p:spPr>
          <a:xfrm>
            <a:off x="457200" y="914400"/>
            <a:ext cx="1097280" cy="868680"/>
          </a:xfrm>
          <a:prstGeom prst="roundRect">
            <a:avLst>
              <a:gd fmla="val 10526" name="adj"/>
            </a:avLst>
          </a:prstGeom>
          <a:solidFill>
            <a:srgbClr val="1A2550"/>
          </a:solidFill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8"/>
          <p:cNvSpPr/>
          <p:nvPr/>
        </p:nvSpPr>
        <p:spPr>
          <a:xfrm>
            <a:off x="457200" y="914400"/>
            <a:ext cx="1097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Robot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&amp; instrucción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atómica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2" name="Google Shape;482;p18"/>
          <p:cNvCxnSpPr/>
          <p:nvPr/>
        </p:nvCxnSpPr>
        <p:spPr>
          <a:xfrm>
            <a:off x="1554480" y="1348740"/>
            <a:ext cx="91440" cy="0"/>
          </a:xfrm>
          <a:prstGeom prst="straightConnector1">
            <a:avLst/>
          </a:prstGeom>
          <a:noFill/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83" name="Google Shape;483;p18"/>
          <p:cNvSpPr/>
          <p:nvPr/>
        </p:nvSpPr>
        <p:spPr>
          <a:xfrm>
            <a:off x="1645920" y="914400"/>
            <a:ext cx="1097280" cy="868680"/>
          </a:xfrm>
          <a:prstGeom prst="roundRect">
            <a:avLst>
              <a:gd fmla="val 10526" name="adj"/>
            </a:avLst>
          </a:prstGeom>
          <a:solidFill>
            <a:srgbClr val="1A2550"/>
          </a:solidFill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8"/>
          <p:cNvSpPr/>
          <p:nvPr/>
        </p:nvSpPr>
        <p:spPr>
          <a:xfrm>
            <a:off x="1645920" y="914400"/>
            <a:ext cx="1097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Vago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5" name="Google Shape;485;p18"/>
          <p:cNvCxnSpPr/>
          <p:nvPr/>
        </p:nvCxnSpPr>
        <p:spPr>
          <a:xfrm>
            <a:off x="2743200" y="1348740"/>
            <a:ext cx="91440" cy="0"/>
          </a:xfrm>
          <a:prstGeom prst="straightConnector1">
            <a:avLst/>
          </a:prstGeom>
          <a:noFill/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86" name="Google Shape;486;p18"/>
          <p:cNvSpPr/>
          <p:nvPr/>
        </p:nvSpPr>
        <p:spPr>
          <a:xfrm>
            <a:off x="2834640" y="914400"/>
            <a:ext cx="1097280" cy="868680"/>
          </a:xfrm>
          <a:prstGeom prst="roundRect">
            <a:avLst>
              <a:gd fmla="val 10526" name="adj"/>
            </a:avLst>
          </a:prstGeom>
          <a:solidFill>
            <a:srgbClr val="FFB800"/>
          </a:solidFill>
          <a:ln cap="flat" cmpd="sng" w="1270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18"/>
          <p:cNvSpPr/>
          <p:nvPr/>
        </p:nvSpPr>
        <p:spPr>
          <a:xfrm>
            <a:off x="2834640" y="914400"/>
            <a:ext cx="1097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Preguntas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Disparadoras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8" name="Google Shape;488;p18"/>
          <p:cNvCxnSpPr/>
          <p:nvPr/>
        </p:nvCxnSpPr>
        <p:spPr>
          <a:xfrm>
            <a:off x="3931920" y="1348740"/>
            <a:ext cx="91440" cy="0"/>
          </a:xfrm>
          <a:prstGeom prst="straightConnector1">
            <a:avLst/>
          </a:prstGeom>
          <a:noFill/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89" name="Google Shape;489;p18"/>
          <p:cNvSpPr/>
          <p:nvPr/>
        </p:nvSpPr>
        <p:spPr>
          <a:xfrm>
            <a:off x="4023360" y="914400"/>
            <a:ext cx="1097280" cy="868680"/>
          </a:xfrm>
          <a:prstGeom prst="roundRect">
            <a:avLst>
              <a:gd fmla="val 10526" name="adj"/>
            </a:avLst>
          </a:prstGeom>
          <a:solidFill>
            <a:srgbClr val="1A2550"/>
          </a:solidFill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18"/>
          <p:cNvSpPr/>
          <p:nvPr/>
        </p:nvSpPr>
        <p:spPr>
          <a:xfrm>
            <a:off x="4023360" y="914400"/>
            <a:ext cx="1097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Componentes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1" name="Google Shape;491;p18"/>
          <p:cNvCxnSpPr/>
          <p:nvPr/>
        </p:nvCxnSpPr>
        <p:spPr>
          <a:xfrm>
            <a:off x="5120640" y="1348740"/>
            <a:ext cx="91440" cy="0"/>
          </a:xfrm>
          <a:prstGeom prst="straightConnector1">
            <a:avLst/>
          </a:prstGeom>
          <a:noFill/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92" name="Google Shape;492;p18"/>
          <p:cNvSpPr/>
          <p:nvPr/>
        </p:nvSpPr>
        <p:spPr>
          <a:xfrm>
            <a:off x="5212080" y="914400"/>
            <a:ext cx="1097280" cy="868680"/>
          </a:xfrm>
          <a:prstGeom prst="roundRect">
            <a:avLst>
              <a:gd fmla="val 10526" name="adj"/>
            </a:avLst>
          </a:prstGeom>
          <a:solidFill>
            <a:srgbClr val="1A2550"/>
          </a:solidFill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8"/>
          <p:cNvSpPr/>
          <p:nvPr/>
        </p:nvSpPr>
        <p:spPr>
          <a:xfrm>
            <a:off x="5212080" y="914400"/>
            <a:ext cx="1097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Técnico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4" name="Google Shape;494;p18"/>
          <p:cNvCxnSpPr/>
          <p:nvPr/>
        </p:nvCxnSpPr>
        <p:spPr>
          <a:xfrm>
            <a:off x="6309360" y="1348740"/>
            <a:ext cx="91440" cy="0"/>
          </a:xfrm>
          <a:prstGeom prst="straightConnector1">
            <a:avLst/>
          </a:prstGeom>
          <a:noFill/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95" name="Google Shape;495;p18"/>
          <p:cNvSpPr/>
          <p:nvPr/>
        </p:nvSpPr>
        <p:spPr>
          <a:xfrm>
            <a:off x="6400800" y="914400"/>
            <a:ext cx="1097280" cy="868680"/>
          </a:xfrm>
          <a:prstGeom prst="roundRect">
            <a:avLst>
              <a:gd fmla="val 10526" name="adj"/>
            </a:avLst>
          </a:prstGeom>
          <a:solidFill>
            <a:srgbClr val="1A2550"/>
          </a:solidFill>
          <a:ln cap="flat" cmpd="sng" w="15225">
            <a:solidFill>
              <a:srgbClr val="0097B8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18"/>
          <p:cNvSpPr/>
          <p:nvPr/>
        </p:nvSpPr>
        <p:spPr>
          <a:xfrm>
            <a:off x="6400800" y="914400"/>
            <a:ext cx="1097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7" name="Google Shape;497;p18"/>
          <p:cNvCxnSpPr/>
          <p:nvPr/>
        </p:nvCxnSpPr>
        <p:spPr>
          <a:xfrm>
            <a:off x="7498080" y="1348740"/>
            <a:ext cx="91440" cy="0"/>
          </a:xfrm>
          <a:prstGeom prst="straightConnector1">
            <a:avLst/>
          </a:prstGeom>
          <a:noFill/>
          <a:ln cap="flat" cmpd="sng" w="19050">
            <a:solidFill>
              <a:srgbClr val="0097B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98" name="Google Shape;498;p18"/>
          <p:cNvSpPr/>
          <p:nvPr/>
        </p:nvSpPr>
        <p:spPr>
          <a:xfrm>
            <a:off x="7589520" y="914400"/>
            <a:ext cx="1097280" cy="868680"/>
          </a:xfrm>
          <a:prstGeom prst="roundRect">
            <a:avLst>
              <a:gd fmla="val 10526" name="adj"/>
            </a:avLst>
          </a:prstGeom>
          <a:solidFill>
            <a:srgbClr val="00C896"/>
          </a:solidFill>
          <a:ln cap="flat" cmpd="sng" w="12700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2700000" dist="381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8"/>
          <p:cNvSpPr/>
          <p:nvPr/>
        </p:nvSpPr>
        <p:spPr>
          <a:xfrm>
            <a:off x="7589520" y="914400"/>
            <a:ext cx="1097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E2A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0A0E2A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8"/>
          <p:cNvSpPr/>
          <p:nvPr/>
        </p:nvSpPr>
        <p:spPr>
          <a:xfrm>
            <a:off x="731520" y="2057400"/>
            <a:ext cx="7680960" cy="1234440"/>
          </a:xfrm>
          <a:prstGeom prst="roundRect">
            <a:avLst>
              <a:gd fmla="val 11111" name="adj"/>
            </a:avLst>
          </a:prstGeom>
          <a:solidFill>
            <a:srgbClr val="1A2550"/>
          </a:solidFill>
          <a:ln cap="flat" cmpd="sng" w="19050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8"/>
          <p:cNvSpPr/>
          <p:nvPr/>
        </p:nvSpPr>
        <p:spPr>
          <a:xfrm>
            <a:off x="822960" y="2057400"/>
            <a:ext cx="74980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25" lIns="2525" spcFirstLastPara="1" rIns="2525" wrap="square" tIns="25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 buena pregunta disparadora ya contiene el problema bien enunciado.</a:t>
            </a:r>
            <a:r>
              <a:rPr b="1" lang="en-US" sz="4200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700"/>
              <a:buFont typeface="Calibri"/>
              <a:buNone/>
            </a:pPr>
            <a:r>
              <a:rPr b="0" i="1" lang="en-US" sz="17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 Si la pregunta es vaga, el proyecto va a ser vago.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685800" y="3456432"/>
            <a:ext cx="2468880" cy="658368"/>
          </a:xfrm>
          <a:prstGeom prst="roundRect">
            <a:avLst>
              <a:gd fmla="val 13889" name="adj"/>
            </a:avLst>
          </a:prstGeom>
          <a:solidFill>
            <a:srgbClr val="1A2550"/>
          </a:solidFill>
          <a:ln cap="flat" cmpd="sng" w="15225">
            <a:solidFill>
              <a:srgbClr val="00D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8"/>
          <p:cNvSpPr/>
          <p:nvPr/>
        </p:nvSpPr>
        <p:spPr>
          <a:xfrm>
            <a:off x="685800" y="3456432"/>
            <a:ext cx="2468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000" lIns="1000" spcFirstLastPara="1" rIns="1000" wrap="square" tIns="1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  <a:t>La pregunta disparadora</a:t>
            </a:r>
            <a:br>
              <a:rPr b="1" i="0" lang="en-US" sz="1050" u="none" cap="none" strike="noStrike">
                <a:solidFill>
                  <a:srgbClr val="00D4F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llena el '?' del flujograma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8"/>
          <p:cNvSpPr/>
          <p:nvPr/>
        </p:nvSpPr>
        <p:spPr>
          <a:xfrm>
            <a:off x="3337560" y="3456432"/>
            <a:ext cx="2468880" cy="658368"/>
          </a:xfrm>
          <a:prstGeom prst="roundRect">
            <a:avLst>
              <a:gd fmla="val 13889" name="adj"/>
            </a:avLst>
          </a:prstGeom>
          <a:solidFill>
            <a:srgbClr val="1A2550"/>
          </a:solidFill>
          <a:ln cap="flat" cmpd="sng" w="15225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8"/>
          <p:cNvSpPr/>
          <p:nvPr/>
        </p:nvSpPr>
        <p:spPr>
          <a:xfrm>
            <a:off x="3337560" y="3456432"/>
            <a:ext cx="2468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000" lIns="1000" spcFirstLastPara="1" rIns="1000" wrap="square" tIns="1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  <a:t>Cada pregunta</a:t>
            </a:r>
            <a:br>
              <a:rPr b="1" i="0" lang="en-US" sz="1050" u="none" cap="none" strike="noStrike">
                <a:solidFill>
                  <a:srgbClr val="FFB8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extrae una componente específica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8"/>
          <p:cNvSpPr/>
          <p:nvPr/>
        </p:nvSpPr>
        <p:spPr>
          <a:xfrm>
            <a:off x="5989320" y="3456432"/>
            <a:ext cx="2468880" cy="658368"/>
          </a:xfrm>
          <a:prstGeom prst="roundRect">
            <a:avLst>
              <a:gd fmla="val 13889" name="adj"/>
            </a:avLst>
          </a:prstGeom>
          <a:solidFill>
            <a:srgbClr val="1A2550"/>
          </a:solidFill>
          <a:ln cap="flat" cmpd="sng" w="15225">
            <a:solidFill>
              <a:srgbClr val="00C8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18"/>
          <p:cNvSpPr/>
          <p:nvPr/>
        </p:nvSpPr>
        <p:spPr>
          <a:xfrm>
            <a:off x="5989320" y="3456432"/>
            <a:ext cx="2468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1000" lIns="1000" spcFirstLastPara="1" rIns="1000" wrap="square" tIns="10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C896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  <a:t>El eje elegido</a:t>
            </a:r>
            <a:br>
              <a:rPr b="1" i="0" lang="en-US" sz="1050" u="none" cap="none" strike="noStrike">
                <a:solidFill>
                  <a:srgbClr val="00C89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8EDF5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E8EDF5"/>
                </a:solidFill>
                <a:latin typeface="Calibri"/>
                <a:ea typeface="Calibri"/>
                <a:cs typeface="Calibri"/>
                <a:sym typeface="Calibri"/>
              </a:rPr>
              <a:t>define el tipo de proyecto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8"/>
          <p:cNvSpPr/>
          <p:nvPr/>
        </p:nvSpPr>
        <p:spPr>
          <a:xfrm>
            <a:off x="2286000" y="4251960"/>
            <a:ext cx="4572000" cy="594360"/>
          </a:xfrm>
          <a:prstGeom prst="roundRect">
            <a:avLst>
              <a:gd fmla="val 15385" name="adj"/>
            </a:avLst>
          </a:prstGeom>
          <a:solidFill>
            <a:srgbClr val="FFB800">
              <a:alpha val="90196"/>
            </a:srgbClr>
          </a:solidFill>
          <a:ln cap="flat" cmpd="sng" w="19050">
            <a:solidFill>
              <a:srgbClr val="FFB8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8"/>
          <p:cNvSpPr/>
          <p:nvPr/>
        </p:nvSpPr>
        <p:spPr>
          <a:xfrm>
            <a:off x="2286000" y="4251960"/>
            <a:ext cx="4572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0" lIns="1250" spcFirstLastPara="1" rIns="1250" wrap="square" tIns="12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80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783F04"/>
                </a:solidFill>
                <a:latin typeface="Calibri"/>
                <a:ea typeface="Calibri"/>
                <a:cs typeface="Calibri"/>
                <a:sym typeface="Calibri"/>
              </a:rPr>
              <a:t>TAREA → Traer una pregunta disparadora de proyecto para la próxima clase</a:t>
            </a:r>
            <a:endParaRPr b="0" i="0" sz="1100" u="none" cap="none" strike="noStrike">
              <a:solidFill>
                <a:srgbClr val="783F0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