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Explicar la dinámica antes de arrancar. Dividir en equipos de 3-4 alumnos. Cada equipo necesita hojas y lápiz. Se proyecta un proyecto a la vez — todos los equipos trabajan el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PROYECTO 1: Monitor de Calidad del Aire. Dar 30 segundos para que los equipos lean. No revelar nada más. Arrancar el cronómetro de la Ronda 1 inmediatamente.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TARJETA PROYECTO 1: Monitor de Calidad del Aire.
Dejar esta slide proyectada durante TODA la Ronda 1 (2 min).
Los equipos leen acá para formular el problema vago.
No avanzar a la Ronda 1 hasta que todos hayan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1 — PROBLEMA VAGO · Proyecto: Monitor de Calidad del Aire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2 — PREGUNTAS DISPARADORAS · Proyecto: Monitor de Calidad del Aire
Tiempo: 4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3 — 4 COMPONENTES + PROBLEMA TÉCNICO · Proyecto: Monitor de Calidad del Aire
Tiempo: 6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4 — OBJETIVOS · Proyecto: Monitor de Calidad del Aire
Tiempo: 3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5 — ¿CUÁL ES LA SOLUCIÓN? · Proyecto: Monitor de Calidad del Aire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PROYECTO 1. Comparar respuestas equipo por equipo. Destacar la mejor formulación del problema técnico y el objetivo más preciso. Aprox 3-4 min de discusión antes del siguiente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PROYECTO 2: Panel Solar con Seguidor de Luz. Dar 30 segundos para que los equipos lean. No revelar nada más. Arrancar el cronómetro de la Ronda 1 inmediatamente.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TARJETA PROYECTO 2: Panel Solar con Seguidor de Luz.
Dejar esta slide proyectada durante TODA la Ronda 1 (2 min).
Los equipos leen acá para formular el problema vago.
No avanzar a la Ronda 1 hasta que todos hayan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1 — PROBLEMA VAGO · Proyecto: Panel Solar con Seguidor de Luz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2 — PREGUNTAS DISPARADORAS · Proyecto: Panel Solar con Seguidor de Luz
Tiempo: 4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3 — 4 COMPONENTES + PROBLEMA TÉCNICO · Proyecto: Panel Solar con Seguidor de Luz
Tiempo: 6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4 — OBJETIVOS · Proyecto: Panel Solar con Seguidor de Luz
Tiempo: 3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5 — ¿CUÁL ES LA SOLUCIÓN? · Proyecto: Panel Solar con Seguidor de Luz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PROYECTO 2. Comparar respuestas equipo por equipo. Destacar la mejor formulación del problema técnico y el objetivo más preciso. Aprox 3-4 min de discusión antes del siguiente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PROYECTO 3: Silla de Ruedas Autónoma. Dar 30 segundos para que los equipos lean. No revelar nada más. Arrancar el cronómetro de la Ronda 1 inmediatamente.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TARJETA PROYECTO 3: Silla de Ruedas Autónoma.
Dejar esta slide proyectada durante TODA la Ronda 1 (2 min).
Los equipos leen acá para formular el problema vago.
No avanzar a la Ronda 1 hasta que todos hayan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1 — PROBLEMA VAGO · Proyecto: Silla de Ruedas Autónoma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2 — PREGUNTAS DISPARADORAS · Proyecto: Silla de Ruedas Autónoma
Tiempo: 4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3 — 4 COMPONENTES + PROBLEMA TÉCNICO · Proyecto: Silla de Ruedas Autónoma
Tiempo: 6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4 — OBJETIVOS · Proyecto: Silla de Ruedas Autónoma
Tiempo: 3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5 — ¿CUÁL ES LA SOLUCIÓN? · Proyecto: Silla de Ruedas Autónoma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PROYECTO 3. Comparar respuestas equipo por equipo. Destacar la mejor formulación del problema técnico y el objetivo más preciso. Aprox 3-4 min de discusión antes del siguiente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PROYECTO 4: Brazo Robótico Clasificador. Dar 30 segundos para que los equipos lean. No revelar nada más. Arrancar el cronómetro de la Ronda 1 inmediatamente.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TARJETA PROYECTO 4: Brazo Robótico Clasificador.
Dejar esta slide proyectada durante TODA la Ronda 1 (2 min).
Los equipos leen acá para formular el problema vago.
No avanzar a la Ronda 1 hasta que todos hayan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1 — PROBLEMA VAGO · Proyecto: Brazo Robótico Clasificador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2 — PREGUNTAS DISPARADORAS · Proyecto: Brazo Robótico Clasificador
Tiempo: 4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3 — 4 COMPONENTES + PROBLEMA TÉCNICO · Proyecto: Brazo Robótico Clasificador
Tiempo: 6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4 — OBJETIVOS · Proyecto: Brazo Robótico Clasificador
Tiempo: 3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RONDA 5 — ¿CUÁL ES LA SOLUCIÓN? · Proyecto: Brazo Robótico Clasificador
Tiempo: 2 min. Al terminar el tiempo, pedir a un equipo que comparta. Luego la siguiente slide muestra la respuesta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PROYECTO 4. Comparar respuestas equipo por equipo. Destacar la mejor formulación del problema técnico y el objetivo más preciso. Aprox 3-4 min de discusión antes del siguiente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competencia. Preguntar: ¿qué proyecto les resultó más difícil de formular? ¿Por qué? El aprendizaje real está en esa dificultad.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6858000" y="-1371600"/>
            <a:ext cx="4572000" cy="4572000"/>
          </a:xfrm>
          <a:prstGeom prst="ellipse">
            <a:avLst/>
          </a:prstGeom>
          <a:solidFill>
            <a:srgbClr val="1A2550"/>
          </a:solidFill>
          <a:ln w="12700">
            <a:solidFill>
              <a:srgbClr val="1A2550"/>
            </a:solidFill>
            <a:prstDash val="solid"/>
          </a:ln>
        </p:spPr>
      </p:sp>
      <p:sp>
        <p:nvSpPr>
          <p:cNvPr id="3" name="Shape 1"/>
          <p:cNvSpPr/>
          <p:nvPr/>
        </p:nvSpPr>
        <p:spPr>
          <a:xfrm>
            <a:off x="7498080" y="-731520"/>
            <a:ext cx="3200400" cy="3200400"/>
          </a:xfrm>
          <a:prstGeom prst="ellipse">
            <a:avLst/>
          </a:prstGeom>
          <a:solidFill>
            <a:srgbClr val="00C896">
              <a:alpha val="10000"/>
            </a:srgbClr>
          </a:solidFill>
          <a:ln w="12700">
            <a:solidFill>
              <a:srgbClr val="00C896">
                <a:alpha val="30000"/>
              </a:srgbClr>
            </a:solidFill>
            <a:prstDash val="solid"/>
          </a:ln>
        </p:spPr>
      </p:sp>
      <p:sp>
        <p:nvSpPr>
          <p:cNvPr id="4" name="Shape 2"/>
          <p:cNvSpPr/>
          <p:nvPr/>
        </p:nvSpPr>
        <p:spPr>
          <a:xfrm>
            <a:off x="548640" y="457200"/>
            <a:ext cx="3474720" cy="384048"/>
          </a:xfrm>
          <a:prstGeom prst="roundRect">
            <a:avLst>
              <a:gd name="adj" fmla="val 16667"/>
            </a:avLst>
          </a:prstGeom>
          <a:solidFill>
            <a:srgbClr val="00C896">
              <a:alpha val="90000"/>
            </a:srgbClr>
          </a:solidFill>
          <a:ln w="12700">
            <a:solidFill>
              <a:srgbClr val="00C896"/>
            </a:solidFill>
            <a:prstDash val="solid"/>
          </a:ln>
        </p:spPr>
      </p:sp>
      <p:sp>
        <p:nvSpPr>
          <p:cNvPr id="5" name="Text 3"/>
          <p:cNvSpPr/>
          <p:nvPr/>
        </p:nvSpPr>
        <p:spPr>
          <a:xfrm>
            <a:off x="548640" y="457200"/>
            <a:ext cx="3474720" cy="384048"/>
          </a:xfrm>
          <a:prstGeom prst="rect">
            <a:avLst/>
          </a:prstGeom>
          <a:noFill/>
          <a:ln/>
        </p:spPr>
        <p:txBody>
          <a:bodyPr wrap="square" lIns="0" tIns="0" rIns="0" bIns="0" rtlCol="0" anchor="ctr"/>
          <a:lstStyle/>
          <a:p>
            <a:pPr algn="ctr" indent="0" marL="0">
              <a:buNone/>
            </a:pPr>
            <a:r>
              <a:rPr lang="en-US" sz="1000" b="1" dirty="0">
                <a:solidFill>
                  <a:srgbClr val="0A0E2A"/>
                </a:solidFill>
              </a:rPr>
              <a:t>EJERCICIO GRUPAL · TALLER DE PROYECTO</a:t>
            </a:r>
            <a:endParaRPr lang="en-US" sz="1000" dirty="0"/>
          </a:p>
        </p:txBody>
      </p:sp>
      <p:sp>
        <p:nvSpPr>
          <p:cNvPr id="6" name="Text 4"/>
          <p:cNvSpPr/>
          <p:nvPr/>
        </p:nvSpPr>
        <p:spPr>
          <a:xfrm>
            <a:off x="548640" y="960120"/>
            <a:ext cx="6400800" cy="2011680"/>
          </a:xfrm>
          <a:prstGeom prst="rect">
            <a:avLst/>
          </a:prstGeom>
          <a:noFill/>
          <a:ln/>
        </p:spPr>
        <p:txBody>
          <a:bodyPr wrap="square" lIns="0" tIns="0" rIns="0" bIns="0" rtlCol="0" anchor="t"/>
          <a:lstStyle/>
          <a:p>
            <a:pPr indent="0" marL="0">
              <a:buNone/>
            </a:pPr>
            <a:r>
              <a:rPr lang="en-US" sz="5200" b="1" dirty="0">
                <a:solidFill>
                  <a:srgbClr val="FFFFFF"/>
                </a:solidFill>
              </a:rPr>
              <a:t>Competencia</a:t>
            </a:r>
            <a:endParaRPr lang="en-US" sz="5200" dirty="0"/>
          </a:p>
          <a:p>
            <a:pPr indent="0" marL="0">
              <a:buNone/>
            </a:pPr>
            <a:r>
              <a:rPr lang="en-US" sz="5200" b="1" dirty="0">
                <a:solidFill>
                  <a:srgbClr val="FFFFFF"/>
                </a:solidFill>
              </a:rPr>
              <a:t>de Proyectos</a:t>
            </a:r>
            <a:endParaRPr lang="en-US" sz="5200" dirty="0"/>
          </a:p>
        </p:txBody>
      </p:sp>
      <p:sp>
        <p:nvSpPr>
          <p:cNvPr id="7" name="Text 5"/>
          <p:cNvSpPr/>
          <p:nvPr/>
        </p:nvSpPr>
        <p:spPr>
          <a:xfrm>
            <a:off x="548640" y="3017520"/>
            <a:ext cx="6400800" cy="365760"/>
          </a:xfrm>
          <a:prstGeom prst="rect">
            <a:avLst/>
          </a:prstGeom>
          <a:noFill/>
          <a:ln/>
        </p:spPr>
        <p:txBody>
          <a:bodyPr wrap="square" lIns="0" tIns="0" rIns="0" bIns="0" rtlCol="0" anchor="ctr"/>
          <a:lstStyle/>
          <a:p>
            <a:pPr indent="0" marL="0">
              <a:buNone/>
            </a:pPr>
            <a:r>
              <a:rPr lang="en-US" sz="1400" i="1" dirty="0">
                <a:solidFill>
                  <a:srgbClr val="E8EDF5"/>
                </a:solidFill>
              </a:rPr>
              <a:t>Del problema vago a la solución técnica · 4 proyectos · 5 rondas</a:t>
            </a:r>
            <a:endParaRPr lang="en-US" sz="1400" dirty="0"/>
          </a:p>
        </p:txBody>
      </p:sp>
      <p:sp>
        <p:nvSpPr>
          <p:cNvPr id="8" name="Shape 6"/>
          <p:cNvSpPr/>
          <p:nvPr/>
        </p:nvSpPr>
        <p:spPr>
          <a:xfrm>
            <a:off x="548640" y="3840480"/>
            <a:ext cx="502920" cy="502920"/>
          </a:xfrm>
          <a:prstGeom prst="ellipse">
            <a:avLst/>
          </a:prstGeom>
          <a:solidFill>
            <a:srgbClr val="00C896"/>
          </a:solidFill>
          <a:ln w="12700">
            <a:solidFill>
              <a:srgbClr val="00C896"/>
            </a:solidFill>
            <a:prstDash val="solid"/>
          </a:ln>
        </p:spPr>
      </p:sp>
      <p:sp>
        <p:nvSpPr>
          <p:cNvPr id="9" name="Text 7"/>
          <p:cNvSpPr/>
          <p:nvPr/>
        </p:nvSpPr>
        <p:spPr>
          <a:xfrm>
            <a:off x="548640" y="4389120"/>
            <a:ext cx="502920" cy="228600"/>
          </a:xfrm>
          <a:prstGeom prst="rect">
            <a:avLst/>
          </a:prstGeom>
          <a:noFill/>
          <a:ln/>
        </p:spPr>
        <p:txBody>
          <a:bodyPr wrap="square" lIns="0" tIns="0" rIns="0" bIns="0" rtlCol="0" anchor="ctr"/>
          <a:lstStyle/>
          <a:p>
            <a:pPr algn="ctr" indent="0" marL="0">
              <a:buNone/>
            </a:pPr>
            <a:r>
              <a:rPr lang="en-US" sz="900" dirty="0">
                <a:solidFill>
                  <a:srgbClr val="E8EDF5"/>
                </a:solidFill>
              </a:rPr>
              <a:t>Aire</a:t>
            </a:r>
            <a:endParaRPr lang="en-US" sz="900" dirty="0"/>
          </a:p>
        </p:txBody>
      </p:sp>
      <p:sp>
        <p:nvSpPr>
          <p:cNvPr id="10" name="Shape 8"/>
          <p:cNvSpPr/>
          <p:nvPr/>
        </p:nvSpPr>
        <p:spPr>
          <a:xfrm>
            <a:off x="1554480" y="3840480"/>
            <a:ext cx="502920" cy="502920"/>
          </a:xfrm>
          <a:prstGeom prst="ellipse">
            <a:avLst/>
          </a:prstGeom>
          <a:solidFill>
            <a:srgbClr val="FFB800"/>
          </a:solidFill>
          <a:ln w="12700">
            <a:solidFill>
              <a:srgbClr val="FFB800"/>
            </a:solidFill>
            <a:prstDash val="solid"/>
          </a:ln>
        </p:spPr>
      </p:sp>
      <p:sp>
        <p:nvSpPr>
          <p:cNvPr id="11" name="Text 9"/>
          <p:cNvSpPr/>
          <p:nvPr/>
        </p:nvSpPr>
        <p:spPr>
          <a:xfrm>
            <a:off x="1554480" y="4389120"/>
            <a:ext cx="502920" cy="228600"/>
          </a:xfrm>
          <a:prstGeom prst="rect">
            <a:avLst/>
          </a:prstGeom>
          <a:noFill/>
          <a:ln/>
        </p:spPr>
        <p:txBody>
          <a:bodyPr wrap="square" lIns="0" tIns="0" rIns="0" bIns="0" rtlCol="0" anchor="ctr"/>
          <a:lstStyle/>
          <a:p>
            <a:pPr algn="ctr" indent="0" marL="0">
              <a:buNone/>
            </a:pPr>
            <a:r>
              <a:rPr lang="en-US" sz="900" dirty="0">
                <a:solidFill>
                  <a:srgbClr val="E8EDF5"/>
                </a:solidFill>
              </a:rPr>
              <a:t>Solar</a:t>
            </a:r>
            <a:endParaRPr lang="en-US" sz="900" dirty="0"/>
          </a:p>
        </p:txBody>
      </p:sp>
      <p:sp>
        <p:nvSpPr>
          <p:cNvPr id="12" name="Shape 10"/>
          <p:cNvSpPr/>
          <p:nvPr/>
        </p:nvSpPr>
        <p:spPr>
          <a:xfrm>
            <a:off x="2560320" y="3840480"/>
            <a:ext cx="502920" cy="502920"/>
          </a:xfrm>
          <a:prstGeom prst="ellipse">
            <a:avLst/>
          </a:prstGeom>
          <a:solidFill>
            <a:srgbClr val="FF4D6A"/>
          </a:solidFill>
          <a:ln w="12700">
            <a:solidFill>
              <a:srgbClr val="FF4D6A"/>
            </a:solidFill>
            <a:prstDash val="solid"/>
          </a:ln>
        </p:spPr>
      </p:sp>
      <p:sp>
        <p:nvSpPr>
          <p:cNvPr id="13" name="Text 11"/>
          <p:cNvSpPr/>
          <p:nvPr/>
        </p:nvSpPr>
        <p:spPr>
          <a:xfrm>
            <a:off x="2560320" y="4389120"/>
            <a:ext cx="502920" cy="228600"/>
          </a:xfrm>
          <a:prstGeom prst="rect">
            <a:avLst/>
          </a:prstGeom>
          <a:noFill/>
          <a:ln/>
        </p:spPr>
        <p:txBody>
          <a:bodyPr wrap="square" lIns="0" tIns="0" rIns="0" bIns="0" rtlCol="0" anchor="ctr"/>
          <a:lstStyle/>
          <a:p>
            <a:pPr algn="ctr" indent="0" marL="0">
              <a:buNone/>
            </a:pPr>
            <a:r>
              <a:rPr lang="en-US" sz="900" dirty="0">
                <a:solidFill>
                  <a:srgbClr val="E8EDF5"/>
                </a:solidFill>
              </a:rPr>
              <a:t>Silla</a:t>
            </a:r>
            <a:endParaRPr lang="en-US" sz="900" dirty="0"/>
          </a:p>
        </p:txBody>
      </p:sp>
      <p:sp>
        <p:nvSpPr>
          <p:cNvPr id="14" name="Shape 12"/>
          <p:cNvSpPr/>
          <p:nvPr/>
        </p:nvSpPr>
        <p:spPr>
          <a:xfrm>
            <a:off x="3566160" y="3840480"/>
            <a:ext cx="502920" cy="502920"/>
          </a:xfrm>
          <a:prstGeom prst="ellipse">
            <a:avLst/>
          </a:prstGeom>
          <a:solidFill>
            <a:srgbClr val="00D4FF"/>
          </a:solidFill>
          <a:ln w="12700">
            <a:solidFill>
              <a:srgbClr val="00D4FF"/>
            </a:solidFill>
            <a:prstDash val="solid"/>
          </a:ln>
        </p:spPr>
      </p:sp>
      <p:sp>
        <p:nvSpPr>
          <p:cNvPr id="15" name="Text 13"/>
          <p:cNvSpPr/>
          <p:nvPr/>
        </p:nvSpPr>
        <p:spPr>
          <a:xfrm>
            <a:off x="3566160" y="4389120"/>
            <a:ext cx="502920" cy="228600"/>
          </a:xfrm>
          <a:prstGeom prst="rect">
            <a:avLst/>
          </a:prstGeom>
          <a:noFill/>
          <a:ln/>
        </p:spPr>
        <p:txBody>
          <a:bodyPr wrap="square" lIns="0" tIns="0" rIns="0" bIns="0" rtlCol="0" anchor="ctr"/>
          <a:lstStyle/>
          <a:p>
            <a:pPr algn="ctr" indent="0" marL="0">
              <a:buNone/>
            </a:pPr>
            <a:r>
              <a:rPr lang="en-US" sz="900" dirty="0">
                <a:solidFill>
                  <a:srgbClr val="E8EDF5"/>
                </a:solidFill>
              </a:rPr>
              <a:t>Brazo</a:t>
            </a:r>
            <a:endParaRPr lang="en-US" sz="900" dirty="0"/>
          </a:p>
        </p:txBody>
      </p:sp>
      <p:sp>
        <p:nvSpPr>
          <p:cNvPr id="16" name="Shape 14"/>
          <p:cNvSpPr/>
          <p:nvPr/>
        </p:nvSpPr>
        <p:spPr>
          <a:xfrm>
            <a:off x="5029200" y="1097280"/>
            <a:ext cx="3749040" cy="3474720"/>
          </a:xfrm>
          <a:prstGeom prst="roundRect">
            <a:avLst>
              <a:gd name="adj" fmla="val 3947"/>
            </a:avLst>
          </a:prstGeom>
          <a:solidFill>
            <a:srgbClr val="1A2550"/>
          </a:solidFill>
          <a:ln w="12700">
            <a:solidFill>
              <a:srgbClr val="0097B8"/>
            </a:solidFill>
            <a:prstDash val="solid"/>
          </a:ln>
          <a:effectLst>
            <a:outerShdw sx="100000" sy="100000" kx="0" ky="0" algn="bl" rotWithShape="0" blurRad="127000" dist="38100" dir="2700000">
              <a:srgbClr val="000000">
                <a:alpha val="18000"/>
              </a:srgbClr>
            </a:outerShdw>
          </a:effectLst>
        </p:spPr>
      </p:sp>
      <p:sp>
        <p:nvSpPr>
          <p:cNvPr id="17" name="Text 15"/>
          <p:cNvSpPr/>
          <p:nvPr/>
        </p:nvSpPr>
        <p:spPr>
          <a:xfrm>
            <a:off x="5120640" y="1234440"/>
            <a:ext cx="3566160" cy="320040"/>
          </a:xfrm>
          <a:prstGeom prst="rect">
            <a:avLst/>
          </a:prstGeom>
          <a:noFill/>
          <a:ln/>
        </p:spPr>
        <p:txBody>
          <a:bodyPr wrap="square" lIns="0" tIns="0" rIns="0" bIns="0" rtlCol="0" anchor="ctr"/>
          <a:lstStyle/>
          <a:p>
            <a:pPr algn="ctr" indent="0" marL="0">
              <a:buNone/>
            </a:pPr>
            <a:r>
              <a:rPr lang="en-US" sz="1100" b="1" dirty="0">
                <a:solidFill>
                  <a:srgbClr val="00D4FF"/>
                </a:solidFill>
              </a:rPr>
              <a:t>CÓMO FUNCIONA</a:t>
            </a:r>
            <a:endParaRPr lang="en-US" sz="1100" dirty="0"/>
          </a:p>
        </p:txBody>
      </p:sp>
      <p:sp>
        <p:nvSpPr>
          <p:cNvPr id="18" name="Shape 16"/>
          <p:cNvSpPr/>
          <p:nvPr/>
        </p:nvSpPr>
        <p:spPr>
          <a:xfrm>
            <a:off x="5212080" y="1664208"/>
            <a:ext cx="256032" cy="256032"/>
          </a:xfrm>
          <a:prstGeom prst="ellipse">
            <a:avLst/>
          </a:prstGeom>
          <a:solidFill>
            <a:srgbClr val="00C896"/>
          </a:solidFill>
          <a:ln w="12700">
            <a:solidFill>
              <a:srgbClr val="00C896"/>
            </a:solidFill>
            <a:prstDash val="solid"/>
          </a:ln>
        </p:spPr>
      </p:sp>
      <p:sp>
        <p:nvSpPr>
          <p:cNvPr id="19" name="Text 17"/>
          <p:cNvSpPr/>
          <p:nvPr/>
        </p:nvSpPr>
        <p:spPr>
          <a:xfrm>
            <a:off x="5212080" y="1664208"/>
            <a:ext cx="256032" cy="256032"/>
          </a:xfrm>
          <a:prstGeom prst="rect">
            <a:avLst/>
          </a:prstGeom>
          <a:noFill/>
          <a:ln/>
        </p:spPr>
        <p:txBody>
          <a:bodyPr wrap="square" lIns="0" tIns="0" rIns="0" bIns="0" rtlCol="0" anchor="ctr"/>
          <a:lstStyle/>
          <a:p>
            <a:pPr algn="ctr" indent="0" marL="0">
              <a:buNone/>
            </a:pPr>
            <a:r>
              <a:rPr lang="en-US" sz="900" b="1" dirty="0">
                <a:solidFill>
                  <a:srgbClr val="0A0E2A"/>
                </a:solidFill>
              </a:rPr>
              <a:t>1</a:t>
            </a:r>
            <a:endParaRPr lang="en-US" sz="900" dirty="0"/>
          </a:p>
        </p:txBody>
      </p:sp>
      <p:sp>
        <p:nvSpPr>
          <p:cNvPr id="20" name="Text 18"/>
          <p:cNvSpPr/>
          <p:nvPr/>
        </p:nvSpPr>
        <p:spPr>
          <a:xfrm>
            <a:off x="5559552" y="1645920"/>
            <a:ext cx="3108960" cy="292608"/>
          </a:xfrm>
          <a:prstGeom prst="rect">
            <a:avLst/>
          </a:prstGeom>
          <a:noFill/>
          <a:ln/>
        </p:spPr>
        <p:txBody>
          <a:bodyPr wrap="square" lIns="0" tIns="0" rIns="0" bIns="0" rtlCol="0" anchor="ctr"/>
          <a:lstStyle/>
          <a:p>
            <a:pPr indent="0" marL="0">
              <a:buNone/>
            </a:pPr>
            <a:r>
              <a:rPr lang="en-US" sz="1050" dirty="0">
                <a:solidFill>
                  <a:srgbClr val="E8EDF5"/>
                </a:solidFill>
              </a:rPr>
              <a:t>Todos los equipos trabajan el mismo proyecto</a:t>
            </a:r>
            <a:endParaRPr lang="en-US" sz="1050" dirty="0"/>
          </a:p>
        </p:txBody>
      </p:sp>
      <p:sp>
        <p:nvSpPr>
          <p:cNvPr id="21" name="Shape 19"/>
          <p:cNvSpPr/>
          <p:nvPr/>
        </p:nvSpPr>
        <p:spPr>
          <a:xfrm>
            <a:off x="5212080" y="2139696"/>
            <a:ext cx="256032" cy="256032"/>
          </a:xfrm>
          <a:prstGeom prst="ellipse">
            <a:avLst/>
          </a:prstGeom>
          <a:solidFill>
            <a:srgbClr val="00C896"/>
          </a:solidFill>
          <a:ln w="12700">
            <a:solidFill>
              <a:srgbClr val="00C896"/>
            </a:solidFill>
            <a:prstDash val="solid"/>
          </a:ln>
        </p:spPr>
      </p:sp>
      <p:sp>
        <p:nvSpPr>
          <p:cNvPr id="22" name="Text 20"/>
          <p:cNvSpPr/>
          <p:nvPr/>
        </p:nvSpPr>
        <p:spPr>
          <a:xfrm>
            <a:off x="5212080" y="2139696"/>
            <a:ext cx="256032" cy="256032"/>
          </a:xfrm>
          <a:prstGeom prst="rect">
            <a:avLst/>
          </a:prstGeom>
          <a:noFill/>
          <a:ln/>
        </p:spPr>
        <p:txBody>
          <a:bodyPr wrap="square" lIns="0" tIns="0" rIns="0" bIns="0" rtlCol="0" anchor="ctr"/>
          <a:lstStyle/>
          <a:p>
            <a:pPr algn="ctr" indent="0" marL="0">
              <a:buNone/>
            </a:pPr>
            <a:r>
              <a:rPr lang="en-US" sz="900" b="1" dirty="0">
                <a:solidFill>
                  <a:srgbClr val="0A0E2A"/>
                </a:solidFill>
              </a:rPr>
              <a:t>2</a:t>
            </a:r>
            <a:endParaRPr lang="en-US" sz="900" dirty="0"/>
          </a:p>
        </p:txBody>
      </p:sp>
      <p:sp>
        <p:nvSpPr>
          <p:cNvPr id="23" name="Text 21"/>
          <p:cNvSpPr/>
          <p:nvPr/>
        </p:nvSpPr>
        <p:spPr>
          <a:xfrm>
            <a:off x="5559552" y="2121408"/>
            <a:ext cx="3108960" cy="292608"/>
          </a:xfrm>
          <a:prstGeom prst="rect">
            <a:avLst/>
          </a:prstGeom>
          <a:noFill/>
          <a:ln/>
        </p:spPr>
        <p:txBody>
          <a:bodyPr wrap="square" lIns="0" tIns="0" rIns="0" bIns="0" rtlCol="0" anchor="ctr"/>
          <a:lstStyle/>
          <a:p>
            <a:pPr indent="0" marL="0">
              <a:buNone/>
            </a:pPr>
            <a:r>
              <a:rPr lang="en-US" sz="1050" dirty="0">
                <a:solidFill>
                  <a:srgbClr val="E8EDF5"/>
                </a:solidFill>
              </a:rPr>
              <a:t>5 rondas cronometradas por proyecto</a:t>
            </a:r>
            <a:endParaRPr lang="en-US" sz="1050" dirty="0"/>
          </a:p>
        </p:txBody>
      </p:sp>
      <p:sp>
        <p:nvSpPr>
          <p:cNvPr id="24" name="Shape 22"/>
          <p:cNvSpPr/>
          <p:nvPr/>
        </p:nvSpPr>
        <p:spPr>
          <a:xfrm>
            <a:off x="5212080" y="2615184"/>
            <a:ext cx="256032" cy="256032"/>
          </a:xfrm>
          <a:prstGeom prst="ellipse">
            <a:avLst/>
          </a:prstGeom>
          <a:solidFill>
            <a:srgbClr val="00C896"/>
          </a:solidFill>
          <a:ln w="12700">
            <a:solidFill>
              <a:srgbClr val="00C896"/>
            </a:solidFill>
            <a:prstDash val="solid"/>
          </a:ln>
        </p:spPr>
      </p:sp>
      <p:sp>
        <p:nvSpPr>
          <p:cNvPr id="25" name="Text 23"/>
          <p:cNvSpPr/>
          <p:nvPr/>
        </p:nvSpPr>
        <p:spPr>
          <a:xfrm>
            <a:off x="5212080" y="2615184"/>
            <a:ext cx="256032" cy="256032"/>
          </a:xfrm>
          <a:prstGeom prst="rect">
            <a:avLst/>
          </a:prstGeom>
          <a:noFill/>
          <a:ln/>
        </p:spPr>
        <p:txBody>
          <a:bodyPr wrap="square" lIns="0" tIns="0" rIns="0" bIns="0" rtlCol="0" anchor="ctr"/>
          <a:lstStyle/>
          <a:p>
            <a:pPr algn="ctr" indent="0" marL="0">
              <a:buNone/>
            </a:pPr>
            <a:r>
              <a:rPr lang="en-US" sz="900" b="1" dirty="0">
                <a:solidFill>
                  <a:srgbClr val="0A0E2A"/>
                </a:solidFill>
              </a:rPr>
              <a:t>3</a:t>
            </a:r>
            <a:endParaRPr lang="en-US" sz="900" dirty="0"/>
          </a:p>
        </p:txBody>
      </p:sp>
      <p:sp>
        <p:nvSpPr>
          <p:cNvPr id="26" name="Text 24"/>
          <p:cNvSpPr/>
          <p:nvPr/>
        </p:nvSpPr>
        <p:spPr>
          <a:xfrm>
            <a:off x="5559552" y="2596896"/>
            <a:ext cx="3108960" cy="292608"/>
          </a:xfrm>
          <a:prstGeom prst="rect">
            <a:avLst/>
          </a:prstGeom>
          <a:noFill/>
          <a:ln/>
        </p:spPr>
        <p:txBody>
          <a:bodyPr wrap="square" lIns="0" tIns="0" rIns="0" bIns="0" rtlCol="0" anchor="ctr"/>
          <a:lstStyle/>
          <a:p>
            <a:pPr indent="0" marL="0">
              <a:buNone/>
            </a:pPr>
            <a:r>
              <a:rPr lang="en-US" sz="1050" dirty="0">
                <a:solidFill>
                  <a:srgbClr val="E8EDF5"/>
                </a:solidFill>
              </a:rPr>
              <a:t>Cada equipo escribe sus respuestas</a:t>
            </a:r>
            <a:endParaRPr lang="en-US" sz="1050" dirty="0"/>
          </a:p>
        </p:txBody>
      </p:sp>
      <p:sp>
        <p:nvSpPr>
          <p:cNvPr id="27" name="Shape 25"/>
          <p:cNvSpPr/>
          <p:nvPr/>
        </p:nvSpPr>
        <p:spPr>
          <a:xfrm>
            <a:off x="5212080" y="3090672"/>
            <a:ext cx="256032" cy="256032"/>
          </a:xfrm>
          <a:prstGeom prst="ellipse">
            <a:avLst/>
          </a:prstGeom>
          <a:solidFill>
            <a:srgbClr val="00C896"/>
          </a:solidFill>
          <a:ln w="12700">
            <a:solidFill>
              <a:srgbClr val="00C896"/>
            </a:solidFill>
            <a:prstDash val="solid"/>
          </a:ln>
        </p:spPr>
      </p:sp>
      <p:sp>
        <p:nvSpPr>
          <p:cNvPr id="28" name="Text 26"/>
          <p:cNvSpPr/>
          <p:nvPr/>
        </p:nvSpPr>
        <p:spPr>
          <a:xfrm>
            <a:off x="5212080" y="3090672"/>
            <a:ext cx="256032" cy="256032"/>
          </a:xfrm>
          <a:prstGeom prst="rect">
            <a:avLst/>
          </a:prstGeom>
          <a:noFill/>
          <a:ln/>
        </p:spPr>
        <p:txBody>
          <a:bodyPr wrap="square" lIns="0" tIns="0" rIns="0" bIns="0" rtlCol="0" anchor="ctr"/>
          <a:lstStyle/>
          <a:p>
            <a:pPr algn="ctr" indent="0" marL="0">
              <a:buNone/>
            </a:pPr>
            <a:r>
              <a:rPr lang="en-US" sz="900" b="1" dirty="0">
                <a:solidFill>
                  <a:srgbClr val="0A0E2A"/>
                </a:solidFill>
              </a:rPr>
              <a:t>4</a:t>
            </a:r>
            <a:endParaRPr lang="en-US" sz="900" dirty="0"/>
          </a:p>
        </p:txBody>
      </p:sp>
      <p:sp>
        <p:nvSpPr>
          <p:cNvPr id="29" name="Text 27"/>
          <p:cNvSpPr/>
          <p:nvPr/>
        </p:nvSpPr>
        <p:spPr>
          <a:xfrm>
            <a:off x="5559552" y="3072384"/>
            <a:ext cx="3108960" cy="292608"/>
          </a:xfrm>
          <a:prstGeom prst="rect">
            <a:avLst/>
          </a:prstGeom>
          <a:noFill/>
          <a:ln/>
        </p:spPr>
        <p:txBody>
          <a:bodyPr wrap="square" lIns="0" tIns="0" rIns="0" bIns="0" rtlCol="0" anchor="ctr"/>
          <a:lstStyle/>
          <a:p>
            <a:pPr indent="0" marL="0">
              <a:buNone/>
            </a:pPr>
            <a:r>
              <a:rPr lang="en-US" sz="1050" dirty="0">
                <a:solidFill>
                  <a:srgbClr val="E8EDF5"/>
                </a:solidFill>
              </a:rPr>
              <a:t>Al cierre de cada ronda: comparamos</a:t>
            </a:r>
            <a:endParaRPr lang="en-US" sz="1050" dirty="0"/>
          </a:p>
        </p:txBody>
      </p:sp>
      <p:sp>
        <p:nvSpPr>
          <p:cNvPr id="30" name="Shape 28"/>
          <p:cNvSpPr/>
          <p:nvPr/>
        </p:nvSpPr>
        <p:spPr>
          <a:xfrm>
            <a:off x="5212080" y="3566160"/>
            <a:ext cx="256032" cy="256032"/>
          </a:xfrm>
          <a:prstGeom prst="ellipse">
            <a:avLst/>
          </a:prstGeom>
          <a:solidFill>
            <a:srgbClr val="00C896"/>
          </a:solidFill>
          <a:ln w="12700">
            <a:solidFill>
              <a:srgbClr val="00C896"/>
            </a:solidFill>
            <a:prstDash val="solid"/>
          </a:ln>
        </p:spPr>
      </p:sp>
      <p:sp>
        <p:nvSpPr>
          <p:cNvPr id="31" name="Text 29"/>
          <p:cNvSpPr/>
          <p:nvPr/>
        </p:nvSpPr>
        <p:spPr>
          <a:xfrm>
            <a:off x="5212080" y="3566160"/>
            <a:ext cx="256032" cy="256032"/>
          </a:xfrm>
          <a:prstGeom prst="rect">
            <a:avLst/>
          </a:prstGeom>
          <a:noFill/>
          <a:ln/>
        </p:spPr>
        <p:txBody>
          <a:bodyPr wrap="square" lIns="0" tIns="0" rIns="0" bIns="0" rtlCol="0" anchor="ctr"/>
          <a:lstStyle/>
          <a:p>
            <a:pPr algn="ctr" indent="0" marL="0">
              <a:buNone/>
            </a:pPr>
            <a:r>
              <a:rPr lang="en-US" sz="900" b="1" dirty="0">
                <a:solidFill>
                  <a:srgbClr val="0A0E2A"/>
                </a:solidFill>
              </a:rPr>
              <a:t>5</a:t>
            </a:r>
            <a:endParaRPr lang="en-US" sz="900" dirty="0"/>
          </a:p>
        </p:txBody>
      </p:sp>
      <p:sp>
        <p:nvSpPr>
          <p:cNvPr id="32" name="Text 30"/>
          <p:cNvSpPr/>
          <p:nvPr/>
        </p:nvSpPr>
        <p:spPr>
          <a:xfrm>
            <a:off x="5559552" y="3547872"/>
            <a:ext cx="3108960" cy="292608"/>
          </a:xfrm>
          <a:prstGeom prst="rect">
            <a:avLst/>
          </a:prstGeom>
          <a:noFill/>
          <a:ln/>
        </p:spPr>
        <p:txBody>
          <a:bodyPr wrap="square" lIns="0" tIns="0" rIns="0" bIns="0" rtlCol="0" anchor="ctr"/>
          <a:lstStyle/>
          <a:p>
            <a:pPr indent="0" marL="0">
              <a:buNone/>
            </a:pPr>
            <a:r>
              <a:rPr lang="en-US" sz="1050" dirty="0">
                <a:solidFill>
                  <a:srgbClr val="E8EDF5"/>
                </a:solidFill>
              </a:rPr>
              <a:t>El equipo con mejor formulación gana la ronda</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00C896"/>
          </a:solidFill>
          <a:ln w="12700">
            <a:solidFill>
              <a:srgbClr val="00C896"/>
            </a:solidFill>
            <a:prstDash val="solid"/>
          </a:ln>
        </p:spPr>
      </p:sp>
      <p:sp>
        <p:nvSpPr>
          <p:cNvPr id="3" name="Text 1"/>
          <p:cNvSpPr/>
          <p:nvPr/>
        </p:nvSpPr>
        <p:spPr>
          <a:xfrm>
            <a:off x="0" y="365760"/>
            <a:ext cx="3474720" cy="2286000"/>
          </a:xfrm>
          <a:prstGeom prst="rect">
            <a:avLst/>
          </a:prstGeom>
          <a:noFill/>
          <a:ln/>
        </p:spPr>
        <p:txBody>
          <a:bodyPr wrap="square" lIns="0" tIns="0" rIns="0" bIns="0" rtlCol="0" anchor="ctr"/>
          <a:lstStyle/>
          <a:p>
            <a:pPr algn="ctr" indent="0" marL="0">
              <a:buNone/>
            </a:pPr>
            <a:r>
              <a:rPr lang="en-US" sz="16000" b="1" dirty="0">
                <a:solidFill>
                  <a:srgbClr val="0A0E2A"/>
                </a:solidFill>
              </a:rPr>
              <a:t>1</a:t>
            </a:r>
            <a:endParaRPr lang="en-US" sz="16000" dirty="0"/>
          </a:p>
        </p:txBody>
      </p:sp>
      <p:sp>
        <p:nvSpPr>
          <p:cNvPr id="4" name="Text 2"/>
          <p:cNvSpPr/>
          <p:nvPr/>
        </p:nvSpPr>
        <p:spPr>
          <a:xfrm>
            <a:off x="0" y="2926080"/>
            <a:ext cx="3474720" cy="502920"/>
          </a:xfrm>
          <a:prstGeom prst="rect">
            <a:avLst/>
          </a:prstGeom>
          <a:noFill/>
          <a:ln/>
        </p:spPr>
        <p:txBody>
          <a:bodyPr wrap="square" lIns="0" tIns="0" rIns="0" bIns="0" rtlCol="0" anchor="ctr"/>
          <a:lstStyle/>
          <a:p>
            <a:pPr algn="ctr" indent="0" marL="0">
              <a:buNone/>
            </a:pPr>
            <a:r>
              <a:rPr lang="en-US" sz="1800" b="1" dirty="0">
                <a:solidFill>
                  <a:srgbClr val="0A0E2A"/>
                </a:solidFill>
              </a:rPr>
              <a:t>P1</a:t>
            </a:r>
            <a:endParaRPr lang="en-US" sz="1800" dirty="0"/>
          </a:p>
        </p:txBody>
      </p:sp>
      <p:sp>
        <p:nvSpPr>
          <p:cNvPr id="5" name="Text 3"/>
          <p:cNvSpPr/>
          <p:nvPr/>
        </p:nvSpPr>
        <p:spPr>
          <a:xfrm>
            <a:off x="91440" y="3429000"/>
            <a:ext cx="3291840" cy="548640"/>
          </a:xfrm>
          <a:prstGeom prst="rect">
            <a:avLst/>
          </a:prstGeom>
          <a:noFill/>
          <a:ln/>
        </p:spPr>
        <p:txBody>
          <a:bodyPr wrap="square" lIns="0" tIns="0" rIns="0" bIns="0" rtlCol="0" anchor="ctr"/>
          <a:lstStyle/>
          <a:p>
            <a:pPr algn="ctr" indent="0" marL="0">
              <a:buNone/>
            </a:pPr>
            <a:r>
              <a:rPr lang="en-US" sz="1000" i="1" dirty="0">
                <a:solidFill>
                  <a:srgbClr val="0A0E2A"/>
                </a:solidFill>
              </a:rPr>
              <a:t>Automatización · Salud · IoT</a:t>
            </a:r>
            <a:endParaRPr lang="en-US" sz="1000" dirty="0"/>
          </a:p>
        </p:txBody>
      </p:sp>
      <p:sp>
        <p:nvSpPr>
          <p:cNvPr id="6" name="Text 4"/>
          <p:cNvSpPr/>
          <p:nvPr/>
        </p:nvSpPr>
        <p:spPr>
          <a:xfrm>
            <a:off x="3840480" y="411480"/>
            <a:ext cx="5029200" cy="1188720"/>
          </a:xfrm>
          <a:prstGeom prst="rect">
            <a:avLst/>
          </a:prstGeom>
          <a:noFill/>
          <a:ln/>
        </p:spPr>
        <p:txBody>
          <a:bodyPr wrap="square" lIns="0" tIns="0" rIns="0" bIns="0" rtlCol="0" anchor="t"/>
          <a:lstStyle/>
          <a:p>
            <a:pPr indent="0" marL="0">
              <a:buNone/>
            </a:pPr>
            <a:r>
              <a:rPr lang="en-US" sz="2800" b="1" dirty="0">
                <a:solidFill>
                  <a:srgbClr val="00C896"/>
                </a:solidFill>
              </a:rPr>
              <a:t>Monitor de Calidad del Aire</a:t>
            </a:r>
            <a:endParaRPr lang="en-US" sz="2800" dirty="0"/>
          </a:p>
        </p:txBody>
      </p:sp>
      <p:sp>
        <p:nvSpPr>
          <p:cNvPr id="7" name="Shape 5"/>
          <p:cNvSpPr/>
          <p:nvPr/>
        </p:nvSpPr>
        <p:spPr>
          <a:xfrm>
            <a:off x="3840480" y="1691640"/>
            <a:ext cx="5029200" cy="2011680"/>
          </a:xfrm>
          <a:prstGeom prst="roundRect">
            <a:avLst>
              <a:gd name="adj" fmla="val 5455"/>
            </a:avLst>
          </a:prstGeom>
          <a:solidFill>
            <a:srgbClr val="1A2550"/>
          </a:solidFill>
          <a:ln w="19050">
            <a:solidFill>
              <a:srgbClr val="00C896"/>
            </a:solidFill>
            <a:prstDash val="solid"/>
          </a:ln>
          <a:effectLst>
            <a:outerShdw sx="100000" sy="100000" kx="0" ky="0" algn="bl" rotWithShape="0" blurRad="127000" dist="38100" dir="2700000">
              <a:srgbClr val="000000">
                <a:alpha val="18000"/>
              </a:srgbClr>
            </a:outerShdw>
          </a:effectLst>
        </p:spPr>
      </p:sp>
      <p:sp>
        <p:nvSpPr>
          <p:cNvPr id="8" name="Text 6"/>
          <p:cNvSpPr/>
          <p:nvPr/>
        </p:nvSpPr>
        <p:spPr>
          <a:xfrm>
            <a:off x="3977640" y="1755648"/>
            <a:ext cx="4754880" cy="274320"/>
          </a:xfrm>
          <a:prstGeom prst="rect">
            <a:avLst/>
          </a:prstGeom>
          <a:noFill/>
          <a:ln/>
        </p:spPr>
        <p:txBody>
          <a:bodyPr wrap="square" lIns="0" tIns="0" rIns="0" bIns="0" rtlCol="0" anchor="ctr"/>
          <a:lstStyle/>
          <a:p>
            <a:pPr indent="0" marL="0">
              <a:buNone/>
            </a:pPr>
            <a:r>
              <a:rPr lang="en-US" sz="950" b="1" dirty="0">
                <a:solidFill>
                  <a:srgbClr val="00C896"/>
                </a:solidFill>
              </a:rPr>
              <a:t>CONTEXTO DEL PROYECTO</a:t>
            </a:r>
            <a:endParaRPr lang="en-US" sz="950" dirty="0"/>
          </a:p>
        </p:txBody>
      </p:sp>
      <p:sp>
        <p:nvSpPr>
          <p:cNvPr id="9" name="Text 7"/>
          <p:cNvSpPr/>
          <p:nvPr/>
        </p:nvSpPr>
        <p:spPr>
          <a:xfrm>
            <a:off x="3977640" y="2057400"/>
            <a:ext cx="4754880" cy="1554480"/>
          </a:xfrm>
          <a:prstGeom prst="rect">
            <a:avLst/>
          </a:prstGeom>
          <a:noFill/>
          <a:ln/>
        </p:spPr>
        <p:txBody>
          <a:bodyPr wrap="square" lIns="0" tIns="0" rIns="0" bIns="0" rtlCol="0" anchor="ctr"/>
          <a:lstStyle/>
          <a:p>
            <a:pPr indent="0" marL="0">
              <a:buNone/>
            </a:pPr>
            <a:r>
              <a:rPr lang="en-US" sz="1250" dirty="0">
                <a:solidFill>
                  <a:srgbClr val="E8EDF5"/>
                </a:solidFill>
              </a:rPr>
              <a:t>Aulas con ventilación deficiente donde el CO₂ acumulado afecta la concentración y la salud de los estudiantes.</a:t>
            </a:r>
            <a:endParaRPr lang="en-US" sz="1250" dirty="0"/>
          </a:p>
        </p:txBody>
      </p:sp>
      <p:sp>
        <p:nvSpPr>
          <p:cNvPr id="10" name="Shape 8"/>
          <p:cNvSpPr/>
          <p:nvPr/>
        </p:nvSpPr>
        <p:spPr>
          <a:xfrm>
            <a:off x="3840480" y="3840480"/>
            <a:ext cx="5029200" cy="868680"/>
          </a:xfrm>
          <a:prstGeom prst="roundRect">
            <a:avLst>
              <a:gd name="adj" fmla="val 10526"/>
            </a:avLst>
          </a:prstGeom>
          <a:solidFill>
            <a:srgbClr val="1A2550"/>
          </a:solidFill>
          <a:ln w="12700">
            <a:solidFill>
              <a:srgbClr val="00C896">
                <a:alpha val="50000"/>
              </a:srgbClr>
            </a:solidFill>
            <a:prstDash val="solid"/>
          </a:ln>
        </p:spPr>
      </p:sp>
      <p:sp>
        <p:nvSpPr>
          <p:cNvPr id="11" name="Text 9"/>
          <p:cNvSpPr/>
          <p:nvPr/>
        </p:nvSpPr>
        <p:spPr>
          <a:xfrm>
            <a:off x="3977640" y="3886200"/>
            <a:ext cx="1097280" cy="274320"/>
          </a:xfrm>
          <a:prstGeom prst="rect">
            <a:avLst/>
          </a:prstGeom>
          <a:noFill/>
          <a:ln/>
        </p:spPr>
        <p:txBody>
          <a:bodyPr wrap="square" lIns="0" tIns="0" rIns="0" bIns="0" rtlCol="0" anchor="ctr"/>
          <a:lstStyle/>
          <a:p>
            <a:pPr indent="0" marL="0">
              <a:buNone/>
            </a:pPr>
            <a:r>
              <a:rPr lang="en-US" sz="900" b="1" dirty="0">
                <a:solidFill>
                  <a:srgbClr val="00C896"/>
                </a:solidFill>
              </a:rPr>
              <a:t>5 RONDAS:</a:t>
            </a:r>
            <a:endParaRPr lang="en-US" sz="900" dirty="0"/>
          </a:p>
        </p:txBody>
      </p:sp>
      <p:sp>
        <p:nvSpPr>
          <p:cNvPr id="12" name="Shape 10"/>
          <p:cNvSpPr/>
          <p:nvPr/>
        </p:nvSpPr>
        <p:spPr>
          <a:xfrm>
            <a:off x="3977640" y="4187952"/>
            <a:ext cx="868680" cy="411480"/>
          </a:xfrm>
          <a:prstGeom prst="roundRect">
            <a:avLst>
              <a:gd name="adj" fmla="val 15556"/>
            </a:avLst>
          </a:prstGeom>
          <a:solidFill>
            <a:srgbClr val="FFB800">
              <a:alpha val="85000"/>
            </a:srgbClr>
          </a:solidFill>
          <a:ln w="12700">
            <a:solidFill>
              <a:srgbClr val="FFB800"/>
            </a:solidFill>
            <a:prstDash val="solid"/>
          </a:ln>
        </p:spPr>
      </p:sp>
      <p:sp>
        <p:nvSpPr>
          <p:cNvPr id="13" name="Text 11"/>
          <p:cNvSpPr/>
          <p:nvPr/>
        </p:nvSpPr>
        <p:spPr>
          <a:xfrm>
            <a:off x="397764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Prob.</a:t>
            </a:r>
            <a:endParaRPr lang="en-US" sz="750" dirty="0"/>
          </a:p>
          <a:p>
            <a:pPr algn="ctr" indent="0" marL="0">
              <a:buNone/>
            </a:pPr>
            <a:r>
              <a:rPr lang="en-US" sz="750" b="1" dirty="0">
                <a:solidFill>
                  <a:srgbClr val="0A0E2A"/>
                </a:solidFill>
              </a:rPr>
              <a:t>Vago</a:t>
            </a:r>
            <a:endParaRPr lang="en-US" sz="750" dirty="0"/>
          </a:p>
        </p:txBody>
      </p:sp>
      <p:sp>
        <p:nvSpPr>
          <p:cNvPr id="14" name="Shape 12"/>
          <p:cNvSpPr/>
          <p:nvPr/>
        </p:nvSpPr>
        <p:spPr>
          <a:xfrm>
            <a:off x="4937760" y="4187952"/>
            <a:ext cx="868680" cy="411480"/>
          </a:xfrm>
          <a:prstGeom prst="roundRect">
            <a:avLst>
              <a:gd name="adj" fmla="val 15556"/>
            </a:avLst>
          </a:prstGeom>
          <a:solidFill>
            <a:srgbClr val="00D4FF">
              <a:alpha val="85000"/>
            </a:srgbClr>
          </a:solidFill>
          <a:ln w="12700">
            <a:solidFill>
              <a:srgbClr val="00D4FF"/>
            </a:solidFill>
            <a:prstDash val="solid"/>
          </a:ln>
        </p:spPr>
      </p:sp>
      <p:sp>
        <p:nvSpPr>
          <p:cNvPr id="15" name="Text 13"/>
          <p:cNvSpPr/>
          <p:nvPr/>
        </p:nvSpPr>
        <p:spPr>
          <a:xfrm>
            <a:off x="493776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Dispa-</a:t>
            </a:r>
            <a:endParaRPr lang="en-US" sz="750" dirty="0"/>
          </a:p>
          <a:p>
            <a:pPr algn="ctr" indent="0" marL="0">
              <a:buNone/>
            </a:pPr>
            <a:r>
              <a:rPr lang="en-US" sz="750" b="1" dirty="0">
                <a:solidFill>
                  <a:srgbClr val="0A0E2A"/>
                </a:solidFill>
              </a:rPr>
              <a:t>radoras</a:t>
            </a:r>
            <a:endParaRPr lang="en-US" sz="750" dirty="0"/>
          </a:p>
        </p:txBody>
      </p:sp>
      <p:sp>
        <p:nvSpPr>
          <p:cNvPr id="16" name="Shape 14"/>
          <p:cNvSpPr/>
          <p:nvPr/>
        </p:nvSpPr>
        <p:spPr>
          <a:xfrm>
            <a:off x="5897880" y="4187952"/>
            <a:ext cx="868680" cy="411480"/>
          </a:xfrm>
          <a:prstGeom prst="roundRect">
            <a:avLst>
              <a:gd name="adj" fmla="val 15556"/>
            </a:avLst>
          </a:prstGeom>
          <a:solidFill>
            <a:srgbClr val="00C896">
              <a:alpha val="85000"/>
            </a:srgbClr>
          </a:solidFill>
          <a:ln w="12700">
            <a:solidFill>
              <a:srgbClr val="00C896"/>
            </a:solidFill>
            <a:prstDash val="solid"/>
          </a:ln>
        </p:spPr>
      </p:sp>
      <p:sp>
        <p:nvSpPr>
          <p:cNvPr id="17" name="Text 15"/>
          <p:cNvSpPr/>
          <p:nvPr/>
        </p:nvSpPr>
        <p:spPr>
          <a:xfrm>
            <a:off x="589788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4 Comp.</a:t>
            </a:r>
            <a:endParaRPr lang="en-US" sz="750" dirty="0"/>
          </a:p>
          <a:p>
            <a:pPr algn="ctr" indent="0" marL="0">
              <a:buNone/>
            </a:pPr>
            <a:r>
              <a:rPr lang="en-US" sz="750" b="1" dirty="0">
                <a:solidFill>
                  <a:srgbClr val="0A0E2A"/>
                </a:solidFill>
              </a:rPr>
              <a:t>+ Técnico</a:t>
            </a:r>
            <a:endParaRPr lang="en-US" sz="750" dirty="0"/>
          </a:p>
        </p:txBody>
      </p:sp>
      <p:sp>
        <p:nvSpPr>
          <p:cNvPr id="18" name="Shape 16"/>
          <p:cNvSpPr/>
          <p:nvPr/>
        </p:nvSpPr>
        <p:spPr>
          <a:xfrm>
            <a:off x="6858000" y="4187952"/>
            <a:ext cx="868680" cy="411480"/>
          </a:xfrm>
          <a:prstGeom prst="roundRect">
            <a:avLst>
              <a:gd name="adj" fmla="val 15556"/>
            </a:avLst>
          </a:prstGeom>
          <a:solidFill>
            <a:srgbClr val="9B59B6">
              <a:alpha val="85000"/>
            </a:srgbClr>
          </a:solidFill>
          <a:ln w="12700">
            <a:solidFill>
              <a:srgbClr val="9B59B6"/>
            </a:solidFill>
            <a:prstDash val="solid"/>
          </a:ln>
        </p:spPr>
      </p:sp>
      <p:sp>
        <p:nvSpPr>
          <p:cNvPr id="19" name="Text 17"/>
          <p:cNvSpPr/>
          <p:nvPr/>
        </p:nvSpPr>
        <p:spPr>
          <a:xfrm>
            <a:off x="685800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Obje-</a:t>
            </a:r>
            <a:endParaRPr lang="en-US" sz="750" dirty="0"/>
          </a:p>
          <a:p>
            <a:pPr algn="ctr" indent="0" marL="0">
              <a:buNone/>
            </a:pPr>
            <a:r>
              <a:rPr lang="en-US" sz="750" b="1" dirty="0">
                <a:solidFill>
                  <a:srgbClr val="0A0E2A"/>
                </a:solidFill>
              </a:rPr>
              <a:t>tivos</a:t>
            </a:r>
            <a:endParaRPr lang="en-US" sz="750" dirty="0"/>
          </a:p>
        </p:txBody>
      </p:sp>
      <p:sp>
        <p:nvSpPr>
          <p:cNvPr id="20" name="Shape 18"/>
          <p:cNvSpPr/>
          <p:nvPr/>
        </p:nvSpPr>
        <p:spPr>
          <a:xfrm>
            <a:off x="7818120" y="4187952"/>
            <a:ext cx="868680" cy="411480"/>
          </a:xfrm>
          <a:prstGeom prst="roundRect">
            <a:avLst>
              <a:gd name="adj" fmla="val 15556"/>
            </a:avLst>
          </a:prstGeom>
          <a:solidFill>
            <a:srgbClr val="FF4D6A">
              <a:alpha val="85000"/>
            </a:srgbClr>
          </a:solidFill>
          <a:ln w="12700">
            <a:solidFill>
              <a:srgbClr val="FF4D6A"/>
            </a:solidFill>
            <a:prstDash val="solid"/>
          </a:ln>
        </p:spPr>
      </p:sp>
      <p:sp>
        <p:nvSpPr>
          <p:cNvPr id="21" name="Text 19"/>
          <p:cNvSpPr/>
          <p:nvPr/>
        </p:nvSpPr>
        <p:spPr>
          <a:xfrm>
            <a:off x="781812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Solu-</a:t>
            </a:r>
            <a:endParaRPr lang="en-US" sz="750" dirty="0"/>
          </a:p>
          <a:p>
            <a:pPr algn="ctr" indent="0" marL="0">
              <a:buNone/>
            </a:pPr>
            <a:r>
              <a:rPr lang="en-US" sz="750" b="1" dirty="0">
                <a:solidFill>
                  <a:srgbClr val="0A0E2A"/>
                </a:solidFill>
              </a:rPr>
              <a:t>ción</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C896"/>
          </a:solidFill>
          <a:ln w="12700">
            <a:solidFill>
              <a:srgbClr val="00C896"/>
            </a:solidFill>
            <a:prstDash val="solid"/>
          </a:ln>
        </p:spPr>
      </p:sp>
      <p:sp>
        <p:nvSpPr>
          <p:cNvPr id="3" name="Text 1"/>
          <p:cNvSpPr/>
          <p:nvPr/>
        </p:nvSpPr>
        <p:spPr>
          <a:xfrm>
            <a:off x="274320" y="0"/>
            <a:ext cx="6858000" cy="502920"/>
          </a:xfrm>
          <a:prstGeom prst="rect">
            <a:avLst/>
          </a:prstGeom>
          <a:noFill/>
          <a:ln/>
        </p:spPr>
        <p:txBody>
          <a:bodyPr wrap="square" lIns="0" tIns="0" rIns="0" bIns="0" rtlCol="0" anchor="ctr"/>
          <a:lstStyle/>
          <a:p>
            <a:pPr indent="0" marL="0">
              <a:buNone/>
            </a:pPr>
            <a:r>
              <a:rPr lang="en-US" sz="1100" b="1" dirty="0">
                <a:solidFill>
                  <a:srgbClr val="0A0E2A"/>
                </a:solidFill>
              </a:rPr>
              <a:t>MONITOR DE CALIDAD DEL AIRE  ·  LEÉ ANTES DE LA RONDA 1</a:t>
            </a:r>
            <a:endParaRPr lang="en-US" sz="1100" dirty="0"/>
          </a:p>
        </p:txBody>
      </p:sp>
      <p:sp>
        <p:nvSpPr>
          <p:cNvPr id="4" name="Shape 2"/>
          <p:cNvSpPr/>
          <p:nvPr/>
        </p:nvSpPr>
        <p:spPr>
          <a:xfrm>
            <a:off x="7863840" y="54864"/>
            <a:ext cx="384048" cy="384048"/>
          </a:xfrm>
          <a:prstGeom prst="ellipse">
            <a:avLst/>
          </a:prstGeom>
          <a:solidFill>
            <a:srgbClr val="0A0E2A"/>
          </a:solidFill>
          <a:ln w="12700">
            <a:solidFill>
              <a:srgbClr val="0A0E2A"/>
            </a:solidFill>
            <a:prstDash val="solid"/>
          </a:ln>
        </p:spPr>
      </p:sp>
      <p:sp>
        <p:nvSpPr>
          <p:cNvPr id="5" name="Text 3"/>
          <p:cNvSpPr/>
          <p:nvPr/>
        </p:nvSpPr>
        <p:spPr>
          <a:xfrm>
            <a:off x="7863840" y="54864"/>
            <a:ext cx="384048" cy="384048"/>
          </a:xfrm>
          <a:prstGeom prst="rect">
            <a:avLst/>
          </a:prstGeom>
          <a:noFill/>
          <a:ln/>
        </p:spPr>
        <p:txBody>
          <a:bodyPr wrap="square" lIns="0" tIns="0" rIns="0" bIns="0" rtlCol="0" anchor="ctr"/>
          <a:lstStyle/>
          <a:p>
            <a:pPr algn="ctr" indent="0" marL="0">
              <a:buNone/>
            </a:pPr>
            <a:r>
              <a:rPr lang="en-US" sz="1300" b="1" dirty="0">
                <a:solidFill>
                  <a:srgbClr val="00C896"/>
                </a:solidFill>
              </a:rPr>
              <a:t>1</a:t>
            </a:r>
            <a:endParaRPr lang="en-US" sz="1300" dirty="0"/>
          </a:p>
        </p:txBody>
      </p:sp>
      <p:sp>
        <p:nvSpPr>
          <p:cNvPr id="6" name="Shape 4"/>
          <p:cNvSpPr/>
          <p:nvPr/>
        </p:nvSpPr>
        <p:spPr>
          <a:xfrm>
            <a:off x="0" y="502920"/>
            <a:ext cx="2560320" cy="4640580"/>
          </a:xfrm>
          <a:prstGeom prst="rect">
            <a:avLst/>
          </a:prstGeom>
          <a:solidFill>
            <a:srgbClr val="00C896"/>
          </a:solidFill>
          <a:ln w="12700">
            <a:solidFill>
              <a:srgbClr val="00C896"/>
            </a:solidFill>
            <a:prstDash val="solid"/>
          </a:ln>
        </p:spPr>
      </p:sp>
      <p:sp>
        <p:nvSpPr>
          <p:cNvPr id="7" name="Text 5"/>
          <p:cNvSpPr/>
          <p:nvPr/>
        </p:nvSpPr>
        <p:spPr>
          <a:xfrm>
            <a:off x="0" y="548640"/>
            <a:ext cx="2560320" cy="2286000"/>
          </a:xfrm>
          <a:prstGeom prst="rect">
            <a:avLst/>
          </a:prstGeom>
          <a:noFill/>
          <a:ln/>
        </p:spPr>
        <p:txBody>
          <a:bodyPr wrap="square" lIns="0" tIns="0" rIns="0" bIns="0" rtlCol="0" anchor="ctr"/>
          <a:lstStyle/>
          <a:p>
            <a:pPr algn="ctr" indent="0" marL="0">
              <a:buNone/>
            </a:pPr>
            <a:r>
              <a:rPr lang="en-US" sz="14000" b="1" dirty="0">
                <a:solidFill>
                  <a:srgbClr val="0A0E2A"/>
                </a:solidFill>
              </a:rPr>
              <a:t>1</a:t>
            </a:r>
            <a:endParaRPr lang="en-US" sz="14000" dirty="0"/>
          </a:p>
        </p:txBody>
      </p:sp>
      <p:sp>
        <p:nvSpPr>
          <p:cNvPr id="8" name="Text 6"/>
          <p:cNvSpPr/>
          <p:nvPr/>
        </p:nvSpPr>
        <p:spPr>
          <a:xfrm>
            <a:off x="91440" y="3108960"/>
            <a:ext cx="2377440" cy="1371600"/>
          </a:xfrm>
          <a:prstGeom prst="rect">
            <a:avLst/>
          </a:prstGeom>
          <a:noFill/>
          <a:ln/>
        </p:spPr>
        <p:txBody>
          <a:bodyPr wrap="square" lIns="0" tIns="0" rIns="0" bIns="0" rtlCol="0" anchor="ctr"/>
          <a:lstStyle/>
          <a:p>
            <a:pPr algn="ctr" indent="0" marL="0">
              <a:buNone/>
            </a:pPr>
            <a:r>
              <a:rPr lang="en-US" sz="1100" b="1" dirty="0">
                <a:solidFill>
                  <a:srgbClr val="0A0E2A"/>
                </a:solidFill>
              </a:rPr>
              <a:t>Automatización</a:t>
            </a:r>
            <a:endParaRPr lang="en-US" sz="1100" dirty="0"/>
          </a:p>
          <a:p>
            <a:pPr algn="ctr" indent="0" marL="0">
              <a:buNone/>
            </a:pPr>
            <a:r>
              <a:rPr lang="en-US" sz="1100" b="1" dirty="0">
                <a:solidFill>
                  <a:srgbClr val="0A0E2A"/>
                </a:solidFill>
              </a:rPr>
              <a:t>Salud</a:t>
            </a:r>
            <a:endParaRPr lang="en-US" sz="1100" dirty="0"/>
          </a:p>
          <a:p>
            <a:pPr algn="ctr" indent="0" marL="0">
              <a:buNone/>
            </a:pPr>
            <a:r>
              <a:rPr lang="en-US" sz="1100" b="1" dirty="0">
                <a:solidFill>
                  <a:srgbClr val="0A0E2A"/>
                </a:solidFill>
              </a:rPr>
              <a:t>IoT</a:t>
            </a:r>
            <a:endParaRPr lang="en-US" sz="1100" dirty="0"/>
          </a:p>
        </p:txBody>
      </p:sp>
      <p:sp>
        <p:nvSpPr>
          <p:cNvPr id="9" name="Text 7"/>
          <p:cNvSpPr/>
          <p:nvPr/>
        </p:nvSpPr>
        <p:spPr>
          <a:xfrm>
            <a:off x="2926080" y="594360"/>
            <a:ext cx="5943600" cy="868680"/>
          </a:xfrm>
          <a:prstGeom prst="rect">
            <a:avLst/>
          </a:prstGeom>
          <a:noFill/>
          <a:ln/>
        </p:spPr>
        <p:txBody>
          <a:bodyPr wrap="square" lIns="0" tIns="0" rIns="0" bIns="0" rtlCol="0" anchor="t"/>
          <a:lstStyle/>
          <a:p>
            <a:pPr indent="0" marL="0">
              <a:buNone/>
            </a:pPr>
            <a:r>
              <a:rPr lang="en-US" sz="2400" b="1" dirty="0">
                <a:solidFill>
                  <a:srgbClr val="00C896"/>
                </a:solidFill>
              </a:rPr>
              <a:t>Monitor de Calidad del Aire</a:t>
            </a:r>
            <a:endParaRPr lang="en-US" sz="2400" dirty="0"/>
          </a:p>
        </p:txBody>
      </p:sp>
      <p:sp>
        <p:nvSpPr>
          <p:cNvPr id="10" name="Shape 8"/>
          <p:cNvSpPr/>
          <p:nvPr/>
        </p:nvSpPr>
        <p:spPr>
          <a:xfrm>
            <a:off x="2834640" y="1572768"/>
            <a:ext cx="6035040" cy="1920240"/>
          </a:xfrm>
          <a:prstGeom prst="roundRect">
            <a:avLst>
              <a:gd name="adj" fmla="val 5714"/>
            </a:avLst>
          </a:prstGeom>
          <a:solidFill>
            <a:srgbClr val="0A0E2A"/>
          </a:solidFill>
          <a:ln w="19050">
            <a:solidFill>
              <a:srgbClr val="00C896"/>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3017520" y="1645920"/>
            <a:ext cx="5669280" cy="256032"/>
          </a:xfrm>
          <a:prstGeom prst="rect">
            <a:avLst/>
          </a:prstGeom>
          <a:noFill/>
          <a:ln/>
        </p:spPr>
        <p:txBody>
          <a:bodyPr wrap="square" lIns="0" tIns="0" rIns="0" bIns="0" rtlCol="0" anchor="ctr"/>
          <a:lstStyle/>
          <a:p>
            <a:pPr indent="0" marL="0">
              <a:buNone/>
            </a:pPr>
            <a:r>
              <a:rPr lang="en-US" sz="950" b="1" dirty="0">
                <a:solidFill>
                  <a:srgbClr val="00C896"/>
                </a:solidFill>
              </a:rPr>
              <a:t>LA SITUACIÓN</a:t>
            </a:r>
            <a:endParaRPr lang="en-US" sz="950" dirty="0"/>
          </a:p>
        </p:txBody>
      </p:sp>
      <p:sp>
        <p:nvSpPr>
          <p:cNvPr id="12" name="Text 10"/>
          <p:cNvSpPr/>
          <p:nvPr/>
        </p:nvSpPr>
        <p:spPr>
          <a:xfrm>
            <a:off x="3017520" y="1938528"/>
            <a:ext cx="5669280" cy="1463040"/>
          </a:xfrm>
          <a:prstGeom prst="rect">
            <a:avLst/>
          </a:prstGeom>
          <a:noFill/>
          <a:ln/>
        </p:spPr>
        <p:txBody>
          <a:bodyPr wrap="square" lIns="0" tIns="0" rIns="0" bIns="0" rtlCol="0" anchor="ctr"/>
          <a:lstStyle/>
          <a:p>
            <a:pPr indent="0" marL="0">
              <a:lnSpc>
                <a:spcPct val="115000"/>
              </a:lnSpc>
              <a:buNone/>
            </a:pPr>
            <a:r>
              <a:rPr lang="en-US" sz="1250" dirty="0">
                <a:solidFill>
                  <a:srgbClr val="E8EDF5"/>
                </a:solidFill>
              </a:rPr>
              <a:t>En muchas aulas con ventanas cerradas, el dióxido de carbono que exhalan los estudiantes se acumula con el tiempo. Nadie lo ve ni lo huele, pero el efecto es real: la gente empieza a sentirse cansada, le cuesta concentrarse y el rendimiento baja. El problema pasa todos los días y casi nadie lo asocia con el aire.</a:t>
            </a:r>
            <a:endParaRPr lang="en-US" sz="1250" dirty="0"/>
          </a:p>
        </p:txBody>
      </p:sp>
      <p:sp>
        <p:nvSpPr>
          <p:cNvPr id="13" name="Shape 11"/>
          <p:cNvSpPr/>
          <p:nvPr/>
        </p:nvSpPr>
        <p:spPr>
          <a:xfrm>
            <a:off x="2834640" y="3611880"/>
            <a:ext cx="6035040" cy="594360"/>
          </a:xfrm>
          <a:prstGeom prst="roundRect">
            <a:avLst>
              <a:gd name="adj" fmla="val 15385"/>
            </a:avLst>
          </a:prstGeom>
          <a:solidFill>
            <a:srgbClr val="FFFFFF"/>
          </a:solidFill>
          <a:ln w="12700">
            <a:solidFill>
              <a:srgbClr val="00C896">
                <a:alpha val="50000"/>
              </a:srgbClr>
            </a:solidFill>
            <a:prstDash val="solid"/>
          </a:ln>
        </p:spPr>
      </p:sp>
      <p:sp>
        <p:nvSpPr>
          <p:cNvPr id="14" name="Text 12"/>
          <p:cNvSpPr/>
          <p:nvPr/>
        </p:nvSpPr>
        <p:spPr>
          <a:xfrm>
            <a:off x="2999232" y="3611880"/>
            <a:ext cx="1005840" cy="594360"/>
          </a:xfrm>
          <a:prstGeom prst="rect">
            <a:avLst/>
          </a:prstGeom>
          <a:noFill/>
          <a:ln/>
        </p:spPr>
        <p:txBody>
          <a:bodyPr wrap="square" lIns="0" tIns="0" rIns="0" bIns="0" rtlCol="0" anchor="ctr"/>
          <a:lstStyle/>
          <a:p>
            <a:pPr indent="0" marL="0">
              <a:buNone/>
            </a:pPr>
            <a:r>
              <a:rPr lang="en-US" sz="950" b="1" dirty="0">
                <a:solidFill>
                  <a:srgbClr val="00C896"/>
                </a:solidFill>
              </a:rPr>
              <a:t>CONTEXTO:</a:t>
            </a:r>
            <a:endParaRPr lang="en-US" sz="950" dirty="0"/>
          </a:p>
        </p:txBody>
      </p:sp>
      <p:sp>
        <p:nvSpPr>
          <p:cNvPr id="15" name="Text 13"/>
          <p:cNvSpPr/>
          <p:nvPr/>
        </p:nvSpPr>
        <p:spPr>
          <a:xfrm>
            <a:off x="4041648" y="3611880"/>
            <a:ext cx="4736592" cy="594360"/>
          </a:xfrm>
          <a:prstGeom prst="rect">
            <a:avLst/>
          </a:prstGeom>
          <a:noFill/>
          <a:ln/>
        </p:spPr>
        <p:txBody>
          <a:bodyPr wrap="square" lIns="0" tIns="0" rIns="0" bIns="0" rtlCol="0" anchor="ctr"/>
          <a:lstStyle/>
          <a:p>
            <a:pPr indent="0" marL="0">
              <a:buNone/>
            </a:pPr>
            <a:r>
              <a:rPr lang="en-US" sz="1100" dirty="0">
                <a:solidFill>
                  <a:srgbClr val="2E3A5C"/>
                </a:solidFill>
              </a:rPr>
              <a:t>Aulas con ventilación deficiente donde el CO₂ acumulado afecta la concentración y la salud de los estudiantes.</a:t>
            </a:r>
            <a:endParaRPr lang="en-US" sz="1100" dirty="0"/>
          </a:p>
        </p:txBody>
      </p:sp>
      <p:sp>
        <p:nvSpPr>
          <p:cNvPr id="16" name="Shape 14"/>
          <p:cNvSpPr/>
          <p:nvPr/>
        </p:nvSpPr>
        <p:spPr>
          <a:xfrm>
            <a:off x="2834640" y="4325112"/>
            <a:ext cx="6035040" cy="594360"/>
          </a:xfrm>
          <a:prstGeom prst="roundRect">
            <a:avLst>
              <a:gd name="adj" fmla="val 15385"/>
            </a:avLst>
          </a:prstGeom>
          <a:solidFill>
            <a:srgbClr val="00C896">
              <a:alpha val="92000"/>
            </a:srgbClr>
          </a:solidFill>
          <a:ln w="12700">
            <a:solidFill>
              <a:srgbClr val="00C896"/>
            </a:solidFill>
            <a:prstDash val="solid"/>
          </a:ln>
        </p:spPr>
      </p:sp>
      <p:sp>
        <p:nvSpPr>
          <p:cNvPr id="17" name="Text 15"/>
          <p:cNvSpPr/>
          <p:nvPr/>
        </p:nvSpPr>
        <p:spPr>
          <a:xfrm>
            <a:off x="2971800" y="4325112"/>
            <a:ext cx="5806440" cy="594360"/>
          </a:xfrm>
          <a:prstGeom prst="rect">
            <a:avLst/>
          </a:prstGeom>
          <a:noFill/>
          <a:ln/>
        </p:spPr>
        <p:txBody>
          <a:bodyPr wrap="square" lIns="0" tIns="0" rIns="0" bIns="0" rtlCol="0" anchor="ctr"/>
          <a:lstStyle/>
          <a:p>
            <a:pPr indent="0" marL="0">
              <a:buNone/>
            </a:pPr>
            <a:r>
              <a:rPr lang="en-US" sz="1200" b="1" dirty="0">
                <a:solidFill>
                  <a:srgbClr val="0A0E2A"/>
                </a:solidFill>
              </a:rPr>
              <a:t>❓  ¿Qué problema hay acá? — Escriban su respuesta en Ronda 1</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C896"/>
          </a:solidFill>
          <a:ln w="12700">
            <a:solidFill>
              <a:srgbClr val="00C896"/>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MONITOR DE CALIDAD DEL AIRE  ·  RONDA 1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B800"/>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B800"/>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B800"/>
                </a:solidFill>
              </a:rPr>
              <a:t>RONDA 1</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B800"/>
                </a:solidFill>
              </a:rPr>
              <a:t>PROBLEMA VAGO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B800"/>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Lean la slide anterior. Escriban en UNA oración el problema vago que da origen a esta solución.</a:t>
            </a:r>
            <a:endParaRPr lang="en-US" sz="1300" dirty="0"/>
          </a:p>
          <a:p>
            <a:pPr indent="0" marL="0">
              <a:buNone/>
            </a:pPr>
            <a:r>
              <a:rPr lang="en-US" sz="1300" dirty="0">
                <a:solidFill>
                  <a:srgbClr val="E8EDF5"/>
                </a:solidFill>
              </a:rPr>
              <a:t>No técnico. Como lo diría alguien en la calle.</a:t>
            </a:r>
            <a:endParaRPr lang="en-US" sz="1300" dirty="0"/>
          </a:p>
        </p:txBody>
      </p:sp>
      <p:sp>
        <p:nvSpPr>
          <p:cNvPr id="10" name="Shape 8"/>
          <p:cNvSpPr/>
          <p:nvPr/>
        </p:nvSpPr>
        <p:spPr>
          <a:xfrm>
            <a:off x="365760" y="2606040"/>
            <a:ext cx="8412480" cy="2194560"/>
          </a:xfrm>
          <a:prstGeom prst="roundRect">
            <a:avLst>
              <a:gd name="adj" fmla="val 5000"/>
            </a:avLst>
          </a:prstGeom>
          <a:solidFill>
            <a:srgbClr val="1A2550"/>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548640" y="2670048"/>
            <a:ext cx="8046720" cy="274320"/>
          </a:xfrm>
          <a:prstGeom prst="rect">
            <a:avLst/>
          </a:prstGeom>
          <a:noFill/>
          <a:ln/>
        </p:spPr>
        <p:txBody>
          <a:bodyPr wrap="square" lIns="0" tIns="0" rIns="0" bIns="0" rtlCol="0" anchor="ctr"/>
          <a:lstStyle/>
          <a:p>
            <a:pPr indent="0" marL="0">
              <a:buNone/>
            </a:pPr>
            <a:r>
              <a:rPr lang="en-US" sz="1000" b="1" dirty="0">
                <a:solidFill>
                  <a:srgbClr val="FFB800"/>
                </a:solidFill>
              </a:rPr>
              <a:t>PISTA — ¿Cómo lo diría alguien sin conocimiento técnico?</a:t>
            </a:r>
            <a:endParaRPr lang="en-US" sz="1000" dirty="0"/>
          </a:p>
        </p:txBody>
      </p:sp>
      <p:sp>
        <p:nvSpPr>
          <p:cNvPr id="12" name="Text 10"/>
          <p:cNvSpPr/>
          <p:nvPr/>
        </p:nvSpPr>
        <p:spPr>
          <a:xfrm>
            <a:off x="548640" y="2999232"/>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NO: 'El CO₂ supera las 1000 ppm' — eso es técnico, no vago.</a:t>
            </a:r>
            <a:endParaRPr lang="en-US" sz="1100" dirty="0"/>
          </a:p>
        </p:txBody>
      </p:sp>
      <p:sp>
        <p:nvSpPr>
          <p:cNvPr id="13" name="Text 11"/>
          <p:cNvSpPr/>
          <p:nvPr/>
        </p:nvSpPr>
        <p:spPr>
          <a:xfrm>
            <a:off x="548640" y="3291840"/>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SÍ: 'En el aula se pone pesado el ambiente y la gente se cansa y no puede concentrarse.'</a:t>
            </a:r>
            <a:endParaRPr lang="en-US" sz="1100" dirty="0"/>
          </a:p>
        </p:txBody>
      </p:sp>
      <p:sp>
        <p:nvSpPr>
          <p:cNvPr id="14" name="Shape 12"/>
          <p:cNvSpPr/>
          <p:nvPr/>
        </p:nvSpPr>
        <p:spPr>
          <a:xfrm>
            <a:off x="548640" y="3657600"/>
            <a:ext cx="8046720" cy="457200"/>
          </a:xfrm>
          <a:prstGeom prst="roundRect">
            <a:avLst>
              <a:gd name="adj" fmla="val 16000"/>
            </a:avLst>
          </a:prstGeom>
          <a:solidFill>
            <a:srgbClr val="FFB800">
              <a:alpha val="88000"/>
            </a:srgbClr>
          </a:solidFill>
          <a:ln w="12700">
            <a:solidFill>
              <a:srgbClr val="FFB800"/>
            </a:solidFill>
            <a:prstDash val="solid"/>
          </a:ln>
        </p:spPr>
      </p:sp>
      <p:sp>
        <p:nvSpPr>
          <p:cNvPr id="15" name="Text 13"/>
          <p:cNvSpPr/>
          <p:nvPr/>
        </p:nvSpPr>
        <p:spPr>
          <a:xfrm>
            <a:off x="685800" y="3657600"/>
            <a:ext cx="7772400" cy="457200"/>
          </a:xfrm>
          <a:prstGeom prst="rect">
            <a:avLst/>
          </a:prstGeom>
          <a:noFill/>
          <a:ln/>
        </p:spPr>
        <p:txBody>
          <a:bodyPr wrap="square" lIns="0" tIns="0" rIns="0" bIns="0" rtlCol="0" anchor="ctr"/>
          <a:lstStyle/>
          <a:p>
            <a:pPr indent="0" marL="0">
              <a:buNone/>
            </a:pPr>
            <a:r>
              <a:rPr lang="en-US" sz="1200" b="1" dirty="0">
                <a:solidFill>
                  <a:srgbClr val="0A0E2A"/>
                </a:solidFill>
              </a:rPr>
              <a:t>✍  Escriban su problema vago. Comparten al terminar el tiempo.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C896"/>
          </a:solidFill>
          <a:ln w="12700">
            <a:solidFill>
              <a:srgbClr val="00C896"/>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MONITOR DE CALIDAD DEL AIRE  ·  RONDA 2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D4FF"/>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D4FF"/>
                </a:solidFill>
              </a:rPr>
              <a:t>⏱  4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D4FF"/>
                </a:solidFill>
              </a:rPr>
              <a:t>RONDA 2</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PREGUNTAS DISPARADORAS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00D4FF"/>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Formulen UNA pregunta disparadora para cada tipo:</a:t>
            </a:r>
            <a:endParaRPr lang="en-US" sz="1300" dirty="0"/>
          </a:p>
          <a:p>
            <a:pPr indent="0" marL="0">
              <a:buNone/>
            </a:pPr>
            <a:r>
              <a:rPr lang="en-US" sz="1300" dirty="0">
                <a:solidFill>
                  <a:srgbClr val="0A0E2A"/>
                </a:solidFill>
              </a:rPr>
              <a:t>¿Cómo...? · ¿Por qué...? · ¿Para qué...? · ¿Qué harías...?</a:t>
            </a:r>
            <a:endParaRPr lang="en-US" sz="1300" dirty="0"/>
          </a:p>
        </p:txBody>
      </p:sp>
      <p:sp>
        <p:nvSpPr>
          <p:cNvPr id="10" name="Shape 8"/>
          <p:cNvSpPr/>
          <p:nvPr/>
        </p:nvSpPr>
        <p:spPr>
          <a:xfrm>
            <a:off x="365760" y="2578608"/>
            <a:ext cx="4160520" cy="1078992"/>
          </a:xfrm>
          <a:prstGeom prst="roundRect">
            <a:avLst>
              <a:gd name="adj" fmla="val 8475"/>
            </a:avLst>
          </a:prstGeom>
          <a:solidFill>
            <a:srgbClr val="FFFFFF"/>
          </a:solidFill>
          <a:ln w="19050">
            <a:solidFill>
              <a:srgbClr val="00D4FF"/>
            </a:solidFill>
            <a:prstDash val="solid"/>
          </a:ln>
          <a:effectLst>
            <a:outerShdw sx="100000" sy="100000" kx="0" ky="0" algn="bl" rotWithShape="0" blurRad="127000" dist="38100" dir="2700000">
              <a:srgbClr val="000000">
                <a:alpha val="18000"/>
              </a:srgbClr>
            </a:outerShdw>
          </a:effectLst>
        </p:spPr>
      </p:sp>
      <p:sp>
        <p:nvSpPr>
          <p:cNvPr id="11" name="Shape 9"/>
          <p:cNvSpPr/>
          <p:nvPr/>
        </p:nvSpPr>
        <p:spPr>
          <a:xfrm>
            <a:off x="457200" y="2670048"/>
            <a:ext cx="1371600" cy="292608"/>
          </a:xfrm>
          <a:prstGeom prst="roundRect">
            <a:avLst>
              <a:gd name="adj" fmla="val 15625"/>
            </a:avLst>
          </a:prstGeom>
          <a:solidFill>
            <a:srgbClr val="00D4FF">
              <a:alpha val="90000"/>
            </a:srgbClr>
          </a:solidFill>
          <a:ln w="12700">
            <a:solidFill>
              <a:srgbClr val="00D4FF"/>
            </a:solidFill>
            <a:prstDash val="solid"/>
          </a:ln>
        </p:spPr>
      </p:sp>
      <p:sp>
        <p:nvSpPr>
          <p:cNvPr id="12" name="Text 10"/>
          <p:cNvSpPr/>
          <p:nvPr/>
        </p:nvSpPr>
        <p:spPr>
          <a:xfrm>
            <a:off x="4572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¿Cómo...?</a:t>
            </a:r>
            <a:endParaRPr lang="en-US" sz="1100" dirty="0"/>
          </a:p>
        </p:txBody>
      </p:sp>
      <p:sp>
        <p:nvSpPr>
          <p:cNvPr id="13" name="Text 11"/>
          <p:cNvSpPr/>
          <p:nvPr/>
        </p:nvSpPr>
        <p:spPr>
          <a:xfrm>
            <a:off x="19202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Busca crear un proceso o solución</a:t>
            </a:r>
            <a:endParaRPr lang="en-US" sz="950" dirty="0"/>
          </a:p>
        </p:txBody>
      </p:sp>
      <p:sp>
        <p:nvSpPr>
          <p:cNvPr id="14" name="Shape 12"/>
          <p:cNvSpPr/>
          <p:nvPr/>
        </p:nvSpPr>
        <p:spPr>
          <a:xfrm>
            <a:off x="457200" y="3035808"/>
            <a:ext cx="3886200" cy="502920"/>
          </a:xfrm>
          <a:prstGeom prst="roundRect">
            <a:avLst>
              <a:gd name="adj" fmla="val 10909"/>
            </a:avLst>
          </a:prstGeom>
          <a:solidFill>
            <a:srgbClr val="00D4FF">
              <a:alpha val="8000"/>
            </a:srgbClr>
          </a:solidFill>
          <a:ln w="12700">
            <a:solidFill>
              <a:srgbClr val="00D4FF">
                <a:alpha val="40000"/>
              </a:srgbClr>
            </a:solidFill>
            <a:prstDash val="solid"/>
          </a:ln>
        </p:spPr>
      </p:sp>
      <p:sp>
        <p:nvSpPr>
          <p:cNvPr id="15" name="Text 13"/>
          <p:cNvSpPr/>
          <p:nvPr/>
        </p:nvSpPr>
        <p:spPr>
          <a:xfrm>
            <a:off x="5486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16" name="Shape 14"/>
          <p:cNvSpPr/>
          <p:nvPr/>
        </p:nvSpPr>
        <p:spPr>
          <a:xfrm>
            <a:off x="4709160" y="2578608"/>
            <a:ext cx="4160520" cy="1078992"/>
          </a:xfrm>
          <a:prstGeom prst="roundRect">
            <a:avLst>
              <a:gd name="adj" fmla="val 8475"/>
            </a:avLst>
          </a:prstGeom>
          <a:solidFill>
            <a:srgbClr val="FFFFFF"/>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7" name="Shape 15"/>
          <p:cNvSpPr/>
          <p:nvPr/>
        </p:nvSpPr>
        <p:spPr>
          <a:xfrm>
            <a:off x="4800600" y="2670048"/>
            <a:ext cx="1371600" cy="292608"/>
          </a:xfrm>
          <a:prstGeom prst="roundRect">
            <a:avLst>
              <a:gd name="adj" fmla="val 15625"/>
            </a:avLst>
          </a:prstGeom>
          <a:solidFill>
            <a:srgbClr val="FFB800">
              <a:alpha val="90000"/>
            </a:srgbClr>
          </a:solidFill>
          <a:ln w="12700">
            <a:solidFill>
              <a:srgbClr val="FFB800"/>
            </a:solidFill>
            <a:prstDash val="solid"/>
          </a:ln>
        </p:spPr>
      </p:sp>
      <p:sp>
        <p:nvSpPr>
          <p:cNvPr id="18" name="Text 16"/>
          <p:cNvSpPr/>
          <p:nvPr/>
        </p:nvSpPr>
        <p:spPr>
          <a:xfrm>
            <a:off x="48006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¿Por qué...?</a:t>
            </a:r>
            <a:endParaRPr lang="en-US" sz="1100" dirty="0"/>
          </a:p>
        </p:txBody>
      </p:sp>
      <p:sp>
        <p:nvSpPr>
          <p:cNvPr id="19" name="Text 17"/>
          <p:cNvSpPr/>
          <p:nvPr/>
        </p:nvSpPr>
        <p:spPr>
          <a:xfrm>
            <a:off x="62636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Investiga causas</a:t>
            </a:r>
            <a:endParaRPr lang="en-US" sz="950" dirty="0"/>
          </a:p>
        </p:txBody>
      </p:sp>
      <p:sp>
        <p:nvSpPr>
          <p:cNvPr id="20" name="Shape 18"/>
          <p:cNvSpPr/>
          <p:nvPr/>
        </p:nvSpPr>
        <p:spPr>
          <a:xfrm>
            <a:off x="4800600" y="3035808"/>
            <a:ext cx="3886200" cy="502920"/>
          </a:xfrm>
          <a:prstGeom prst="roundRect">
            <a:avLst>
              <a:gd name="adj" fmla="val 10909"/>
            </a:avLst>
          </a:prstGeom>
          <a:solidFill>
            <a:srgbClr val="FFB800">
              <a:alpha val="8000"/>
            </a:srgbClr>
          </a:solidFill>
          <a:ln w="12700">
            <a:solidFill>
              <a:srgbClr val="FFB800">
                <a:alpha val="40000"/>
              </a:srgbClr>
            </a:solidFill>
            <a:prstDash val="solid"/>
          </a:ln>
        </p:spPr>
      </p:sp>
      <p:sp>
        <p:nvSpPr>
          <p:cNvPr id="21" name="Text 19"/>
          <p:cNvSpPr/>
          <p:nvPr/>
        </p:nvSpPr>
        <p:spPr>
          <a:xfrm>
            <a:off x="48920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2" name="Shape 20"/>
          <p:cNvSpPr/>
          <p:nvPr/>
        </p:nvSpPr>
        <p:spPr>
          <a:xfrm>
            <a:off x="365760" y="3749040"/>
            <a:ext cx="4160520" cy="1078992"/>
          </a:xfrm>
          <a:prstGeom prst="roundRect">
            <a:avLst>
              <a:gd name="adj" fmla="val 8475"/>
            </a:avLst>
          </a:prstGeom>
          <a:solidFill>
            <a:srgbClr val="FFFFFF"/>
          </a:solidFill>
          <a:ln w="19050">
            <a:solidFill>
              <a:srgbClr val="00C896"/>
            </a:solidFill>
            <a:prstDash val="solid"/>
          </a:ln>
          <a:effectLst>
            <a:outerShdw sx="100000" sy="100000" kx="0" ky="0" algn="bl" rotWithShape="0" blurRad="127000" dist="38100" dir="2700000">
              <a:srgbClr val="000000">
                <a:alpha val="18000"/>
              </a:srgbClr>
            </a:outerShdw>
          </a:effectLst>
        </p:spPr>
      </p:sp>
      <p:sp>
        <p:nvSpPr>
          <p:cNvPr id="23" name="Shape 21"/>
          <p:cNvSpPr/>
          <p:nvPr/>
        </p:nvSpPr>
        <p:spPr>
          <a:xfrm>
            <a:off x="457200" y="3840480"/>
            <a:ext cx="1371600" cy="292608"/>
          </a:xfrm>
          <a:prstGeom prst="roundRect">
            <a:avLst>
              <a:gd name="adj" fmla="val 15625"/>
            </a:avLst>
          </a:prstGeom>
          <a:solidFill>
            <a:srgbClr val="00C896">
              <a:alpha val="90000"/>
            </a:srgbClr>
          </a:solidFill>
          <a:ln w="12700">
            <a:solidFill>
              <a:srgbClr val="00C896"/>
            </a:solidFill>
            <a:prstDash val="solid"/>
          </a:ln>
        </p:spPr>
      </p:sp>
      <p:sp>
        <p:nvSpPr>
          <p:cNvPr id="24" name="Text 22"/>
          <p:cNvSpPr/>
          <p:nvPr/>
        </p:nvSpPr>
        <p:spPr>
          <a:xfrm>
            <a:off x="4572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¿Para qué...?</a:t>
            </a:r>
            <a:endParaRPr lang="en-US" sz="1100" dirty="0"/>
          </a:p>
        </p:txBody>
      </p:sp>
      <p:sp>
        <p:nvSpPr>
          <p:cNvPr id="25" name="Text 23"/>
          <p:cNvSpPr/>
          <p:nvPr/>
        </p:nvSpPr>
        <p:spPr>
          <a:xfrm>
            <a:off x="19202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Explora el propósito</a:t>
            </a:r>
            <a:endParaRPr lang="en-US" sz="950" dirty="0"/>
          </a:p>
        </p:txBody>
      </p:sp>
      <p:sp>
        <p:nvSpPr>
          <p:cNvPr id="26" name="Shape 24"/>
          <p:cNvSpPr/>
          <p:nvPr/>
        </p:nvSpPr>
        <p:spPr>
          <a:xfrm>
            <a:off x="457200" y="4206240"/>
            <a:ext cx="3886200" cy="502920"/>
          </a:xfrm>
          <a:prstGeom prst="roundRect">
            <a:avLst>
              <a:gd name="adj" fmla="val 10909"/>
            </a:avLst>
          </a:prstGeom>
          <a:solidFill>
            <a:srgbClr val="00C896">
              <a:alpha val="8000"/>
            </a:srgbClr>
          </a:solidFill>
          <a:ln w="12700">
            <a:solidFill>
              <a:srgbClr val="00C896">
                <a:alpha val="40000"/>
              </a:srgbClr>
            </a:solidFill>
            <a:prstDash val="solid"/>
          </a:ln>
        </p:spPr>
      </p:sp>
      <p:sp>
        <p:nvSpPr>
          <p:cNvPr id="27" name="Text 25"/>
          <p:cNvSpPr/>
          <p:nvPr/>
        </p:nvSpPr>
        <p:spPr>
          <a:xfrm>
            <a:off x="5486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8" name="Shape 26"/>
          <p:cNvSpPr/>
          <p:nvPr/>
        </p:nvSpPr>
        <p:spPr>
          <a:xfrm>
            <a:off x="4709160" y="3749040"/>
            <a:ext cx="4160520" cy="1078992"/>
          </a:xfrm>
          <a:prstGeom prst="roundRect">
            <a:avLst>
              <a:gd name="adj" fmla="val 8475"/>
            </a:avLst>
          </a:prstGeom>
          <a:solidFill>
            <a:srgbClr val="FFFFFF"/>
          </a:solidFill>
          <a:ln w="19050">
            <a:solidFill>
              <a:srgbClr val="9B59B6"/>
            </a:solidFill>
            <a:prstDash val="solid"/>
          </a:ln>
          <a:effectLst>
            <a:outerShdw sx="100000" sy="100000" kx="0" ky="0" algn="bl" rotWithShape="0" blurRad="127000" dist="38100" dir="2700000">
              <a:srgbClr val="000000">
                <a:alpha val="18000"/>
              </a:srgbClr>
            </a:outerShdw>
          </a:effectLst>
        </p:spPr>
      </p:sp>
      <p:sp>
        <p:nvSpPr>
          <p:cNvPr id="29" name="Shape 27"/>
          <p:cNvSpPr/>
          <p:nvPr/>
        </p:nvSpPr>
        <p:spPr>
          <a:xfrm>
            <a:off x="4800600" y="3840480"/>
            <a:ext cx="1371600" cy="292608"/>
          </a:xfrm>
          <a:prstGeom prst="roundRect">
            <a:avLst>
              <a:gd name="adj" fmla="val 15625"/>
            </a:avLst>
          </a:prstGeom>
          <a:solidFill>
            <a:srgbClr val="9B59B6">
              <a:alpha val="90000"/>
            </a:srgbClr>
          </a:solidFill>
          <a:ln w="12700">
            <a:solidFill>
              <a:srgbClr val="9B59B6"/>
            </a:solidFill>
            <a:prstDash val="solid"/>
          </a:ln>
        </p:spPr>
      </p:sp>
      <p:sp>
        <p:nvSpPr>
          <p:cNvPr id="30" name="Text 28"/>
          <p:cNvSpPr/>
          <p:nvPr/>
        </p:nvSpPr>
        <p:spPr>
          <a:xfrm>
            <a:off x="48006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¿Qué harías...?</a:t>
            </a:r>
            <a:endParaRPr lang="en-US" sz="1100" dirty="0"/>
          </a:p>
        </p:txBody>
      </p:sp>
      <p:sp>
        <p:nvSpPr>
          <p:cNvPr id="31" name="Text 29"/>
          <p:cNvSpPr/>
          <p:nvPr/>
        </p:nvSpPr>
        <p:spPr>
          <a:xfrm>
            <a:off x="62636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Imagina soluciones</a:t>
            </a:r>
            <a:endParaRPr lang="en-US" sz="950" dirty="0"/>
          </a:p>
        </p:txBody>
      </p:sp>
      <p:sp>
        <p:nvSpPr>
          <p:cNvPr id="32" name="Shape 30"/>
          <p:cNvSpPr/>
          <p:nvPr/>
        </p:nvSpPr>
        <p:spPr>
          <a:xfrm>
            <a:off x="4800600" y="4206240"/>
            <a:ext cx="3886200" cy="502920"/>
          </a:xfrm>
          <a:prstGeom prst="roundRect">
            <a:avLst>
              <a:gd name="adj" fmla="val 10909"/>
            </a:avLst>
          </a:prstGeom>
          <a:solidFill>
            <a:srgbClr val="9B59B6">
              <a:alpha val="8000"/>
            </a:srgbClr>
          </a:solidFill>
          <a:ln w="12700">
            <a:solidFill>
              <a:srgbClr val="9B59B6">
                <a:alpha val="40000"/>
              </a:srgbClr>
            </a:solidFill>
            <a:prstDash val="solid"/>
          </a:ln>
        </p:spPr>
      </p:sp>
      <p:sp>
        <p:nvSpPr>
          <p:cNvPr id="33" name="Text 31"/>
          <p:cNvSpPr/>
          <p:nvPr/>
        </p:nvSpPr>
        <p:spPr>
          <a:xfrm>
            <a:off x="48920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C896"/>
          </a:solidFill>
          <a:ln w="12700">
            <a:solidFill>
              <a:srgbClr val="00C896"/>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MONITOR DE CALIDAD DEL AIRE  ·  RONDA 3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C89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C896"/>
                </a:solidFill>
              </a:rPr>
              <a:t>⏱  6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C896"/>
                </a:solidFill>
              </a:rPr>
              <a:t>RONDA 3</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0C896"/>
                </a:solidFill>
              </a:rPr>
              <a:t>4 COMPONENTES + PROBLEMA TÉCNICO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00C89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Identifiquen: CONTEXTO · VARIABLE · PUNTO DE QUIEBRE</a:t>
            </a:r>
            <a:endParaRPr lang="en-US" sz="1300" dirty="0"/>
          </a:p>
          <a:p>
            <a:pPr indent="0" marL="0">
              <a:buNone/>
            </a:pPr>
            <a:r>
              <a:rPr lang="en-US" sz="1300" dirty="0">
                <a:solidFill>
                  <a:srgbClr val="E8EDF5"/>
                </a:solidFill>
              </a:rPr>
              <a:t>Luego enuncien el PROBLEMA TÉCNICO en una sola oración sin adjetivos subjetivos.</a:t>
            </a:r>
            <a:endParaRPr lang="en-US" sz="1300" dirty="0"/>
          </a:p>
        </p:txBody>
      </p:sp>
      <p:sp>
        <p:nvSpPr>
          <p:cNvPr id="10" name="Shape 8"/>
          <p:cNvSpPr/>
          <p:nvPr/>
        </p:nvSpPr>
        <p:spPr>
          <a:xfrm>
            <a:off x="365760" y="2578608"/>
            <a:ext cx="8412480" cy="530352"/>
          </a:xfrm>
          <a:prstGeom prst="roundRect">
            <a:avLst>
              <a:gd name="adj" fmla="val 13793"/>
            </a:avLst>
          </a:prstGeom>
          <a:solidFill>
            <a:srgbClr val="1A2550"/>
          </a:solidFill>
          <a:ln w="19050">
            <a:solidFill>
              <a:srgbClr val="00D4FF"/>
            </a:solidFill>
            <a:prstDash val="solid"/>
          </a:ln>
          <a:effectLst>
            <a:outerShdw sx="100000" sy="100000" kx="0" ky="0" algn="bl" rotWithShape="0" blurRad="50800" dist="12700" dir="2700000">
              <a:srgbClr val="000000">
                <a:alpha val="8000"/>
              </a:srgbClr>
            </a:outerShdw>
          </a:effectLst>
        </p:spPr>
      </p:sp>
      <p:sp>
        <p:nvSpPr>
          <p:cNvPr id="11" name="Shape 9"/>
          <p:cNvSpPr/>
          <p:nvPr/>
        </p:nvSpPr>
        <p:spPr>
          <a:xfrm>
            <a:off x="457200" y="2651760"/>
            <a:ext cx="1645920" cy="365760"/>
          </a:xfrm>
          <a:prstGeom prst="roundRect">
            <a:avLst>
              <a:gd name="adj" fmla="val 15000"/>
            </a:avLst>
          </a:prstGeom>
          <a:solidFill>
            <a:srgbClr val="00D4FF">
              <a:alpha val="92000"/>
            </a:srgbClr>
          </a:solidFill>
          <a:ln w="12700">
            <a:solidFill>
              <a:srgbClr val="00D4FF"/>
            </a:solidFill>
            <a:prstDash val="solid"/>
          </a:ln>
        </p:spPr>
      </p:sp>
      <p:sp>
        <p:nvSpPr>
          <p:cNvPr id="12" name="Text 10"/>
          <p:cNvSpPr/>
          <p:nvPr/>
        </p:nvSpPr>
        <p:spPr>
          <a:xfrm>
            <a:off x="457200" y="2651760"/>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CONTEXTO</a:t>
            </a:r>
            <a:endParaRPr lang="en-US" sz="950" dirty="0"/>
          </a:p>
        </p:txBody>
      </p:sp>
      <p:sp>
        <p:nvSpPr>
          <p:cNvPr id="13" name="Text 11"/>
          <p:cNvSpPr/>
          <p:nvPr/>
        </p:nvSpPr>
        <p:spPr>
          <a:xfrm>
            <a:off x="2194560" y="2578608"/>
            <a:ext cx="6492240" cy="530352"/>
          </a:xfrm>
          <a:prstGeom prst="rect">
            <a:avLst/>
          </a:prstGeom>
          <a:noFill/>
          <a:ln/>
        </p:spPr>
        <p:txBody>
          <a:bodyPr wrap="square" lIns="0" tIns="0" rIns="0" bIns="0" rtlCol="0" anchor="ctr"/>
          <a:lstStyle/>
          <a:p>
            <a:pPr indent="0" marL="0">
              <a:buNone/>
            </a:pPr>
            <a:r>
              <a:rPr lang="en-US" sz="1050" dirty="0">
                <a:solidFill>
                  <a:srgbClr val="E8EDF5"/>
                </a:solidFill>
              </a:rPr>
              <a:t>¿En qué sistema / lugar / momento ocurre?</a:t>
            </a:r>
            <a:endParaRPr lang="en-US" sz="1050" dirty="0"/>
          </a:p>
        </p:txBody>
      </p:sp>
      <p:sp>
        <p:nvSpPr>
          <p:cNvPr id="14" name="Shape 12"/>
          <p:cNvSpPr/>
          <p:nvPr/>
        </p:nvSpPr>
        <p:spPr>
          <a:xfrm>
            <a:off x="365760" y="3182112"/>
            <a:ext cx="8412480" cy="530352"/>
          </a:xfrm>
          <a:prstGeom prst="roundRect">
            <a:avLst>
              <a:gd name="adj" fmla="val 13793"/>
            </a:avLst>
          </a:prstGeom>
          <a:solidFill>
            <a:srgbClr val="1A2550"/>
          </a:solidFill>
          <a:ln w="19050">
            <a:solidFill>
              <a:srgbClr val="FFB800"/>
            </a:solidFill>
            <a:prstDash val="solid"/>
          </a:ln>
          <a:effectLst>
            <a:outerShdw sx="100000" sy="100000" kx="0" ky="0" algn="bl" rotWithShape="0" blurRad="50800" dist="12700" dir="2700000">
              <a:srgbClr val="000000">
                <a:alpha val="8000"/>
              </a:srgbClr>
            </a:outerShdw>
          </a:effectLst>
        </p:spPr>
      </p:sp>
      <p:sp>
        <p:nvSpPr>
          <p:cNvPr id="15" name="Shape 13"/>
          <p:cNvSpPr/>
          <p:nvPr/>
        </p:nvSpPr>
        <p:spPr>
          <a:xfrm>
            <a:off x="457200" y="3255264"/>
            <a:ext cx="1645920" cy="365760"/>
          </a:xfrm>
          <a:prstGeom prst="roundRect">
            <a:avLst>
              <a:gd name="adj" fmla="val 15000"/>
            </a:avLst>
          </a:prstGeom>
          <a:solidFill>
            <a:srgbClr val="FFB800">
              <a:alpha val="92000"/>
            </a:srgbClr>
          </a:solidFill>
          <a:ln w="12700">
            <a:solidFill>
              <a:srgbClr val="FFB800"/>
            </a:solidFill>
            <a:prstDash val="solid"/>
          </a:ln>
        </p:spPr>
      </p:sp>
      <p:sp>
        <p:nvSpPr>
          <p:cNvPr id="16" name="Text 14"/>
          <p:cNvSpPr/>
          <p:nvPr/>
        </p:nvSpPr>
        <p:spPr>
          <a:xfrm>
            <a:off x="457200" y="3255264"/>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VARIABLE</a:t>
            </a:r>
            <a:endParaRPr lang="en-US" sz="950" dirty="0"/>
          </a:p>
        </p:txBody>
      </p:sp>
      <p:sp>
        <p:nvSpPr>
          <p:cNvPr id="17" name="Text 15"/>
          <p:cNvSpPr/>
          <p:nvPr/>
        </p:nvSpPr>
        <p:spPr>
          <a:xfrm>
            <a:off x="2194560" y="3182112"/>
            <a:ext cx="6492240" cy="530352"/>
          </a:xfrm>
          <a:prstGeom prst="rect">
            <a:avLst/>
          </a:prstGeom>
          <a:noFill/>
          <a:ln/>
        </p:spPr>
        <p:txBody>
          <a:bodyPr wrap="square" lIns="0" tIns="0" rIns="0" bIns="0" rtlCol="0" anchor="ctr"/>
          <a:lstStyle/>
          <a:p>
            <a:pPr indent="0" marL="0">
              <a:buNone/>
            </a:pPr>
            <a:r>
              <a:rPr lang="en-US" sz="1050" dirty="0">
                <a:solidFill>
                  <a:srgbClr val="E8EDF5"/>
                </a:solidFill>
              </a:rPr>
              <a:t>¿Qué es lo único que, si lo mido, me dice si el problema existe?</a:t>
            </a:r>
            <a:endParaRPr lang="en-US" sz="1050" dirty="0"/>
          </a:p>
        </p:txBody>
      </p:sp>
      <p:sp>
        <p:nvSpPr>
          <p:cNvPr id="18" name="Shape 16"/>
          <p:cNvSpPr/>
          <p:nvPr/>
        </p:nvSpPr>
        <p:spPr>
          <a:xfrm>
            <a:off x="365760" y="3785616"/>
            <a:ext cx="8412480" cy="530352"/>
          </a:xfrm>
          <a:prstGeom prst="roundRect">
            <a:avLst>
              <a:gd name="adj" fmla="val 13793"/>
            </a:avLst>
          </a:prstGeom>
          <a:solidFill>
            <a:srgbClr val="1A2550"/>
          </a:solidFill>
          <a:ln w="19050">
            <a:solidFill>
              <a:srgbClr val="FF4D6A"/>
            </a:solidFill>
            <a:prstDash val="solid"/>
          </a:ln>
          <a:effectLst>
            <a:outerShdw sx="100000" sy="100000" kx="0" ky="0" algn="bl" rotWithShape="0" blurRad="50800" dist="12700" dir="2700000">
              <a:srgbClr val="000000">
                <a:alpha val="8000"/>
              </a:srgbClr>
            </a:outerShdw>
          </a:effectLst>
        </p:spPr>
      </p:sp>
      <p:sp>
        <p:nvSpPr>
          <p:cNvPr id="19" name="Shape 17"/>
          <p:cNvSpPr/>
          <p:nvPr/>
        </p:nvSpPr>
        <p:spPr>
          <a:xfrm>
            <a:off x="457200" y="3858768"/>
            <a:ext cx="1645920" cy="365760"/>
          </a:xfrm>
          <a:prstGeom prst="roundRect">
            <a:avLst>
              <a:gd name="adj" fmla="val 15000"/>
            </a:avLst>
          </a:prstGeom>
          <a:solidFill>
            <a:srgbClr val="FF4D6A">
              <a:alpha val="92000"/>
            </a:srgbClr>
          </a:solidFill>
          <a:ln w="12700">
            <a:solidFill>
              <a:srgbClr val="FF4D6A"/>
            </a:solidFill>
            <a:prstDash val="solid"/>
          </a:ln>
        </p:spPr>
      </p:sp>
      <p:sp>
        <p:nvSpPr>
          <p:cNvPr id="20" name="Text 18"/>
          <p:cNvSpPr/>
          <p:nvPr/>
        </p:nvSpPr>
        <p:spPr>
          <a:xfrm>
            <a:off x="457200" y="3858768"/>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PUNTO DE QUIEBRE</a:t>
            </a:r>
            <a:endParaRPr lang="en-US" sz="950" dirty="0"/>
          </a:p>
        </p:txBody>
      </p:sp>
      <p:sp>
        <p:nvSpPr>
          <p:cNvPr id="21" name="Text 19"/>
          <p:cNvSpPr/>
          <p:nvPr/>
        </p:nvSpPr>
        <p:spPr>
          <a:xfrm>
            <a:off x="2194560" y="3785616"/>
            <a:ext cx="6492240" cy="530352"/>
          </a:xfrm>
          <a:prstGeom prst="rect">
            <a:avLst/>
          </a:prstGeom>
          <a:noFill/>
          <a:ln/>
        </p:spPr>
        <p:txBody>
          <a:bodyPr wrap="square" lIns="0" tIns="0" rIns="0" bIns="0" rtlCol="0" anchor="ctr"/>
          <a:lstStyle/>
          <a:p>
            <a:pPr indent="0" marL="0">
              <a:buNone/>
            </a:pPr>
            <a:r>
              <a:rPr lang="en-US" sz="1050" dirty="0">
                <a:solidFill>
                  <a:srgbClr val="E8EDF5"/>
                </a:solidFill>
              </a:rPr>
              <a:t>¿A partir de qué valor digo que el problema empieza?</a:t>
            </a:r>
            <a:endParaRPr lang="en-US" sz="1050" dirty="0"/>
          </a:p>
        </p:txBody>
      </p:sp>
      <p:sp>
        <p:nvSpPr>
          <p:cNvPr id="22" name="Shape 20"/>
          <p:cNvSpPr/>
          <p:nvPr/>
        </p:nvSpPr>
        <p:spPr>
          <a:xfrm>
            <a:off x="365760" y="4389120"/>
            <a:ext cx="8412480" cy="530352"/>
          </a:xfrm>
          <a:prstGeom prst="roundRect">
            <a:avLst>
              <a:gd name="adj" fmla="val 13793"/>
            </a:avLst>
          </a:prstGeom>
          <a:solidFill>
            <a:srgbClr val="1A2550"/>
          </a:solidFill>
          <a:ln w="19050">
            <a:solidFill>
              <a:srgbClr val="00C896"/>
            </a:solidFill>
            <a:prstDash val="solid"/>
          </a:ln>
          <a:effectLst>
            <a:outerShdw sx="100000" sy="100000" kx="0" ky="0" algn="bl" rotWithShape="0" blurRad="50800" dist="12700" dir="2700000">
              <a:srgbClr val="000000">
                <a:alpha val="8000"/>
              </a:srgbClr>
            </a:outerShdw>
          </a:effectLst>
        </p:spPr>
      </p:sp>
      <p:sp>
        <p:nvSpPr>
          <p:cNvPr id="23" name="Shape 21"/>
          <p:cNvSpPr/>
          <p:nvPr/>
        </p:nvSpPr>
        <p:spPr>
          <a:xfrm>
            <a:off x="457200" y="4462272"/>
            <a:ext cx="1645920" cy="365760"/>
          </a:xfrm>
          <a:prstGeom prst="roundRect">
            <a:avLst>
              <a:gd name="adj" fmla="val 15000"/>
            </a:avLst>
          </a:prstGeom>
          <a:solidFill>
            <a:srgbClr val="00C896">
              <a:alpha val="92000"/>
            </a:srgbClr>
          </a:solidFill>
          <a:ln w="12700">
            <a:solidFill>
              <a:srgbClr val="00C896"/>
            </a:solidFill>
            <a:prstDash val="solid"/>
          </a:ln>
        </p:spPr>
      </p:sp>
      <p:sp>
        <p:nvSpPr>
          <p:cNvPr id="24" name="Text 22"/>
          <p:cNvSpPr/>
          <p:nvPr/>
        </p:nvSpPr>
        <p:spPr>
          <a:xfrm>
            <a:off x="457200" y="4462272"/>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PROBLEMA TÉCNICO</a:t>
            </a:r>
            <a:endParaRPr lang="en-US" sz="950" dirty="0"/>
          </a:p>
        </p:txBody>
      </p:sp>
      <p:sp>
        <p:nvSpPr>
          <p:cNvPr id="25" name="Text 23"/>
          <p:cNvSpPr/>
          <p:nvPr/>
        </p:nvSpPr>
        <p:spPr>
          <a:xfrm>
            <a:off x="2194560" y="4389120"/>
            <a:ext cx="6492240" cy="530352"/>
          </a:xfrm>
          <a:prstGeom prst="rect">
            <a:avLst/>
          </a:prstGeom>
          <a:noFill/>
          <a:ln/>
        </p:spPr>
        <p:txBody>
          <a:bodyPr wrap="square" lIns="0" tIns="0" rIns="0" bIns="0" rtlCol="0" anchor="ctr"/>
          <a:lstStyle/>
          <a:p>
            <a:pPr indent="0" marL="0">
              <a:buNone/>
            </a:pPr>
            <a:r>
              <a:rPr lang="en-US" sz="1050" i="1" dirty="0">
                <a:solidFill>
                  <a:srgbClr val="E8EDF5"/>
                </a:solidFill>
              </a:rPr>
              <a:t>En [contexto] ocurre [problema] cuando [variable] supera [quiebre].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C896"/>
          </a:solidFill>
          <a:ln w="12700">
            <a:solidFill>
              <a:srgbClr val="00C896"/>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MONITOR DE CALIDAD DEL AIRE  ·  RONDA 4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9B59B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9B59B6"/>
                </a:solidFill>
              </a:rPr>
              <a:t>⏱  3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9B59B6"/>
                </a:solidFill>
              </a:rPr>
              <a:t>RONDA 4</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OBJETIVOS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9B59B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A partir del problema técnico, enuncien 2 o 3 objetivos concretos y medibles.</a:t>
            </a:r>
            <a:endParaRPr lang="en-US" sz="1300" dirty="0"/>
          </a:p>
          <a:p>
            <a:pPr indent="0" marL="0">
              <a:buNone/>
            </a:pPr>
            <a:r>
              <a:rPr lang="en-US" sz="1300" dirty="0">
                <a:solidFill>
                  <a:srgbClr val="0A0E2A"/>
                </a:solidFill>
              </a:rPr>
              <a:t>Cada objetivo debe poder verificarse.</a:t>
            </a:r>
            <a:endParaRPr lang="en-US" sz="1300" dirty="0"/>
          </a:p>
        </p:txBody>
      </p:sp>
      <p:sp>
        <p:nvSpPr>
          <p:cNvPr id="10" name="Shape 8"/>
          <p:cNvSpPr/>
          <p:nvPr/>
        </p:nvSpPr>
        <p:spPr>
          <a:xfrm>
            <a:off x="365760" y="2578608"/>
            <a:ext cx="8412480" cy="2176272"/>
          </a:xfrm>
          <a:prstGeom prst="roundRect">
            <a:avLst>
              <a:gd name="adj" fmla="val 5042"/>
            </a:avLst>
          </a:prstGeom>
          <a:solidFill>
            <a:srgbClr val="FFFFFF"/>
          </a:solidFill>
          <a:ln w="19050">
            <a:solidFill>
              <a:srgbClr val="9B59B6"/>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9B59B6"/>
                </a:solidFill>
              </a:rPr>
              <a:t>REGLAS DEL OBJETIVO BIEN PLANTEADO:</a:t>
            </a:r>
            <a:endParaRPr lang="en-US" sz="1050" dirty="0"/>
          </a:p>
        </p:txBody>
      </p:sp>
      <p:sp>
        <p:nvSpPr>
          <p:cNvPr id="12" name="Shape 10"/>
          <p:cNvSpPr/>
          <p:nvPr/>
        </p:nvSpPr>
        <p:spPr>
          <a:xfrm>
            <a:off x="548640" y="2999232"/>
            <a:ext cx="256032" cy="256032"/>
          </a:xfrm>
          <a:prstGeom prst="ellipse">
            <a:avLst/>
          </a:prstGeom>
          <a:solidFill>
            <a:srgbClr val="9B59B6"/>
          </a:solidFill>
          <a:ln w="12700">
            <a:solidFill>
              <a:srgbClr val="9B59B6"/>
            </a:solidFill>
            <a:prstDash val="solid"/>
          </a:ln>
        </p:spPr>
      </p:sp>
      <p:sp>
        <p:nvSpPr>
          <p:cNvPr id="13" name="Text 11"/>
          <p:cNvSpPr/>
          <p:nvPr/>
        </p:nvSpPr>
        <p:spPr>
          <a:xfrm>
            <a:off x="548640" y="29992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14" name="Text 12"/>
          <p:cNvSpPr/>
          <p:nvPr/>
        </p:nvSpPr>
        <p:spPr>
          <a:xfrm>
            <a:off x="914400" y="2971800"/>
            <a:ext cx="7680960" cy="384048"/>
          </a:xfrm>
          <a:prstGeom prst="rect">
            <a:avLst/>
          </a:prstGeom>
          <a:noFill/>
          <a:ln/>
        </p:spPr>
        <p:txBody>
          <a:bodyPr wrap="square" lIns="0" tIns="0" rIns="0" bIns="0" rtlCol="0" anchor="ctr"/>
          <a:lstStyle/>
          <a:p>
            <a:pPr indent="0" marL="0">
              <a:buNone/>
            </a:pPr>
            <a:r>
              <a:rPr lang="en-US" sz="1100" dirty="0">
                <a:solidFill>
                  <a:srgbClr val="0A0E2A"/>
                </a:solidFill>
              </a:rPr>
              <a:t>Comienza con un verbo de acción (detectar, activar, medir, controlar, enviar...)</a:t>
            </a:r>
            <a:endParaRPr lang="en-US" sz="1100" dirty="0"/>
          </a:p>
        </p:txBody>
      </p:sp>
      <p:sp>
        <p:nvSpPr>
          <p:cNvPr id="15" name="Shape 13"/>
          <p:cNvSpPr/>
          <p:nvPr/>
        </p:nvSpPr>
        <p:spPr>
          <a:xfrm>
            <a:off x="548640" y="3410712"/>
            <a:ext cx="256032" cy="256032"/>
          </a:xfrm>
          <a:prstGeom prst="ellipse">
            <a:avLst/>
          </a:prstGeom>
          <a:solidFill>
            <a:srgbClr val="9B59B6"/>
          </a:solidFill>
          <a:ln w="12700">
            <a:solidFill>
              <a:srgbClr val="9B59B6"/>
            </a:solidFill>
            <a:prstDash val="solid"/>
          </a:ln>
        </p:spPr>
      </p:sp>
      <p:sp>
        <p:nvSpPr>
          <p:cNvPr id="16" name="Text 14"/>
          <p:cNvSpPr/>
          <p:nvPr/>
        </p:nvSpPr>
        <p:spPr>
          <a:xfrm>
            <a:off x="548640" y="3410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17" name="Text 15"/>
          <p:cNvSpPr/>
          <p:nvPr/>
        </p:nvSpPr>
        <p:spPr>
          <a:xfrm>
            <a:off x="914400" y="3383280"/>
            <a:ext cx="7680960" cy="384048"/>
          </a:xfrm>
          <a:prstGeom prst="rect">
            <a:avLst/>
          </a:prstGeom>
          <a:noFill/>
          <a:ln/>
        </p:spPr>
        <p:txBody>
          <a:bodyPr wrap="square" lIns="0" tIns="0" rIns="0" bIns="0" rtlCol="0" anchor="ctr"/>
          <a:lstStyle/>
          <a:p>
            <a:pPr indent="0" marL="0">
              <a:buNone/>
            </a:pPr>
            <a:r>
              <a:rPr lang="en-US" sz="1100" dirty="0">
                <a:solidFill>
                  <a:srgbClr val="0A0E2A"/>
                </a:solidFill>
              </a:rPr>
              <a:t>Incluye la variable y el punto de quiebre que ya identificaron</a:t>
            </a:r>
            <a:endParaRPr lang="en-US" sz="1100" dirty="0"/>
          </a:p>
        </p:txBody>
      </p:sp>
      <p:sp>
        <p:nvSpPr>
          <p:cNvPr id="18" name="Shape 16"/>
          <p:cNvSpPr/>
          <p:nvPr/>
        </p:nvSpPr>
        <p:spPr>
          <a:xfrm>
            <a:off x="548640" y="3822192"/>
            <a:ext cx="256032" cy="256032"/>
          </a:xfrm>
          <a:prstGeom prst="ellipse">
            <a:avLst/>
          </a:prstGeom>
          <a:solidFill>
            <a:srgbClr val="9B59B6"/>
          </a:solidFill>
          <a:ln w="12700">
            <a:solidFill>
              <a:srgbClr val="9B59B6"/>
            </a:solidFill>
            <a:prstDash val="solid"/>
          </a:ln>
        </p:spPr>
      </p:sp>
      <p:sp>
        <p:nvSpPr>
          <p:cNvPr id="19" name="Text 17"/>
          <p:cNvSpPr/>
          <p:nvPr/>
        </p:nvSpPr>
        <p:spPr>
          <a:xfrm>
            <a:off x="54864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3</a:t>
            </a:r>
            <a:endParaRPr lang="en-US" sz="900" dirty="0"/>
          </a:p>
        </p:txBody>
      </p:sp>
      <p:sp>
        <p:nvSpPr>
          <p:cNvPr id="20" name="Text 18"/>
          <p:cNvSpPr/>
          <p:nvPr/>
        </p:nvSpPr>
        <p:spPr>
          <a:xfrm>
            <a:off x="914400" y="3794760"/>
            <a:ext cx="7680960" cy="384048"/>
          </a:xfrm>
          <a:prstGeom prst="rect">
            <a:avLst/>
          </a:prstGeom>
          <a:noFill/>
          <a:ln/>
        </p:spPr>
        <p:txBody>
          <a:bodyPr wrap="square" lIns="0" tIns="0" rIns="0" bIns="0" rtlCol="0" anchor="ctr"/>
          <a:lstStyle/>
          <a:p>
            <a:pPr indent="0" marL="0">
              <a:buNone/>
            </a:pPr>
            <a:r>
              <a:rPr lang="en-US" sz="1100" dirty="0">
                <a:solidFill>
                  <a:srgbClr val="0A0E2A"/>
                </a:solidFill>
              </a:rPr>
              <a:t>Se puede verificar — sabés exactamente cuándo se cumplió</a:t>
            </a:r>
            <a:endParaRPr lang="en-US" sz="1100" dirty="0"/>
          </a:p>
        </p:txBody>
      </p:sp>
      <p:sp>
        <p:nvSpPr>
          <p:cNvPr id="21" name="Shape 19"/>
          <p:cNvSpPr/>
          <p:nvPr/>
        </p:nvSpPr>
        <p:spPr>
          <a:xfrm>
            <a:off x="548640" y="4233672"/>
            <a:ext cx="256032" cy="256032"/>
          </a:xfrm>
          <a:prstGeom prst="ellipse">
            <a:avLst/>
          </a:prstGeom>
          <a:solidFill>
            <a:srgbClr val="9B59B6"/>
          </a:solidFill>
          <a:ln w="12700">
            <a:solidFill>
              <a:srgbClr val="9B59B6"/>
            </a:solidFill>
            <a:prstDash val="solid"/>
          </a:ln>
        </p:spPr>
      </p:sp>
      <p:sp>
        <p:nvSpPr>
          <p:cNvPr id="22" name="Text 20"/>
          <p:cNvSpPr/>
          <p:nvPr/>
        </p:nvSpPr>
        <p:spPr>
          <a:xfrm>
            <a:off x="548640" y="42336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4</a:t>
            </a:r>
            <a:endParaRPr lang="en-US" sz="900" dirty="0"/>
          </a:p>
        </p:txBody>
      </p:sp>
      <p:sp>
        <p:nvSpPr>
          <p:cNvPr id="23" name="Text 21"/>
          <p:cNvSpPr/>
          <p:nvPr/>
        </p:nvSpPr>
        <p:spPr>
          <a:xfrm>
            <a:off x="914400" y="4206240"/>
            <a:ext cx="7680960" cy="384048"/>
          </a:xfrm>
          <a:prstGeom prst="rect">
            <a:avLst/>
          </a:prstGeom>
          <a:noFill/>
          <a:ln/>
        </p:spPr>
        <p:txBody>
          <a:bodyPr wrap="square" lIns="0" tIns="0" rIns="0" bIns="0" rtlCol="0" anchor="ctr"/>
          <a:lstStyle/>
          <a:p>
            <a:pPr indent="0" marL="0">
              <a:buNone/>
            </a:pPr>
            <a:r>
              <a:rPr lang="en-US" sz="1100" dirty="0">
                <a:solidFill>
                  <a:srgbClr val="0A0E2A"/>
                </a:solidFill>
              </a:rPr>
              <a:t>Un objetivo por tarea. Sin 'y' que una dos objetivos distintos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C896"/>
          </a:solidFill>
          <a:ln w="12700">
            <a:solidFill>
              <a:srgbClr val="00C896"/>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MONITOR DE CALIDAD DEL AIRE  ·  RONDA 5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4D6A"/>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4D6A"/>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4D6A"/>
                </a:solidFill>
              </a:rPr>
              <a:t>RONDA 5</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4D6A"/>
                </a:solidFill>
              </a:rPr>
              <a:t>¿CUÁL ES LA SOLUCIÓN?</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4D6A"/>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Sin mirar nada. ¿Qué dispositivo, sistema o artefacto resuelve exactamente este problema?</a:t>
            </a:r>
            <a:endParaRPr lang="en-US" sz="1300" dirty="0"/>
          </a:p>
          <a:p>
            <a:pPr indent="0" marL="0">
              <a:buNone/>
            </a:pPr>
            <a:r>
              <a:rPr lang="en-US" sz="1300" dirty="0">
                <a:solidFill>
                  <a:srgbClr val="E8EDF5"/>
                </a:solidFill>
              </a:rPr>
              <a:t>Describir en 2 líneas.</a:t>
            </a:r>
            <a:endParaRPr lang="en-US" sz="1300" dirty="0"/>
          </a:p>
        </p:txBody>
      </p:sp>
      <p:sp>
        <p:nvSpPr>
          <p:cNvPr id="10" name="Shape 8"/>
          <p:cNvSpPr/>
          <p:nvPr/>
        </p:nvSpPr>
        <p:spPr>
          <a:xfrm>
            <a:off x="365760" y="2578608"/>
            <a:ext cx="8412480" cy="2176272"/>
          </a:xfrm>
          <a:prstGeom prst="roundRect">
            <a:avLst>
              <a:gd name="adj" fmla="val 5042"/>
            </a:avLst>
          </a:prstGeom>
          <a:solidFill>
            <a:srgbClr val="1A2550"/>
          </a:solidFill>
          <a:ln w="19050">
            <a:solidFill>
              <a:srgbClr val="FF4D6A"/>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FF4D6A"/>
                </a:solidFill>
              </a:rPr>
              <a:t>PISTAS PERMITIDAS:</a:t>
            </a:r>
            <a:endParaRPr lang="en-US" sz="1050" dirty="0"/>
          </a:p>
        </p:txBody>
      </p:sp>
      <p:sp>
        <p:nvSpPr>
          <p:cNvPr id="12" name="Shape 10"/>
          <p:cNvSpPr/>
          <p:nvPr/>
        </p:nvSpPr>
        <p:spPr>
          <a:xfrm>
            <a:off x="548640" y="299923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3" name="Text 11"/>
          <p:cNvSpPr/>
          <p:nvPr/>
        </p:nvSpPr>
        <p:spPr>
          <a:xfrm>
            <a:off x="685800" y="299923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La variable principal es: Concentración de CO₂ en el aire</a:t>
            </a:r>
            <a:endParaRPr lang="en-US" sz="1100" dirty="0"/>
          </a:p>
        </p:txBody>
      </p:sp>
      <p:sp>
        <p:nvSpPr>
          <p:cNvPr id="14" name="Shape 12"/>
          <p:cNvSpPr/>
          <p:nvPr/>
        </p:nvSpPr>
        <p:spPr>
          <a:xfrm>
            <a:off x="548640" y="341071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5" name="Text 13"/>
          <p:cNvSpPr/>
          <p:nvPr/>
        </p:nvSpPr>
        <p:spPr>
          <a:xfrm>
            <a:off x="685800" y="341071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El punto de quiebre es: Concentración de CO₂ superior a 1000 ppm sostenida por más de 5 minutos</a:t>
            </a:r>
            <a:endParaRPr lang="en-US" sz="1100" dirty="0"/>
          </a:p>
        </p:txBody>
      </p:sp>
      <p:sp>
        <p:nvSpPr>
          <p:cNvPr id="16" name="Shape 14"/>
          <p:cNvSpPr/>
          <p:nvPr/>
        </p:nvSpPr>
        <p:spPr>
          <a:xfrm>
            <a:off x="548640" y="382219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7" name="Text 15"/>
          <p:cNvSpPr/>
          <p:nvPr/>
        </p:nvSpPr>
        <p:spPr>
          <a:xfrm>
            <a:off x="685800" y="382219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¿Qué componente electrónico mide esa variable? ¿Qué actúa cuando se supera el quiebre?</a:t>
            </a:r>
            <a:endParaRPr lang="en-US" sz="1050" dirty="0"/>
          </a:p>
        </p:txBody>
      </p:sp>
      <p:sp>
        <p:nvSpPr>
          <p:cNvPr id="18" name="Shape 16"/>
          <p:cNvSpPr/>
          <p:nvPr/>
        </p:nvSpPr>
        <p:spPr>
          <a:xfrm>
            <a:off x="548640" y="423367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9" name="Text 17"/>
          <p:cNvSpPr/>
          <p:nvPr/>
        </p:nvSpPr>
        <p:spPr>
          <a:xfrm>
            <a:off x="685800" y="423367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Pensá en: sensor + controlador + actuador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C896"/>
          </a:solidFill>
          <a:ln w="12700">
            <a:solidFill>
              <a:srgbClr val="00C896"/>
            </a:solidFill>
            <a:prstDash val="solid"/>
          </a:ln>
        </p:spPr>
      </p:sp>
      <p:sp>
        <p:nvSpPr>
          <p:cNvPr id="3" name="Text 1"/>
          <p:cNvSpPr/>
          <p:nvPr/>
        </p:nvSpPr>
        <p:spPr>
          <a:xfrm>
            <a:off x="320040" y="0"/>
            <a:ext cx="8503920" cy="640080"/>
          </a:xfrm>
          <a:prstGeom prst="rect">
            <a:avLst/>
          </a:prstGeom>
          <a:noFill/>
          <a:ln/>
        </p:spPr>
        <p:txBody>
          <a:bodyPr wrap="square" lIns="0" tIns="0" rIns="0" bIns="0" rtlCol="0" anchor="ctr"/>
          <a:lstStyle/>
          <a:p>
            <a:pPr indent="0" marL="0">
              <a:buNone/>
            </a:pPr>
            <a:r>
              <a:rPr lang="en-US" sz="1300" b="1" dirty="0">
                <a:solidFill>
                  <a:srgbClr val="0A0E2A"/>
                </a:solidFill>
              </a:rPr>
              <a:t>REVEAL · MONITOR DE CALIDAD DEL AIRE</a:t>
            </a:r>
            <a:endParaRPr lang="en-US" sz="1300" dirty="0"/>
          </a:p>
        </p:txBody>
      </p:sp>
      <p:sp>
        <p:nvSpPr>
          <p:cNvPr id="4" name="Shape 2"/>
          <p:cNvSpPr/>
          <p:nvPr/>
        </p:nvSpPr>
        <p:spPr>
          <a:xfrm>
            <a:off x="274320" y="749808"/>
            <a:ext cx="4389120" cy="475488"/>
          </a:xfrm>
          <a:prstGeom prst="roundRect">
            <a:avLst>
              <a:gd name="adj" fmla="val 15385"/>
            </a:avLst>
          </a:prstGeom>
          <a:solidFill>
            <a:srgbClr val="1A2550"/>
          </a:solidFill>
          <a:ln w="15240">
            <a:solidFill>
              <a:srgbClr val="FFB800"/>
            </a:solidFill>
            <a:prstDash val="solid"/>
          </a:ln>
        </p:spPr>
      </p:sp>
      <p:sp>
        <p:nvSpPr>
          <p:cNvPr id="5" name="Shape 3"/>
          <p:cNvSpPr/>
          <p:nvPr/>
        </p:nvSpPr>
        <p:spPr>
          <a:xfrm>
            <a:off x="347472" y="813816"/>
            <a:ext cx="1417320" cy="256032"/>
          </a:xfrm>
          <a:prstGeom prst="roundRect">
            <a:avLst>
              <a:gd name="adj" fmla="val 17857"/>
            </a:avLst>
          </a:prstGeom>
          <a:solidFill>
            <a:srgbClr val="FFB800">
              <a:alpha val="88000"/>
            </a:srgbClr>
          </a:solidFill>
          <a:ln w="12700">
            <a:solidFill>
              <a:srgbClr val="FFB800"/>
            </a:solidFill>
            <a:prstDash val="solid"/>
          </a:ln>
        </p:spPr>
      </p:sp>
      <p:sp>
        <p:nvSpPr>
          <p:cNvPr id="6" name="Text 4"/>
          <p:cNvSpPr/>
          <p:nvPr/>
        </p:nvSpPr>
        <p:spPr>
          <a:xfrm>
            <a:off x="347472" y="81381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VAGO</a:t>
            </a:r>
            <a:endParaRPr lang="en-US" sz="700" dirty="0"/>
          </a:p>
        </p:txBody>
      </p:sp>
      <p:sp>
        <p:nvSpPr>
          <p:cNvPr id="7" name="Text 5"/>
          <p:cNvSpPr/>
          <p:nvPr/>
        </p:nvSpPr>
        <p:spPr>
          <a:xfrm>
            <a:off x="1847088" y="749808"/>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En el aula a veces el ambiente se pone pesado y la gente se cansa.</a:t>
            </a:r>
            <a:endParaRPr lang="en-US" sz="900" dirty="0"/>
          </a:p>
        </p:txBody>
      </p:sp>
      <p:sp>
        <p:nvSpPr>
          <p:cNvPr id="8" name="Shape 6"/>
          <p:cNvSpPr/>
          <p:nvPr/>
        </p:nvSpPr>
        <p:spPr>
          <a:xfrm>
            <a:off x="274320" y="1280160"/>
            <a:ext cx="4389120" cy="475488"/>
          </a:xfrm>
          <a:prstGeom prst="roundRect">
            <a:avLst>
              <a:gd name="adj" fmla="val 15385"/>
            </a:avLst>
          </a:prstGeom>
          <a:solidFill>
            <a:srgbClr val="1A2550"/>
          </a:solidFill>
          <a:ln w="15240">
            <a:solidFill>
              <a:srgbClr val="9B59B6"/>
            </a:solidFill>
            <a:prstDash val="solid"/>
          </a:ln>
        </p:spPr>
      </p:sp>
      <p:sp>
        <p:nvSpPr>
          <p:cNvPr id="9" name="Shape 7"/>
          <p:cNvSpPr/>
          <p:nvPr/>
        </p:nvSpPr>
        <p:spPr>
          <a:xfrm>
            <a:off x="347472" y="1344168"/>
            <a:ext cx="1417320" cy="256032"/>
          </a:xfrm>
          <a:prstGeom prst="roundRect">
            <a:avLst>
              <a:gd name="adj" fmla="val 17857"/>
            </a:avLst>
          </a:prstGeom>
          <a:solidFill>
            <a:srgbClr val="9B59B6">
              <a:alpha val="88000"/>
            </a:srgbClr>
          </a:solidFill>
          <a:ln w="12700">
            <a:solidFill>
              <a:srgbClr val="9B59B6"/>
            </a:solidFill>
            <a:prstDash val="solid"/>
          </a:ln>
        </p:spPr>
      </p:sp>
      <p:sp>
        <p:nvSpPr>
          <p:cNvPr id="10" name="Text 8"/>
          <p:cNvSpPr/>
          <p:nvPr/>
        </p:nvSpPr>
        <p:spPr>
          <a:xfrm>
            <a:off x="347472" y="1344168"/>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VARIABLE</a:t>
            </a:r>
            <a:endParaRPr lang="en-US" sz="700" dirty="0"/>
          </a:p>
        </p:txBody>
      </p:sp>
      <p:sp>
        <p:nvSpPr>
          <p:cNvPr id="11" name="Text 9"/>
          <p:cNvSpPr/>
          <p:nvPr/>
        </p:nvSpPr>
        <p:spPr>
          <a:xfrm>
            <a:off x="1847088" y="1280160"/>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Concentración de CO₂ en el aire (ppm — partes por millón).</a:t>
            </a:r>
            <a:endParaRPr lang="en-US" sz="900" dirty="0"/>
          </a:p>
        </p:txBody>
      </p:sp>
      <p:sp>
        <p:nvSpPr>
          <p:cNvPr id="12" name="Shape 10"/>
          <p:cNvSpPr/>
          <p:nvPr/>
        </p:nvSpPr>
        <p:spPr>
          <a:xfrm>
            <a:off x="274320" y="1810512"/>
            <a:ext cx="4389120" cy="475488"/>
          </a:xfrm>
          <a:prstGeom prst="roundRect">
            <a:avLst>
              <a:gd name="adj" fmla="val 15385"/>
            </a:avLst>
          </a:prstGeom>
          <a:solidFill>
            <a:srgbClr val="1A2550"/>
          </a:solidFill>
          <a:ln w="15240">
            <a:solidFill>
              <a:srgbClr val="FF4D6A"/>
            </a:solidFill>
            <a:prstDash val="solid"/>
          </a:ln>
        </p:spPr>
      </p:sp>
      <p:sp>
        <p:nvSpPr>
          <p:cNvPr id="13" name="Shape 11"/>
          <p:cNvSpPr/>
          <p:nvPr/>
        </p:nvSpPr>
        <p:spPr>
          <a:xfrm>
            <a:off x="347472" y="1874520"/>
            <a:ext cx="1417320" cy="256032"/>
          </a:xfrm>
          <a:prstGeom prst="roundRect">
            <a:avLst>
              <a:gd name="adj" fmla="val 17857"/>
            </a:avLst>
          </a:prstGeom>
          <a:solidFill>
            <a:srgbClr val="FF4D6A">
              <a:alpha val="88000"/>
            </a:srgbClr>
          </a:solidFill>
          <a:ln w="12700">
            <a:solidFill>
              <a:srgbClr val="FF4D6A"/>
            </a:solidFill>
            <a:prstDash val="solid"/>
          </a:ln>
        </p:spPr>
      </p:sp>
      <p:sp>
        <p:nvSpPr>
          <p:cNvPr id="14" name="Text 12"/>
          <p:cNvSpPr/>
          <p:nvPr/>
        </p:nvSpPr>
        <p:spPr>
          <a:xfrm>
            <a:off x="347472" y="1874520"/>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PUNTO DE QUIEBRE</a:t>
            </a:r>
            <a:endParaRPr lang="en-US" sz="700" dirty="0"/>
          </a:p>
        </p:txBody>
      </p:sp>
      <p:sp>
        <p:nvSpPr>
          <p:cNvPr id="15" name="Text 13"/>
          <p:cNvSpPr/>
          <p:nvPr/>
        </p:nvSpPr>
        <p:spPr>
          <a:xfrm>
            <a:off x="1847088" y="1810512"/>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Concentración de CO₂ superior a 1000 ppm sostenida por más de 5 minutos.</a:t>
            </a:r>
            <a:endParaRPr lang="en-US" sz="900" dirty="0"/>
          </a:p>
        </p:txBody>
      </p:sp>
      <p:sp>
        <p:nvSpPr>
          <p:cNvPr id="16" name="Shape 14"/>
          <p:cNvSpPr/>
          <p:nvPr/>
        </p:nvSpPr>
        <p:spPr>
          <a:xfrm>
            <a:off x="274320" y="2340864"/>
            <a:ext cx="4389120" cy="594360"/>
          </a:xfrm>
          <a:prstGeom prst="roundRect">
            <a:avLst>
              <a:gd name="adj" fmla="val 12308"/>
            </a:avLst>
          </a:prstGeom>
          <a:solidFill>
            <a:srgbClr val="1A2550"/>
          </a:solidFill>
          <a:ln w="15240">
            <a:solidFill>
              <a:srgbClr val="00C896"/>
            </a:solidFill>
            <a:prstDash val="solid"/>
          </a:ln>
        </p:spPr>
      </p:sp>
      <p:sp>
        <p:nvSpPr>
          <p:cNvPr id="17" name="Shape 15"/>
          <p:cNvSpPr/>
          <p:nvPr/>
        </p:nvSpPr>
        <p:spPr>
          <a:xfrm>
            <a:off x="347472" y="2404872"/>
            <a:ext cx="1417320" cy="256032"/>
          </a:xfrm>
          <a:prstGeom prst="roundRect">
            <a:avLst>
              <a:gd name="adj" fmla="val 17857"/>
            </a:avLst>
          </a:prstGeom>
          <a:solidFill>
            <a:srgbClr val="00C896">
              <a:alpha val="88000"/>
            </a:srgbClr>
          </a:solidFill>
          <a:ln w="12700">
            <a:solidFill>
              <a:srgbClr val="00C896"/>
            </a:solidFill>
            <a:prstDash val="solid"/>
          </a:ln>
        </p:spPr>
      </p:sp>
      <p:sp>
        <p:nvSpPr>
          <p:cNvPr id="18" name="Text 16"/>
          <p:cNvSpPr/>
          <p:nvPr/>
        </p:nvSpPr>
        <p:spPr>
          <a:xfrm>
            <a:off x="347472" y="2404872"/>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TECNICO</a:t>
            </a:r>
            <a:endParaRPr lang="en-US" sz="700" dirty="0"/>
          </a:p>
        </p:txBody>
      </p:sp>
      <p:sp>
        <p:nvSpPr>
          <p:cNvPr id="19" name="Text 17"/>
          <p:cNvSpPr/>
          <p:nvPr/>
        </p:nvSpPr>
        <p:spPr>
          <a:xfrm>
            <a:off x="1847088" y="2340864"/>
            <a:ext cx="2724912" cy="594360"/>
          </a:xfrm>
          <a:prstGeom prst="rect">
            <a:avLst/>
          </a:prstGeom>
          <a:noFill/>
          <a:ln/>
        </p:spPr>
        <p:txBody>
          <a:bodyPr wrap="square" lIns="635" tIns="635" rIns="635" bIns="635" rtlCol="0" anchor="ctr"/>
          <a:lstStyle/>
          <a:p>
            <a:pPr indent="0" marL="0">
              <a:buNone/>
            </a:pPr>
            <a:r>
              <a:rPr lang="en-US" sz="900" dirty="0">
                <a:solidFill>
                  <a:srgbClr val="E8EDF5"/>
                </a:solidFill>
              </a:rPr>
              <a:t>En el aula, la concentración de CO₂ supera las 1000 ppm durante más de 5 minutos con ventanas cerradas, lo que genera fatiga cognitiva y reduce el rendimiento de los estudiantes.</a:t>
            </a:r>
            <a:endParaRPr lang="en-US" sz="900" dirty="0"/>
          </a:p>
        </p:txBody>
      </p:sp>
      <p:sp>
        <p:nvSpPr>
          <p:cNvPr id="20" name="Shape 18"/>
          <p:cNvSpPr/>
          <p:nvPr/>
        </p:nvSpPr>
        <p:spPr>
          <a:xfrm>
            <a:off x="274320" y="2990088"/>
            <a:ext cx="4389120" cy="841248"/>
          </a:xfrm>
          <a:prstGeom prst="roundRect">
            <a:avLst>
              <a:gd name="adj" fmla="val 8696"/>
            </a:avLst>
          </a:prstGeom>
          <a:solidFill>
            <a:srgbClr val="1A2550"/>
          </a:solidFill>
          <a:ln w="15240">
            <a:solidFill>
              <a:srgbClr val="00D4FF"/>
            </a:solidFill>
            <a:prstDash val="solid"/>
          </a:ln>
        </p:spPr>
      </p:sp>
      <p:sp>
        <p:nvSpPr>
          <p:cNvPr id="21" name="Shape 19"/>
          <p:cNvSpPr/>
          <p:nvPr/>
        </p:nvSpPr>
        <p:spPr>
          <a:xfrm>
            <a:off x="347472" y="3054096"/>
            <a:ext cx="1417320" cy="256032"/>
          </a:xfrm>
          <a:prstGeom prst="roundRect">
            <a:avLst>
              <a:gd name="adj" fmla="val 17857"/>
            </a:avLst>
          </a:prstGeom>
          <a:solidFill>
            <a:srgbClr val="00D4FF">
              <a:alpha val="88000"/>
            </a:srgbClr>
          </a:solidFill>
          <a:ln w="12700">
            <a:solidFill>
              <a:srgbClr val="00D4FF"/>
            </a:solidFill>
            <a:prstDash val="solid"/>
          </a:ln>
        </p:spPr>
      </p:sp>
      <p:sp>
        <p:nvSpPr>
          <p:cNvPr id="22" name="Text 20"/>
          <p:cNvSpPr/>
          <p:nvPr/>
        </p:nvSpPr>
        <p:spPr>
          <a:xfrm>
            <a:off x="347472" y="305409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OBJETIVOS</a:t>
            </a:r>
            <a:endParaRPr lang="en-US" sz="700" dirty="0"/>
          </a:p>
        </p:txBody>
      </p:sp>
      <p:sp>
        <p:nvSpPr>
          <p:cNvPr id="23" name="Text 21"/>
          <p:cNvSpPr/>
          <p:nvPr/>
        </p:nvSpPr>
        <p:spPr>
          <a:xfrm>
            <a:off x="1847088" y="2990088"/>
            <a:ext cx="2724912" cy="841248"/>
          </a:xfrm>
          <a:prstGeom prst="rect">
            <a:avLst/>
          </a:prstGeom>
          <a:noFill/>
          <a:ln/>
        </p:spPr>
        <p:txBody>
          <a:bodyPr wrap="square" lIns="635" tIns="635" rIns="635" bIns="635" rtlCol="0" anchor="ctr"/>
          <a:lstStyle/>
          <a:p>
            <a:pPr indent="0" marL="0">
              <a:buNone/>
            </a:pPr>
            <a:r>
              <a:rPr lang="en-US" sz="850" dirty="0">
                <a:solidFill>
                  <a:srgbClr val="E8EDF5"/>
                </a:solidFill>
              </a:rPr>
              <a:t>1. Detectar continuamente la concentración de CO₂ en el ambiente del aula.  2. Activar una alarma sonora y visual cuando el CO₂ supere las 1000 ppm por más de 5 minutos.  3. Accionar automáticamente la apertura de ventilación o activar un extractor.</a:t>
            </a:r>
            <a:endParaRPr lang="en-US" sz="850" dirty="0"/>
          </a:p>
        </p:txBody>
      </p:sp>
      <p:sp>
        <p:nvSpPr>
          <p:cNvPr id="24" name="Shape 22"/>
          <p:cNvSpPr/>
          <p:nvPr/>
        </p:nvSpPr>
        <p:spPr>
          <a:xfrm>
            <a:off x="4937760" y="749808"/>
            <a:ext cx="3977640" cy="2971800"/>
          </a:xfrm>
          <a:prstGeom prst="roundRect">
            <a:avLst>
              <a:gd name="adj" fmla="val 4615"/>
            </a:avLst>
          </a:prstGeom>
          <a:solidFill>
            <a:srgbClr val="00C896">
              <a:alpha val="92000"/>
            </a:srgbClr>
          </a:solidFill>
          <a:ln w="25400">
            <a:solidFill>
              <a:srgbClr val="00C896"/>
            </a:solidFill>
            <a:prstDash val="solid"/>
          </a:ln>
          <a:effectLst>
            <a:outerShdw sx="100000" sy="100000" kx="0" ky="0" algn="bl" rotWithShape="0" blurRad="127000" dist="38100" dir="2700000">
              <a:srgbClr val="000000">
                <a:alpha val="18000"/>
              </a:srgbClr>
            </a:outerShdw>
          </a:effectLst>
        </p:spPr>
      </p:sp>
      <p:sp>
        <p:nvSpPr>
          <p:cNvPr id="25" name="Text 23"/>
          <p:cNvSpPr/>
          <p:nvPr/>
        </p:nvSpPr>
        <p:spPr>
          <a:xfrm>
            <a:off x="5074920" y="822960"/>
            <a:ext cx="3703320" cy="320040"/>
          </a:xfrm>
          <a:prstGeom prst="rect">
            <a:avLst/>
          </a:prstGeom>
          <a:noFill/>
          <a:ln/>
        </p:spPr>
        <p:txBody>
          <a:bodyPr wrap="square" lIns="0" tIns="0" rIns="0" bIns="0" rtlCol="0" anchor="ctr"/>
          <a:lstStyle/>
          <a:p>
            <a:pPr algn="ctr" indent="0" marL="0">
              <a:buNone/>
            </a:pPr>
            <a:r>
              <a:rPr lang="en-US" sz="1200" b="1" dirty="0">
                <a:solidFill>
                  <a:srgbClr val="0A0E2A"/>
                </a:solidFill>
              </a:rPr>
              <a:t>SOLUCIÓN</a:t>
            </a:r>
            <a:endParaRPr lang="en-US" sz="1200" dirty="0"/>
          </a:p>
        </p:txBody>
      </p:sp>
      <p:sp>
        <p:nvSpPr>
          <p:cNvPr id="26" name="Text 24"/>
          <p:cNvSpPr/>
          <p:nvPr/>
        </p:nvSpPr>
        <p:spPr>
          <a:xfrm>
            <a:off x="5074920" y="1188720"/>
            <a:ext cx="3703320" cy="1828800"/>
          </a:xfrm>
          <a:prstGeom prst="rect">
            <a:avLst/>
          </a:prstGeom>
          <a:noFill/>
          <a:ln/>
        </p:spPr>
        <p:txBody>
          <a:bodyPr wrap="square" lIns="0" tIns="0" rIns="0" bIns="0" rtlCol="0" anchor="ctr"/>
          <a:lstStyle/>
          <a:p>
            <a:pPr indent="0" marL="0">
              <a:buNone/>
            </a:pPr>
            <a:r>
              <a:rPr lang="en-US" sz="1100" dirty="0">
                <a:solidFill>
                  <a:srgbClr val="0A0E2A"/>
                </a:solidFill>
              </a:rPr>
              <a:t>Sistema con sensor MQ-135 + Arduino que monitorea CO₂, muestra valores en pantalla LCD, activa LED rojo + buzzer al superar el umbral y acciona un relé que controla un extractor de aire.</a:t>
            </a:r>
            <a:endParaRPr lang="en-US" sz="1100" dirty="0"/>
          </a:p>
        </p:txBody>
      </p:sp>
      <p:sp>
        <p:nvSpPr>
          <p:cNvPr id="27" name="Text 25"/>
          <p:cNvSpPr/>
          <p:nvPr/>
        </p:nvSpPr>
        <p:spPr>
          <a:xfrm>
            <a:off x="5074920" y="3017520"/>
            <a:ext cx="3703320" cy="502920"/>
          </a:xfrm>
          <a:prstGeom prst="rect">
            <a:avLst/>
          </a:prstGeom>
          <a:noFill/>
          <a:ln/>
        </p:spPr>
        <p:txBody>
          <a:bodyPr wrap="square" lIns="0" tIns="0" rIns="0" bIns="0" rtlCol="0" anchor="ctr"/>
          <a:lstStyle/>
          <a:p>
            <a:pPr indent="0" marL="0">
              <a:buNone/>
            </a:pPr>
            <a:r>
              <a:rPr lang="en-US" sz="950" i="1" dirty="0">
                <a:solidFill>
                  <a:srgbClr val="0A0E2A"/>
                </a:solidFill>
              </a:rPr>
              <a:t>📷  Sensor MQ-135 conectado a Arduino con display LCD y ventilador controlado por relé</a:t>
            </a:r>
            <a:endParaRPr lang="en-US" sz="950" dirty="0"/>
          </a:p>
        </p:txBody>
      </p:sp>
      <p:sp>
        <p:nvSpPr>
          <p:cNvPr id="28" name="Shape 26"/>
          <p:cNvSpPr/>
          <p:nvPr/>
        </p:nvSpPr>
        <p:spPr>
          <a:xfrm>
            <a:off x="274320" y="3858768"/>
            <a:ext cx="8549640" cy="841248"/>
          </a:xfrm>
          <a:prstGeom prst="roundRect">
            <a:avLst>
              <a:gd name="adj" fmla="val 13043"/>
            </a:avLst>
          </a:prstGeom>
          <a:solidFill>
            <a:srgbClr val="1A2550"/>
          </a:solidFill>
          <a:ln w="15240">
            <a:solidFill>
              <a:srgbClr val="00C896"/>
            </a:solidFill>
            <a:prstDash val="solid"/>
          </a:ln>
        </p:spPr>
      </p:sp>
      <p:sp>
        <p:nvSpPr>
          <p:cNvPr id="29" name="Text 27"/>
          <p:cNvSpPr/>
          <p:nvPr/>
        </p:nvSpPr>
        <p:spPr>
          <a:xfrm>
            <a:off x="457200" y="3858768"/>
            <a:ext cx="8229600" cy="841248"/>
          </a:xfrm>
          <a:prstGeom prst="rect">
            <a:avLst/>
          </a:prstGeom>
          <a:noFill/>
          <a:ln/>
        </p:spPr>
        <p:txBody>
          <a:bodyPr wrap="square" lIns="0" tIns="0" rIns="0" bIns="0" rtlCol="0" anchor="ctr"/>
          <a:lstStyle/>
          <a:p>
            <a:pPr algn="ctr" indent="0" marL="0">
              <a:buNone/>
            </a:pPr>
            <a:r>
              <a:rPr lang="en-US" sz="1200" dirty="0">
                <a:solidFill>
                  <a:srgbClr val="E8EDF5"/>
                </a:solidFill>
              </a:rPr>
              <a:t>¿Qué equipo formuló mejor cada componente?  ·  ¿Cuál se acercó más a la solución real?  ·  ¿Qué mejorarían?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FFB800"/>
          </a:solidFill>
          <a:ln w="12700">
            <a:solidFill>
              <a:srgbClr val="FFB800"/>
            </a:solidFill>
            <a:prstDash val="solid"/>
          </a:ln>
        </p:spPr>
      </p:sp>
      <p:sp>
        <p:nvSpPr>
          <p:cNvPr id="3" name="Text 1"/>
          <p:cNvSpPr/>
          <p:nvPr/>
        </p:nvSpPr>
        <p:spPr>
          <a:xfrm>
            <a:off x="0" y="365760"/>
            <a:ext cx="3474720" cy="2286000"/>
          </a:xfrm>
          <a:prstGeom prst="rect">
            <a:avLst/>
          </a:prstGeom>
          <a:noFill/>
          <a:ln/>
        </p:spPr>
        <p:txBody>
          <a:bodyPr wrap="square" lIns="0" tIns="0" rIns="0" bIns="0" rtlCol="0" anchor="ctr"/>
          <a:lstStyle/>
          <a:p>
            <a:pPr algn="ctr" indent="0" marL="0">
              <a:buNone/>
            </a:pPr>
            <a:r>
              <a:rPr lang="en-US" sz="16000" b="1" dirty="0">
                <a:solidFill>
                  <a:srgbClr val="0A0E2A"/>
                </a:solidFill>
              </a:rPr>
              <a:t>2</a:t>
            </a:r>
            <a:endParaRPr lang="en-US" sz="16000" dirty="0"/>
          </a:p>
        </p:txBody>
      </p:sp>
      <p:sp>
        <p:nvSpPr>
          <p:cNvPr id="4" name="Text 2"/>
          <p:cNvSpPr/>
          <p:nvPr/>
        </p:nvSpPr>
        <p:spPr>
          <a:xfrm>
            <a:off x="0" y="2926080"/>
            <a:ext cx="3474720" cy="502920"/>
          </a:xfrm>
          <a:prstGeom prst="rect">
            <a:avLst/>
          </a:prstGeom>
          <a:noFill/>
          <a:ln/>
        </p:spPr>
        <p:txBody>
          <a:bodyPr wrap="square" lIns="0" tIns="0" rIns="0" bIns="0" rtlCol="0" anchor="ctr"/>
          <a:lstStyle/>
          <a:p>
            <a:pPr algn="ctr" indent="0" marL="0">
              <a:buNone/>
            </a:pPr>
            <a:r>
              <a:rPr lang="en-US" sz="1800" b="1" dirty="0">
                <a:solidFill>
                  <a:srgbClr val="0A0E2A"/>
                </a:solidFill>
              </a:rPr>
              <a:t>P2</a:t>
            </a:r>
            <a:endParaRPr lang="en-US" sz="1800" dirty="0"/>
          </a:p>
        </p:txBody>
      </p:sp>
      <p:sp>
        <p:nvSpPr>
          <p:cNvPr id="5" name="Text 3"/>
          <p:cNvSpPr/>
          <p:nvPr/>
        </p:nvSpPr>
        <p:spPr>
          <a:xfrm>
            <a:off x="91440" y="3429000"/>
            <a:ext cx="3291840" cy="548640"/>
          </a:xfrm>
          <a:prstGeom prst="rect">
            <a:avLst/>
          </a:prstGeom>
          <a:noFill/>
          <a:ln/>
        </p:spPr>
        <p:txBody>
          <a:bodyPr wrap="square" lIns="0" tIns="0" rIns="0" bIns="0" rtlCol="0" anchor="ctr"/>
          <a:lstStyle/>
          <a:p>
            <a:pPr algn="ctr" indent="0" marL="0">
              <a:buNone/>
            </a:pPr>
            <a:r>
              <a:rPr lang="en-US" sz="1000" i="1" dirty="0">
                <a:solidFill>
                  <a:srgbClr val="0A0E2A"/>
                </a:solidFill>
              </a:rPr>
              <a:t>Energías Limpias · Automatización · Eficiencia</a:t>
            </a:r>
            <a:endParaRPr lang="en-US" sz="1000" dirty="0"/>
          </a:p>
        </p:txBody>
      </p:sp>
      <p:sp>
        <p:nvSpPr>
          <p:cNvPr id="6" name="Text 4"/>
          <p:cNvSpPr/>
          <p:nvPr/>
        </p:nvSpPr>
        <p:spPr>
          <a:xfrm>
            <a:off x="3840480" y="411480"/>
            <a:ext cx="5029200" cy="1188720"/>
          </a:xfrm>
          <a:prstGeom prst="rect">
            <a:avLst/>
          </a:prstGeom>
          <a:noFill/>
          <a:ln/>
        </p:spPr>
        <p:txBody>
          <a:bodyPr wrap="square" lIns="0" tIns="0" rIns="0" bIns="0" rtlCol="0" anchor="t"/>
          <a:lstStyle/>
          <a:p>
            <a:pPr indent="0" marL="0">
              <a:buNone/>
            </a:pPr>
            <a:r>
              <a:rPr lang="en-US" sz="2800" b="1" dirty="0">
                <a:solidFill>
                  <a:srgbClr val="FFB800"/>
                </a:solidFill>
              </a:rPr>
              <a:t>Panel Solar con Seguidor de Luz</a:t>
            </a:r>
            <a:endParaRPr lang="en-US" sz="2800" dirty="0"/>
          </a:p>
        </p:txBody>
      </p:sp>
      <p:sp>
        <p:nvSpPr>
          <p:cNvPr id="7" name="Shape 5"/>
          <p:cNvSpPr/>
          <p:nvPr/>
        </p:nvSpPr>
        <p:spPr>
          <a:xfrm>
            <a:off x="3840480" y="1691640"/>
            <a:ext cx="5029200" cy="2011680"/>
          </a:xfrm>
          <a:prstGeom prst="roundRect">
            <a:avLst>
              <a:gd name="adj" fmla="val 5455"/>
            </a:avLst>
          </a:prstGeom>
          <a:solidFill>
            <a:srgbClr val="1A2550"/>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8" name="Text 6"/>
          <p:cNvSpPr/>
          <p:nvPr/>
        </p:nvSpPr>
        <p:spPr>
          <a:xfrm>
            <a:off x="3977640" y="1755648"/>
            <a:ext cx="4754880" cy="274320"/>
          </a:xfrm>
          <a:prstGeom prst="rect">
            <a:avLst/>
          </a:prstGeom>
          <a:noFill/>
          <a:ln/>
        </p:spPr>
        <p:txBody>
          <a:bodyPr wrap="square" lIns="0" tIns="0" rIns="0" bIns="0" rtlCol="0" anchor="ctr"/>
          <a:lstStyle/>
          <a:p>
            <a:pPr indent="0" marL="0">
              <a:buNone/>
            </a:pPr>
            <a:r>
              <a:rPr lang="en-US" sz="950" b="1" dirty="0">
                <a:solidFill>
                  <a:srgbClr val="FFB800"/>
                </a:solidFill>
              </a:rPr>
              <a:t>CONTEXTO DEL PROYECTO</a:t>
            </a:r>
            <a:endParaRPr lang="en-US" sz="950" dirty="0"/>
          </a:p>
        </p:txBody>
      </p:sp>
      <p:sp>
        <p:nvSpPr>
          <p:cNvPr id="9" name="Text 7"/>
          <p:cNvSpPr/>
          <p:nvPr/>
        </p:nvSpPr>
        <p:spPr>
          <a:xfrm>
            <a:off x="3977640" y="2057400"/>
            <a:ext cx="4754880" cy="1554480"/>
          </a:xfrm>
          <a:prstGeom prst="rect">
            <a:avLst/>
          </a:prstGeom>
          <a:noFill/>
          <a:ln/>
        </p:spPr>
        <p:txBody>
          <a:bodyPr wrap="square" lIns="0" tIns="0" rIns="0" bIns="0" rtlCol="0" anchor="ctr"/>
          <a:lstStyle/>
          <a:p>
            <a:pPr indent="0" marL="0">
              <a:buNone/>
            </a:pPr>
            <a:r>
              <a:rPr lang="en-US" sz="1250" dirty="0">
                <a:solidFill>
                  <a:srgbClr val="E8EDF5"/>
                </a:solidFill>
              </a:rPr>
              <a:t>Instalaciones con paneles solares fijos que pierden eficiencia energética porque no siguen la trayectoria del sol.</a:t>
            </a:r>
            <a:endParaRPr lang="en-US" sz="1250" dirty="0"/>
          </a:p>
        </p:txBody>
      </p:sp>
      <p:sp>
        <p:nvSpPr>
          <p:cNvPr id="10" name="Shape 8"/>
          <p:cNvSpPr/>
          <p:nvPr/>
        </p:nvSpPr>
        <p:spPr>
          <a:xfrm>
            <a:off x="3840480" y="3840480"/>
            <a:ext cx="5029200" cy="868680"/>
          </a:xfrm>
          <a:prstGeom prst="roundRect">
            <a:avLst>
              <a:gd name="adj" fmla="val 10526"/>
            </a:avLst>
          </a:prstGeom>
          <a:solidFill>
            <a:srgbClr val="1A2550"/>
          </a:solidFill>
          <a:ln w="12700">
            <a:solidFill>
              <a:srgbClr val="FFB800">
                <a:alpha val="50000"/>
              </a:srgbClr>
            </a:solidFill>
            <a:prstDash val="solid"/>
          </a:ln>
        </p:spPr>
      </p:sp>
      <p:sp>
        <p:nvSpPr>
          <p:cNvPr id="11" name="Text 9"/>
          <p:cNvSpPr/>
          <p:nvPr/>
        </p:nvSpPr>
        <p:spPr>
          <a:xfrm>
            <a:off x="3977640" y="3886200"/>
            <a:ext cx="1097280" cy="274320"/>
          </a:xfrm>
          <a:prstGeom prst="rect">
            <a:avLst/>
          </a:prstGeom>
          <a:noFill/>
          <a:ln/>
        </p:spPr>
        <p:txBody>
          <a:bodyPr wrap="square" lIns="0" tIns="0" rIns="0" bIns="0" rtlCol="0" anchor="ctr"/>
          <a:lstStyle/>
          <a:p>
            <a:pPr indent="0" marL="0">
              <a:buNone/>
            </a:pPr>
            <a:r>
              <a:rPr lang="en-US" sz="900" b="1" dirty="0">
                <a:solidFill>
                  <a:srgbClr val="FFB800"/>
                </a:solidFill>
              </a:rPr>
              <a:t>5 RONDAS:</a:t>
            </a:r>
            <a:endParaRPr lang="en-US" sz="900" dirty="0"/>
          </a:p>
        </p:txBody>
      </p:sp>
      <p:sp>
        <p:nvSpPr>
          <p:cNvPr id="12" name="Shape 10"/>
          <p:cNvSpPr/>
          <p:nvPr/>
        </p:nvSpPr>
        <p:spPr>
          <a:xfrm>
            <a:off x="3977640" y="4187952"/>
            <a:ext cx="868680" cy="411480"/>
          </a:xfrm>
          <a:prstGeom prst="roundRect">
            <a:avLst>
              <a:gd name="adj" fmla="val 15556"/>
            </a:avLst>
          </a:prstGeom>
          <a:solidFill>
            <a:srgbClr val="FFB800">
              <a:alpha val="85000"/>
            </a:srgbClr>
          </a:solidFill>
          <a:ln w="12700">
            <a:solidFill>
              <a:srgbClr val="FFB800"/>
            </a:solidFill>
            <a:prstDash val="solid"/>
          </a:ln>
        </p:spPr>
      </p:sp>
      <p:sp>
        <p:nvSpPr>
          <p:cNvPr id="13" name="Text 11"/>
          <p:cNvSpPr/>
          <p:nvPr/>
        </p:nvSpPr>
        <p:spPr>
          <a:xfrm>
            <a:off x="397764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Prob.</a:t>
            </a:r>
            <a:endParaRPr lang="en-US" sz="750" dirty="0"/>
          </a:p>
          <a:p>
            <a:pPr algn="ctr" indent="0" marL="0">
              <a:buNone/>
            </a:pPr>
            <a:r>
              <a:rPr lang="en-US" sz="750" b="1" dirty="0">
                <a:solidFill>
                  <a:srgbClr val="0A0E2A"/>
                </a:solidFill>
              </a:rPr>
              <a:t>Vago</a:t>
            </a:r>
            <a:endParaRPr lang="en-US" sz="750" dirty="0"/>
          </a:p>
        </p:txBody>
      </p:sp>
      <p:sp>
        <p:nvSpPr>
          <p:cNvPr id="14" name="Shape 12"/>
          <p:cNvSpPr/>
          <p:nvPr/>
        </p:nvSpPr>
        <p:spPr>
          <a:xfrm>
            <a:off x="4937760" y="4187952"/>
            <a:ext cx="868680" cy="411480"/>
          </a:xfrm>
          <a:prstGeom prst="roundRect">
            <a:avLst>
              <a:gd name="adj" fmla="val 15556"/>
            </a:avLst>
          </a:prstGeom>
          <a:solidFill>
            <a:srgbClr val="00D4FF">
              <a:alpha val="85000"/>
            </a:srgbClr>
          </a:solidFill>
          <a:ln w="12700">
            <a:solidFill>
              <a:srgbClr val="00D4FF"/>
            </a:solidFill>
            <a:prstDash val="solid"/>
          </a:ln>
        </p:spPr>
      </p:sp>
      <p:sp>
        <p:nvSpPr>
          <p:cNvPr id="15" name="Text 13"/>
          <p:cNvSpPr/>
          <p:nvPr/>
        </p:nvSpPr>
        <p:spPr>
          <a:xfrm>
            <a:off x="493776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Dispa-</a:t>
            </a:r>
            <a:endParaRPr lang="en-US" sz="750" dirty="0"/>
          </a:p>
          <a:p>
            <a:pPr algn="ctr" indent="0" marL="0">
              <a:buNone/>
            </a:pPr>
            <a:r>
              <a:rPr lang="en-US" sz="750" b="1" dirty="0">
                <a:solidFill>
                  <a:srgbClr val="0A0E2A"/>
                </a:solidFill>
              </a:rPr>
              <a:t>radoras</a:t>
            </a:r>
            <a:endParaRPr lang="en-US" sz="750" dirty="0"/>
          </a:p>
        </p:txBody>
      </p:sp>
      <p:sp>
        <p:nvSpPr>
          <p:cNvPr id="16" name="Shape 14"/>
          <p:cNvSpPr/>
          <p:nvPr/>
        </p:nvSpPr>
        <p:spPr>
          <a:xfrm>
            <a:off x="5897880" y="4187952"/>
            <a:ext cx="868680" cy="411480"/>
          </a:xfrm>
          <a:prstGeom prst="roundRect">
            <a:avLst>
              <a:gd name="adj" fmla="val 15556"/>
            </a:avLst>
          </a:prstGeom>
          <a:solidFill>
            <a:srgbClr val="00C896">
              <a:alpha val="85000"/>
            </a:srgbClr>
          </a:solidFill>
          <a:ln w="12700">
            <a:solidFill>
              <a:srgbClr val="00C896"/>
            </a:solidFill>
            <a:prstDash val="solid"/>
          </a:ln>
        </p:spPr>
      </p:sp>
      <p:sp>
        <p:nvSpPr>
          <p:cNvPr id="17" name="Text 15"/>
          <p:cNvSpPr/>
          <p:nvPr/>
        </p:nvSpPr>
        <p:spPr>
          <a:xfrm>
            <a:off x="589788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4 Comp.</a:t>
            </a:r>
            <a:endParaRPr lang="en-US" sz="750" dirty="0"/>
          </a:p>
          <a:p>
            <a:pPr algn="ctr" indent="0" marL="0">
              <a:buNone/>
            </a:pPr>
            <a:r>
              <a:rPr lang="en-US" sz="750" b="1" dirty="0">
                <a:solidFill>
                  <a:srgbClr val="0A0E2A"/>
                </a:solidFill>
              </a:rPr>
              <a:t>+ Técnico</a:t>
            </a:r>
            <a:endParaRPr lang="en-US" sz="750" dirty="0"/>
          </a:p>
        </p:txBody>
      </p:sp>
      <p:sp>
        <p:nvSpPr>
          <p:cNvPr id="18" name="Shape 16"/>
          <p:cNvSpPr/>
          <p:nvPr/>
        </p:nvSpPr>
        <p:spPr>
          <a:xfrm>
            <a:off x="6858000" y="4187952"/>
            <a:ext cx="868680" cy="411480"/>
          </a:xfrm>
          <a:prstGeom prst="roundRect">
            <a:avLst>
              <a:gd name="adj" fmla="val 15556"/>
            </a:avLst>
          </a:prstGeom>
          <a:solidFill>
            <a:srgbClr val="9B59B6">
              <a:alpha val="85000"/>
            </a:srgbClr>
          </a:solidFill>
          <a:ln w="12700">
            <a:solidFill>
              <a:srgbClr val="9B59B6"/>
            </a:solidFill>
            <a:prstDash val="solid"/>
          </a:ln>
        </p:spPr>
      </p:sp>
      <p:sp>
        <p:nvSpPr>
          <p:cNvPr id="19" name="Text 17"/>
          <p:cNvSpPr/>
          <p:nvPr/>
        </p:nvSpPr>
        <p:spPr>
          <a:xfrm>
            <a:off x="685800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Obje-</a:t>
            </a:r>
            <a:endParaRPr lang="en-US" sz="750" dirty="0"/>
          </a:p>
          <a:p>
            <a:pPr algn="ctr" indent="0" marL="0">
              <a:buNone/>
            </a:pPr>
            <a:r>
              <a:rPr lang="en-US" sz="750" b="1" dirty="0">
                <a:solidFill>
                  <a:srgbClr val="0A0E2A"/>
                </a:solidFill>
              </a:rPr>
              <a:t>tivos</a:t>
            </a:r>
            <a:endParaRPr lang="en-US" sz="750" dirty="0"/>
          </a:p>
        </p:txBody>
      </p:sp>
      <p:sp>
        <p:nvSpPr>
          <p:cNvPr id="20" name="Shape 18"/>
          <p:cNvSpPr/>
          <p:nvPr/>
        </p:nvSpPr>
        <p:spPr>
          <a:xfrm>
            <a:off x="7818120" y="4187952"/>
            <a:ext cx="868680" cy="411480"/>
          </a:xfrm>
          <a:prstGeom prst="roundRect">
            <a:avLst>
              <a:gd name="adj" fmla="val 15556"/>
            </a:avLst>
          </a:prstGeom>
          <a:solidFill>
            <a:srgbClr val="FF4D6A">
              <a:alpha val="85000"/>
            </a:srgbClr>
          </a:solidFill>
          <a:ln w="12700">
            <a:solidFill>
              <a:srgbClr val="FF4D6A"/>
            </a:solidFill>
            <a:prstDash val="solid"/>
          </a:ln>
        </p:spPr>
      </p:sp>
      <p:sp>
        <p:nvSpPr>
          <p:cNvPr id="21" name="Text 19"/>
          <p:cNvSpPr/>
          <p:nvPr/>
        </p:nvSpPr>
        <p:spPr>
          <a:xfrm>
            <a:off x="781812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Solu-</a:t>
            </a:r>
            <a:endParaRPr lang="en-US" sz="750" dirty="0"/>
          </a:p>
          <a:p>
            <a:pPr algn="ctr" indent="0" marL="0">
              <a:buNone/>
            </a:pPr>
            <a:r>
              <a:rPr lang="en-US" sz="750" b="1" dirty="0">
                <a:solidFill>
                  <a:srgbClr val="0A0E2A"/>
                </a:solidFill>
              </a:rPr>
              <a:t>ción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B800"/>
          </a:solidFill>
          <a:ln w="12700">
            <a:solidFill>
              <a:srgbClr val="FFB800"/>
            </a:solidFill>
            <a:prstDash val="solid"/>
          </a:ln>
        </p:spPr>
      </p:sp>
      <p:sp>
        <p:nvSpPr>
          <p:cNvPr id="3" name="Text 1"/>
          <p:cNvSpPr/>
          <p:nvPr/>
        </p:nvSpPr>
        <p:spPr>
          <a:xfrm>
            <a:off x="274320" y="0"/>
            <a:ext cx="6858000" cy="502920"/>
          </a:xfrm>
          <a:prstGeom prst="rect">
            <a:avLst/>
          </a:prstGeom>
          <a:noFill/>
          <a:ln/>
        </p:spPr>
        <p:txBody>
          <a:bodyPr wrap="square" lIns="0" tIns="0" rIns="0" bIns="0" rtlCol="0" anchor="ctr"/>
          <a:lstStyle/>
          <a:p>
            <a:pPr indent="0" marL="0">
              <a:buNone/>
            </a:pPr>
            <a:r>
              <a:rPr lang="en-US" sz="1100" b="1" dirty="0">
                <a:solidFill>
                  <a:srgbClr val="0A0E2A"/>
                </a:solidFill>
              </a:rPr>
              <a:t>PANEL SOLAR CON SEGUIDOR DE LUZ  ·  LEÉ ANTES DE LA RONDA 1</a:t>
            </a:r>
            <a:endParaRPr lang="en-US" sz="1100" dirty="0"/>
          </a:p>
        </p:txBody>
      </p:sp>
      <p:sp>
        <p:nvSpPr>
          <p:cNvPr id="4" name="Shape 2"/>
          <p:cNvSpPr/>
          <p:nvPr/>
        </p:nvSpPr>
        <p:spPr>
          <a:xfrm>
            <a:off x="7863840" y="54864"/>
            <a:ext cx="384048" cy="384048"/>
          </a:xfrm>
          <a:prstGeom prst="ellipse">
            <a:avLst/>
          </a:prstGeom>
          <a:solidFill>
            <a:srgbClr val="0A0E2A"/>
          </a:solidFill>
          <a:ln w="12700">
            <a:solidFill>
              <a:srgbClr val="0A0E2A"/>
            </a:solidFill>
            <a:prstDash val="solid"/>
          </a:ln>
        </p:spPr>
      </p:sp>
      <p:sp>
        <p:nvSpPr>
          <p:cNvPr id="5" name="Text 3"/>
          <p:cNvSpPr/>
          <p:nvPr/>
        </p:nvSpPr>
        <p:spPr>
          <a:xfrm>
            <a:off x="7863840" y="54864"/>
            <a:ext cx="384048" cy="384048"/>
          </a:xfrm>
          <a:prstGeom prst="rect">
            <a:avLst/>
          </a:prstGeom>
          <a:noFill/>
          <a:ln/>
        </p:spPr>
        <p:txBody>
          <a:bodyPr wrap="square" lIns="0" tIns="0" rIns="0" bIns="0" rtlCol="0" anchor="ctr"/>
          <a:lstStyle/>
          <a:p>
            <a:pPr algn="ctr" indent="0" marL="0">
              <a:buNone/>
            </a:pPr>
            <a:r>
              <a:rPr lang="en-US" sz="1300" b="1" dirty="0">
                <a:solidFill>
                  <a:srgbClr val="FFB800"/>
                </a:solidFill>
              </a:rPr>
              <a:t>2</a:t>
            </a:r>
            <a:endParaRPr lang="en-US" sz="1300" dirty="0"/>
          </a:p>
        </p:txBody>
      </p:sp>
      <p:sp>
        <p:nvSpPr>
          <p:cNvPr id="6" name="Shape 4"/>
          <p:cNvSpPr/>
          <p:nvPr/>
        </p:nvSpPr>
        <p:spPr>
          <a:xfrm>
            <a:off x="0" y="502920"/>
            <a:ext cx="2560320" cy="4640580"/>
          </a:xfrm>
          <a:prstGeom prst="rect">
            <a:avLst/>
          </a:prstGeom>
          <a:solidFill>
            <a:srgbClr val="FFB800"/>
          </a:solidFill>
          <a:ln w="12700">
            <a:solidFill>
              <a:srgbClr val="FFB800"/>
            </a:solidFill>
            <a:prstDash val="solid"/>
          </a:ln>
        </p:spPr>
      </p:sp>
      <p:sp>
        <p:nvSpPr>
          <p:cNvPr id="7" name="Text 5"/>
          <p:cNvSpPr/>
          <p:nvPr/>
        </p:nvSpPr>
        <p:spPr>
          <a:xfrm>
            <a:off x="0" y="548640"/>
            <a:ext cx="2560320" cy="2286000"/>
          </a:xfrm>
          <a:prstGeom prst="rect">
            <a:avLst/>
          </a:prstGeom>
          <a:noFill/>
          <a:ln/>
        </p:spPr>
        <p:txBody>
          <a:bodyPr wrap="square" lIns="0" tIns="0" rIns="0" bIns="0" rtlCol="0" anchor="ctr"/>
          <a:lstStyle/>
          <a:p>
            <a:pPr algn="ctr" indent="0" marL="0">
              <a:buNone/>
            </a:pPr>
            <a:r>
              <a:rPr lang="en-US" sz="14000" b="1" dirty="0">
                <a:solidFill>
                  <a:srgbClr val="0A0E2A"/>
                </a:solidFill>
              </a:rPr>
              <a:t>2</a:t>
            </a:r>
            <a:endParaRPr lang="en-US" sz="14000" dirty="0"/>
          </a:p>
        </p:txBody>
      </p:sp>
      <p:sp>
        <p:nvSpPr>
          <p:cNvPr id="8" name="Text 6"/>
          <p:cNvSpPr/>
          <p:nvPr/>
        </p:nvSpPr>
        <p:spPr>
          <a:xfrm>
            <a:off x="91440" y="3108960"/>
            <a:ext cx="2377440" cy="1371600"/>
          </a:xfrm>
          <a:prstGeom prst="rect">
            <a:avLst/>
          </a:prstGeom>
          <a:noFill/>
          <a:ln/>
        </p:spPr>
        <p:txBody>
          <a:bodyPr wrap="square" lIns="0" tIns="0" rIns="0" bIns="0" rtlCol="0" anchor="ctr"/>
          <a:lstStyle/>
          <a:p>
            <a:pPr algn="ctr" indent="0" marL="0">
              <a:buNone/>
            </a:pPr>
            <a:r>
              <a:rPr lang="en-US" sz="1100" b="1" dirty="0">
                <a:solidFill>
                  <a:srgbClr val="0A0E2A"/>
                </a:solidFill>
              </a:rPr>
              <a:t>Energías Limpias</a:t>
            </a:r>
            <a:endParaRPr lang="en-US" sz="1100" dirty="0"/>
          </a:p>
          <a:p>
            <a:pPr algn="ctr" indent="0" marL="0">
              <a:buNone/>
            </a:pPr>
            <a:r>
              <a:rPr lang="en-US" sz="1100" b="1" dirty="0">
                <a:solidFill>
                  <a:srgbClr val="0A0E2A"/>
                </a:solidFill>
              </a:rPr>
              <a:t>Automatización</a:t>
            </a:r>
            <a:endParaRPr lang="en-US" sz="1100" dirty="0"/>
          </a:p>
          <a:p>
            <a:pPr algn="ctr" indent="0" marL="0">
              <a:buNone/>
            </a:pPr>
            <a:r>
              <a:rPr lang="en-US" sz="1100" b="1" dirty="0">
                <a:solidFill>
                  <a:srgbClr val="0A0E2A"/>
                </a:solidFill>
              </a:rPr>
              <a:t>Eficiencia</a:t>
            </a:r>
            <a:endParaRPr lang="en-US" sz="1100" dirty="0"/>
          </a:p>
        </p:txBody>
      </p:sp>
      <p:sp>
        <p:nvSpPr>
          <p:cNvPr id="9" name="Text 7"/>
          <p:cNvSpPr/>
          <p:nvPr/>
        </p:nvSpPr>
        <p:spPr>
          <a:xfrm>
            <a:off x="2926080" y="594360"/>
            <a:ext cx="5943600" cy="868680"/>
          </a:xfrm>
          <a:prstGeom prst="rect">
            <a:avLst/>
          </a:prstGeom>
          <a:noFill/>
          <a:ln/>
        </p:spPr>
        <p:txBody>
          <a:bodyPr wrap="square" lIns="0" tIns="0" rIns="0" bIns="0" rtlCol="0" anchor="t"/>
          <a:lstStyle/>
          <a:p>
            <a:pPr indent="0" marL="0">
              <a:buNone/>
            </a:pPr>
            <a:r>
              <a:rPr lang="en-US" sz="2400" b="1" dirty="0">
                <a:solidFill>
                  <a:srgbClr val="FFB800"/>
                </a:solidFill>
              </a:rPr>
              <a:t>Panel Solar con Seguidor de Luz</a:t>
            </a:r>
            <a:endParaRPr lang="en-US" sz="2400" dirty="0"/>
          </a:p>
        </p:txBody>
      </p:sp>
      <p:sp>
        <p:nvSpPr>
          <p:cNvPr id="10" name="Shape 8"/>
          <p:cNvSpPr/>
          <p:nvPr/>
        </p:nvSpPr>
        <p:spPr>
          <a:xfrm>
            <a:off x="2834640" y="1572768"/>
            <a:ext cx="6035040" cy="1920240"/>
          </a:xfrm>
          <a:prstGeom prst="roundRect">
            <a:avLst>
              <a:gd name="adj" fmla="val 5714"/>
            </a:avLst>
          </a:prstGeom>
          <a:solidFill>
            <a:srgbClr val="0A0E2A"/>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3017520" y="1645920"/>
            <a:ext cx="5669280" cy="256032"/>
          </a:xfrm>
          <a:prstGeom prst="rect">
            <a:avLst/>
          </a:prstGeom>
          <a:noFill/>
          <a:ln/>
        </p:spPr>
        <p:txBody>
          <a:bodyPr wrap="square" lIns="0" tIns="0" rIns="0" bIns="0" rtlCol="0" anchor="ctr"/>
          <a:lstStyle/>
          <a:p>
            <a:pPr indent="0" marL="0">
              <a:buNone/>
            </a:pPr>
            <a:r>
              <a:rPr lang="en-US" sz="950" b="1" dirty="0">
                <a:solidFill>
                  <a:srgbClr val="FFB800"/>
                </a:solidFill>
              </a:rPr>
              <a:t>LA SITUACIÓN</a:t>
            </a:r>
            <a:endParaRPr lang="en-US" sz="950" dirty="0"/>
          </a:p>
        </p:txBody>
      </p:sp>
      <p:sp>
        <p:nvSpPr>
          <p:cNvPr id="12" name="Text 10"/>
          <p:cNvSpPr/>
          <p:nvPr/>
        </p:nvSpPr>
        <p:spPr>
          <a:xfrm>
            <a:off x="3017520" y="1938528"/>
            <a:ext cx="5669280" cy="1463040"/>
          </a:xfrm>
          <a:prstGeom prst="rect">
            <a:avLst/>
          </a:prstGeom>
          <a:noFill/>
          <a:ln/>
        </p:spPr>
        <p:txBody>
          <a:bodyPr wrap="square" lIns="0" tIns="0" rIns="0" bIns="0" rtlCol="0" anchor="ctr"/>
          <a:lstStyle/>
          <a:p>
            <a:pPr indent="0" marL="0">
              <a:lnSpc>
                <a:spcPct val="115000"/>
              </a:lnSpc>
              <a:buNone/>
            </a:pPr>
            <a:r>
              <a:rPr lang="en-US" sz="1250" dirty="0">
                <a:solidFill>
                  <a:srgbClr val="E8EDF5"/>
                </a:solidFill>
              </a:rPr>
              <a:t>Una instalación de paneles solares produce energía durante el día, pero el sol no se queda quieto — se mueve de este a oeste. Un panel fijo apunta bien solo en un momento del día; el resto del tiempo capta menos de lo que podría. Esa pérdida pasa todos los días, en silencio, sin que nadie la note.</a:t>
            </a:r>
            <a:endParaRPr lang="en-US" sz="1250" dirty="0"/>
          </a:p>
        </p:txBody>
      </p:sp>
      <p:sp>
        <p:nvSpPr>
          <p:cNvPr id="13" name="Shape 11"/>
          <p:cNvSpPr/>
          <p:nvPr/>
        </p:nvSpPr>
        <p:spPr>
          <a:xfrm>
            <a:off x="2834640" y="3611880"/>
            <a:ext cx="6035040" cy="594360"/>
          </a:xfrm>
          <a:prstGeom prst="roundRect">
            <a:avLst>
              <a:gd name="adj" fmla="val 15385"/>
            </a:avLst>
          </a:prstGeom>
          <a:solidFill>
            <a:srgbClr val="FFFFFF"/>
          </a:solidFill>
          <a:ln w="12700">
            <a:solidFill>
              <a:srgbClr val="FFB800">
                <a:alpha val="50000"/>
              </a:srgbClr>
            </a:solidFill>
            <a:prstDash val="solid"/>
          </a:ln>
        </p:spPr>
      </p:sp>
      <p:sp>
        <p:nvSpPr>
          <p:cNvPr id="14" name="Text 12"/>
          <p:cNvSpPr/>
          <p:nvPr/>
        </p:nvSpPr>
        <p:spPr>
          <a:xfrm>
            <a:off x="2999232" y="3611880"/>
            <a:ext cx="1005840" cy="594360"/>
          </a:xfrm>
          <a:prstGeom prst="rect">
            <a:avLst/>
          </a:prstGeom>
          <a:noFill/>
          <a:ln/>
        </p:spPr>
        <p:txBody>
          <a:bodyPr wrap="square" lIns="0" tIns="0" rIns="0" bIns="0" rtlCol="0" anchor="ctr"/>
          <a:lstStyle/>
          <a:p>
            <a:pPr indent="0" marL="0">
              <a:buNone/>
            </a:pPr>
            <a:r>
              <a:rPr lang="en-US" sz="950" b="1" dirty="0">
                <a:solidFill>
                  <a:srgbClr val="FFB800"/>
                </a:solidFill>
              </a:rPr>
              <a:t>CONTEXTO:</a:t>
            </a:r>
            <a:endParaRPr lang="en-US" sz="950" dirty="0"/>
          </a:p>
        </p:txBody>
      </p:sp>
      <p:sp>
        <p:nvSpPr>
          <p:cNvPr id="15" name="Text 13"/>
          <p:cNvSpPr/>
          <p:nvPr/>
        </p:nvSpPr>
        <p:spPr>
          <a:xfrm>
            <a:off x="4041648" y="3611880"/>
            <a:ext cx="4736592" cy="594360"/>
          </a:xfrm>
          <a:prstGeom prst="rect">
            <a:avLst/>
          </a:prstGeom>
          <a:noFill/>
          <a:ln/>
        </p:spPr>
        <p:txBody>
          <a:bodyPr wrap="square" lIns="0" tIns="0" rIns="0" bIns="0" rtlCol="0" anchor="ctr"/>
          <a:lstStyle/>
          <a:p>
            <a:pPr indent="0" marL="0">
              <a:buNone/>
            </a:pPr>
            <a:r>
              <a:rPr lang="en-US" sz="1100" dirty="0">
                <a:solidFill>
                  <a:srgbClr val="2E3A5C"/>
                </a:solidFill>
              </a:rPr>
              <a:t>Instalaciones con paneles solares fijos que pierden eficiencia energética porque no siguen la trayectoria del sol.</a:t>
            </a:r>
            <a:endParaRPr lang="en-US" sz="1100" dirty="0"/>
          </a:p>
        </p:txBody>
      </p:sp>
      <p:sp>
        <p:nvSpPr>
          <p:cNvPr id="16" name="Shape 14"/>
          <p:cNvSpPr/>
          <p:nvPr/>
        </p:nvSpPr>
        <p:spPr>
          <a:xfrm>
            <a:off x="2834640" y="4325112"/>
            <a:ext cx="6035040" cy="594360"/>
          </a:xfrm>
          <a:prstGeom prst="roundRect">
            <a:avLst>
              <a:gd name="adj" fmla="val 15385"/>
            </a:avLst>
          </a:prstGeom>
          <a:solidFill>
            <a:srgbClr val="FFB800">
              <a:alpha val="92000"/>
            </a:srgbClr>
          </a:solidFill>
          <a:ln w="12700">
            <a:solidFill>
              <a:srgbClr val="FFB800"/>
            </a:solidFill>
            <a:prstDash val="solid"/>
          </a:ln>
        </p:spPr>
      </p:sp>
      <p:sp>
        <p:nvSpPr>
          <p:cNvPr id="17" name="Text 15"/>
          <p:cNvSpPr/>
          <p:nvPr/>
        </p:nvSpPr>
        <p:spPr>
          <a:xfrm>
            <a:off x="2971800" y="4325112"/>
            <a:ext cx="5806440" cy="594360"/>
          </a:xfrm>
          <a:prstGeom prst="rect">
            <a:avLst/>
          </a:prstGeom>
          <a:noFill/>
          <a:ln/>
        </p:spPr>
        <p:txBody>
          <a:bodyPr wrap="square" lIns="0" tIns="0" rIns="0" bIns="0" rtlCol="0" anchor="ctr"/>
          <a:lstStyle/>
          <a:p>
            <a:pPr indent="0" marL="0">
              <a:buNone/>
            </a:pPr>
            <a:r>
              <a:rPr lang="en-US" sz="1200" b="1" dirty="0">
                <a:solidFill>
                  <a:srgbClr val="0A0E2A"/>
                </a:solidFill>
              </a:rPr>
              <a:t>❓  ¿Qué problema hay acá? — Escriban su respuesta en Ronda 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B800"/>
          </a:solidFill>
          <a:ln w="12700">
            <a:solidFill>
              <a:srgbClr val="FFB800"/>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PANEL SOLAR CON SEGUIDOR DE LUZ  ·  RONDA 1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B800"/>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B800"/>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B800"/>
                </a:solidFill>
              </a:rPr>
              <a:t>RONDA 1</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B800"/>
                </a:solidFill>
              </a:rPr>
              <a:t>PROBLEMA VAGO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B800"/>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Lean la slide anterior. Escriban en UNA oración el problema vago que da origen a esta solución.</a:t>
            </a:r>
            <a:endParaRPr lang="en-US" sz="1300" dirty="0"/>
          </a:p>
          <a:p>
            <a:pPr indent="0" marL="0">
              <a:buNone/>
            </a:pPr>
            <a:r>
              <a:rPr lang="en-US" sz="1300" dirty="0">
                <a:solidFill>
                  <a:srgbClr val="E8EDF5"/>
                </a:solidFill>
              </a:rPr>
              <a:t>No técnico. Como lo diría alguien en la calle.</a:t>
            </a:r>
            <a:endParaRPr lang="en-US" sz="1300" dirty="0"/>
          </a:p>
        </p:txBody>
      </p:sp>
      <p:sp>
        <p:nvSpPr>
          <p:cNvPr id="10" name="Shape 8"/>
          <p:cNvSpPr/>
          <p:nvPr/>
        </p:nvSpPr>
        <p:spPr>
          <a:xfrm>
            <a:off x="365760" y="2606040"/>
            <a:ext cx="8412480" cy="2194560"/>
          </a:xfrm>
          <a:prstGeom prst="roundRect">
            <a:avLst>
              <a:gd name="adj" fmla="val 5000"/>
            </a:avLst>
          </a:prstGeom>
          <a:solidFill>
            <a:srgbClr val="1A2550"/>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548640" y="2670048"/>
            <a:ext cx="8046720" cy="274320"/>
          </a:xfrm>
          <a:prstGeom prst="rect">
            <a:avLst/>
          </a:prstGeom>
          <a:noFill/>
          <a:ln/>
        </p:spPr>
        <p:txBody>
          <a:bodyPr wrap="square" lIns="0" tIns="0" rIns="0" bIns="0" rtlCol="0" anchor="ctr"/>
          <a:lstStyle/>
          <a:p>
            <a:pPr indent="0" marL="0">
              <a:buNone/>
            </a:pPr>
            <a:r>
              <a:rPr lang="en-US" sz="1000" b="1" dirty="0">
                <a:solidFill>
                  <a:srgbClr val="FFB800"/>
                </a:solidFill>
              </a:rPr>
              <a:t>PISTA — ¿Cómo lo diría alguien sin conocimiento técnico?</a:t>
            </a:r>
            <a:endParaRPr lang="en-US" sz="1000" dirty="0"/>
          </a:p>
        </p:txBody>
      </p:sp>
      <p:sp>
        <p:nvSpPr>
          <p:cNvPr id="12" name="Text 10"/>
          <p:cNvSpPr/>
          <p:nvPr/>
        </p:nvSpPr>
        <p:spPr>
          <a:xfrm>
            <a:off x="548640" y="2999232"/>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NO: 'La diferencia entre sensores LDR supera 50 unidades' — eso es técnico, no vago.</a:t>
            </a:r>
            <a:endParaRPr lang="en-US" sz="1100" dirty="0"/>
          </a:p>
        </p:txBody>
      </p:sp>
      <p:sp>
        <p:nvSpPr>
          <p:cNvPr id="13" name="Text 11"/>
          <p:cNvSpPr/>
          <p:nvPr/>
        </p:nvSpPr>
        <p:spPr>
          <a:xfrm>
            <a:off x="548640" y="3291840"/>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SÍ: 'Los paneles solares de la escuela no aprovechan bien el sol cuando se mueve en el cielo.'</a:t>
            </a:r>
            <a:endParaRPr lang="en-US" sz="1100" dirty="0"/>
          </a:p>
        </p:txBody>
      </p:sp>
      <p:sp>
        <p:nvSpPr>
          <p:cNvPr id="14" name="Shape 12"/>
          <p:cNvSpPr/>
          <p:nvPr/>
        </p:nvSpPr>
        <p:spPr>
          <a:xfrm>
            <a:off x="548640" y="3657600"/>
            <a:ext cx="8046720" cy="457200"/>
          </a:xfrm>
          <a:prstGeom prst="roundRect">
            <a:avLst>
              <a:gd name="adj" fmla="val 16000"/>
            </a:avLst>
          </a:prstGeom>
          <a:solidFill>
            <a:srgbClr val="FFB800">
              <a:alpha val="88000"/>
            </a:srgbClr>
          </a:solidFill>
          <a:ln w="12700">
            <a:solidFill>
              <a:srgbClr val="FFB800"/>
            </a:solidFill>
            <a:prstDash val="solid"/>
          </a:ln>
        </p:spPr>
      </p:sp>
      <p:sp>
        <p:nvSpPr>
          <p:cNvPr id="15" name="Text 13"/>
          <p:cNvSpPr/>
          <p:nvPr/>
        </p:nvSpPr>
        <p:spPr>
          <a:xfrm>
            <a:off x="685800" y="3657600"/>
            <a:ext cx="7772400" cy="457200"/>
          </a:xfrm>
          <a:prstGeom prst="rect">
            <a:avLst/>
          </a:prstGeom>
          <a:noFill/>
          <a:ln/>
        </p:spPr>
        <p:txBody>
          <a:bodyPr wrap="square" lIns="0" tIns="0" rIns="0" bIns="0" rtlCol="0" anchor="ctr"/>
          <a:lstStyle/>
          <a:p>
            <a:pPr indent="0" marL="0">
              <a:buNone/>
            </a:pPr>
            <a:r>
              <a:rPr lang="en-US" sz="1200" b="1" dirty="0">
                <a:solidFill>
                  <a:srgbClr val="0A0E2A"/>
                </a:solidFill>
              </a:rPr>
              <a:t>✍  Escriban su problema vago. Comparten al terminar el tiempo.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B800"/>
          </a:solidFill>
          <a:ln w="12700">
            <a:solidFill>
              <a:srgbClr val="FFB800"/>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PANEL SOLAR CON SEGUIDOR DE LUZ  ·  RONDA 2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D4FF"/>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D4FF"/>
                </a:solidFill>
              </a:rPr>
              <a:t>⏱  4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D4FF"/>
                </a:solidFill>
              </a:rPr>
              <a:t>RONDA 2</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PREGUNTAS DISPARADORAS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00D4FF"/>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Formulen UNA pregunta disparadora para cada tipo:</a:t>
            </a:r>
            <a:endParaRPr lang="en-US" sz="1300" dirty="0"/>
          </a:p>
          <a:p>
            <a:pPr indent="0" marL="0">
              <a:buNone/>
            </a:pPr>
            <a:r>
              <a:rPr lang="en-US" sz="1300" dirty="0">
                <a:solidFill>
                  <a:srgbClr val="0A0E2A"/>
                </a:solidFill>
              </a:rPr>
              <a:t>¿Cómo...? · ¿Por qué...? · ¿Para qué...? · ¿Qué harías...?</a:t>
            </a:r>
            <a:endParaRPr lang="en-US" sz="1300" dirty="0"/>
          </a:p>
        </p:txBody>
      </p:sp>
      <p:sp>
        <p:nvSpPr>
          <p:cNvPr id="10" name="Shape 8"/>
          <p:cNvSpPr/>
          <p:nvPr/>
        </p:nvSpPr>
        <p:spPr>
          <a:xfrm>
            <a:off x="365760" y="2578608"/>
            <a:ext cx="4160520" cy="1078992"/>
          </a:xfrm>
          <a:prstGeom prst="roundRect">
            <a:avLst>
              <a:gd name="adj" fmla="val 8475"/>
            </a:avLst>
          </a:prstGeom>
          <a:solidFill>
            <a:srgbClr val="FFFFFF"/>
          </a:solidFill>
          <a:ln w="19050">
            <a:solidFill>
              <a:srgbClr val="00D4FF"/>
            </a:solidFill>
            <a:prstDash val="solid"/>
          </a:ln>
          <a:effectLst>
            <a:outerShdw sx="100000" sy="100000" kx="0" ky="0" algn="bl" rotWithShape="0" blurRad="127000" dist="38100" dir="2700000">
              <a:srgbClr val="000000">
                <a:alpha val="18000"/>
              </a:srgbClr>
            </a:outerShdw>
          </a:effectLst>
        </p:spPr>
      </p:sp>
      <p:sp>
        <p:nvSpPr>
          <p:cNvPr id="11" name="Shape 9"/>
          <p:cNvSpPr/>
          <p:nvPr/>
        </p:nvSpPr>
        <p:spPr>
          <a:xfrm>
            <a:off x="457200" y="2670048"/>
            <a:ext cx="1371600" cy="292608"/>
          </a:xfrm>
          <a:prstGeom prst="roundRect">
            <a:avLst>
              <a:gd name="adj" fmla="val 15625"/>
            </a:avLst>
          </a:prstGeom>
          <a:solidFill>
            <a:srgbClr val="00D4FF">
              <a:alpha val="90000"/>
            </a:srgbClr>
          </a:solidFill>
          <a:ln w="12700">
            <a:solidFill>
              <a:srgbClr val="00D4FF"/>
            </a:solidFill>
            <a:prstDash val="solid"/>
          </a:ln>
        </p:spPr>
      </p:sp>
      <p:sp>
        <p:nvSpPr>
          <p:cNvPr id="12" name="Text 10"/>
          <p:cNvSpPr/>
          <p:nvPr/>
        </p:nvSpPr>
        <p:spPr>
          <a:xfrm>
            <a:off x="4572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¿Cómo...?</a:t>
            </a:r>
            <a:endParaRPr lang="en-US" sz="1100" dirty="0"/>
          </a:p>
        </p:txBody>
      </p:sp>
      <p:sp>
        <p:nvSpPr>
          <p:cNvPr id="13" name="Text 11"/>
          <p:cNvSpPr/>
          <p:nvPr/>
        </p:nvSpPr>
        <p:spPr>
          <a:xfrm>
            <a:off x="19202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Busca crear un proceso o solución</a:t>
            </a:r>
            <a:endParaRPr lang="en-US" sz="950" dirty="0"/>
          </a:p>
        </p:txBody>
      </p:sp>
      <p:sp>
        <p:nvSpPr>
          <p:cNvPr id="14" name="Shape 12"/>
          <p:cNvSpPr/>
          <p:nvPr/>
        </p:nvSpPr>
        <p:spPr>
          <a:xfrm>
            <a:off x="457200" y="3035808"/>
            <a:ext cx="3886200" cy="502920"/>
          </a:xfrm>
          <a:prstGeom prst="roundRect">
            <a:avLst>
              <a:gd name="adj" fmla="val 10909"/>
            </a:avLst>
          </a:prstGeom>
          <a:solidFill>
            <a:srgbClr val="00D4FF">
              <a:alpha val="8000"/>
            </a:srgbClr>
          </a:solidFill>
          <a:ln w="12700">
            <a:solidFill>
              <a:srgbClr val="00D4FF">
                <a:alpha val="40000"/>
              </a:srgbClr>
            </a:solidFill>
            <a:prstDash val="solid"/>
          </a:ln>
        </p:spPr>
      </p:sp>
      <p:sp>
        <p:nvSpPr>
          <p:cNvPr id="15" name="Text 13"/>
          <p:cNvSpPr/>
          <p:nvPr/>
        </p:nvSpPr>
        <p:spPr>
          <a:xfrm>
            <a:off x="5486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16" name="Shape 14"/>
          <p:cNvSpPr/>
          <p:nvPr/>
        </p:nvSpPr>
        <p:spPr>
          <a:xfrm>
            <a:off x="4709160" y="2578608"/>
            <a:ext cx="4160520" cy="1078992"/>
          </a:xfrm>
          <a:prstGeom prst="roundRect">
            <a:avLst>
              <a:gd name="adj" fmla="val 8475"/>
            </a:avLst>
          </a:prstGeom>
          <a:solidFill>
            <a:srgbClr val="FFFFFF"/>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7" name="Shape 15"/>
          <p:cNvSpPr/>
          <p:nvPr/>
        </p:nvSpPr>
        <p:spPr>
          <a:xfrm>
            <a:off x="4800600" y="2670048"/>
            <a:ext cx="1371600" cy="292608"/>
          </a:xfrm>
          <a:prstGeom prst="roundRect">
            <a:avLst>
              <a:gd name="adj" fmla="val 15625"/>
            </a:avLst>
          </a:prstGeom>
          <a:solidFill>
            <a:srgbClr val="FFB800">
              <a:alpha val="90000"/>
            </a:srgbClr>
          </a:solidFill>
          <a:ln w="12700">
            <a:solidFill>
              <a:srgbClr val="FFB800"/>
            </a:solidFill>
            <a:prstDash val="solid"/>
          </a:ln>
        </p:spPr>
      </p:sp>
      <p:sp>
        <p:nvSpPr>
          <p:cNvPr id="18" name="Text 16"/>
          <p:cNvSpPr/>
          <p:nvPr/>
        </p:nvSpPr>
        <p:spPr>
          <a:xfrm>
            <a:off x="48006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¿Por qué...?</a:t>
            </a:r>
            <a:endParaRPr lang="en-US" sz="1100" dirty="0"/>
          </a:p>
        </p:txBody>
      </p:sp>
      <p:sp>
        <p:nvSpPr>
          <p:cNvPr id="19" name="Text 17"/>
          <p:cNvSpPr/>
          <p:nvPr/>
        </p:nvSpPr>
        <p:spPr>
          <a:xfrm>
            <a:off x="62636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Investiga causas</a:t>
            </a:r>
            <a:endParaRPr lang="en-US" sz="950" dirty="0"/>
          </a:p>
        </p:txBody>
      </p:sp>
      <p:sp>
        <p:nvSpPr>
          <p:cNvPr id="20" name="Shape 18"/>
          <p:cNvSpPr/>
          <p:nvPr/>
        </p:nvSpPr>
        <p:spPr>
          <a:xfrm>
            <a:off x="4800600" y="3035808"/>
            <a:ext cx="3886200" cy="502920"/>
          </a:xfrm>
          <a:prstGeom prst="roundRect">
            <a:avLst>
              <a:gd name="adj" fmla="val 10909"/>
            </a:avLst>
          </a:prstGeom>
          <a:solidFill>
            <a:srgbClr val="FFB800">
              <a:alpha val="8000"/>
            </a:srgbClr>
          </a:solidFill>
          <a:ln w="12700">
            <a:solidFill>
              <a:srgbClr val="FFB800">
                <a:alpha val="40000"/>
              </a:srgbClr>
            </a:solidFill>
            <a:prstDash val="solid"/>
          </a:ln>
        </p:spPr>
      </p:sp>
      <p:sp>
        <p:nvSpPr>
          <p:cNvPr id="21" name="Text 19"/>
          <p:cNvSpPr/>
          <p:nvPr/>
        </p:nvSpPr>
        <p:spPr>
          <a:xfrm>
            <a:off x="48920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2" name="Shape 20"/>
          <p:cNvSpPr/>
          <p:nvPr/>
        </p:nvSpPr>
        <p:spPr>
          <a:xfrm>
            <a:off x="365760" y="3749040"/>
            <a:ext cx="4160520" cy="1078992"/>
          </a:xfrm>
          <a:prstGeom prst="roundRect">
            <a:avLst>
              <a:gd name="adj" fmla="val 8475"/>
            </a:avLst>
          </a:prstGeom>
          <a:solidFill>
            <a:srgbClr val="FFFFFF"/>
          </a:solidFill>
          <a:ln w="19050">
            <a:solidFill>
              <a:srgbClr val="00C896"/>
            </a:solidFill>
            <a:prstDash val="solid"/>
          </a:ln>
          <a:effectLst>
            <a:outerShdw sx="100000" sy="100000" kx="0" ky="0" algn="bl" rotWithShape="0" blurRad="127000" dist="38100" dir="2700000">
              <a:srgbClr val="000000">
                <a:alpha val="18000"/>
              </a:srgbClr>
            </a:outerShdw>
          </a:effectLst>
        </p:spPr>
      </p:sp>
      <p:sp>
        <p:nvSpPr>
          <p:cNvPr id="23" name="Shape 21"/>
          <p:cNvSpPr/>
          <p:nvPr/>
        </p:nvSpPr>
        <p:spPr>
          <a:xfrm>
            <a:off x="457200" y="3840480"/>
            <a:ext cx="1371600" cy="292608"/>
          </a:xfrm>
          <a:prstGeom prst="roundRect">
            <a:avLst>
              <a:gd name="adj" fmla="val 15625"/>
            </a:avLst>
          </a:prstGeom>
          <a:solidFill>
            <a:srgbClr val="00C896">
              <a:alpha val="90000"/>
            </a:srgbClr>
          </a:solidFill>
          <a:ln w="12700">
            <a:solidFill>
              <a:srgbClr val="00C896"/>
            </a:solidFill>
            <a:prstDash val="solid"/>
          </a:ln>
        </p:spPr>
      </p:sp>
      <p:sp>
        <p:nvSpPr>
          <p:cNvPr id="24" name="Text 22"/>
          <p:cNvSpPr/>
          <p:nvPr/>
        </p:nvSpPr>
        <p:spPr>
          <a:xfrm>
            <a:off x="4572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¿Para qué...?</a:t>
            </a:r>
            <a:endParaRPr lang="en-US" sz="1100" dirty="0"/>
          </a:p>
        </p:txBody>
      </p:sp>
      <p:sp>
        <p:nvSpPr>
          <p:cNvPr id="25" name="Text 23"/>
          <p:cNvSpPr/>
          <p:nvPr/>
        </p:nvSpPr>
        <p:spPr>
          <a:xfrm>
            <a:off x="19202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Explora el propósito</a:t>
            </a:r>
            <a:endParaRPr lang="en-US" sz="950" dirty="0"/>
          </a:p>
        </p:txBody>
      </p:sp>
      <p:sp>
        <p:nvSpPr>
          <p:cNvPr id="26" name="Shape 24"/>
          <p:cNvSpPr/>
          <p:nvPr/>
        </p:nvSpPr>
        <p:spPr>
          <a:xfrm>
            <a:off x="457200" y="4206240"/>
            <a:ext cx="3886200" cy="502920"/>
          </a:xfrm>
          <a:prstGeom prst="roundRect">
            <a:avLst>
              <a:gd name="adj" fmla="val 10909"/>
            </a:avLst>
          </a:prstGeom>
          <a:solidFill>
            <a:srgbClr val="00C896">
              <a:alpha val="8000"/>
            </a:srgbClr>
          </a:solidFill>
          <a:ln w="12700">
            <a:solidFill>
              <a:srgbClr val="00C896">
                <a:alpha val="40000"/>
              </a:srgbClr>
            </a:solidFill>
            <a:prstDash val="solid"/>
          </a:ln>
        </p:spPr>
      </p:sp>
      <p:sp>
        <p:nvSpPr>
          <p:cNvPr id="27" name="Text 25"/>
          <p:cNvSpPr/>
          <p:nvPr/>
        </p:nvSpPr>
        <p:spPr>
          <a:xfrm>
            <a:off x="5486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8" name="Shape 26"/>
          <p:cNvSpPr/>
          <p:nvPr/>
        </p:nvSpPr>
        <p:spPr>
          <a:xfrm>
            <a:off x="4709160" y="3749040"/>
            <a:ext cx="4160520" cy="1078992"/>
          </a:xfrm>
          <a:prstGeom prst="roundRect">
            <a:avLst>
              <a:gd name="adj" fmla="val 8475"/>
            </a:avLst>
          </a:prstGeom>
          <a:solidFill>
            <a:srgbClr val="FFFFFF"/>
          </a:solidFill>
          <a:ln w="19050">
            <a:solidFill>
              <a:srgbClr val="9B59B6"/>
            </a:solidFill>
            <a:prstDash val="solid"/>
          </a:ln>
          <a:effectLst>
            <a:outerShdw sx="100000" sy="100000" kx="0" ky="0" algn="bl" rotWithShape="0" blurRad="127000" dist="38100" dir="2700000">
              <a:srgbClr val="000000">
                <a:alpha val="18000"/>
              </a:srgbClr>
            </a:outerShdw>
          </a:effectLst>
        </p:spPr>
      </p:sp>
      <p:sp>
        <p:nvSpPr>
          <p:cNvPr id="29" name="Shape 27"/>
          <p:cNvSpPr/>
          <p:nvPr/>
        </p:nvSpPr>
        <p:spPr>
          <a:xfrm>
            <a:off x="4800600" y="3840480"/>
            <a:ext cx="1371600" cy="292608"/>
          </a:xfrm>
          <a:prstGeom prst="roundRect">
            <a:avLst>
              <a:gd name="adj" fmla="val 15625"/>
            </a:avLst>
          </a:prstGeom>
          <a:solidFill>
            <a:srgbClr val="9B59B6">
              <a:alpha val="90000"/>
            </a:srgbClr>
          </a:solidFill>
          <a:ln w="12700">
            <a:solidFill>
              <a:srgbClr val="9B59B6"/>
            </a:solidFill>
            <a:prstDash val="solid"/>
          </a:ln>
        </p:spPr>
      </p:sp>
      <p:sp>
        <p:nvSpPr>
          <p:cNvPr id="30" name="Text 28"/>
          <p:cNvSpPr/>
          <p:nvPr/>
        </p:nvSpPr>
        <p:spPr>
          <a:xfrm>
            <a:off x="48006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¿Qué harías...?</a:t>
            </a:r>
            <a:endParaRPr lang="en-US" sz="1100" dirty="0"/>
          </a:p>
        </p:txBody>
      </p:sp>
      <p:sp>
        <p:nvSpPr>
          <p:cNvPr id="31" name="Text 29"/>
          <p:cNvSpPr/>
          <p:nvPr/>
        </p:nvSpPr>
        <p:spPr>
          <a:xfrm>
            <a:off x="62636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Imagina soluciones</a:t>
            </a:r>
            <a:endParaRPr lang="en-US" sz="950" dirty="0"/>
          </a:p>
        </p:txBody>
      </p:sp>
      <p:sp>
        <p:nvSpPr>
          <p:cNvPr id="32" name="Shape 30"/>
          <p:cNvSpPr/>
          <p:nvPr/>
        </p:nvSpPr>
        <p:spPr>
          <a:xfrm>
            <a:off x="4800600" y="4206240"/>
            <a:ext cx="3886200" cy="502920"/>
          </a:xfrm>
          <a:prstGeom prst="roundRect">
            <a:avLst>
              <a:gd name="adj" fmla="val 10909"/>
            </a:avLst>
          </a:prstGeom>
          <a:solidFill>
            <a:srgbClr val="9B59B6">
              <a:alpha val="8000"/>
            </a:srgbClr>
          </a:solidFill>
          <a:ln w="12700">
            <a:solidFill>
              <a:srgbClr val="9B59B6">
                <a:alpha val="40000"/>
              </a:srgbClr>
            </a:solidFill>
            <a:prstDash val="solid"/>
          </a:ln>
        </p:spPr>
      </p:sp>
      <p:sp>
        <p:nvSpPr>
          <p:cNvPr id="33" name="Text 31"/>
          <p:cNvSpPr/>
          <p:nvPr/>
        </p:nvSpPr>
        <p:spPr>
          <a:xfrm>
            <a:off x="48920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B800"/>
          </a:solidFill>
          <a:ln w="12700">
            <a:solidFill>
              <a:srgbClr val="FFB800"/>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PANEL SOLAR CON SEGUIDOR DE LUZ  ·  RONDA 3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C89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C896"/>
                </a:solidFill>
              </a:rPr>
              <a:t>⏱  6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C896"/>
                </a:solidFill>
              </a:rPr>
              <a:t>RONDA 3</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0C896"/>
                </a:solidFill>
              </a:rPr>
              <a:t>4 COMPONENTES + PROBLEMA TÉCNICO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00C89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Identifiquen: CONTEXTO · VARIABLE · PUNTO DE QUIEBRE</a:t>
            </a:r>
            <a:endParaRPr lang="en-US" sz="1300" dirty="0"/>
          </a:p>
          <a:p>
            <a:pPr indent="0" marL="0">
              <a:buNone/>
            </a:pPr>
            <a:r>
              <a:rPr lang="en-US" sz="1300" dirty="0">
                <a:solidFill>
                  <a:srgbClr val="E8EDF5"/>
                </a:solidFill>
              </a:rPr>
              <a:t>Luego enuncien el PROBLEMA TÉCNICO en una sola oración sin adjetivos subjetivos.</a:t>
            </a:r>
            <a:endParaRPr lang="en-US" sz="1300" dirty="0"/>
          </a:p>
        </p:txBody>
      </p:sp>
      <p:sp>
        <p:nvSpPr>
          <p:cNvPr id="10" name="Shape 8"/>
          <p:cNvSpPr/>
          <p:nvPr/>
        </p:nvSpPr>
        <p:spPr>
          <a:xfrm>
            <a:off x="365760" y="2578608"/>
            <a:ext cx="8412480" cy="530352"/>
          </a:xfrm>
          <a:prstGeom prst="roundRect">
            <a:avLst>
              <a:gd name="adj" fmla="val 13793"/>
            </a:avLst>
          </a:prstGeom>
          <a:solidFill>
            <a:srgbClr val="1A2550"/>
          </a:solidFill>
          <a:ln w="19050">
            <a:solidFill>
              <a:srgbClr val="00D4FF"/>
            </a:solidFill>
            <a:prstDash val="solid"/>
          </a:ln>
          <a:effectLst>
            <a:outerShdw sx="100000" sy="100000" kx="0" ky="0" algn="bl" rotWithShape="0" blurRad="50800" dist="12700" dir="2700000">
              <a:srgbClr val="000000">
                <a:alpha val="8000"/>
              </a:srgbClr>
            </a:outerShdw>
          </a:effectLst>
        </p:spPr>
      </p:sp>
      <p:sp>
        <p:nvSpPr>
          <p:cNvPr id="11" name="Shape 9"/>
          <p:cNvSpPr/>
          <p:nvPr/>
        </p:nvSpPr>
        <p:spPr>
          <a:xfrm>
            <a:off x="457200" y="2651760"/>
            <a:ext cx="1645920" cy="365760"/>
          </a:xfrm>
          <a:prstGeom prst="roundRect">
            <a:avLst>
              <a:gd name="adj" fmla="val 15000"/>
            </a:avLst>
          </a:prstGeom>
          <a:solidFill>
            <a:srgbClr val="00D4FF">
              <a:alpha val="92000"/>
            </a:srgbClr>
          </a:solidFill>
          <a:ln w="12700">
            <a:solidFill>
              <a:srgbClr val="00D4FF"/>
            </a:solidFill>
            <a:prstDash val="solid"/>
          </a:ln>
        </p:spPr>
      </p:sp>
      <p:sp>
        <p:nvSpPr>
          <p:cNvPr id="12" name="Text 10"/>
          <p:cNvSpPr/>
          <p:nvPr/>
        </p:nvSpPr>
        <p:spPr>
          <a:xfrm>
            <a:off x="457200" y="2651760"/>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CONTEXTO</a:t>
            </a:r>
            <a:endParaRPr lang="en-US" sz="950" dirty="0"/>
          </a:p>
        </p:txBody>
      </p:sp>
      <p:sp>
        <p:nvSpPr>
          <p:cNvPr id="13" name="Text 11"/>
          <p:cNvSpPr/>
          <p:nvPr/>
        </p:nvSpPr>
        <p:spPr>
          <a:xfrm>
            <a:off x="2194560" y="2578608"/>
            <a:ext cx="6492240" cy="530352"/>
          </a:xfrm>
          <a:prstGeom prst="rect">
            <a:avLst/>
          </a:prstGeom>
          <a:noFill/>
          <a:ln/>
        </p:spPr>
        <p:txBody>
          <a:bodyPr wrap="square" lIns="0" tIns="0" rIns="0" bIns="0" rtlCol="0" anchor="ctr"/>
          <a:lstStyle/>
          <a:p>
            <a:pPr indent="0" marL="0">
              <a:buNone/>
            </a:pPr>
            <a:r>
              <a:rPr lang="en-US" sz="1050" dirty="0">
                <a:solidFill>
                  <a:srgbClr val="E8EDF5"/>
                </a:solidFill>
              </a:rPr>
              <a:t>¿En qué sistema / lugar / momento ocurre?</a:t>
            </a:r>
            <a:endParaRPr lang="en-US" sz="1050" dirty="0"/>
          </a:p>
        </p:txBody>
      </p:sp>
      <p:sp>
        <p:nvSpPr>
          <p:cNvPr id="14" name="Shape 12"/>
          <p:cNvSpPr/>
          <p:nvPr/>
        </p:nvSpPr>
        <p:spPr>
          <a:xfrm>
            <a:off x="365760" y="3182112"/>
            <a:ext cx="8412480" cy="530352"/>
          </a:xfrm>
          <a:prstGeom prst="roundRect">
            <a:avLst>
              <a:gd name="adj" fmla="val 13793"/>
            </a:avLst>
          </a:prstGeom>
          <a:solidFill>
            <a:srgbClr val="1A2550"/>
          </a:solidFill>
          <a:ln w="19050">
            <a:solidFill>
              <a:srgbClr val="FFB800"/>
            </a:solidFill>
            <a:prstDash val="solid"/>
          </a:ln>
          <a:effectLst>
            <a:outerShdw sx="100000" sy="100000" kx="0" ky="0" algn="bl" rotWithShape="0" blurRad="50800" dist="12700" dir="2700000">
              <a:srgbClr val="000000">
                <a:alpha val="8000"/>
              </a:srgbClr>
            </a:outerShdw>
          </a:effectLst>
        </p:spPr>
      </p:sp>
      <p:sp>
        <p:nvSpPr>
          <p:cNvPr id="15" name="Shape 13"/>
          <p:cNvSpPr/>
          <p:nvPr/>
        </p:nvSpPr>
        <p:spPr>
          <a:xfrm>
            <a:off x="457200" y="3255264"/>
            <a:ext cx="1645920" cy="365760"/>
          </a:xfrm>
          <a:prstGeom prst="roundRect">
            <a:avLst>
              <a:gd name="adj" fmla="val 15000"/>
            </a:avLst>
          </a:prstGeom>
          <a:solidFill>
            <a:srgbClr val="FFB800">
              <a:alpha val="92000"/>
            </a:srgbClr>
          </a:solidFill>
          <a:ln w="12700">
            <a:solidFill>
              <a:srgbClr val="FFB800"/>
            </a:solidFill>
            <a:prstDash val="solid"/>
          </a:ln>
        </p:spPr>
      </p:sp>
      <p:sp>
        <p:nvSpPr>
          <p:cNvPr id="16" name="Text 14"/>
          <p:cNvSpPr/>
          <p:nvPr/>
        </p:nvSpPr>
        <p:spPr>
          <a:xfrm>
            <a:off x="457200" y="3255264"/>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VARIABLE</a:t>
            </a:r>
            <a:endParaRPr lang="en-US" sz="950" dirty="0"/>
          </a:p>
        </p:txBody>
      </p:sp>
      <p:sp>
        <p:nvSpPr>
          <p:cNvPr id="17" name="Text 15"/>
          <p:cNvSpPr/>
          <p:nvPr/>
        </p:nvSpPr>
        <p:spPr>
          <a:xfrm>
            <a:off x="2194560" y="3182112"/>
            <a:ext cx="6492240" cy="530352"/>
          </a:xfrm>
          <a:prstGeom prst="rect">
            <a:avLst/>
          </a:prstGeom>
          <a:noFill/>
          <a:ln/>
        </p:spPr>
        <p:txBody>
          <a:bodyPr wrap="square" lIns="0" tIns="0" rIns="0" bIns="0" rtlCol="0" anchor="ctr"/>
          <a:lstStyle/>
          <a:p>
            <a:pPr indent="0" marL="0">
              <a:buNone/>
            </a:pPr>
            <a:r>
              <a:rPr lang="en-US" sz="1050" dirty="0">
                <a:solidFill>
                  <a:srgbClr val="E8EDF5"/>
                </a:solidFill>
              </a:rPr>
              <a:t>¿Qué es lo único que, si lo mido, me dice si el problema existe?</a:t>
            </a:r>
            <a:endParaRPr lang="en-US" sz="1050" dirty="0"/>
          </a:p>
        </p:txBody>
      </p:sp>
      <p:sp>
        <p:nvSpPr>
          <p:cNvPr id="18" name="Shape 16"/>
          <p:cNvSpPr/>
          <p:nvPr/>
        </p:nvSpPr>
        <p:spPr>
          <a:xfrm>
            <a:off x="365760" y="3785616"/>
            <a:ext cx="8412480" cy="530352"/>
          </a:xfrm>
          <a:prstGeom prst="roundRect">
            <a:avLst>
              <a:gd name="adj" fmla="val 13793"/>
            </a:avLst>
          </a:prstGeom>
          <a:solidFill>
            <a:srgbClr val="1A2550"/>
          </a:solidFill>
          <a:ln w="19050">
            <a:solidFill>
              <a:srgbClr val="FF4D6A"/>
            </a:solidFill>
            <a:prstDash val="solid"/>
          </a:ln>
          <a:effectLst>
            <a:outerShdw sx="100000" sy="100000" kx="0" ky="0" algn="bl" rotWithShape="0" blurRad="50800" dist="12700" dir="2700000">
              <a:srgbClr val="000000">
                <a:alpha val="8000"/>
              </a:srgbClr>
            </a:outerShdw>
          </a:effectLst>
        </p:spPr>
      </p:sp>
      <p:sp>
        <p:nvSpPr>
          <p:cNvPr id="19" name="Shape 17"/>
          <p:cNvSpPr/>
          <p:nvPr/>
        </p:nvSpPr>
        <p:spPr>
          <a:xfrm>
            <a:off x="457200" y="3858768"/>
            <a:ext cx="1645920" cy="365760"/>
          </a:xfrm>
          <a:prstGeom prst="roundRect">
            <a:avLst>
              <a:gd name="adj" fmla="val 15000"/>
            </a:avLst>
          </a:prstGeom>
          <a:solidFill>
            <a:srgbClr val="FF4D6A">
              <a:alpha val="92000"/>
            </a:srgbClr>
          </a:solidFill>
          <a:ln w="12700">
            <a:solidFill>
              <a:srgbClr val="FF4D6A"/>
            </a:solidFill>
            <a:prstDash val="solid"/>
          </a:ln>
        </p:spPr>
      </p:sp>
      <p:sp>
        <p:nvSpPr>
          <p:cNvPr id="20" name="Text 18"/>
          <p:cNvSpPr/>
          <p:nvPr/>
        </p:nvSpPr>
        <p:spPr>
          <a:xfrm>
            <a:off x="457200" y="3858768"/>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PUNTO DE QUIEBRE</a:t>
            </a:r>
            <a:endParaRPr lang="en-US" sz="950" dirty="0"/>
          </a:p>
        </p:txBody>
      </p:sp>
      <p:sp>
        <p:nvSpPr>
          <p:cNvPr id="21" name="Text 19"/>
          <p:cNvSpPr/>
          <p:nvPr/>
        </p:nvSpPr>
        <p:spPr>
          <a:xfrm>
            <a:off x="2194560" y="3785616"/>
            <a:ext cx="6492240" cy="530352"/>
          </a:xfrm>
          <a:prstGeom prst="rect">
            <a:avLst/>
          </a:prstGeom>
          <a:noFill/>
          <a:ln/>
        </p:spPr>
        <p:txBody>
          <a:bodyPr wrap="square" lIns="0" tIns="0" rIns="0" bIns="0" rtlCol="0" anchor="ctr"/>
          <a:lstStyle/>
          <a:p>
            <a:pPr indent="0" marL="0">
              <a:buNone/>
            </a:pPr>
            <a:r>
              <a:rPr lang="en-US" sz="1050" dirty="0">
                <a:solidFill>
                  <a:srgbClr val="E8EDF5"/>
                </a:solidFill>
              </a:rPr>
              <a:t>¿A partir de qué valor digo que el problema empieza?</a:t>
            </a:r>
            <a:endParaRPr lang="en-US" sz="1050" dirty="0"/>
          </a:p>
        </p:txBody>
      </p:sp>
      <p:sp>
        <p:nvSpPr>
          <p:cNvPr id="22" name="Shape 20"/>
          <p:cNvSpPr/>
          <p:nvPr/>
        </p:nvSpPr>
        <p:spPr>
          <a:xfrm>
            <a:off x="365760" y="4389120"/>
            <a:ext cx="8412480" cy="530352"/>
          </a:xfrm>
          <a:prstGeom prst="roundRect">
            <a:avLst>
              <a:gd name="adj" fmla="val 13793"/>
            </a:avLst>
          </a:prstGeom>
          <a:solidFill>
            <a:srgbClr val="1A2550"/>
          </a:solidFill>
          <a:ln w="19050">
            <a:solidFill>
              <a:srgbClr val="00C896"/>
            </a:solidFill>
            <a:prstDash val="solid"/>
          </a:ln>
          <a:effectLst>
            <a:outerShdw sx="100000" sy="100000" kx="0" ky="0" algn="bl" rotWithShape="0" blurRad="50800" dist="12700" dir="2700000">
              <a:srgbClr val="000000">
                <a:alpha val="8000"/>
              </a:srgbClr>
            </a:outerShdw>
          </a:effectLst>
        </p:spPr>
      </p:sp>
      <p:sp>
        <p:nvSpPr>
          <p:cNvPr id="23" name="Shape 21"/>
          <p:cNvSpPr/>
          <p:nvPr/>
        </p:nvSpPr>
        <p:spPr>
          <a:xfrm>
            <a:off x="457200" y="4462272"/>
            <a:ext cx="1645920" cy="365760"/>
          </a:xfrm>
          <a:prstGeom prst="roundRect">
            <a:avLst>
              <a:gd name="adj" fmla="val 15000"/>
            </a:avLst>
          </a:prstGeom>
          <a:solidFill>
            <a:srgbClr val="00C896">
              <a:alpha val="92000"/>
            </a:srgbClr>
          </a:solidFill>
          <a:ln w="12700">
            <a:solidFill>
              <a:srgbClr val="00C896"/>
            </a:solidFill>
            <a:prstDash val="solid"/>
          </a:ln>
        </p:spPr>
      </p:sp>
      <p:sp>
        <p:nvSpPr>
          <p:cNvPr id="24" name="Text 22"/>
          <p:cNvSpPr/>
          <p:nvPr/>
        </p:nvSpPr>
        <p:spPr>
          <a:xfrm>
            <a:off x="457200" y="4462272"/>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PROBLEMA TÉCNICO</a:t>
            </a:r>
            <a:endParaRPr lang="en-US" sz="950" dirty="0"/>
          </a:p>
        </p:txBody>
      </p:sp>
      <p:sp>
        <p:nvSpPr>
          <p:cNvPr id="25" name="Text 23"/>
          <p:cNvSpPr/>
          <p:nvPr/>
        </p:nvSpPr>
        <p:spPr>
          <a:xfrm>
            <a:off x="2194560" y="4389120"/>
            <a:ext cx="6492240" cy="530352"/>
          </a:xfrm>
          <a:prstGeom prst="rect">
            <a:avLst/>
          </a:prstGeom>
          <a:noFill/>
          <a:ln/>
        </p:spPr>
        <p:txBody>
          <a:bodyPr wrap="square" lIns="0" tIns="0" rIns="0" bIns="0" rtlCol="0" anchor="ctr"/>
          <a:lstStyle/>
          <a:p>
            <a:pPr indent="0" marL="0">
              <a:buNone/>
            </a:pPr>
            <a:r>
              <a:rPr lang="en-US" sz="1050" i="1" dirty="0">
                <a:solidFill>
                  <a:srgbClr val="E8EDF5"/>
                </a:solidFill>
              </a:rPr>
              <a:t>En [contexto] ocurre [problema] cuando [variable] supera [quiebre].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B800"/>
          </a:solidFill>
          <a:ln w="12700">
            <a:solidFill>
              <a:srgbClr val="FFB800"/>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PANEL SOLAR CON SEGUIDOR DE LUZ  ·  RONDA 4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9B59B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9B59B6"/>
                </a:solidFill>
              </a:rPr>
              <a:t>⏱  3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9B59B6"/>
                </a:solidFill>
              </a:rPr>
              <a:t>RONDA 4</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OBJETIVOS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9B59B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A partir del problema técnico, enuncien 2 o 3 objetivos concretos y medibles.</a:t>
            </a:r>
            <a:endParaRPr lang="en-US" sz="1300" dirty="0"/>
          </a:p>
          <a:p>
            <a:pPr indent="0" marL="0">
              <a:buNone/>
            </a:pPr>
            <a:r>
              <a:rPr lang="en-US" sz="1300" dirty="0">
                <a:solidFill>
                  <a:srgbClr val="0A0E2A"/>
                </a:solidFill>
              </a:rPr>
              <a:t>Cada objetivo debe poder verificarse.</a:t>
            </a:r>
            <a:endParaRPr lang="en-US" sz="1300" dirty="0"/>
          </a:p>
        </p:txBody>
      </p:sp>
      <p:sp>
        <p:nvSpPr>
          <p:cNvPr id="10" name="Shape 8"/>
          <p:cNvSpPr/>
          <p:nvPr/>
        </p:nvSpPr>
        <p:spPr>
          <a:xfrm>
            <a:off x="365760" y="2578608"/>
            <a:ext cx="8412480" cy="2176272"/>
          </a:xfrm>
          <a:prstGeom prst="roundRect">
            <a:avLst>
              <a:gd name="adj" fmla="val 5042"/>
            </a:avLst>
          </a:prstGeom>
          <a:solidFill>
            <a:srgbClr val="FFFFFF"/>
          </a:solidFill>
          <a:ln w="19050">
            <a:solidFill>
              <a:srgbClr val="9B59B6"/>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9B59B6"/>
                </a:solidFill>
              </a:rPr>
              <a:t>REGLAS DEL OBJETIVO BIEN PLANTEADO:</a:t>
            </a:r>
            <a:endParaRPr lang="en-US" sz="1050" dirty="0"/>
          </a:p>
        </p:txBody>
      </p:sp>
      <p:sp>
        <p:nvSpPr>
          <p:cNvPr id="12" name="Shape 10"/>
          <p:cNvSpPr/>
          <p:nvPr/>
        </p:nvSpPr>
        <p:spPr>
          <a:xfrm>
            <a:off x="548640" y="2999232"/>
            <a:ext cx="256032" cy="256032"/>
          </a:xfrm>
          <a:prstGeom prst="ellipse">
            <a:avLst/>
          </a:prstGeom>
          <a:solidFill>
            <a:srgbClr val="9B59B6"/>
          </a:solidFill>
          <a:ln w="12700">
            <a:solidFill>
              <a:srgbClr val="9B59B6"/>
            </a:solidFill>
            <a:prstDash val="solid"/>
          </a:ln>
        </p:spPr>
      </p:sp>
      <p:sp>
        <p:nvSpPr>
          <p:cNvPr id="13" name="Text 11"/>
          <p:cNvSpPr/>
          <p:nvPr/>
        </p:nvSpPr>
        <p:spPr>
          <a:xfrm>
            <a:off x="548640" y="29992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14" name="Text 12"/>
          <p:cNvSpPr/>
          <p:nvPr/>
        </p:nvSpPr>
        <p:spPr>
          <a:xfrm>
            <a:off x="914400" y="2971800"/>
            <a:ext cx="7680960" cy="384048"/>
          </a:xfrm>
          <a:prstGeom prst="rect">
            <a:avLst/>
          </a:prstGeom>
          <a:noFill/>
          <a:ln/>
        </p:spPr>
        <p:txBody>
          <a:bodyPr wrap="square" lIns="0" tIns="0" rIns="0" bIns="0" rtlCol="0" anchor="ctr"/>
          <a:lstStyle/>
          <a:p>
            <a:pPr indent="0" marL="0">
              <a:buNone/>
            </a:pPr>
            <a:r>
              <a:rPr lang="en-US" sz="1100" dirty="0">
                <a:solidFill>
                  <a:srgbClr val="0A0E2A"/>
                </a:solidFill>
              </a:rPr>
              <a:t>Comienza con un verbo de acción (detectar, activar, medir, controlar, enviar...)</a:t>
            </a:r>
            <a:endParaRPr lang="en-US" sz="1100" dirty="0"/>
          </a:p>
        </p:txBody>
      </p:sp>
      <p:sp>
        <p:nvSpPr>
          <p:cNvPr id="15" name="Shape 13"/>
          <p:cNvSpPr/>
          <p:nvPr/>
        </p:nvSpPr>
        <p:spPr>
          <a:xfrm>
            <a:off x="548640" y="3410712"/>
            <a:ext cx="256032" cy="256032"/>
          </a:xfrm>
          <a:prstGeom prst="ellipse">
            <a:avLst/>
          </a:prstGeom>
          <a:solidFill>
            <a:srgbClr val="9B59B6"/>
          </a:solidFill>
          <a:ln w="12700">
            <a:solidFill>
              <a:srgbClr val="9B59B6"/>
            </a:solidFill>
            <a:prstDash val="solid"/>
          </a:ln>
        </p:spPr>
      </p:sp>
      <p:sp>
        <p:nvSpPr>
          <p:cNvPr id="16" name="Text 14"/>
          <p:cNvSpPr/>
          <p:nvPr/>
        </p:nvSpPr>
        <p:spPr>
          <a:xfrm>
            <a:off x="548640" y="3410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17" name="Text 15"/>
          <p:cNvSpPr/>
          <p:nvPr/>
        </p:nvSpPr>
        <p:spPr>
          <a:xfrm>
            <a:off x="914400" y="3383280"/>
            <a:ext cx="7680960" cy="384048"/>
          </a:xfrm>
          <a:prstGeom prst="rect">
            <a:avLst/>
          </a:prstGeom>
          <a:noFill/>
          <a:ln/>
        </p:spPr>
        <p:txBody>
          <a:bodyPr wrap="square" lIns="0" tIns="0" rIns="0" bIns="0" rtlCol="0" anchor="ctr"/>
          <a:lstStyle/>
          <a:p>
            <a:pPr indent="0" marL="0">
              <a:buNone/>
            </a:pPr>
            <a:r>
              <a:rPr lang="en-US" sz="1100" dirty="0">
                <a:solidFill>
                  <a:srgbClr val="0A0E2A"/>
                </a:solidFill>
              </a:rPr>
              <a:t>Incluye la variable y el punto de quiebre que ya identificaron</a:t>
            </a:r>
            <a:endParaRPr lang="en-US" sz="1100" dirty="0"/>
          </a:p>
        </p:txBody>
      </p:sp>
      <p:sp>
        <p:nvSpPr>
          <p:cNvPr id="18" name="Shape 16"/>
          <p:cNvSpPr/>
          <p:nvPr/>
        </p:nvSpPr>
        <p:spPr>
          <a:xfrm>
            <a:off x="548640" y="3822192"/>
            <a:ext cx="256032" cy="256032"/>
          </a:xfrm>
          <a:prstGeom prst="ellipse">
            <a:avLst/>
          </a:prstGeom>
          <a:solidFill>
            <a:srgbClr val="9B59B6"/>
          </a:solidFill>
          <a:ln w="12700">
            <a:solidFill>
              <a:srgbClr val="9B59B6"/>
            </a:solidFill>
            <a:prstDash val="solid"/>
          </a:ln>
        </p:spPr>
      </p:sp>
      <p:sp>
        <p:nvSpPr>
          <p:cNvPr id="19" name="Text 17"/>
          <p:cNvSpPr/>
          <p:nvPr/>
        </p:nvSpPr>
        <p:spPr>
          <a:xfrm>
            <a:off x="54864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3</a:t>
            </a:r>
            <a:endParaRPr lang="en-US" sz="900" dirty="0"/>
          </a:p>
        </p:txBody>
      </p:sp>
      <p:sp>
        <p:nvSpPr>
          <p:cNvPr id="20" name="Text 18"/>
          <p:cNvSpPr/>
          <p:nvPr/>
        </p:nvSpPr>
        <p:spPr>
          <a:xfrm>
            <a:off x="914400" y="3794760"/>
            <a:ext cx="7680960" cy="384048"/>
          </a:xfrm>
          <a:prstGeom prst="rect">
            <a:avLst/>
          </a:prstGeom>
          <a:noFill/>
          <a:ln/>
        </p:spPr>
        <p:txBody>
          <a:bodyPr wrap="square" lIns="0" tIns="0" rIns="0" bIns="0" rtlCol="0" anchor="ctr"/>
          <a:lstStyle/>
          <a:p>
            <a:pPr indent="0" marL="0">
              <a:buNone/>
            </a:pPr>
            <a:r>
              <a:rPr lang="en-US" sz="1100" dirty="0">
                <a:solidFill>
                  <a:srgbClr val="0A0E2A"/>
                </a:solidFill>
              </a:rPr>
              <a:t>Se puede verificar — sabés exactamente cuándo se cumplió</a:t>
            </a:r>
            <a:endParaRPr lang="en-US" sz="1100" dirty="0"/>
          </a:p>
        </p:txBody>
      </p:sp>
      <p:sp>
        <p:nvSpPr>
          <p:cNvPr id="21" name="Shape 19"/>
          <p:cNvSpPr/>
          <p:nvPr/>
        </p:nvSpPr>
        <p:spPr>
          <a:xfrm>
            <a:off x="548640" y="4233672"/>
            <a:ext cx="256032" cy="256032"/>
          </a:xfrm>
          <a:prstGeom prst="ellipse">
            <a:avLst/>
          </a:prstGeom>
          <a:solidFill>
            <a:srgbClr val="9B59B6"/>
          </a:solidFill>
          <a:ln w="12700">
            <a:solidFill>
              <a:srgbClr val="9B59B6"/>
            </a:solidFill>
            <a:prstDash val="solid"/>
          </a:ln>
        </p:spPr>
      </p:sp>
      <p:sp>
        <p:nvSpPr>
          <p:cNvPr id="22" name="Text 20"/>
          <p:cNvSpPr/>
          <p:nvPr/>
        </p:nvSpPr>
        <p:spPr>
          <a:xfrm>
            <a:off x="548640" y="42336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4</a:t>
            </a:r>
            <a:endParaRPr lang="en-US" sz="900" dirty="0"/>
          </a:p>
        </p:txBody>
      </p:sp>
      <p:sp>
        <p:nvSpPr>
          <p:cNvPr id="23" name="Text 21"/>
          <p:cNvSpPr/>
          <p:nvPr/>
        </p:nvSpPr>
        <p:spPr>
          <a:xfrm>
            <a:off x="914400" y="4206240"/>
            <a:ext cx="7680960" cy="384048"/>
          </a:xfrm>
          <a:prstGeom prst="rect">
            <a:avLst/>
          </a:prstGeom>
          <a:noFill/>
          <a:ln/>
        </p:spPr>
        <p:txBody>
          <a:bodyPr wrap="square" lIns="0" tIns="0" rIns="0" bIns="0" rtlCol="0" anchor="ctr"/>
          <a:lstStyle/>
          <a:p>
            <a:pPr indent="0" marL="0">
              <a:buNone/>
            </a:pPr>
            <a:r>
              <a:rPr lang="en-US" sz="1100" dirty="0">
                <a:solidFill>
                  <a:srgbClr val="0A0E2A"/>
                </a:solidFill>
              </a:rPr>
              <a:t>Un objetivo por tarea. Sin 'y' que una dos objetivos distintos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B800"/>
          </a:solidFill>
          <a:ln w="12700">
            <a:solidFill>
              <a:srgbClr val="FFB800"/>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PANEL SOLAR CON SEGUIDOR DE LUZ  ·  RONDA 5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4D6A"/>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4D6A"/>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4D6A"/>
                </a:solidFill>
              </a:rPr>
              <a:t>RONDA 5</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4D6A"/>
                </a:solidFill>
              </a:rPr>
              <a:t>¿CUÁL ES LA SOLUCIÓN?</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4D6A"/>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Sin mirar nada. ¿Qué dispositivo, sistema o artefacto resuelve exactamente este problema?</a:t>
            </a:r>
            <a:endParaRPr lang="en-US" sz="1300" dirty="0"/>
          </a:p>
          <a:p>
            <a:pPr indent="0" marL="0">
              <a:buNone/>
            </a:pPr>
            <a:r>
              <a:rPr lang="en-US" sz="1300" dirty="0">
                <a:solidFill>
                  <a:srgbClr val="E8EDF5"/>
                </a:solidFill>
              </a:rPr>
              <a:t>Describir en 2 líneas.</a:t>
            </a:r>
            <a:endParaRPr lang="en-US" sz="1300" dirty="0"/>
          </a:p>
        </p:txBody>
      </p:sp>
      <p:sp>
        <p:nvSpPr>
          <p:cNvPr id="10" name="Shape 8"/>
          <p:cNvSpPr/>
          <p:nvPr/>
        </p:nvSpPr>
        <p:spPr>
          <a:xfrm>
            <a:off x="365760" y="2578608"/>
            <a:ext cx="8412480" cy="2176272"/>
          </a:xfrm>
          <a:prstGeom prst="roundRect">
            <a:avLst>
              <a:gd name="adj" fmla="val 5042"/>
            </a:avLst>
          </a:prstGeom>
          <a:solidFill>
            <a:srgbClr val="1A2550"/>
          </a:solidFill>
          <a:ln w="19050">
            <a:solidFill>
              <a:srgbClr val="FF4D6A"/>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FF4D6A"/>
                </a:solidFill>
              </a:rPr>
              <a:t>PISTAS PERMITIDAS:</a:t>
            </a:r>
            <a:endParaRPr lang="en-US" sz="1050" dirty="0"/>
          </a:p>
        </p:txBody>
      </p:sp>
      <p:sp>
        <p:nvSpPr>
          <p:cNvPr id="12" name="Shape 10"/>
          <p:cNvSpPr/>
          <p:nvPr/>
        </p:nvSpPr>
        <p:spPr>
          <a:xfrm>
            <a:off x="548640" y="299923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3" name="Text 11"/>
          <p:cNvSpPr/>
          <p:nvPr/>
        </p:nvSpPr>
        <p:spPr>
          <a:xfrm>
            <a:off x="685800" y="299923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La variable principal es: Diferencia de intensidad lumínica entre dos fotorresistencias</a:t>
            </a:r>
            <a:endParaRPr lang="en-US" sz="1100" dirty="0"/>
          </a:p>
        </p:txBody>
      </p:sp>
      <p:sp>
        <p:nvSpPr>
          <p:cNvPr id="14" name="Shape 12"/>
          <p:cNvSpPr/>
          <p:nvPr/>
        </p:nvSpPr>
        <p:spPr>
          <a:xfrm>
            <a:off x="548640" y="341071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5" name="Text 13"/>
          <p:cNvSpPr/>
          <p:nvPr/>
        </p:nvSpPr>
        <p:spPr>
          <a:xfrm>
            <a:off x="685800" y="341071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El punto de quiebre es: Diferencia de lectura entre los dos sensores LDR mayor a 50 unidades (escala 0–1023)</a:t>
            </a:r>
            <a:endParaRPr lang="en-US" sz="1100" dirty="0"/>
          </a:p>
        </p:txBody>
      </p:sp>
      <p:sp>
        <p:nvSpPr>
          <p:cNvPr id="16" name="Shape 14"/>
          <p:cNvSpPr/>
          <p:nvPr/>
        </p:nvSpPr>
        <p:spPr>
          <a:xfrm>
            <a:off x="548640" y="382219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7" name="Text 15"/>
          <p:cNvSpPr/>
          <p:nvPr/>
        </p:nvSpPr>
        <p:spPr>
          <a:xfrm>
            <a:off x="685800" y="382219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¿Qué componente electrónico mide esa variable? ¿Qué actúa cuando se supera el quiebre?</a:t>
            </a:r>
            <a:endParaRPr lang="en-US" sz="1050" dirty="0"/>
          </a:p>
        </p:txBody>
      </p:sp>
      <p:sp>
        <p:nvSpPr>
          <p:cNvPr id="18" name="Shape 16"/>
          <p:cNvSpPr/>
          <p:nvPr/>
        </p:nvSpPr>
        <p:spPr>
          <a:xfrm>
            <a:off x="548640" y="423367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9" name="Text 17"/>
          <p:cNvSpPr/>
          <p:nvPr/>
        </p:nvSpPr>
        <p:spPr>
          <a:xfrm>
            <a:off x="685800" y="423367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Pensá en: sensor + controlador + actuador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FFB800"/>
          </a:solidFill>
          <a:ln w="12700">
            <a:solidFill>
              <a:srgbClr val="FFB800"/>
            </a:solidFill>
            <a:prstDash val="solid"/>
          </a:ln>
        </p:spPr>
      </p:sp>
      <p:sp>
        <p:nvSpPr>
          <p:cNvPr id="3" name="Text 1"/>
          <p:cNvSpPr/>
          <p:nvPr/>
        </p:nvSpPr>
        <p:spPr>
          <a:xfrm>
            <a:off x="320040" y="0"/>
            <a:ext cx="8503920" cy="640080"/>
          </a:xfrm>
          <a:prstGeom prst="rect">
            <a:avLst/>
          </a:prstGeom>
          <a:noFill/>
          <a:ln/>
        </p:spPr>
        <p:txBody>
          <a:bodyPr wrap="square" lIns="0" tIns="0" rIns="0" bIns="0" rtlCol="0" anchor="ctr"/>
          <a:lstStyle/>
          <a:p>
            <a:pPr indent="0" marL="0">
              <a:buNone/>
            </a:pPr>
            <a:r>
              <a:rPr lang="en-US" sz="1300" b="1" dirty="0">
                <a:solidFill>
                  <a:srgbClr val="0A0E2A"/>
                </a:solidFill>
              </a:rPr>
              <a:t>REVEAL · PANEL SOLAR CON SEGUIDOR DE LUZ</a:t>
            </a:r>
            <a:endParaRPr lang="en-US" sz="1300" dirty="0"/>
          </a:p>
        </p:txBody>
      </p:sp>
      <p:sp>
        <p:nvSpPr>
          <p:cNvPr id="4" name="Shape 2"/>
          <p:cNvSpPr/>
          <p:nvPr/>
        </p:nvSpPr>
        <p:spPr>
          <a:xfrm>
            <a:off x="274320" y="749808"/>
            <a:ext cx="4389120" cy="475488"/>
          </a:xfrm>
          <a:prstGeom prst="roundRect">
            <a:avLst>
              <a:gd name="adj" fmla="val 15385"/>
            </a:avLst>
          </a:prstGeom>
          <a:solidFill>
            <a:srgbClr val="1A2550"/>
          </a:solidFill>
          <a:ln w="15240">
            <a:solidFill>
              <a:srgbClr val="FFB800"/>
            </a:solidFill>
            <a:prstDash val="solid"/>
          </a:ln>
        </p:spPr>
      </p:sp>
      <p:sp>
        <p:nvSpPr>
          <p:cNvPr id="5" name="Shape 3"/>
          <p:cNvSpPr/>
          <p:nvPr/>
        </p:nvSpPr>
        <p:spPr>
          <a:xfrm>
            <a:off x="347472" y="813816"/>
            <a:ext cx="1417320" cy="256032"/>
          </a:xfrm>
          <a:prstGeom prst="roundRect">
            <a:avLst>
              <a:gd name="adj" fmla="val 17857"/>
            </a:avLst>
          </a:prstGeom>
          <a:solidFill>
            <a:srgbClr val="FFB800">
              <a:alpha val="88000"/>
            </a:srgbClr>
          </a:solidFill>
          <a:ln w="12700">
            <a:solidFill>
              <a:srgbClr val="FFB800"/>
            </a:solidFill>
            <a:prstDash val="solid"/>
          </a:ln>
        </p:spPr>
      </p:sp>
      <p:sp>
        <p:nvSpPr>
          <p:cNvPr id="6" name="Text 4"/>
          <p:cNvSpPr/>
          <p:nvPr/>
        </p:nvSpPr>
        <p:spPr>
          <a:xfrm>
            <a:off x="347472" y="81381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VAGO</a:t>
            </a:r>
            <a:endParaRPr lang="en-US" sz="700" dirty="0"/>
          </a:p>
        </p:txBody>
      </p:sp>
      <p:sp>
        <p:nvSpPr>
          <p:cNvPr id="7" name="Text 5"/>
          <p:cNvSpPr/>
          <p:nvPr/>
        </p:nvSpPr>
        <p:spPr>
          <a:xfrm>
            <a:off x="1847088" y="749808"/>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Los paneles solares no siempre aprovechan bien la luz del sol.</a:t>
            </a:r>
            <a:endParaRPr lang="en-US" sz="900" dirty="0"/>
          </a:p>
        </p:txBody>
      </p:sp>
      <p:sp>
        <p:nvSpPr>
          <p:cNvPr id="8" name="Shape 6"/>
          <p:cNvSpPr/>
          <p:nvPr/>
        </p:nvSpPr>
        <p:spPr>
          <a:xfrm>
            <a:off x="274320" y="1280160"/>
            <a:ext cx="4389120" cy="475488"/>
          </a:xfrm>
          <a:prstGeom prst="roundRect">
            <a:avLst>
              <a:gd name="adj" fmla="val 15385"/>
            </a:avLst>
          </a:prstGeom>
          <a:solidFill>
            <a:srgbClr val="1A2550"/>
          </a:solidFill>
          <a:ln w="15240">
            <a:solidFill>
              <a:srgbClr val="9B59B6"/>
            </a:solidFill>
            <a:prstDash val="solid"/>
          </a:ln>
        </p:spPr>
      </p:sp>
      <p:sp>
        <p:nvSpPr>
          <p:cNvPr id="9" name="Shape 7"/>
          <p:cNvSpPr/>
          <p:nvPr/>
        </p:nvSpPr>
        <p:spPr>
          <a:xfrm>
            <a:off x="347472" y="1344168"/>
            <a:ext cx="1417320" cy="256032"/>
          </a:xfrm>
          <a:prstGeom prst="roundRect">
            <a:avLst>
              <a:gd name="adj" fmla="val 17857"/>
            </a:avLst>
          </a:prstGeom>
          <a:solidFill>
            <a:srgbClr val="9B59B6">
              <a:alpha val="88000"/>
            </a:srgbClr>
          </a:solidFill>
          <a:ln w="12700">
            <a:solidFill>
              <a:srgbClr val="9B59B6"/>
            </a:solidFill>
            <a:prstDash val="solid"/>
          </a:ln>
        </p:spPr>
      </p:sp>
      <p:sp>
        <p:nvSpPr>
          <p:cNvPr id="10" name="Text 8"/>
          <p:cNvSpPr/>
          <p:nvPr/>
        </p:nvSpPr>
        <p:spPr>
          <a:xfrm>
            <a:off x="347472" y="1344168"/>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VARIABLE</a:t>
            </a:r>
            <a:endParaRPr lang="en-US" sz="700" dirty="0"/>
          </a:p>
        </p:txBody>
      </p:sp>
      <p:sp>
        <p:nvSpPr>
          <p:cNvPr id="11" name="Text 9"/>
          <p:cNvSpPr/>
          <p:nvPr/>
        </p:nvSpPr>
        <p:spPr>
          <a:xfrm>
            <a:off x="1847088" y="1280160"/>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Diferencia de intensidad lumínica entre dos fotorresistencias (LDR) ubicadas a cada lado del panel.</a:t>
            </a:r>
            <a:endParaRPr lang="en-US" sz="900" dirty="0"/>
          </a:p>
        </p:txBody>
      </p:sp>
      <p:sp>
        <p:nvSpPr>
          <p:cNvPr id="12" name="Shape 10"/>
          <p:cNvSpPr/>
          <p:nvPr/>
        </p:nvSpPr>
        <p:spPr>
          <a:xfrm>
            <a:off x="274320" y="1810512"/>
            <a:ext cx="4389120" cy="475488"/>
          </a:xfrm>
          <a:prstGeom prst="roundRect">
            <a:avLst>
              <a:gd name="adj" fmla="val 15385"/>
            </a:avLst>
          </a:prstGeom>
          <a:solidFill>
            <a:srgbClr val="1A2550"/>
          </a:solidFill>
          <a:ln w="15240">
            <a:solidFill>
              <a:srgbClr val="FF4D6A"/>
            </a:solidFill>
            <a:prstDash val="solid"/>
          </a:ln>
        </p:spPr>
      </p:sp>
      <p:sp>
        <p:nvSpPr>
          <p:cNvPr id="13" name="Shape 11"/>
          <p:cNvSpPr/>
          <p:nvPr/>
        </p:nvSpPr>
        <p:spPr>
          <a:xfrm>
            <a:off x="347472" y="1874520"/>
            <a:ext cx="1417320" cy="256032"/>
          </a:xfrm>
          <a:prstGeom prst="roundRect">
            <a:avLst>
              <a:gd name="adj" fmla="val 17857"/>
            </a:avLst>
          </a:prstGeom>
          <a:solidFill>
            <a:srgbClr val="FF4D6A">
              <a:alpha val="88000"/>
            </a:srgbClr>
          </a:solidFill>
          <a:ln w="12700">
            <a:solidFill>
              <a:srgbClr val="FF4D6A"/>
            </a:solidFill>
            <a:prstDash val="solid"/>
          </a:ln>
        </p:spPr>
      </p:sp>
      <p:sp>
        <p:nvSpPr>
          <p:cNvPr id="14" name="Text 12"/>
          <p:cNvSpPr/>
          <p:nvPr/>
        </p:nvSpPr>
        <p:spPr>
          <a:xfrm>
            <a:off x="347472" y="1874520"/>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PUNTO DE QUIEBRE</a:t>
            </a:r>
            <a:endParaRPr lang="en-US" sz="700" dirty="0"/>
          </a:p>
        </p:txBody>
      </p:sp>
      <p:sp>
        <p:nvSpPr>
          <p:cNvPr id="15" name="Text 13"/>
          <p:cNvSpPr/>
          <p:nvPr/>
        </p:nvSpPr>
        <p:spPr>
          <a:xfrm>
            <a:off x="1847088" y="1810512"/>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Diferencia de lectura entre los dos sensores LDR mayor a 50 unidades (escala 0–1023).</a:t>
            </a:r>
            <a:endParaRPr lang="en-US" sz="900" dirty="0"/>
          </a:p>
        </p:txBody>
      </p:sp>
      <p:sp>
        <p:nvSpPr>
          <p:cNvPr id="16" name="Shape 14"/>
          <p:cNvSpPr/>
          <p:nvPr/>
        </p:nvSpPr>
        <p:spPr>
          <a:xfrm>
            <a:off x="274320" y="2340864"/>
            <a:ext cx="4389120" cy="594360"/>
          </a:xfrm>
          <a:prstGeom prst="roundRect">
            <a:avLst>
              <a:gd name="adj" fmla="val 12308"/>
            </a:avLst>
          </a:prstGeom>
          <a:solidFill>
            <a:srgbClr val="1A2550"/>
          </a:solidFill>
          <a:ln w="15240">
            <a:solidFill>
              <a:srgbClr val="00C896"/>
            </a:solidFill>
            <a:prstDash val="solid"/>
          </a:ln>
        </p:spPr>
      </p:sp>
      <p:sp>
        <p:nvSpPr>
          <p:cNvPr id="17" name="Shape 15"/>
          <p:cNvSpPr/>
          <p:nvPr/>
        </p:nvSpPr>
        <p:spPr>
          <a:xfrm>
            <a:off x="347472" y="2404872"/>
            <a:ext cx="1417320" cy="256032"/>
          </a:xfrm>
          <a:prstGeom prst="roundRect">
            <a:avLst>
              <a:gd name="adj" fmla="val 17857"/>
            </a:avLst>
          </a:prstGeom>
          <a:solidFill>
            <a:srgbClr val="00C896">
              <a:alpha val="88000"/>
            </a:srgbClr>
          </a:solidFill>
          <a:ln w="12700">
            <a:solidFill>
              <a:srgbClr val="00C896"/>
            </a:solidFill>
            <a:prstDash val="solid"/>
          </a:ln>
        </p:spPr>
      </p:sp>
      <p:sp>
        <p:nvSpPr>
          <p:cNvPr id="18" name="Text 16"/>
          <p:cNvSpPr/>
          <p:nvPr/>
        </p:nvSpPr>
        <p:spPr>
          <a:xfrm>
            <a:off x="347472" y="2404872"/>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TECNICO</a:t>
            </a:r>
            <a:endParaRPr lang="en-US" sz="700" dirty="0"/>
          </a:p>
        </p:txBody>
      </p:sp>
      <p:sp>
        <p:nvSpPr>
          <p:cNvPr id="19" name="Text 17"/>
          <p:cNvSpPr/>
          <p:nvPr/>
        </p:nvSpPr>
        <p:spPr>
          <a:xfrm>
            <a:off x="1847088" y="2340864"/>
            <a:ext cx="2724912" cy="594360"/>
          </a:xfrm>
          <a:prstGeom prst="rect">
            <a:avLst/>
          </a:prstGeom>
          <a:noFill/>
          <a:ln/>
        </p:spPr>
        <p:txBody>
          <a:bodyPr wrap="square" lIns="635" tIns="635" rIns="635" bIns="635" rtlCol="0" anchor="ctr"/>
          <a:lstStyle/>
          <a:p>
            <a:pPr indent="0" marL="0">
              <a:buNone/>
            </a:pPr>
            <a:r>
              <a:rPr lang="en-US" sz="900" dirty="0">
                <a:solidFill>
                  <a:srgbClr val="E8EDF5"/>
                </a:solidFill>
              </a:rPr>
              <a:t>En un panel solar fijo, la diferencia de irradiación entre ambos lados supera 50 unidades cuando el sol se desplaza, lo que genera una pérdida de captación energética evitable.</a:t>
            </a:r>
            <a:endParaRPr lang="en-US" sz="900" dirty="0"/>
          </a:p>
        </p:txBody>
      </p:sp>
      <p:sp>
        <p:nvSpPr>
          <p:cNvPr id="20" name="Shape 18"/>
          <p:cNvSpPr/>
          <p:nvPr/>
        </p:nvSpPr>
        <p:spPr>
          <a:xfrm>
            <a:off x="274320" y="2990088"/>
            <a:ext cx="4389120" cy="841248"/>
          </a:xfrm>
          <a:prstGeom prst="roundRect">
            <a:avLst>
              <a:gd name="adj" fmla="val 8696"/>
            </a:avLst>
          </a:prstGeom>
          <a:solidFill>
            <a:srgbClr val="1A2550"/>
          </a:solidFill>
          <a:ln w="15240">
            <a:solidFill>
              <a:srgbClr val="00D4FF"/>
            </a:solidFill>
            <a:prstDash val="solid"/>
          </a:ln>
        </p:spPr>
      </p:sp>
      <p:sp>
        <p:nvSpPr>
          <p:cNvPr id="21" name="Shape 19"/>
          <p:cNvSpPr/>
          <p:nvPr/>
        </p:nvSpPr>
        <p:spPr>
          <a:xfrm>
            <a:off x="347472" y="3054096"/>
            <a:ext cx="1417320" cy="256032"/>
          </a:xfrm>
          <a:prstGeom prst="roundRect">
            <a:avLst>
              <a:gd name="adj" fmla="val 17857"/>
            </a:avLst>
          </a:prstGeom>
          <a:solidFill>
            <a:srgbClr val="00D4FF">
              <a:alpha val="88000"/>
            </a:srgbClr>
          </a:solidFill>
          <a:ln w="12700">
            <a:solidFill>
              <a:srgbClr val="00D4FF"/>
            </a:solidFill>
            <a:prstDash val="solid"/>
          </a:ln>
        </p:spPr>
      </p:sp>
      <p:sp>
        <p:nvSpPr>
          <p:cNvPr id="22" name="Text 20"/>
          <p:cNvSpPr/>
          <p:nvPr/>
        </p:nvSpPr>
        <p:spPr>
          <a:xfrm>
            <a:off x="347472" y="305409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OBJETIVOS</a:t>
            </a:r>
            <a:endParaRPr lang="en-US" sz="700" dirty="0"/>
          </a:p>
        </p:txBody>
      </p:sp>
      <p:sp>
        <p:nvSpPr>
          <p:cNvPr id="23" name="Text 21"/>
          <p:cNvSpPr/>
          <p:nvPr/>
        </p:nvSpPr>
        <p:spPr>
          <a:xfrm>
            <a:off x="1847088" y="2990088"/>
            <a:ext cx="2724912" cy="841248"/>
          </a:xfrm>
          <a:prstGeom prst="rect">
            <a:avLst/>
          </a:prstGeom>
          <a:noFill/>
          <a:ln/>
        </p:spPr>
        <p:txBody>
          <a:bodyPr wrap="square" lIns="635" tIns="635" rIns="635" bIns="635" rtlCol="0" anchor="ctr"/>
          <a:lstStyle/>
          <a:p>
            <a:pPr indent="0" marL="0">
              <a:buNone/>
            </a:pPr>
            <a:r>
              <a:rPr lang="en-US" sz="850" dirty="0">
                <a:solidFill>
                  <a:srgbClr val="E8EDF5"/>
                </a:solidFill>
              </a:rPr>
              <a:t>1. Medir continuamente la diferencia de intensidad lumínica en ambos lados del panel.  2. Activar un servomotor para rotar el panel hacia la fuente de mayor luz cuando la diferencia supere 50 unidades.  3. Maximizar la captación energética durante todas las horas de luz disponibles.</a:t>
            </a:r>
            <a:endParaRPr lang="en-US" sz="850" dirty="0"/>
          </a:p>
        </p:txBody>
      </p:sp>
      <p:sp>
        <p:nvSpPr>
          <p:cNvPr id="24" name="Shape 22"/>
          <p:cNvSpPr/>
          <p:nvPr/>
        </p:nvSpPr>
        <p:spPr>
          <a:xfrm>
            <a:off x="4937760" y="749808"/>
            <a:ext cx="3977640" cy="2971800"/>
          </a:xfrm>
          <a:prstGeom prst="roundRect">
            <a:avLst>
              <a:gd name="adj" fmla="val 4615"/>
            </a:avLst>
          </a:prstGeom>
          <a:solidFill>
            <a:srgbClr val="FFB800">
              <a:alpha val="92000"/>
            </a:srgbClr>
          </a:solidFill>
          <a:ln w="25400">
            <a:solidFill>
              <a:srgbClr val="FFB800"/>
            </a:solidFill>
            <a:prstDash val="solid"/>
          </a:ln>
          <a:effectLst>
            <a:outerShdw sx="100000" sy="100000" kx="0" ky="0" algn="bl" rotWithShape="0" blurRad="127000" dist="38100" dir="2700000">
              <a:srgbClr val="000000">
                <a:alpha val="18000"/>
              </a:srgbClr>
            </a:outerShdw>
          </a:effectLst>
        </p:spPr>
      </p:sp>
      <p:sp>
        <p:nvSpPr>
          <p:cNvPr id="25" name="Text 23"/>
          <p:cNvSpPr/>
          <p:nvPr/>
        </p:nvSpPr>
        <p:spPr>
          <a:xfrm>
            <a:off x="5074920" y="822960"/>
            <a:ext cx="3703320" cy="320040"/>
          </a:xfrm>
          <a:prstGeom prst="rect">
            <a:avLst/>
          </a:prstGeom>
          <a:noFill/>
          <a:ln/>
        </p:spPr>
        <p:txBody>
          <a:bodyPr wrap="square" lIns="0" tIns="0" rIns="0" bIns="0" rtlCol="0" anchor="ctr"/>
          <a:lstStyle/>
          <a:p>
            <a:pPr algn="ctr" indent="0" marL="0">
              <a:buNone/>
            </a:pPr>
            <a:r>
              <a:rPr lang="en-US" sz="1200" b="1" dirty="0">
                <a:solidFill>
                  <a:srgbClr val="0A0E2A"/>
                </a:solidFill>
              </a:rPr>
              <a:t>SOLUCIÓN</a:t>
            </a:r>
            <a:endParaRPr lang="en-US" sz="1200" dirty="0"/>
          </a:p>
        </p:txBody>
      </p:sp>
      <p:sp>
        <p:nvSpPr>
          <p:cNvPr id="26" name="Text 24"/>
          <p:cNvSpPr/>
          <p:nvPr/>
        </p:nvSpPr>
        <p:spPr>
          <a:xfrm>
            <a:off x="5074920" y="1188720"/>
            <a:ext cx="3703320" cy="1828800"/>
          </a:xfrm>
          <a:prstGeom prst="rect">
            <a:avLst/>
          </a:prstGeom>
          <a:noFill/>
          <a:ln/>
        </p:spPr>
        <p:txBody>
          <a:bodyPr wrap="square" lIns="0" tIns="0" rIns="0" bIns="0" rtlCol="0" anchor="ctr"/>
          <a:lstStyle/>
          <a:p>
            <a:pPr indent="0" marL="0">
              <a:buNone/>
            </a:pPr>
            <a:r>
              <a:rPr lang="en-US" sz="1100" dirty="0">
                <a:solidFill>
                  <a:srgbClr val="0A0E2A"/>
                </a:solidFill>
              </a:rPr>
              <a:t>Sistema con dos sensores LDR + Arduino + servomotor que rota el panel hacia la mayor fuente de luz. El panel se actualiza cada 30 segundos comparando ambas lecturas.</a:t>
            </a:r>
            <a:endParaRPr lang="en-US" sz="1100" dirty="0"/>
          </a:p>
        </p:txBody>
      </p:sp>
      <p:sp>
        <p:nvSpPr>
          <p:cNvPr id="27" name="Text 25"/>
          <p:cNvSpPr/>
          <p:nvPr/>
        </p:nvSpPr>
        <p:spPr>
          <a:xfrm>
            <a:off x="5074920" y="3017520"/>
            <a:ext cx="3703320" cy="502920"/>
          </a:xfrm>
          <a:prstGeom prst="rect">
            <a:avLst/>
          </a:prstGeom>
          <a:noFill/>
          <a:ln/>
        </p:spPr>
        <p:txBody>
          <a:bodyPr wrap="square" lIns="0" tIns="0" rIns="0" bIns="0" rtlCol="0" anchor="ctr"/>
          <a:lstStyle/>
          <a:p>
            <a:pPr indent="0" marL="0">
              <a:buNone/>
            </a:pPr>
            <a:r>
              <a:rPr lang="en-US" sz="950" i="1" dirty="0">
                <a:solidFill>
                  <a:srgbClr val="0A0E2A"/>
                </a:solidFill>
              </a:rPr>
              <a:t>📷  Panel solar sobre servomotor con dos LDR laterales conectados a Arduino</a:t>
            </a:r>
            <a:endParaRPr lang="en-US" sz="950" dirty="0"/>
          </a:p>
        </p:txBody>
      </p:sp>
      <p:sp>
        <p:nvSpPr>
          <p:cNvPr id="28" name="Shape 26"/>
          <p:cNvSpPr/>
          <p:nvPr/>
        </p:nvSpPr>
        <p:spPr>
          <a:xfrm>
            <a:off x="274320" y="3858768"/>
            <a:ext cx="8549640" cy="841248"/>
          </a:xfrm>
          <a:prstGeom prst="roundRect">
            <a:avLst>
              <a:gd name="adj" fmla="val 13043"/>
            </a:avLst>
          </a:prstGeom>
          <a:solidFill>
            <a:srgbClr val="1A2550"/>
          </a:solidFill>
          <a:ln w="15240">
            <a:solidFill>
              <a:srgbClr val="FFB800"/>
            </a:solidFill>
            <a:prstDash val="solid"/>
          </a:ln>
        </p:spPr>
      </p:sp>
      <p:sp>
        <p:nvSpPr>
          <p:cNvPr id="29" name="Text 27"/>
          <p:cNvSpPr/>
          <p:nvPr/>
        </p:nvSpPr>
        <p:spPr>
          <a:xfrm>
            <a:off x="457200" y="3858768"/>
            <a:ext cx="8229600" cy="841248"/>
          </a:xfrm>
          <a:prstGeom prst="rect">
            <a:avLst/>
          </a:prstGeom>
          <a:noFill/>
          <a:ln/>
        </p:spPr>
        <p:txBody>
          <a:bodyPr wrap="square" lIns="0" tIns="0" rIns="0" bIns="0" rtlCol="0" anchor="ctr"/>
          <a:lstStyle/>
          <a:p>
            <a:pPr algn="ctr" indent="0" marL="0">
              <a:buNone/>
            </a:pPr>
            <a:r>
              <a:rPr lang="en-US" sz="1200" dirty="0">
                <a:solidFill>
                  <a:srgbClr val="E8EDF5"/>
                </a:solidFill>
              </a:rPr>
              <a:t>¿Qué equipo formuló mejor cada componente?  ·  ¿Cuál se acercó más a la solución real?  ·  ¿Qué mejorarían?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FF4D6A"/>
          </a:solidFill>
          <a:ln w="12700">
            <a:solidFill>
              <a:srgbClr val="FF4D6A"/>
            </a:solidFill>
            <a:prstDash val="solid"/>
          </a:ln>
        </p:spPr>
      </p:sp>
      <p:sp>
        <p:nvSpPr>
          <p:cNvPr id="3" name="Text 1"/>
          <p:cNvSpPr/>
          <p:nvPr/>
        </p:nvSpPr>
        <p:spPr>
          <a:xfrm>
            <a:off x="0" y="365760"/>
            <a:ext cx="3474720" cy="2286000"/>
          </a:xfrm>
          <a:prstGeom prst="rect">
            <a:avLst/>
          </a:prstGeom>
          <a:noFill/>
          <a:ln/>
        </p:spPr>
        <p:txBody>
          <a:bodyPr wrap="square" lIns="0" tIns="0" rIns="0" bIns="0" rtlCol="0" anchor="ctr"/>
          <a:lstStyle/>
          <a:p>
            <a:pPr algn="ctr" indent="0" marL="0">
              <a:buNone/>
            </a:pPr>
            <a:r>
              <a:rPr lang="en-US" sz="16000" b="1" dirty="0">
                <a:solidFill>
                  <a:srgbClr val="0A0E2A"/>
                </a:solidFill>
              </a:rPr>
              <a:t>3</a:t>
            </a:r>
            <a:endParaRPr lang="en-US" sz="16000" dirty="0"/>
          </a:p>
        </p:txBody>
      </p:sp>
      <p:sp>
        <p:nvSpPr>
          <p:cNvPr id="4" name="Text 2"/>
          <p:cNvSpPr/>
          <p:nvPr/>
        </p:nvSpPr>
        <p:spPr>
          <a:xfrm>
            <a:off x="0" y="2926080"/>
            <a:ext cx="3474720" cy="502920"/>
          </a:xfrm>
          <a:prstGeom prst="rect">
            <a:avLst/>
          </a:prstGeom>
          <a:noFill/>
          <a:ln/>
        </p:spPr>
        <p:txBody>
          <a:bodyPr wrap="square" lIns="0" tIns="0" rIns="0" bIns="0" rtlCol="0" anchor="ctr"/>
          <a:lstStyle/>
          <a:p>
            <a:pPr algn="ctr" indent="0" marL="0">
              <a:buNone/>
            </a:pPr>
            <a:r>
              <a:rPr lang="en-US" sz="1800" b="1" dirty="0">
                <a:solidFill>
                  <a:srgbClr val="0A0E2A"/>
                </a:solidFill>
              </a:rPr>
              <a:t>P3</a:t>
            </a:r>
            <a:endParaRPr lang="en-US" sz="1800" dirty="0"/>
          </a:p>
        </p:txBody>
      </p:sp>
      <p:sp>
        <p:nvSpPr>
          <p:cNvPr id="5" name="Text 3"/>
          <p:cNvSpPr/>
          <p:nvPr/>
        </p:nvSpPr>
        <p:spPr>
          <a:xfrm>
            <a:off x="91440" y="3429000"/>
            <a:ext cx="3291840" cy="548640"/>
          </a:xfrm>
          <a:prstGeom prst="rect">
            <a:avLst/>
          </a:prstGeom>
          <a:noFill/>
          <a:ln/>
        </p:spPr>
        <p:txBody>
          <a:bodyPr wrap="square" lIns="0" tIns="0" rIns="0" bIns="0" rtlCol="0" anchor="ctr"/>
          <a:lstStyle/>
          <a:p>
            <a:pPr algn="ctr" indent="0" marL="0">
              <a:buNone/>
            </a:pPr>
            <a:r>
              <a:rPr lang="en-US" sz="1000" i="1" dirty="0">
                <a:solidFill>
                  <a:srgbClr val="0A0E2A"/>
                </a:solidFill>
              </a:rPr>
              <a:t>Robótica · Inclusión Social · IA</a:t>
            </a:r>
            <a:endParaRPr lang="en-US" sz="1000" dirty="0"/>
          </a:p>
        </p:txBody>
      </p:sp>
      <p:sp>
        <p:nvSpPr>
          <p:cNvPr id="6" name="Text 4"/>
          <p:cNvSpPr/>
          <p:nvPr/>
        </p:nvSpPr>
        <p:spPr>
          <a:xfrm>
            <a:off x="3840480" y="411480"/>
            <a:ext cx="5029200" cy="1188720"/>
          </a:xfrm>
          <a:prstGeom prst="rect">
            <a:avLst/>
          </a:prstGeom>
          <a:noFill/>
          <a:ln/>
        </p:spPr>
        <p:txBody>
          <a:bodyPr wrap="square" lIns="0" tIns="0" rIns="0" bIns="0" rtlCol="0" anchor="t"/>
          <a:lstStyle/>
          <a:p>
            <a:pPr indent="0" marL="0">
              <a:buNone/>
            </a:pPr>
            <a:r>
              <a:rPr lang="en-US" sz="2800" b="1" dirty="0">
                <a:solidFill>
                  <a:srgbClr val="FF4D6A"/>
                </a:solidFill>
              </a:rPr>
              <a:t>Silla de Ruedas Autónoma</a:t>
            </a:r>
            <a:endParaRPr lang="en-US" sz="2800" dirty="0"/>
          </a:p>
        </p:txBody>
      </p:sp>
      <p:sp>
        <p:nvSpPr>
          <p:cNvPr id="7" name="Shape 5"/>
          <p:cNvSpPr/>
          <p:nvPr/>
        </p:nvSpPr>
        <p:spPr>
          <a:xfrm>
            <a:off x="3840480" y="1691640"/>
            <a:ext cx="5029200" cy="2011680"/>
          </a:xfrm>
          <a:prstGeom prst="roundRect">
            <a:avLst>
              <a:gd name="adj" fmla="val 5455"/>
            </a:avLst>
          </a:prstGeom>
          <a:solidFill>
            <a:srgbClr val="1A2550"/>
          </a:solidFill>
          <a:ln w="19050">
            <a:solidFill>
              <a:srgbClr val="FF4D6A"/>
            </a:solidFill>
            <a:prstDash val="solid"/>
          </a:ln>
          <a:effectLst>
            <a:outerShdw sx="100000" sy="100000" kx="0" ky="0" algn="bl" rotWithShape="0" blurRad="127000" dist="38100" dir="2700000">
              <a:srgbClr val="000000">
                <a:alpha val="18000"/>
              </a:srgbClr>
            </a:outerShdw>
          </a:effectLst>
        </p:spPr>
      </p:sp>
      <p:sp>
        <p:nvSpPr>
          <p:cNvPr id="8" name="Text 6"/>
          <p:cNvSpPr/>
          <p:nvPr/>
        </p:nvSpPr>
        <p:spPr>
          <a:xfrm>
            <a:off x="3977640" y="1755648"/>
            <a:ext cx="4754880" cy="274320"/>
          </a:xfrm>
          <a:prstGeom prst="rect">
            <a:avLst/>
          </a:prstGeom>
          <a:noFill/>
          <a:ln/>
        </p:spPr>
        <p:txBody>
          <a:bodyPr wrap="square" lIns="0" tIns="0" rIns="0" bIns="0" rtlCol="0" anchor="ctr"/>
          <a:lstStyle/>
          <a:p>
            <a:pPr indent="0" marL="0">
              <a:buNone/>
            </a:pPr>
            <a:r>
              <a:rPr lang="en-US" sz="950" b="1" dirty="0">
                <a:solidFill>
                  <a:srgbClr val="FF4D6A"/>
                </a:solidFill>
              </a:rPr>
              <a:t>CONTEXTO DEL PROYECTO</a:t>
            </a:r>
            <a:endParaRPr lang="en-US" sz="950" dirty="0"/>
          </a:p>
        </p:txBody>
      </p:sp>
      <p:sp>
        <p:nvSpPr>
          <p:cNvPr id="9" name="Text 7"/>
          <p:cNvSpPr/>
          <p:nvPr/>
        </p:nvSpPr>
        <p:spPr>
          <a:xfrm>
            <a:off x="3977640" y="2057400"/>
            <a:ext cx="4754880" cy="1554480"/>
          </a:xfrm>
          <a:prstGeom prst="rect">
            <a:avLst/>
          </a:prstGeom>
          <a:noFill/>
          <a:ln/>
        </p:spPr>
        <p:txBody>
          <a:bodyPr wrap="square" lIns="0" tIns="0" rIns="0" bIns="0" rtlCol="0" anchor="ctr"/>
          <a:lstStyle/>
          <a:p>
            <a:pPr indent="0" marL="0">
              <a:buNone/>
            </a:pPr>
            <a:r>
              <a:rPr lang="en-US" sz="1250" dirty="0">
                <a:solidFill>
                  <a:srgbClr val="E8EDF5"/>
                </a:solidFill>
              </a:rPr>
              <a:t>Personas con movilidad reducida que utilizan sillas de ruedas en espacios con obstáculos y que no pueden maniobrar de forma segura sin asistencia.</a:t>
            </a:r>
            <a:endParaRPr lang="en-US" sz="1250" dirty="0"/>
          </a:p>
        </p:txBody>
      </p:sp>
      <p:sp>
        <p:nvSpPr>
          <p:cNvPr id="10" name="Shape 8"/>
          <p:cNvSpPr/>
          <p:nvPr/>
        </p:nvSpPr>
        <p:spPr>
          <a:xfrm>
            <a:off x="3840480" y="3840480"/>
            <a:ext cx="5029200" cy="868680"/>
          </a:xfrm>
          <a:prstGeom prst="roundRect">
            <a:avLst>
              <a:gd name="adj" fmla="val 10526"/>
            </a:avLst>
          </a:prstGeom>
          <a:solidFill>
            <a:srgbClr val="1A2550"/>
          </a:solidFill>
          <a:ln w="12700">
            <a:solidFill>
              <a:srgbClr val="FF4D6A">
                <a:alpha val="50000"/>
              </a:srgbClr>
            </a:solidFill>
            <a:prstDash val="solid"/>
          </a:ln>
        </p:spPr>
      </p:sp>
      <p:sp>
        <p:nvSpPr>
          <p:cNvPr id="11" name="Text 9"/>
          <p:cNvSpPr/>
          <p:nvPr/>
        </p:nvSpPr>
        <p:spPr>
          <a:xfrm>
            <a:off x="3977640" y="3886200"/>
            <a:ext cx="1097280" cy="274320"/>
          </a:xfrm>
          <a:prstGeom prst="rect">
            <a:avLst/>
          </a:prstGeom>
          <a:noFill/>
          <a:ln/>
        </p:spPr>
        <p:txBody>
          <a:bodyPr wrap="square" lIns="0" tIns="0" rIns="0" bIns="0" rtlCol="0" anchor="ctr"/>
          <a:lstStyle/>
          <a:p>
            <a:pPr indent="0" marL="0">
              <a:buNone/>
            </a:pPr>
            <a:r>
              <a:rPr lang="en-US" sz="900" b="1" dirty="0">
                <a:solidFill>
                  <a:srgbClr val="FF4D6A"/>
                </a:solidFill>
              </a:rPr>
              <a:t>5 RONDAS:</a:t>
            </a:r>
            <a:endParaRPr lang="en-US" sz="900" dirty="0"/>
          </a:p>
        </p:txBody>
      </p:sp>
      <p:sp>
        <p:nvSpPr>
          <p:cNvPr id="12" name="Shape 10"/>
          <p:cNvSpPr/>
          <p:nvPr/>
        </p:nvSpPr>
        <p:spPr>
          <a:xfrm>
            <a:off x="3977640" y="4187952"/>
            <a:ext cx="868680" cy="411480"/>
          </a:xfrm>
          <a:prstGeom prst="roundRect">
            <a:avLst>
              <a:gd name="adj" fmla="val 15556"/>
            </a:avLst>
          </a:prstGeom>
          <a:solidFill>
            <a:srgbClr val="FFB800">
              <a:alpha val="85000"/>
            </a:srgbClr>
          </a:solidFill>
          <a:ln w="12700">
            <a:solidFill>
              <a:srgbClr val="FFB800"/>
            </a:solidFill>
            <a:prstDash val="solid"/>
          </a:ln>
        </p:spPr>
      </p:sp>
      <p:sp>
        <p:nvSpPr>
          <p:cNvPr id="13" name="Text 11"/>
          <p:cNvSpPr/>
          <p:nvPr/>
        </p:nvSpPr>
        <p:spPr>
          <a:xfrm>
            <a:off x="397764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Prob.</a:t>
            </a:r>
            <a:endParaRPr lang="en-US" sz="750" dirty="0"/>
          </a:p>
          <a:p>
            <a:pPr algn="ctr" indent="0" marL="0">
              <a:buNone/>
            </a:pPr>
            <a:r>
              <a:rPr lang="en-US" sz="750" b="1" dirty="0">
                <a:solidFill>
                  <a:srgbClr val="0A0E2A"/>
                </a:solidFill>
              </a:rPr>
              <a:t>Vago</a:t>
            </a:r>
            <a:endParaRPr lang="en-US" sz="750" dirty="0"/>
          </a:p>
        </p:txBody>
      </p:sp>
      <p:sp>
        <p:nvSpPr>
          <p:cNvPr id="14" name="Shape 12"/>
          <p:cNvSpPr/>
          <p:nvPr/>
        </p:nvSpPr>
        <p:spPr>
          <a:xfrm>
            <a:off x="4937760" y="4187952"/>
            <a:ext cx="868680" cy="411480"/>
          </a:xfrm>
          <a:prstGeom prst="roundRect">
            <a:avLst>
              <a:gd name="adj" fmla="val 15556"/>
            </a:avLst>
          </a:prstGeom>
          <a:solidFill>
            <a:srgbClr val="00D4FF">
              <a:alpha val="85000"/>
            </a:srgbClr>
          </a:solidFill>
          <a:ln w="12700">
            <a:solidFill>
              <a:srgbClr val="00D4FF"/>
            </a:solidFill>
            <a:prstDash val="solid"/>
          </a:ln>
        </p:spPr>
      </p:sp>
      <p:sp>
        <p:nvSpPr>
          <p:cNvPr id="15" name="Text 13"/>
          <p:cNvSpPr/>
          <p:nvPr/>
        </p:nvSpPr>
        <p:spPr>
          <a:xfrm>
            <a:off x="493776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Dispa-</a:t>
            </a:r>
            <a:endParaRPr lang="en-US" sz="750" dirty="0"/>
          </a:p>
          <a:p>
            <a:pPr algn="ctr" indent="0" marL="0">
              <a:buNone/>
            </a:pPr>
            <a:r>
              <a:rPr lang="en-US" sz="750" b="1" dirty="0">
                <a:solidFill>
                  <a:srgbClr val="0A0E2A"/>
                </a:solidFill>
              </a:rPr>
              <a:t>radoras</a:t>
            </a:r>
            <a:endParaRPr lang="en-US" sz="750" dirty="0"/>
          </a:p>
        </p:txBody>
      </p:sp>
      <p:sp>
        <p:nvSpPr>
          <p:cNvPr id="16" name="Shape 14"/>
          <p:cNvSpPr/>
          <p:nvPr/>
        </p:nvSpPr>
        <p:spPr>
          <a:xfrm>
            <a:off x="5897880" y="4187952"/>
            <a:ext cx="868680" cy="411480"/>
          </a:xfrm>
          <a:prstGeom prst="roundRect">
            <a:avLst>
              <a:gd name="adj" fmla="val 15556"/>
            </a:avLst>
          </a:prstGeom>
          <a:solidFill>
            <a:srgbClr val="00C896">
              <a:alpha val="85000"/>
            </a:srgbClr>
          </a:solidFill>
          <a:ln w="12700">
            <a:solidFill>
              <a:srgbClr val="00C896"/>
            </a:solidFill>
            <a:prstDash val="solid"/>
          </a:ln>
        </p:spPr>
      </p:sp>
      <p:sp>
        <p:nvSpPr>
          <p:cNvPr id="17" name="Text 15"/>
          <p:cNvSpPr/>
          <p:nvPr/>
        </p:nvSpPr>
        <p:spPr>
          <a:xfrm>
            <a:off x="589788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4 Comp.</a:t>
            </a:r>
            <a:endParaRPr lang="en-US" sz="750" dirty="0"/>
          </a:p>
          <a:p>
            <a:pPr algn="ctr" indent="0" marL="0">
              <a:buNone/>
            </a:pPr>
            <a:r>
              <a:rPr lang="en-US" sz="750" b="1" dirty="0">
                <a:solidFill>
                  <a:srgbClr val="0A0E2A"/>
                </a:solidFill>
              </a:rPr>
              <a:t>+ Técnico</a:t>
            </a:r>
            <a:endParaRPr lang="en-US" sz="750" dirty="0"/>
          </a:p>
        </p:txBody>
      </p:sp>
      <p:sp>
        <p:nvSpPr>
          <p:cNvPr id="18" name="Shape 16"/>
          <p:cNvSpPr/>
          <p:nvPr/>
        </p:nvSpPr>
        <p:spPr>
          <a:xfrm>
            <a:off x="6858000" y="4187952"/>
            <a:ext cx="868680" cy="411480"/>
          </a:xfrm>
          <a:prstGeom prst="roundRect">
            <a:avLst>
              <a:gd name="adj" fmla="val 15556"/>
            </a:avLst>
          </a:prstGeom>
          <a:solidFill>
            <a:srgbClr val="9B59B6">
              <a:alpha val="85000"/>
            </a:srgbClr>
          </a:solidFill>
          <a:ln w="12700">
            <a:solidFill>
              <a:srgbClr val="9B59B6"/>
            </a:solidFill>
            <a:prstDash val="solid"/>
          </a:ln>
        </p:spPr>
      </p:sp>
      <p:sp>
        <p:nvSpPr>
          <p:cNvPr id="19" name="Text 17"/>
          <p:cNvSpPr/>
          <p:nvPr/>
        </p:nvSpPr>
        <p:spPr>
          <a:xfrm>
            <a:off x="685800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Obje-</a:t>
            </a:r>
            <a:endParaRPr lang="en-US" sz="750" dirty="0"/>
          </a:p>
          <a:p>
            <a:pPr algn="ctr" indent="0" marL="0">
              <a:buNone/>
            </a:pPr>
            <a:r>
              <a:rPr lang="en-US" sz="750" b="1" dirty="0">
                <a:solidFill>
                  <a:srgbClr val="0A0E2A"/>
                </a:solidFill>
              </a:rPr>
              <a:t>tivos</a:t>
            </a:r>
            <a:endParaRPr lang="en-US" sz="750" dirty="0"/>
          </a:p>
        </p:txBody>
      </p:sp>
      <p:sp>
        <p:nvSpPr>
          <p:cNvPr id="20" name="Shape 18"/>
          <p:cNvSpPr/>
          <p:nvPr/>
        </p:nvSpPr>
        <p:spPr>
          <a:xfrm>
            <a:off x="7818120" y="4187952"/>
            <a:ext cx="868680" cy="411480"/>
          </a:xfrm>
          <a:prstGeom prst="roundRect">
            <a:avLst>
              <a:gd name="adj" fmla="val 15556"/>
            </a:avLst>
          </a:prstGeom>
          <a:solidFill>
            <a:srgbClr val="FF4D6A">
              <a:alpha val="85000"/>
            </a:srgbClr>
          </a:solidFill>
          <a:ln w="12700">
            <a:solidFill>
              <a:srgbClr val="FF4D6A"/>
            </a:solidFill>
            <a:prstDash val="solid"/>
          </a:ln>
        </p:spPr>
      </p:sp>
      <p:sp>
        <p:nvSpPr>
          <p:cNvPr id="21" name="Text 19"/>
          <p:cNvSpPr/>
          <p:nvPr/>
        </p:nvSpPr>
        <p:spPr>
          <a:xfrm>
            <a:off x="781812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Solu-</a:t>
            </a:r>
            <a:endParaRPr lang="en-US" sz="750" dirty="0"/>
          </a:p>
          <a:p>
            <a:pPr algn="ctr" indent="0" marL="0">
              <a:buNone/>
            </a:pPr>
            <a:r>
              <a:rPr lang="en-US" sz="750" b="1" dirty="0">
                <a:solidFill>
                  <a:srgbClr val="0A0E2A"/>
                </a:solidFill>
              </a:rPr>
              <a:t>ción</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4D6A"/>
          </a:solidFill>
          <a:ln w="12700">
            <a:solidFill>
              <a:srgbClr val="FF4D6A"/>
            </a:solidFill>
            <a:prstDash val="solid"/>
          </a:ln>
        </p:spPr>
      </p:sp>
      <p:sp>
        <p:nvSpPr>
          <p:cNvPr id="3" name="Text 1"/>
          <p:cNvSpPr/>
          <p:nvPr/>
        </p:nvSpPr>
        <p:spPr>
          <a:xfrm>
            <a:off x="274320" y="0"/>
            <a:ext cx="6858000" cy="502920"/>
          </a:xfrm>
          <a:prstGeom prst="rect">
            <a:avLst/>
          </a:prstGeom>
          <a:noFill/>
          <a:ln/>
        </p:spPr>
        <p:txBody>
          <a:bodyPr wrap="square" lIns="0" tIns="0" rIns="0" bIns="0" rtlCol="0" anchor="ctr"/>
          <a:lstStyle/>
          <a:p>
            <a:pPr indent="0" marL="0">
              <a:buNone/>
            </a:pPr>
            <a:r>
              <a:rPr lang="en-US" sz="1100" b="1" dirty="0">
                <a:solidFill>
                  <a:srgbClr val="0A0E2A"/>
                </a:solidFill>
              </a:rPr>
              <a:t>SILLA DE RUEDAS AUTÓNOMA  ·  LEÉ ANTES DE LA RONDA 1</a:t>
            </a:r>
            <a:endParaRPr lang="en-US" sz="1100" dirty="0"/>
          </a:p>
        </p:txBody>
      </p:sp>
      <p:sp>
        <p:nvSpPr>
          <p:cNvPr id="4" name="Shape 2"/>
          <p:cNvSpPr/>
          <p:nvPr/>
        </p:nvSpPr>
        <p:spPr>
          <a:xfrm>
            <a:off x="7863840" y="54864"/>
            <a:ext cx="384048" cy="384048"/>
          </a:xfrm>
          <a:prstGeom prst="ellipse">
            <a:avLst/>
          </a:prstGeom>
          <a:solidFill>
            <a:srgbClr val="0A0E2A"/>
          </a:solidFill>
          <a:ln w="12700">
            <a:solidFill>
              <a:srgbClr val="0A0E2A"/>
            </a:solidFill>
            <a:prstDash val="solid"/>
          </a:ln>
        </p:spPr>
      </p:sp>
      <p:sp>
        <p:nvSpPr>
          <p:cNvPr id="5" name="Text 3"/>
          <p:cNvSpPr/>
          <p:nvPr/>
        </p:nvSpPr>
        <p:spPr>
          <a:xfrm>
            <a:off x="7863840" y="54864"/>
            <a:ext cx="384048" cy="384048"/>
          </a:xfrm>
          <a:prstGeom prst="rect">
            <a:avLst/>
          </a:prstGeom>
          <a:noFill/>
          <a:ln/>
        </p:spPr>
        <p:txBody>
          <a:bodyPr wrap="square" lIns="0" tIns="0" rIns="0" bIns="0" rtlCol="0" anchor="ctr"/>
          <a:lstStyle/>
          <a:p>
            <a:pPr algn="ctr" indent="0" marL="0">
              <a:buNone/>
            </a:pPr>
            <a:r>
              <a:rPr lang="en-US" sz="1300" b="1" dirty="0">
                <a:solidFill>
                  <a:srgbClr val="FF4D6A"/>
                </a:solidFill>
              </a:rPr>
              <a:t>3</a:t>
            </a:r>
            <a:endParaRPr lang="en-US" sz="1300" dirty="0"/>
          </a:p>
        </p:txBody>
      </p:sp>
      <p:sp>
        <p:nvSpPr>
          <p:cNvPr id="6" name="Shape 4"/>
          <p:cNvSpPr/>
          <p:nvPr/>
        </p:nvSpPr>
        <p:spPr>
          <a:xfrm>
            <a:off x="0" y="502920"/>
            <a:ext cx="2560320" cy="4640580"/>
          </a:xfrm>
          <a:prstGeom prst="rect">
            <a:avLst/>
          </a:prstGeom>
          <a:solidFill>
            <a:srgbClr val="FF4D6A"/>
          </a:solidFill>
          <a:ln w="12700">
            <a:solidFill>
              <a:srgbClr val="FF4D6A"/>
            </a:solidFill>
            <a:prstDash val="solid"/>
          </a:ln>
        </p:spPr>
      </p:sp>
      <p:sp>
        <p:nvSpPr>
          <p:cNvPr id="7" name="Text 5"/>
          <p:cNvSpPr/>
          <p:nvPr/>
        </p:nvSpPr>
        <p:spPr>
          <a:xfrm>
            <a:off x="0" y="548640"/>
            <a:ext cx="2560320" cy="2286000"/>
          </a:xfrm>
          <a:prstGeom prst="rect">
            <a:avLst/>
          </a:prstGeom>
          <a:noFill/>
          <a:ln/>
        </p:spPr>
        <p:txBody>
          <a:bodyPr wrap="square" lIns="0" tIns="0" rIns="0" bIns="0" rtlCol="0" anchor="ctr"/>
          <a:lstStyle/>
          <a:p>
            <a:pPr algn="ctr" indent="0" marL="0">
              <a:buNone/>
            </a:pPr>
            <a:r>
              <a:rPr lang="en-US" sz="14000" b="1" dirty="0">
                <a:solidFill>
                  <a:srgbClr val="0A0E2A"/>
                </a:solidFill>
              </a:rPr>
              <a:t>3</a:t>
            </a:r>
            <a:endParaRPr lang="en-US" sz="14000" dirty="0"/>
          </a:p>
        </p:txBody>
      </p:sp>
      <p:sp>
        <p:nvSpPr>
          <p:cNvPr id="8" name="Text 6"/>
          <p:cNvSpPr/>
          <p:nvPr/>
        </p:nvSpPr>
        <p:spPr>
          <a:xfrm>
            <a:off x="91440" y="3108960"/>
            <a:ext cx="2377440" cy="1371600"/>
          </a:xfrm>
          <a:prstGeom prst="rect">
            <a:avLst/>
          </a:prstGeom>
          <a:noFill/>
          <a:ln/>
        </p:spPr>
        <p:txBody>
          <a:bodyPr wrap="square" lIns="0" tIns="0" rIns="0" bIns="0" rtlCol="0" anchor="ctr"/>
          <a:lstStyle/>
          <a:p>
            <a:pPr algn="ctr" indent="0" marL="0">
              <a:buNone/>
            </a:pPr>
            <a:r>
              <a:rPr lang="en-US" sz="1100" b="1" dirty="0">
                <a:solidFill>
                  <a:srgbClr val="0A0E2A"/>
                </a:solidFill>
              </a:rPr>
              <a:t>Robótica</a:t>
            </a:r>
            <a:endParaRPr lang="en-US" sz="1100" dirty="0"/>
          </a:p>
          <a:p>
            <a:pPr algn="ctr" indent="0" marL="0">
              <a:buNone/>
            </a:pPr>
            <a:r>
              <a:rPr lang="en-US" sz="1100" b="1" dirty="0">
                <a:solidFill>
                  <a:srgbClr val="0A0E2A"/>
                </a:solidFill>
              </a:rPr>
              <a:t>Inclusión Social</a:t>
            </a:r>
            <a:endParaRPr lang="en-US" sz="1100" dirty="0"/>
          </a:p>
          <a:p>
            <a:pPr algn="ctr" indent="0" marL="0">
              <a:buNone/>
            </a:pPr>
            <a:r>
              <a:rPr lang="en-US" sz="1100" b="1" dirty="0">
                <a:solidFill>
                  <a:srgbClr val="0A0E2A"/>
                </a:solidFill>
              </a:rPr>
              <a:t>IA</a:t>
            </a:r>
            <a:endParaRPr lang="en-US" sz="1100" dirty="0"/>
          </a:p>
        </p:txBody>
      </p:sp>
      <p:sp>
        <p:nvSpPr>
          <p:cNvPr id="9" name="Text 7"/>
          <p:cNvSpPr/>
          <p:nvPr/>
        </p:nvSpPr>
        <p:spPr>
          <a:xfrm>
            <a:off x="2926080" y="594360"/>
            <a:ext cx="5943600" cy="868680"/>
          </a:xfrm>
          <a:prstGeom prst="rect">
            <a:avLst/>
          </a:prstGeom>
          <a:noFill/>
          <a:ln/>
        </p:spPr>
        <p:txBody>
          <a:bodyPr wrap="square" lIns="0" tIns="0" rIns="0" bIns="0" rtlCol="0" anchor="t"/>
          <a:lstStyle/>
          <a:p>
            <a:pPr indent="0" marL="0">
              <a:buNone/>
            </a:pPr>
            <a:r>
              <a:rPr lang="en-US" sz="2400" b="1" dirty="0">
                <a:solidFill>
                  <a:srgbClr val="FF4D6A"/>
                </a:solidFill>
              </a:rPr>
              <a:t>Silla de Ruedas Autónoma</a:t>
            </a:r>
            <a:endParaRPr lang="en-US" sz="2400" dirty="0"/>
          </a:p>
        </p:txBody>
      </p:sp>
      <p:sp>
        <p:nvSpPr>
          <p:cNvPr id="10" name="Shape 8"/>
          <p:cNvSpPr/>
          <p:nvPr/>
        </p:nvSpPr>
        <p:spPr>
          <a:xfrm>
            <a:off x="2834640" y="1572768"/>
            <a:ext cx="6035040" cy="1920240"/>
          </a:xfrm>
          <a:prstGeom prst="roundRect">
            <a:avLst>
              <a:gd name="adj" fmla="val 5714"/>
            </a:avLst>
          </a:prstGeom>
          <a:solidFill>
            <a:srgbClr val="0A0E2A"/>
          </a:solidFill>
          <a:ln w="19050">
            <a:solidFill>
              <a:srgbClr val="FF4D6A"/>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3017520" y="1645920"/>
            <a:ext cx="5669280" cy="256032"/>
          </a:xfrm>
          <a:prstGeom prst="rect">
            <a:avLst/>
          </a:prstGeom>
          <a:noFill/>
          <a:ln/>
        </p:spPr>
        <p:txBody>
          <a:bodyPr wrap="square" lIns="0" tIns="0" rIns="0" bIns="0" rtlCol="0" anchor="ctr"/>
          <a:lstStyle/>
          <a:p>
            <a:pPr indent="0" marL="0">
              <a:buNone/>
            </a:pPr>
            <a:r>
              <a:rPr lang="en-US" sz="950" b="1" dirty="0">
                <a:solidFill>
                  <a:srgbClr val="FF4D6A"/>
                </a:solidFill>
              </a:rPr>
              <a:t>LA SITUACIÓN</a:t>
            </a:r>
            <a:endParaRPr lang="en-US" sz="950" dirty="0"/>
          </a:p>
        </p:txBody>
      </p:sp>
      <p:sp>
        <p:nvSpPr>
          <p:cNvPr id="12" name="Text 10"/>
          <p:cNvSpPr/>
          <p:nvPr/>
        </p:nvSpPr>
        <p:spPr>
          <a:xfrm>
            <a:off x="3017520" y="1938528"/>
            <a:ext cx="5669280" cy="1463040"/>
          </a:xfrm>
          <a:prstGeom prst="rect">
            <a:avLst/>
          </a:prstGeom>
          <a:noFill/>
          <a:ln/>
        </p:spPr>
        <p:txBody>
          <a:bodyPr wrap="square" lIns="0" tIns="0" rIns="0" bIns="0" rtlCol="0" anchor="ctr"/>
          <a:lstStyle/>
          <a:p>
            <a:pPr indent="0" marL="0">
              <a:lnSpc>
                <a:spcPct val="115000"/>
              </a:lnSpc>
              <a:buNone/>
            </a:pPr>
            <a:r>
              <a:rPr lang="en-US" sz="1250" dirty="0">
                <a:solidFill>
                  <a:srgbClr val="E8EDF5"/>
                </a:solidFill>
              </a:rPr>
              <a:t>Una persona con movilidad reducida usa una silla de ruedas motorizada para moverse en su casa o en un pasillo. Los pasillos tienen muebles, puertas entornadas, personas caminando. Cuando la silla se mueve sola o el usuario se distrae, no hay nada que la frene antes de un choque. El riesgo es concreto y frecuente.</a:t>
            </a:r>
            <a:endParaRPr lang="en-US" sz="1250" dirty="0"/>
          </a:p>
        </p:txBody>
      </p:sp>
      <p:sp>
        <p:nvSpPr>
          <p:cNvPr id="13" name="Shape 11"/>
          <p:cNvSpPr/>
          <p:nvPr/>
        </p:nvSpPr>
        <p:spPr>
          <a:xfrm>
            <a:off x="2834640" y="3611880"/>
            <a:ext cx="6035040" cy="594360"/>
          </a:xfrm>
          <a:prstGeom prst="roundRect">
            <a:avLst>
              <a:gd name="adj" fmla="val 15385"/>
            </a:avLst>
          </a:prstGeom>
          <a:solidFill>
            <a:srgbClr val="FFFFFF"/>
          </a:solidFill>
          <a:ln w="12700">
            <a:solidFill>
              <a:srgbClr val="FF4D6A">
                <a:alpha val="50000"/>
              </a:srgbClr>
            </a:solidFill>
            <a:prstDash val="solid"/>
          </a:ln>
        </p:spPr>
      </p:sp>
      <p:sp>
        <p:nvSpPr>
          <p:cNvPr id="14" name="Text 12"/>
          <p:cNvSpPr/>
          <p:nvPr/>
        </p:nvSpPr>
        <p:spPr>
          <a:xfrm>
            <a:off x="2999232" y="3611880"/>
            <a:ext cx="1005840" cy="594360"/>
          </a:xfrm>
          <a:prstGeom prst="rect">
            <a:avLst/>
          </a:prstGeom>
          <a:noFill/>
          <a:ln/>
        </p:spPr>
        <p:txBody>
          <a:bodyPr wrap="square" lIns="0" tIns="0" rIns="0" bIns="0" rtlCol="0" anchor="ctr"/>
          <a:lstStyle/>
          <a:p>
            <a:pPr indent="0" marL="0">
              <a:buNone/>
            </a:pPr>
            <a:r>
              <a:rPr lang="en-US" sz="950" b="1" dirty="0">
                <a:solidFill>
                  <a:srgbClr val="FF4D6A"/>
                </a:solidFill>
              </a:rPr>
              <a:t>CONTEXTO:</a:t>
            </a:r>
            <a:endParaRPr lang="en-US" sz="950" dirty="0"/>
          </a:p>
        </p:txBody>
      </p:sp>
      <p:sp>
        <p:nvSpPr>
          <p:cNvPr id="15" name="Text 13"/>
          <p:cNvSpPr/>
          <p:nvPr/>
        </p:nvSpPr>
        <p:spPr>
          <a:xfrm>
            <a:off x="4041648" y="3611880"/>
            <a:ext cx="4736592" cy="594360"/>
          </a:xfrm>
          <a:prstGeom prst="rect">
            <a:avLst/>
          </a:prstGeom>
          <a:noFill/>
          <a:ln/>
        </p:spPr>
        <p:txBody>
          <a:bodyPr wrap="square" lIns="0" tIns="0" rIns="0" bIns="0" rtlCol="0" anchor="ctr"/>
          <a:lstStyle/>
          <a:p>
            <a:pPr indent="0" marL="0">
              <a:buNone/>
            </a:pPr>
            <a:r>
              <a:rPr lang="en-US" sz="1100" dirty="0">
                <a:solidFill>
                  <a:srgbClr val="2E3A5C"/>
                </a:solidFill>
              </a:rPr>
              <a:t>Personas con movilidad reducida que utilizan sillas de ruedas en espacios con obstáculos y que no pueden maniobrar de forma segura sin asistencia.</a:t>
            </a:r>
            <a:endParaRPr lang="en-US" sz="1100" dirty="0"/>
          </a:p>
        </p:txBody>
      </p:sp>
      <p:sp>
        <p:nvSpPr>
          <p:cNvPr id="16" name="Shape 14"/>
          <p:cNvSpPr/>
          <p:nvPr/>
        </p:nvSpPr>
        <p:spPr>
          <a:xfrm>
            <a:off x="2834640" y="4325112"/>
            <a:ext cx="6035040" cy="594360"/>
          </a:xfrm>
          <a:prstGeom prst="roundRect">
            <a:avLst>
              <a:gd name="adj" fmla="val 15385"/>
            </a:avLst>
          </a:prstGeom>
          <a:solidFill>
            <a:srgbClr val="FF4D6A">
              <a:alpha val="92000"/>
            </a:srgbClr>
          </a:solidFill>
          <a:ln w="12700">
            <a:solidFill>
              <a:srgbClr val="FF4D6A"/>
            </a:solidFill>
            <a:prstDash val="solid"/>
          </a:ln>
        </p:spPr>
      </p:sp>
      <p:sp>
        <p:nvSpPr>
          <p:cNvPr id="17" name="Text 15"/>
          <p:cNvSpPr/>
          <p:nvPr/>
        </p:nvSpPr>
        <p:spPr>
          <a:xfrm>
            <a:off x="2971800" y="4325112"/>
            <a:ext cx="5806440" cy="594360"/>
          </a:xfrm>
          <a:prstGeom prst="rect">
            <a:avLst/>
          </a:prstGeom>
          <a:noFill/>
          <a:ln/>
        </p:spPr>
        <p:txBody>
          <a:bodyPr wrap="square" lIns="0" tIns="0" rIns="0" bIns="0" rtlCol="0" anchor="ctr"/>
          <a:lstStyle/>
          <a:p>
            <a:pPr indent="0" marL="0">
              <a:buNone/>
            </a:pPr>
            <a:r>
              <a:rPr lang="en-US" sz="1200" b="1" dirty="0">
                <a:solidFill>
                  <a:srgbClr val="0A0E2A"/>
                </a:solidFill>
              </a:rPr>
              <a:t>❓  ¿Qué problema hay acá? — Escriban su respuesta en Ronda 1</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4D6A"/>
          </a:solidFill>
          <a:ln w="12700">
            <a:solidFill>
              <a:srgbClr val="FF4D6A"/>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SILLA DE RUEDAS AUTÓNOMA  ·  RONDA 1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B800"/>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B800"/>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B800"/>
                </a:solidFill>
              </a:rPr>
              <a:t>RONDA 1</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B800"/>
                </a:solidFill>
              </a:rPr>
              <a:t>PROBLEMA VAGO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B800"/>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Lean la slide anterior. Escriban en UNA oración el problema vago que da origen a esta solución.</a:t>
            </a:r>
            <a:endParaRPr lang="en-US" sz="1300" dirty="0"/>
          </a:p>
          <a:p>
            <a:pPr indent="0" marL="0">
              <a:buNone/>
            </a:pPr>
            <a:r>
              <a:rPr lang="en-US" sz="1300" dirty="0">
                <a:solidFill>
                  <a:srgbClr val="E8EDF5"/>
                </a:solidFill>
              </a:rPr>
              <a:t>No técnico. Como lo diría alguien en la calle.</a:t>
            </a:r>
            <a:endParaRPr lang="en-US" sz="1300" dirty="0"/>
          </a:p>
        </p:txBody>
      </p:sp>
      <p:sp>
        <p:nvSpPr>
          <p:cNvPr id="10" name="Shape 8"/>
          <p:cNvSpPr/>
          <p:nvPr/>
        </p:nvSpPr>
        <p:spPr>
          <a:xfrm>
            <a:off x="365760" y="2606040"/>
            <a:ext cx="8412480" cy="2194560"/>
          </a:xfrm>
          <a:prstGeom prst="roundRect">
            <a:avLst>
              <a:gd name="adj" fmla="val 5000"/>
            </a:avLst>
          </a:prstGeom>
          <a:solidFill>
            <a:srgbClr val="1A2550"/>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548640" y="2670048"/>
            <a:ext cx="8046720" cy="274320"/>
          </a:xfrm>
          <a:prstGeom prst="rect">
            <a:avLst/>
          </a:prstGeom>
          <a:noFill/>
          <a:ln/>
        </p:spPr>
        <p:txBody>
          <a:bodyPr wrap="square" lIns="0" tIns="0" rIns="0" bIns="0" rtlCol="0" anchor="ctr"/>
          <a:lstStyle/>
          <a:p>
            <a:pPr indent="0" marL="0">
              <a:buNone/>
            </a:pPr>
            <a:r>
              <a:rPr lang="en-US" sz="1000" b="1" dirty="0">
                <a:solidFill>
                  <a:srgbClr val="FFB800"/>
                </a:solidFill>
              </a:rPr>
              <a:t>PISTA — ¿Cómo lo diría alguien sin conocimiento técnico?</a:t>
            </a:r>
            <a:endParaRPr lang="en-US" sz="1000" dirty="0"/>
          </a:p>
        </p:txBody>
      </p:sp>
      <p:sp>
        <p:nvSpPr>
          <p:cNvPr id="12" name="Text 10"/>
          <p:cNvSpPr/>
          <p:nvPr/>
        </p:nvSpPr>
        <p:spPr>
          <a:xfrm>
            <a:off x="548640" y="2999232"/>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NO: 'La distancia al obstáculo es menor a 30 cm' — eso es técnico, no vago.</a:t>
            </a:r>
            <a:endParaRPr lang="en-US" sz="1100" dirty="0"/>
          </a:p>
        </p:txBody>
      </p:sp>
      <p:sp>
        <p:nvSpPr>
          <p:cNvPr id="13" name="Text 11"/>
          <p:cNvSpPr/>
          <p:nvPr/>
        </p:nvSpPr>
        <p:spPr>
          <a:xfrm>
            <a:off x="548640" y="3291840"/>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SÍ: 'Las personas en silla de ruedas se chocan con cosas cuando se mueven solas en la casa.'</a:t>
            </a:r>
            <a:endParaRPr lang="en-US" sz="1100" dirty="0"/>
          </a:p>
        </p:txBody>
      </p:sp>
      <p:sp>
        <p:nvSpPr>
          <p:cNvPr id="14" name="Shape 12"/>
          <p:cNvSpPr/>
          <p:nvPr/>
        </p:nvSpPr>
        <p:spPr>
          <a:xfrm>
            <a:off x="548640" y="3657600"/>
            <a:ext cx="8046720" cy="457200"/>
          </a:xfrm>
          <a:prstGeom prst="roundRect">
            <a:avLst>
              <a:gd name="adj" fmla="val 16000"/>
            </a:avLst>
          </a:prstGeom>
          <a:solidFill>
            <a:srgbClr val="FFB800">
              <a:alpha val="88000"/>
            </a:srgbClr>
          </a:solidFill>
          <a:ln w="12700">
            <a:solidFill>
              <a:srgbClr val="FFB800"/>
            </a:solidFill>
            <a:prstDash val="solid"/>
          </a:ln>
        </p:spPr>
      </p:sp>
      <p:sp>
        <p:nvSpPr>
          <p:cNvPr id="15" name="Text 13"/>
          <p:cNvSpPr/>
          <p:nvPr/>
        </p:nvSpPr>
        <p:spPr>
          <a:xfrm>
            <a:off x="685800" y="3657600"/>
            <a:ext cx="7772400" cy="457200"/>
          </a:xfrm>
          <a:prstGeom prst="rect">
            <a:avLst/>
          </a:prstGeom>
          <a:noFill/>
          <a:ln/>
        </p:spPr>
        <p:txBody>
          <a:bodyPr wrap="square" lIns="0" tIns="0" rIns="0" bIns="0" rtlCol="0" anchor="ctr"/>
          <a:lstStyle/>
          <a:p>
            <a:pPr indent="0" marL="0">
              <a:buNone/>
            </a:pPr>
            <a:r>
              <a:rPr lang="en-US" sz="1200" b="1" dirty="0">
                <a:solidFill>
                  <a:srgbClr val="0A0E2A"/>
                </a:solidFill>
              </a:rPr>
              <a:t>✍  Escriban su problema vago. Comparten al terminar el tiempo.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4D6A"/>
          </a:solidFill>
          <a:ln w="12700">
            <a:solidFill>
              <a:srgbClr val="FF4D6A"/>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SILLA DE RUEDAS AUTÓNOMA  ·  RONDA 2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D4FF"/>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D4FF"/>
                </a:solidFill>
              </a:rPr>
              <a:t>⏱  4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D4FF"/>
                </a:solidFill>
              </a:rPr>
              <a:t>RONDA 2</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PREGUNTAS DISPARADORAS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00D4FF"/>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Formulen UNA pregunta disparadora para cada tipo:</a:t>
            </a:r>
            <a:endParaRPr lang="en-US" sz="1300" dirty="0"/>
          </a:p>
          <a:p>
            <a:pPr indent="0" marL="0">
              <a:buNone/>
            </a:pPr>
            <a:r>
              <a:rPr lang="en-US" sz="1300" dirty="0">
                <a:solidFill>
                  <a:srgbClr val="0A0E2A"/>
                </a:solidFill>
              </a:rPr>
              <a:t>¿Cómo...? · ¿Por qué...? · ¿Para qué...? · ¿Qué harías...?</a:t>
            </a:r>
            <a:endParaRPr lang="en-US" sz="1300" dirty="0"/>
          </a:p>
        </p:txBody>
      </p:sp>
      <p:sp>
        <p:nvSpPr>
          <p:cNvPr id="10" name="Shape 8"/>
          <p:cNvSpPr/>
          <p:nvPr/>
        </p:nvSpPr>
        <p:spPr>
          <a:xfrm>
            <a:off x="365760" y="2578608"/>
            <a:ext cx="4160520" cy="1078992"/>
          </a:xfrm>
          <a:prstGeom prst="roundRect">
            <a:avLst>
              <a:gd name="adj" fmla="val 8475"/>
            </a:avLst>
          </a:prstGeom>
          <a:solidFill>
            <a:srgbClr val="FFFFFF"/>
          </a:solidFill>
          <a:ln w="19050">
            <a:solidFill>
              <a:srgbClr val="00D4FF"/>
            </a:solidFill>
            <a:prstDash val="solid"/>
          </a:ln>
          <a:effectLst>
            <a:outerShdw sx="100000" sy="100000" kx="0" ky="0" algn="bl" rotWithShape="0" blurRad="127000" dist="38100" dir="2700000">
              <a:srgbClr val="000000">
                <a:alpha val="18000"/>
              </a:srgbClr>
            </a:outerShdw>
          </a:effectLst>
        </p:spPr>
      </p:sp>
      <p:sp>
        <p:nvSpPr>
          <p:cNvPr id="11" name="Shape 9"/>
          <p:cNvSpPr/>
          <p:nvPr/>
        </p:nvSpPr>
        <p:spPr>
          <a:xfrm>
            <a:off x="457200" y="2670048"/>
            <a:ext cx="1371600" cy="292608"/>
          </a:xfrm>
          <a:prstGeom prst="roundRect">
            <a:avLst>
              <a:gd name="adj" fmla="val 15625"/>
            </a:avLst>
          </a:prstGeom>
          <a:solidFill>
            <a:srgbClr val="00D4FF">
              <a:alpha val="90000"/>
            </a:srgbClr>
          </a:solidFill>
          <a:ln w="12700">
            <a:solidFill>
              <a:srgbClr val="00D4FF"/>
            </a:solidFill>
            <a:prstDash val="solid"/>
          </a:ln>
        </p:spPr>
      </p:sp>
      <p:sp>
        <p:nvSpPr>
          <p:cNvPr id="12" name="Text 10"/>
          <p:cNvSpPr/>
          <p:nvPr/>
        </p:nvSpPr>
        <p:spPr>
          <a:xfrm>
            <a:off x="4572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¿Cómo...?</a:t>
            </a:r>
            <a:endParaRPr lang="en-US" sz="1100" dirty="0"/>
          </a:p>
        </p:txBody>
      </p:sp>
      <p:sp>
        <p:nvSpPr>
          <p:cNvPr id="13" name="Text 11"/>
          <p:cNvSpPr/>
          <p:nvPr/>
        </p:nvSpPr>
        <p:spPr>
          <a:xfrm>
            <a:off x="19202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Busca crear un proceso o solución</a:t>
            </a:r>
            <a:endParaRPr lang="en-US" sz="950" dirty="0"/>
          </a:p>
        </p:txBody>
      </p:sp>
      <p:sp>
        <p:nvSpPr>
          <p:cNvPr id="14" name="Shape 12"/>
          <p:cNvSpPr/>
          <p:nvPr/>
        </p:nvSpPr>
        <p:spPr>
          <a:xfrm>
            <a:off x="457200" y="3035808"/>
            <a:ext cx="3886200" cy="502920"/>
          </a:xfrm>
          <a:prstGeom prst="roundRect">
            <a:avLst>
              <a:gd name="adj" fmla="val 10909"/>
            </a:avLst>
          </a:prstGeom>
          <a:solidFill>
            <a:srgbClr val="00D4FF">
              <a:alpha val="8000"/>
            </a:srgbClr>
          </a:solidFill>
          <a:ln w="12700">
            <a:solidFill>
              <a:srgbClr val="00D4FF">
                <a:alpha val="40000"/>
              </a:srgbClr>
            </a:solidFill>
            <a:prstDash val="solid"/>
          </a:ln>
        </p:spPr>
      </p:sp>
      <p:sp>
        <p:nvSpPr>
          <p:cNvPr id="15" name="Text 13"/>
          <p:cNvSpPr/>
          <p:nvPr/>
        </p:nvSpPr>
        <p:spPr>
          <a:xfrm>
            <a:off x="5486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16" name="Shape 14"/>
          <p:cNvSpPr/>
          <p:nvPr/>
        </p:nvSpPr>
        <p:spPr>
          <a:xfrm>
            <a:off x="4709160" y="2578608"/>
            <a:ext cx="4160520" cy="1078992"/>
          </a:xfrm>
          <a:prstGeom prst="roundRect">
            <a:avLst>
              <a:gd name="adj" fmla="val 8475"/>
            </a:avLst>
          </a:prstGeom>
          <a:solidFill>
            <a:srgbClr val="FFFFFF"/>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7" name="Shape 15"/>
          <p:cNvSpPr/>
          <p:nvPr/>
        </p:nvSpPr>
        <p:spPr>
          <a:xfrm>
            <a:off x="4800600" y="2670048"/>
            <a:ext cx="1371600" cy="292608"/>
          </a:xfrm>
          <a:prstGeom prst="roundRect">
            <a:avLst>
              <a:gd name="adj" fmla="val 15625"/>
            </a:avLst>
          </a:prstGeom>
          <a:solidFill>
            <a:srgbClr val="FFB800">
              <a:alpha val="90000"/>
            </a:srgbClr>
          </a:solidFill>
          <a:ln w="12700">
            <a:solidFill>
              <a:srgbClr val="FFB800"/>
            </a:solidFill>
            <a:prstDash val="solid"/>
          </a:ln>
        </p:spPr>
      </p:sp>
      <p:sp>
        <p:nvSpPr>
          <p:cNvPr id="18" name="Text 16"/>
          <p:cNvSpPr/>
          <p:nvPr/>
        </p:nvSpPr>
        <p:spPr>
          <a:xfrm>
            <a:off x="48006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¿Por qué...?</a:t>
            </a:r>
            <a:endParaRPr lang="en-US" sz="1100" dirty="0"/>
          </a:p>
        </p:txBody>
      </p:sp>
      <p:sp>
        <p:nvSpPr>
          <p:cNvPr id="19" name="Text 17"/>
          <p:cNvSpPr/>
          <p:nvPr/>
        </p:nvSpPr>
        <p:spPr>
          <a:xfrm>
            <a:off x="62636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Investiga causas</a:t>
            </a:r>
            <a:endParaRPr lang="en-US" sz="950" dirty="0"/>
          </a:p>
        </p:txBody>
      </p:sp>
      <p:sp>
        <p:nvSpPr>
          <p:cNvPr id="20" name="Shape 18"/>
          <p:cNvSpPr/>
          <p:nvPr/>
        </p:nvSpPr>
        <p:spPr>
          <a:xfrm>
            <a:off x="4800600" y="3035808"/>
            <a:ext cx="3886200" cy="502920"/>
          </a:xfrm>
          <a:prstGeom prst="roundRect">
            <a:avLst>
              <a:gd name="adj" fmla="val 10909"/>
            </a:avLst>
          </a:prstGeom>
          <a:solidFill>
            <a:srgbClr val="FFB800">
              <a:alpha val="8000"/>
            </a:srgbClr>
          </a:solidFill>
          <a:ln w="12700">
            <a:solidFill>
              <a:srgbClr val="FFB800">
                <a:alpha val="40000"/>
              </a:srgbClr>
            </a:solidFill>
            <a:prstDash val="solid"/>
          </a:ln>
        </p:spPr>
      </p:sp>
      <p:sp>
        <p:nvSpPr>
          <p:cNvPr id="21" name="Text 19"/>
          <p:cNvSpPr/>
          <p:nvPr/>
        </p:nvSpPr>
        <p:spPr>
          <a:xfrm>
            <a:off x="48920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2" name="Shape 20"/>
          <p:cNvSpPr/>
          <p:nvPr/>
        </p:nvSpPr>
        <p:spPr>
          <a:xfrm>
            <a:off x="365760" y="3749040"/>
            <a:ext cx="4160520" cy="1078992"/>
          </a:xfrm>
          <a:prstGeom prst="roundRect">
            <a:avLst>
              <a:gd name="adj" fmla="val 8475"/>
            </a:avLst>
          </a:prstGeom>
          <a:solidFill>
            <a:srgbClr val="FFFFFF"/>
          </a:solidFill>
          <a:ln w="19050">
            <a:solidFill>
              <a:srgbClr val="00C896"/>
            </a:solidFill>
            <a:prstDash val="solid"/>
          </a:ln>
          <a:effectLst>
            <a:outerShdw sx="100000" sy="100000" kx="0" ky="0" algn="bl" rotWithShape="0" blurRad="127000" dist="38100" dir="2700000">
              <a:srgbClr val="000000">
                <a:alpha val="18000"/>
              </a:srgbClr>
            </a:outerShdw>
          </a:effectLst>
        </p:spPr>
      </p:sp>
      <p:sp>
        <p:nvSpPr>
          <p:cNvPr id="23" name="Shape 21"/>
          <p:cNvSpPr/>
          <p:nvPr/>
        </p:nvSpPr>
        <p:spPr>
          <a:xfrm>
            <a:off x="457200" y="3840480"/>
            <a:ext cx="1371600" cy="292608"/>
          </a:xfrm>
          <a:prstGeom prst="roundRect">
            <a:avLst>
              <a:gd name="adj" fmla="val 15625"/>
            </a:avLst>
          </a:prstGeom>
          <a:solidFill>
            <a:srgbClr val="00C896">
              <a:alpha val="90000"/>
            </a:srgbClr>
          </a:solidFill>
          <a:ln w="12700">
            <a:solidFill>
              <a:srgbClr val="00C896"/>
            </a:solidFill>
            <a:prstDash val="solid"/>
          </a:ln>
        </p:spPr>
      </p:sp>
      <p:sp>
        <p:nvSpPr>
          <p:cNvPr id="24" name="Text 22"/>
          <p:cNvSpPr/>
          <p:nvPr/>
        </p:nvSpPr>
        <p:spPr>
          <a:xfrm>
            <a:off x="4572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¿Para qué...?</a:t>
            </a:r>
            <a:endParaRPr lang="en-US" sz="1100" dirty="0"/>
          </a:p>
        </p:txBody>
      </p:sp>
      <p:sp>
        <p:nvSpPr>
          <p:cNvPr id="25" name="Text 23"/>
          <p:cNvSpPr/>
          <p:nvPr/>
        </p:nvSpPr>
        <p:spPr>
          <a:xfrm>
            <a:off x="19202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Explora el propósito</a:t>
            </a:r>
            <a:endParaRPr lang="en-US" sz="950" dirty="0"/>
          </a:p>
        </p:txBody>
      </p:sp>
      <p:sp>
        <p:nvSpPr>
          <p:cNvPr id="26" name="Shape 24"/>
          <p:cNvSpPr/>
          <p:nvPr/>
        </p:nvSpPr>
        <p:spPr>
          <a:xfrm>
            <a:off x="457200" y="4206240"/>
            <a:ext cx="3886200" cy="502920"/>
          </a:xfrm>
          <a:prstGeom prst="roundRect">
            <a:avLst>
              <a:gd name="adj" fmla="val 10909"/>
            </a:avLst>
          </a:prstGeom>
          <a:solidFill>
            <a:srgbClr val="00C896">
              <a:alpha val="8000"/>
            </a:srgbClr>
          </a:solidFill>
          <a:ln w="12700">
            <a:solidFill>
              <a:srgbClr val="00C896">
                <a:alpha val="40000"/>
              </a:srgbClr>
            </a:solidFill>
            <a:prstDash val="solid"/>
          </a:ln>
        </p:spPr>
      </p:sp>
      <p:sp>
        <p:nvSpPr>
          <p:cNvPr id="27" name="Text 25"/>
          <p:cNvSpPr/>
          <p:nvPr/>
        </p:nvSpPr>
        <p:spPr>
          <a:xfrm>
            <a:off x="5486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8" name="Shape 26"/>
          <p:cNvSpPr/>
          <p:nvPr/>
        </p:nvSpPr>
        <p:spPr>
          <a:xfrm>
            <a:off x="4709160" y="3749040"/>
            <a:ext cx="4160520" cy="1078992"/>
          </a:xfrm>
          <a:prstGeom prst="roundRect">
            <a:avLst>
              <a:gd name="adj" fmla="val 8475"/>
            </a:avLst>
          </a:prstGeom>
          <a:solidFill>
            <a:srgbClr val="FFFFFF"/>
          </a:solidFill>
          <a:ln w="19050">
            <a:solidFill>
              <a:srgbClr val="9B59B6"/>
            </a:solidFill>
            <a:prstDash val="solid"/>
          </a:ln>
          <a:effectLst>
            <a:outerShdw sx="100000" sy="100000" kx="0" ky="0" algn="bl" rotWithShape="0" blurRad="127000" dist="38100" dir="2700000">
              <a:srgbClr val="000000">
                <a:alpha val="18000"/>
              </a:srgbClr>
            </a:outerShdw>
          </a:effectLst>
        </p:spPr>
      </p:sp>
      <p:sp>
        <p:nvSpPr>
          <p:cNvPr id="29" name="Shape 27"/>
          <p:cNvSpPr/>
          <p:nvPr/>
        </p:nvSpPr>
        <p:spPr>
          <a:xfrm>
            <a:off x="4800600" y="3840480"/>
            <a:ext cx="1371600" cy="292608"/>
          </a:xfrm>
          <a:prstGeom prst="roundRect">
            <a:avLst>
              <a:gd name="adj" fmla="val 15625"/>
            </a:avLst>
          </a:prstGeom>
          <a:solidFill>
            <a:srgbClr val="9B59B6">
              <a:alpha val="90000"/>
            </a:srgbClr>
          </a:solidFill>
          <a:ln w="12700">
            <a:solidFill>
              <a:srgbClr val="9B59B6"/>
            </a:solidFill>
            <a:prstDash val="solid"/>
          </a:ln>
        </p:spPr>
      </p:sp>
      <p:sp>
        <p:nvSpPr>
          <p:cNvPr id="30" name="Text 28"/>
          <p:cNvSpPr/>
          <p:nvPr/>
        </p:nvSpPr>
        <p:spPr>
          <a:xfrm>
            <a:off x="48006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¿Qué harías...?</a:t>
            </a:r>
            <a:endParaRPr lang="en-US" sz="1100" dirty="0"/>
          </a:p>
        </p:txBody>
      </p:sp>
      <p:sp>
        <p:nvSpPr>
          <p:cNvPr id="31" name="Text 29"/>
          <p:cNvSpPr/>
          <p:nvPr/>
        </p:nvSpPr>
        <p:spPr>
          <a:xfrm>
            <a:off x="62636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Imagina soluciones</a:t>
            </a:r>
            <a:endParaRPr lang="en-US" sz="950" dirty="0"/>
          </a:p>
        </p:txBody>
      </p:sp>
      <p:sp>
        <p:nvSpPr>
          <p:cNvPr id="32" name="Shape 30"/>
          <p:cNvSpPr/>
          <p:nvPr/>
        </p:nvSpPr>
        <p:spPr>
          <a:xfrm>
            <a:off x="4800600" y="4206240"/>
            <a:ext cx="3886200" cy="502920"/>
          </a:xfrm>
          <a:prstGeom prst="roundRect">
            <a:avLst>
              <a:gd name="adj" fmla="val 10909"/>
            </a:avLst>
          </a:prstGeom>
          <a:solidFill>
            <a:srgbClr val="9B59B6">
              <a:alpha val="8000"/>
            </a:srgbClr>
          </a:solidFill>
          <a:ln w="12700">
            <a:solidFill>
              <a:srgbClr val="9B59B6">
                <a:alpha val="40000"/>
              </a:srgbClr>
            </a:solidFill>
            <a:prstDash val="solid"/>
          </a:ln>
        </p:spPr>
      </p:sp>
      <p:sp>
        <p:nvSpPr>
          <p:cNvPr id="33" name="Text 31"/>
          <p:cNvSpPr/>
          <p:nvPr/>
        </p:nvSpPr>
        <p:spPr>
          <a:xfrm>
            <a:off x="48920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4D6A"/>
          </a:solidFill>
          <a:ln w="12700">
            <a:solidFill>
              <a:srgbClr val="FF4D6A"/>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SILLA DE RUEDAS AUTÓNOMA  ·  RONDA 3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C89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C896"/>
                </a:solidFill>
              </a:rPr>
              <a:t>⏱  6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C896"/>
                </a:solidFill>
              </a:rPr>
              <a:t>RONDA 3</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0C896"/>
                </a:solidFill>
              </a:rPr>
              <a:t>4 COMPONENTES + PROBLEMA TÉCNICO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00C89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Identifiquen: CONTEXTO · VARIABLE · PUNTO DE QUIEBRE</a:t>
            </a:r>
            <a:endParaRPr lang="en-US" sz="1300" dirty="0"/>
          </a:p>
          <a:p>
            <a:pPr indent="0" marL="0">
              <a:buNone/>
            </a:pPr>
            <a:r>
              <a:rPr lang="en-US" sz="1300" dirty="0">
                <a:solidFill>
                  <a:srgbClr val="E8EDF5"/>
                </a:solidFill>
              </a:rPr>
              <a:t>Luego enuncien el PROBLEMA TÉCNICO en una sola oración sin adjetivos subjetivos.</a:t>
            </a:r>
            <a:endParaRPr lang="en-US" sz="1300" dirty="0"/>
          </a:p>
        </p:txBody>
      </p:sp>
      <p:sp>
        <p:nvSpPr>
          <p:cNvPr id="10" name="Shape 8"/>
          <p:cNvSpPr/>
          <p:nvPr/>
        </p:nvSpPr>
        <p:spPr>
          <a:xfrm>
            <a:off x="365760" y="2578608"/>
            <a:ext cx="8412480" cy="530352"/>
          </a:xfrm>
          <a:prstGeom prst="roundRect">
            <a:avLst>
              <a:gd name="adj" fmla="val 13793"/>
            </a:avLst>
          </a:prstGeom>
          <a:solidFill>
            <a:srgbClr val="1A2550"/>
          </a:solidFill>
          <a:ln w="19050">
            <a:solidFill>
              <a:srgbClr val="00D4FF"/>
            </a:solidFill>
            <a:prstDash val="solid"/>
          </a:ln>
          <a:effectLst>
            <a:outerShdw sx="100000" sy="100000" kx="0" ky="0" algn="bl" rotWithShape="0" blurRad="50800" dist="12700" dir="2700000">
              <a:srgbClr val="000000">
                <a:alpha val="8000"/>
              </a:srgbClr>
            </a:outerShdw>
          </a:effectLst>
        </p:spPr>
      </p:sp>
      <p:sp>
        <p:nvSpPr>
          <p:cNvPr id="11" name="Shape 9"/>
          <p:cNvSpPr/>
          <p:nvPr/>
        </p:nvSpPr>
        <p:spPr>
          <a:xfrm>
            <a:off x="457200" y="2651760"/>
            <a:ext cx="1645920" cy="365760"/>
          </a:xfrm>
          <a:prstGeom prst="roundRect">
            <a:avLst>
              <a:gd name="adj" fmla="val 15000"/>
            </a:avLst>
          </a:prstGeom>
          <a:solidFill>
            <a:srgbClr val="00D4FF">
              <a:alpha val="92000"/>
            </a:srgbClr>
          </a:solidFill>
          <a:ln w="12700">
            <a:solidFill>
              <a:srgbClr val="00D4FF"/>
            </a:solidFill>
            <a:prstDash val="solid"/>
          </a:ln>
        </p:spPr>
      </p:sp>
      <p:sp>
        <p:nvSpPr>
          <p:cNvPr id="12" name="Text 10"/>
          <p:cNvSpPr/>
          <p:nvPr/>
        </p:nvSpPr>
        <p:spPr>
          <a:xfrm>
            <a:off x="457200" y="2651760"/>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CONTEXTO</a:t>
            </a:r>
            <a:endParaRPr lang="en-US" sz="950" dirty="0"/>
          </a:p>
        </p:txBody>
      </p:sp>
      <p:sp>
        <p:nvSpPr>
          <p:cNvPr id="13" name="Text 11"/>
          <p:cNvSpPr/>
          <p:nvPr/>
        </p:nvSpPr>
        <p:spPr>
          <a:xfrm>
            <a:off x="2194560" y="2578608"/>
            <a:ext cx="6492240" cy="530352"/>
          </a:xfrm>
          <a:prstGeom prst="rect">
            <a:avLst/>
          </a:prstGeom>
          <a:noFill/>
          <a:ln/>
        </p:spPr>
        <p:txBody>
          <a:bodyPr wrap="square" lIns="0" tIns="0" rIns="0" bIns="0" rtlCol="0" anchor="ctr"/>
          <a:lstStyle/>
          <a:p>
            <a:pPr indent="0" marL="0">
              <a:buNone/>
            </a:pPr>
            <a:r>
              <a:rPr lang="en-US" sz="1050" dirty="0">
                <a:solidFill>
                  <a:srgbClr val="E8EDF5"/>
                </a:solidFill>
              </a:rPr>
              <a:t>¿En qué sistema / lugar / momento ocurre?</a:t>
            </a:r>
            <a:endParaRPr lang="en-US" sz="1050" dirty="0"/>
          </a:p>
        </p:txBody>
      </p:sp>
      <p:sp>
        <p:nvSpPr>
          <p:cNvPr id="14" name="Shape 12"/>
          <p:cNvSpPr/>
          <p:nvPr/>
        </p:nvSpPr>
        <p:spPr>
          <a:xfrm>
            <a:off x="365760" y="3182112"/>
            <a:ext cx="8412480" cy="530352"/>
          </a:xfrm>
          <a:prstGeom prst="roundRect">
            <a:avLst>
              <a:gd name="adj" fmla="val 13793"/>
            </a:avLst>
          </a:prstGeom>
          <a:solidFill>
            <a:srgbClr val="1A2550"/>
          </a:solidFill>
          <a:ln w="19050">
            <a:solidFill>
              <a:srgbClr val="FFB800"/>
            </a:solidFill>
            <a:prstDash val="solid"/>
          </a:ln>
          <a:effectLst>
            <a:outerShdw sx="100000" sy="100000" kx="0" ky="0" algn="bl" rotWithShape="0" blurRad="50800" dist="12700" dir="2700000">
              <a:srgbClr val="000000">
                <a:alpha val="8000"/>
              </a:srgbClr>
            </a:outerShdw>
          </a:effectLst>
        </p:spPr>
      </p:sp>
      <p:sp>
        <p:nvSpPr>
          <p:cNvPr id="15" name="Shape 13"/>
          <p:cNvSpPr/>
          <p:nvPr/>
        </p:nvSpPr>
        <p:spPr>
          <a:xfrm>
            <a:off x="457200" y="3255264"/>
            <a:ext cx="1645920" cy="365760"/>
          </a:xfrm>
          <a:prstGeom prst="roundRect">
            <a:avLst>
              <a:gd name="adj" fmla="val 15000"/>
            </a:avLst>
          </a:prstGeom>
          <a:solidFill>
            <a:srgbClr val="FFB800">
              <a:alpha val="92000"/>
            </a:srgbClr>
          </a:solidFill>
          <a:ln w="12700">
            <a:solidFill>
              <a:srgbClr val="FFB800"/>
            </a:solidFill>
            <a:prstDash val="solid"/>
          </a:ln>
        </p:spPr>
      </p:sp>
      <p:sp>
        <p:nvSpPr>
          <p:cNvPr id="16" name="Text 14"/>
          <p:cNvSpPr/>
          <p:nvPr/>
        </p:nvSpPr>
        <p:spPr>
          <a:xfrm>
            <a:off x="457200" y="3255264"/>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VARIABLE</a:t>
            </a:r>
            <a:endParaRPr lang="en-US" sz="950" dirty="0"/>
          </a:p>
        </p:txBody>
      </p:sp>
      <p:sp>
        <p:nvSpPr>
          <p:cNvPr id="17" name="Text 15"/>
          <p:cNvSpPr/>
          <p:nvPr/>
        </p:nvSpPr>
        <p:spPr>
          <a:xfrm>
            <a:off x="2194560" y="3182112"/>
            <a:ext cx="6492240" cy="530352"/>
          </a:xfrm>
          <a:prstGeom prst="rect">
            <a:avLst/>
          </a:prstGeom>
          <a:noFill/>
          <a:ln/>
        </p:spPr>
        <p:txBody>
          <a:bodyPr wrap="square" lIns="0" tIns="0" rIns="0" bIns="0" rtlCol="0" anchor="ctr"/>
          <a:lstStyle/>
          <a:p>
            <a:pPr indent="0" marL="0">
              <a:buNone/>
            </a:pPr>
            <a:r>
              <a:rPr lang="en-US" sz="1050" dirty="0">
                <a:solidFill>
                  <a:srgbClr val="E8EDF5"/>
                </a:solidFill>
              </a:rPr>
              <a:t>¿Qué es lo único que, si lo mido, me dice si el problema existe?</a:t>
            </a:r>
            <a:endParaRPr lang="en-US" sz="1050" dirty="0"/>
          </a:p>
        </p:txBody>
      </p:sp>
      <p:sp>
        <p:nvSpPr>
          <p:cNvPr id="18" name="Shape 16"/>
          <p:cNvSpPr/>
          <p:nvPr/>
        </p:nvSpPr>
        <p:spPr>
          <a:xfrm>
            <a:off x="365760" y="3785616"/>
            <a:ext cx="8412480" cy="530352"/>
          </a:xfrm>
          <a:prstGeom prst="roundRect">
            <a:avLst>
              <a:gd name="adj" fmla="val 13793"/>
            </a:avLst>
          </a:prstGeom>
          <a:solidFill>
            <a:srgbClr val="1A2550"/>
          </a:solidFill>
          <a:ln w="19050">
            <a:solidFill>
              <a:srgbClr val="FF4D6A"/>
            </a:solidFill>
            <a:prstDash val="solid"/>
          </a:ln>
          <a:effectLst>
            <a:outerShdw sx="100000" sy="100000" kx="0" ky="0" algn="bl" rotWithShape="0" blurRad="50800" dist="12700" dir="2700000">
              <a:srgbClr val="000000">
                <a:alpha val="8000"/>
              </a:srgbClr>
            </a:outerShdw>
          </a:effectLst>
        </p:spPr>
      </p:sp>
      <p:sp>
        <p:nvSpPr>
          <p:cNvPr id="19" name="Shape 17"/>
          <p:cNvSpPr/>
          <p:nvPr/>
        </p:nvSpPr>
        <p:spPr>
          <a:xfrm>
            <a:off x="457200" y="3858768"/>
            <a:ext cx="1645920" cy="365760"/>
          </a:xfrm>
          <a:prstGeom prst="roundRect">
            <a:avLst>
              <a:gd name="adj" fmla="val 15000"/>
            </a:avLst>
          </a:prstGeom>
          <a:solidFill>
            <a:srgbClr val="FF4D6A">
              <a:alpha val="92000"/>
            </a:srgbClr>
          </a:solidFill>
          <a:ln w="12700">
            <a:solidFill>
              <a:srgbClr val="FF4D6A"/>
            </a:solidFill>
            <a:prstDash val="solid"/>
          </a:ln>
        </p:spPr>
      </p:sp>
      <p:sp>
        <p:nvSpPr>
          <p:cNvPr id="20" name="Text 18"/>
          <p:cNvSpPr/>
          <p:nvPr/>
        </p:nvSpPr>
        <p:spPr>
          <a:xfrm>
            <a:off x="457200" y="3858768"/>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PUNTO DE QUIEBRE</a:t>
            </a:r>
            <a:endParaRPr lang="en-US" sz="950" dirty="0"/>
          </a:p>
        </p:txBody>
      </p:sp>
      <p:sp>
        <p:nvSpPr>
          <p:cNvPr id="21" name="Text 19"/>
          <p:cNvSpPr/>
          <p:nvPr/>
        </p:nvSpPr>
        <p:spPr>
          <a:xfrm>
            <a:off x="2194560" y="3785616"/>
            <a:ext cx="6492240" cy="530352"/>
          </a:xfrm>
          <a:prstGeom prst="rect">
            <a:avLst/>
          </a:prstGeom>
          <a:noFill/>
          <a:ln/>
        </p:spPr>
        <p:txBody>
          <a:bodyPr wrap="square" lIns="0" tIns="0" rIns="0" bIns="0" rtlCol="0" anchor="ctr"/>
          <a:lstStyle/>
          <a:p>
            <a:pPr indent="0" marL="0">
              <a:buNone/>
            </a:pPr>
            <a:r>
              <a:rPr lang="en-US" sz="1050" dirty="0">
                <a:solidFill>
                  <a:srgbClr val="E8EDF5"/>
                </a:solidFill>
              </a:rPr>
              <a:t>¿A partir de qué valor digo que el problema empieza?</a:t>
            </a:r>
            <a:endParaRPr lang="en-US" sz="1050" dirty="0"/>
          </a:p>
        </p:txBody>
      </p:sp>
      <p:sp>
        <p:nvSpPr>
          <p:cNvPr id="22" name="Shape 20"/>
          <p:cNvSpPr/>
          <p:nvPr/>
        </p:nvSpPr>
        <p:spPr>
          <a:xfrm>
            <a:off x="365760" y="4389120"/>
            <a:ext cx="8412480" cy="530352"/>
          </a:xfrm>
          <a:prstGeom prst="roundRect">
            <a:avLst>
              <a:gd name="adj" fmla="val 13793"/>
            </a:avLst>
          </a:prstGeom>
          <a:solidFill>
            <a:srgbClr val="1A2550"/>
          </a:solidFill>
          <a:ln w="19050">
            <a:solidFill>
              <a:srgbClr val="00C896"/>
            </a:solidFill>
            <a:prstDash val="solid"/>
          </a:ln>
          <a:effectLst>
            <a:outerShdw sx="100000" sy="100000" kx="0" ky="0" algn="bl" rotWithShape="0" blurRad="50800" dist="12700" dir="2700000">
              <a:srgbClr val="000000">
                <a:alpha val="8000"/>
              </a:srgbClr>
            </a:outerShdw>
          </a:effectLst>
        </p:spPr>
      </p:sp>
      <p:sp>
        <p:nvSpPr>
          <p:cNvPr id="23" name="Shape 21"/>
          <p:cNvSpPr/>
          <p:nvPr/>
        </p:nvSpPr>
        <p:spPr>
          <a:xfrm>
            <a:off x="457200" y="4462272"/>
            <a:ext cx="1645920" cy="365760"/>
          </a:xfrm>
          <a:prstGeom prst="roundRect">
            <a:avLst>
              <a:gd name="adj" fmla="val 15000"/>
            </a:avLst>
          </a:prstGeom>
          <a:solidFill>
            <a:srgbClr val="00C896">
              <a:alpha val="92000"/>
            </a:srgbClr>
          </a:solidFill>
          <a:ln w="12700">
            <a:solidFill>
              <a:srgbClr val="00C896"/>
            </a:solidFill>
            <a:prstDash val="solid"/>
          </a:ln>
        </p:spPr>
      </p:sp>
      <p:sp>
        <p:nvSpPr>
          <p:cNvPr id="24" name="Text 22"/>
          <p:cNvSpPr/>
          <p:nvPr/>
        </p:nvSpPr>
        <p:spPr>
          <a:xfrm>
            <a:off x="457200" y="4462272"/>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PROBLEMA TÉCNICO</a:t>
            </a:r>
            <a:endParaRPr lang="en-US" sz="950" dirty="0"/>
          </a:p>
        </p:txBody>
      </p:sp>
      <p:sp>
        <p:nvSpPr>
          <p:cNvPr id="25" name="Text 23"/>
          <p:cNvSpPr/>
          <p:nvPr/>
        </p:nvSpPr>
        <p:spPr>
          <a:xfrm>
            <a:off x="2194560" y="4389120"/>
            <a:ext cx="6492240" cy="530352"/>
          </a:xfrm>
          <a:prstGeom prst="rect">
            <a:avLst/>
          </a:prstGeom>
          <a:noFill/>
          <a:ln/>
        </p:spPr>
        <p:txBody>
          <a:bodyPr wrap="square" lIns="0" tIns="0" rIns="0" bIns="0" rtlCol="0" anchor="ctr"/>
          <a:lstStyle/>
          <a:p>
            <a:pPr indent="0" marL="0">
              <a:buNone/>
            </a:pPr>
            <a:r>
              <a:rPr lang="en-US" sz="1050" i="1" dirty="0">
                <a:solidFill>
                  <a:srgbClr val="E8EDF5"/>
                </a:solidFill>
              </a:rPr>
              <a:t>En [contexto] ocurre [problema] cuando [variable] supera [quiebre].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4D6A"/>
          </a:solidFill>
          <a:ln w="12700">
            <a:solidFill>
              <a:srgbClr val="FF4D6A"/>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SILLA DE RUEDAS AUTÓNOMA  ·  RONDA 4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9B59B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9B59B6"/>
                </a:solidFill>
              </a:rPr>
              <a:t>⏱  3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9B59B6"/>
                </a:solidFill>
              </a:rPr>
              <a:t>RONDA 4</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OBJETIVOS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9B59B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A partir del problema técnico, enuncien 2 o 3 objetivos concretos y medibles.</a:t>
            </a:r>
            <a:endParaRPr lang="en-US" sz="1300" dirty="0"/>
          </a:p>
          <a:p>
            <a:pPr indent="0" marL="0">
              <a:buNone/>
            </a:pPr>
            <a:r>
              <a:rPr lang="en-US" sz="1300" dirty="0">
                <a:solidFill>
                  <a:srgbClr val="0A0E2A"/>
                </a:solidFill>
              </a:rPr>
              <a:t>Cada objetivo debe poder verificarse.</a:t>
            </a:r>
            <a:endParaRPr lang="en-US" sz="1300" dirty="0"/>
          </a:p>
        </p:txBody>
      </p:sp>
      <p:sp>
        <p:nvSpPr>
          <p:cNvPr id="10" name="Shape 8"/>
          <p:cNvSpPr/>
          <p:nvPr/>
        </p:nvSpPr>
        <p:spPr>
          <a:xfrm>
            <a:off x="365760" y="2578608"/>
            <a:ext cx="8412480" cy="2176272"/>
          </a:xfrm>
          <a:prstGeom prst="roundRect">
            <a:avLst>
              <a:gd name="adj" fmla="val 5042"/>
            </a:avLst>
          </a:prstGeom>
          <a:solidFill>
            <a:srgbClr val="FFFFFF"/>
          </a:solidFill>
          <a:ln w="19050">
            <a:solidFill>
              <a:srgbClr val="9B59B6"/>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9B59B6"/>
                </a:solidFill>
              </a:rPr>
              <a:t>REGLAS DEL OBJETIVO BIEN PLANTEADO:</a:t>
            </a:r>
            <a:endParaRPr lang="en-US" sz="1050" dirty="0"/>
          </a:p>
        </p:txBody>
      </p:sp>
      <p:sp>
        <p:nvSpPr>
          <p:cNvPr id="12" name="Shape 10"/>
          <p:cNvSpPr/>
          <p:nvPr/>
        </p:nvSpPr>
        <p:spPr>
          <a:xfrm>
            <a:off x="548640" y="2999232"/>
            <a:ext cx="256032" cy="256032"/>
          </a:xfrm>
          <a:prstGeom prst="ellipse">
            <a:avLst/>
          </a:prstGeom>
          <a:solidFill>
            <a:srgbClr val="9B59B6"/>
          </a:solidFill>
          <a:ln w="12700">
            <a:solidFill>
              <a:srgbClr val="9B59B6"/>
            </a:solidFill>
            <a:prstDash val="solid"/>
          </a:ln>
        </p:spPr>
      </p:sp>
      <p:sp>
        <p:nvSpPr>
          <p:cNvPr id="13" name="Text 11"/>
          <p:cNvSpPr/>
          <p:nvPr/>
        </p:nvSpPr>
        <p:spPr>
          <a:xfrm>
            <a:off x="548640" y="29992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14" name="Text 12"/>
          <p:cNvSpPr/>
          <p:nvPr/>
        </p:nvSpPr>
        <p:spPr>
          <a:xfrm>
            <a:off x="914400" y="2971800"/>
            <a:ext cx="7680960" cy="384048"/>
          </a:xfrm>
          <a:prstGeom prst="rect">
            <a:avLst/>
          </a:prstGeom>
          <a:noFill/>
          <a:ln/>
        </p:spPr>
        <p:txBody>
          <a:bodyPr wrap="square" lIns="0" tIns="0" rIns="0" bIns="0" rtlCol="0" anchor="ctr"/>
          <a:lstStyle/>
          <a:p>
            <a:pPr indent="0" marL="0">
              <a:buNone/>
            </a:pPr>
            <a:r>
              <a:rPr lang="en-US" sz="1100" dirty="0">
                <a:solidFill>
                  <a:srgbClr val="0A0E2A"/>
                </a:solidFill>
              </a:rPr>
              <a:t>Comienza con un verbo de acción (detectar, activar, medir, controlar, enviar...)</a:t>
            </a:r>
            <a:endParaRPr lang="en-US" sz="1100" dirty="0"/>
          </a:p>
        </p:txBody>
      </p:sp>
      <p:sp>
        <p:nvSpPr>
          <p:cNvPr id="15" name="Shape 13"/>
          <p:cNvSpPr/>
          <p:nvPr/>
        </p:nvSpPr>
        <p:spPr>
          <a:xfrm>
            <a:off x="548640" y="3410712"/>
            <a:ext cx="256032" cy="256032"/>
          </a:xfrm>
          <a:prstGeom prst="ellipse">
            <a:avLst/>
          </a:prstGeom>
          <a:solidFill>
            <a:srgbClr val="9B59B6"/>
          </a:solidFill>
          <a:ln w="12700">
            <a:solidFill>
              <a:srgbClr val="9B59B6"/>
            </a:solidFill>
            <a:prstDash val="solid"/>
          </a:ln>
        </p:spPr>
      </p:sp>
      <p:sp>
        <p:nvSpPr>
          <p:cNvPr id="16" name="Text 14"/>
          <p:cNvSpPr/>
          <p:nvPr/>
        </p:nvSpPr>
        <p:spPr>
          <a:xfrm>
            <a:off x="548640" y="3410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17" name="Text 15"/>
          <p:cNvSpPr/>
          <p:nvPr/>
        </p:nvSpPr>
        <p:spPr>
          <a:xfrm>
            <a:off x="914400" y="3383280"/>
            <a:ext cx="7680960" cy="384048"/>
          </a:xfrm>
          <a:prstGeom prst="rect">
            <a:avLst/>
          </a:prstGeom>
          <a:noFill/>
          <a:ln/>
        </p:spPr>
        <p:txBody>
          <a:bodyPr wrap="square" lIns="0" tIns="0" rIns="0" bIns="0" rtlCol="0" anchor="ctr"/>
          <a:lstStyle/>
          <a:p>
            <a:pPr indent="0" marL="0">
              <a:buNone/>
            </a:pPr>
            <a:r>
              <a:rPr lang="en-US" sz="1100" dirty="0">
                <a:solidFill>
                  <a:srgbClr val="0A0E2A"/>
                </a:solidFill>
              </a:rPr>
              <a:t>Incluye la variable y el punto de quiebre que ya identificaron</a:t>
            </a:r>
            <a:endParaRPr lang="en-US" sz="1100" dirty="0"/>
          </a:p>
        </p:txBody>
      </p:sp>
      <p:sp>
        <p:nvSpPr>
          <p:cNvPr id="18" name="Shape 16"/>
          <p:cNvSpPr/>
          <p:nvPr/>
        </p:nvSpPr>
        <p:spPr>
          <a:xfrm>
            <a:off x="548640" y="3822192"/>
            <a:ext cx="256032" cy="256032"/>
          </a:xfrm>
          <a:prstGeom prst="ellipse">
            <a:avLst/>
          </a:prstGeom>
          <a:solidFill>
            <a:srgbClr val="9B59B6"/>
          </a:solidFill>
          <a:ln w="12700">
            <a:solidFill>
              <a:srgbClr val="9B59B6"/>
            </a:solidFill>
            <a:prstDash val="solid"/>
          </a:ln>
        </p:spPr>
      </p:sp>
      <p:sp>
        <p:nvSpPr>
          <p:cNvPr id="19" name="Text 17"/>
          <p:cNvSpPr/>
          <p:nvPr/>
        </p:nvSpPr>
        <p:spPr>
          <a:xfrm>
            <a:off x="54864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3</a:t>
            </a:r>
            <a:endParaRPr lang="en-US" sz="900" dirty="0"/>
          </a:p>
        </p:txBody>
      </p:sp>
      <p:sp>
        <p:nvSpPr>
          <p:cNvPr id="20" name="Text 18"/>
          <p:cNvSpPr/>
          <p:nvPr/>
        </p:nvSpPr>
        <p:spPr>
          <a:xfrm>
            <a:off x="914400" y="3794760"/>
            <a:ext cx="7680960" cy="384048"/>
          </a:xfrm>
          <a:prstGeom prst="rect">
            <a:avLst/>
          </a:prstGeom>
          <a:noFill/>
          <a:ln/>
        </p:spPr>
        <p:txBody>
          <a:bodyPr wrap="square" lIns="0" tIns="0" rIns="0" bIns="0" rtlCol="0" anchor="ctr"/>
          <a:lstStyle/>
          <a:p>
            <a:pPr indent="0" marL="0">
              <a:buNone/>
            </a:pPr>
            <a:r>
              <a:rPr lang="en-US" sz="1100" dirty="0">
                <a:solidFill>
                  <a:srgbClr val="0A0E2A"/>
                </a:solidFill>
              </a:rPr>
              <a:t>Se puede verificar — sabés exactamente cuándo se cumplió</a:t>
            </a:r>
            <a:endParaRPr lang="en-US" sz="1100" dirty="0"/>
          </a:p>
        </p:txBody>
      </p:sp>
      <p:sp>
        <p:nvSpPr>
          <p:cNvPr id="21" name="Shape 19"/>
          <p:cNvSpPr/>
          <p:nvPr/>
        </p:nvSpPr>
        <p:spPr>
          <a:xfrm>
            <a:off x="548640" y="4233672"/>
            <a:ext cx="256032" cy="256032"/>
          </a:xfrm>
          <a:prstGeom prst="ellipse">
            <a:avLst/>
          </a:prstGeom>
          <a:solidFill>
            <a:srgbClr val="9B59B6"/>
          </a:solidFill>
          <a:ln w="12700">
            <a:solidFill>
              <a:srgbClr val="9B59B6"/>
            </a:solidFill>
            <a:prstDash val="solid"/>
          </a:ln>
        </p:spPr>
      </p:sp>
      <p:sp>
        <p:nvSpPr>
          <p:cNvPr id="22" name="Text 20"/>
          <p:cNvSpPr/>
          <p:nvPr/>
        </p:nvSpPr>
        <p:spPr>
          <a:xfrm>
            <a:off x="548640" y="42336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4</a:t>
            </a:r>
            <a:endParaRPr lang="en-US" sz="900" dirty="0"/>
          </a:p>
        </p:txBody>
      </p:sp>
      <p:sp>
        <p:nvSpPr>
          <p:cNvPr id="23" name="Text 21"/>
          <p:cNvSpPr/>
          <p:nvPr/>
        </p:nvSpPr>
        <p:spPr>
          <a:xfrm>
            <a:off x="914400" y="4206240"/>
            <a:ext cx="7680960" cy="384048"/>
          </a:xfrm>
          <a:prstGeom prst="rect">
            <a:avLst/>
          </a:prstGeom>
          <a:noFill/>
          <a:ln/>
        </p:spPr>
        <p:txBody>
          <a:bodyPr wrap="square" lIns="0" tIns="0" rIns="0" bIns="0" rtlCol="0" anchor="ctr"/>
          <a:lstStyle/>
          <a:p>
            <a:pPr indent="0" marL="0">
              <a:buNone/>
            </a:pPr>
            <a:r>
              <a:rPr lang="en-US" sz="1100" dirty="0">
                <a:solidFill>
                  <a:srgbClr val="0A0E2A"/>
                </a:solidFill>
              </a:rPr>
              <a:t>Un objetivo por tarea. Sin 'y' que una dos objetivos distintos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FF4D6A"/>
          </a:solidFill>
          <a:ln w="12700">
            <a:solidFill>
              <a:srgbClr val="FF4D6A"/>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SILLA DE RUEDAS AUTÓNOMA  ·  RONDA 5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4D6A"/>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4D6A"/>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4D6A"/>
                </a:solidFill>
              </a:rPr>
              <a:t>RONDA 5</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4D6A"/>
                </a:solidFill>
              </a:rPr>
              <a:t>¿CUÁL ES LA SOLUCIÓN?</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4D6A"/>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Sin mirar nada. ¿Qué dispositivo, sistema o artefacto resuelve exactamente este problema?</a:t>
            </a:r>
            <a:endParaRPr lang="en-US" sz="1300" dirty="0"/>
          </a:p>
          <a:p>
            <a:pPr indent="0" marL="0">
              <a:buNone/>
            </a:pPr>
            <a:r>
              <a:rPr lang="en-US" sz="1300" dirty="0">
                <a:solidFill>
                  <a:srgbClr val="E8EDF5"/>
                </a:solidFill>
              </a:rPr>
              <a:t>Describir en 2 líneas.</a:t>
            </a:r>
            <a:endParaRPr lang="en-US" sz="1300" dirty="0"/>
          </a:p>
        </p:txBody>
      </p:sp>
      <p:sp>
        <p:nvSpPr>
          <p:cNvPr id="10" name="Shape 8"/>
          <p:cNvSpPr/>
          <p:nvPr/>
        </p:nvSpPr>
        <p:spPr>
          <a:xfrm>
            <a:off x="365760" y="2578608"/>
            <a:ext cx="8412480" cy="2176272"/>
          </a:xfrm>
          <a:prstGeom prst="roundRect">
            <a:avLst>
              <a:gd name="adj" fmla="val 5042"/>
            </a:avLst>
          </a:prstGeom>
          <a:solidFill>
            <a:srgbClr val="1A2550"/>
          </a:solidFill>
          <a:ln w="19050">
            <a:solidFill>
              <a:srgbClr val="FF4D6A"/>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FF4D6A"/>
                </a:solidFill>
              </a:rPr>
              <a:t>PISTAS PERMITIDAS:</a:t>
            </a:r>
            <a:endParaRPr lang="en-US" sz="1050" dirty="0"/>
          </a:p>
        </p:txBody>
      </p:sp>
      <p:sp>
        <p:nvSpPr>
          <p:cNvPr id="12" name="Shape 10"/>
          <p:cNvSpPr/>
          <p:nvPr/>
        </p:nvSpPr>
        <p:spPr>
          <a:xfrm>
            <a:off x="548640" y="299923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3" name="Text 11"/>
          <p:cNvSpPr/>
          <p:nvPr/>
        </p:nvSpPr>
        <p:spPr>
          <a:xfrm>
            <a:off x="685800" y="299923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La variable principal es: Distancia al obstáculo más próximo en la dirección de movimiento</a:t>
            </a:r>
            <a:endParaRPr lang="en-US" sz="1100" dirty="0"/>
          </a:p>
        </p:txBody>
      </p:sp>
      <p:sp>
        <p:nvSpPr>
          <p:cNvPr id="14" name="Shape 12"/>
          <p:cNvSpPr/>
          <p:nvPr/>
        </p:nvSpPr>
        <p:spPr>
          <a:xfrm>
            <a:off x="548640" y="341071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5" name="Text 13"/>
          <p:cNvSpPr/>
          <p:nvPr/>
        </p:nvSpPr>
        <p:spPr>
          <a:xfrm>
            <a:off x="685800" y="341071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El punto de quiebre es: Distancia al obstáculo menor a 30 cm con la silla en movimiento</a:t>
            </a:r>
            <a:endParaRPr lang="en-US" sz="1100" dirty="0"/>
          </a:p>
        </p:txBody>
      </p:sp>
      <p:sp>
        <p:nvSpPr>
          <p:cNvPr id="16" name="Shape 14"/>
          <p:cNvSpPr/>
          <p:nvPr/>
        </p:nvSpPr>
        <p:spPr>
          <a:xfrm>
            <a:off x="548640" y="382219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7" name="Text 15"/>
          <p:cNvSpPr/>
          <p:nvPr/>
        </p:nvSpPr>
        <p:spPr>
          <a:xfrm>
            <a:off x="685800" y="382219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¿Qué componente electrónico mide esa variable? ¿Qué actúa cuando se supera el quiebre?</a:t>
            </a:r>
            <a:endParaRPr lang="en-US" sz="1050" dirty="0"/>
          </a:p>
        </p:txBody>
      </p:sp>
      <p:sp>
        <p:nvSpPr>
          <p:cNvPr id="18" name="Shape 16"/>
          <p:cNvSpPr/>
          <p:nvPr/>
        </p:nvSpPr>
        <p:spPr>
          <a:xfrm>
            <a:off x="548640" y="423367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9" name="Text 17"/>
          <p:cNvSpPr/>
          <p:nvPr/>
        </p:nvSpPr>
        <p:spPr>
          <a:xfrm>
            <a:off x="685800" y="423367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Pensá en: sensor + controlador + actuador</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FF4D6A"/>
          </a:solidFill>
          <a:ln w="12700">
            <a:solidFill>
              <a:srgbClr val="FF4D6A"/>
            </a:solidFill>
            <a:prstDash val="solid"/>
          </a:ln>
        </p:spPr>
      </p:sp>
      <p:sp>
        <p:nvSpPr>
          <p:cNvPr id="3" name="Text 1"/>
          <p:cNvSpPr/>
          <p:nvPr/>
        </p:nvSpPr>
        <p:spPr>
          <a:xfrm>
            <a:off x="320040" y="0"/>
            <a:ext cx="8503920" cy="640080"/>
          </a:xfrm>
          <a:prstGeom prst="rect">
            <a:avLst/>
          </a:prstGeom>
          <a:noFill/>
          <a:ln/>
        </p:spPr>
        <p:txBody>
          <a:bodyPr wrap="square" lIns="0" tIns="0" rIns="0" bIns="0" rtlCol="0" anchor="ctr"/>
          <a:lstStyle/>
          <a:p>
            <a:pPr indent="0" marL="0">
              <a:buNone/>
            </a:pPr>
            <a:r>
              <a:rPr lang="en-US" sz="1300" b="1" dirty="0">
                <a:solidFill>
                  <a:srgbClr val="0A0E2A"/>
                </a:solidFill>
              </a:rPr>
              <a:t>REVEAL · SILLA DE RUEDAS AUTÓNOMA</a:t>
            </a:r>
            <a:endParaRPr lang="en-US" sz="1300" dirty="0"/>
          </a:p>
        </p:txBody>
      </p:sp>
      <p:sp>
        <p:nvSpPr>
          <p:cNvPr id="4" name="Shape 2"/>
          <p:cNvSpPr/>
          <p:nvPr/>
        </p:nvSpPr>
        <p:spPr>
          <a:xfrm>
            <a:off x="274320" y="749808"/>
            <a:ext cx="4389120" cy="475488"/>
          </a:xfrm>
          <a:prstGeom prst="roundRect">
            <a:avLst>
              <a:gd name="adj" fmla="val 15385"/>
            </a:avLst>
          </a:prstGeom>
          <a:solidFill>
            <a:srgbClr val="1A2550"/>
          </a:solidFill>
          <a:ln w="15240">
            <a:solidFill>
              <a:srgbClr val="FFB800"/>
            </a:solidFill>
            <a:prstDash val="solid"/>
          </a:ln>
        </p:spPr>
      </p:sp>
      <p:sp>
        <p:nvSpPr>
          <p:cNvPr id="5" name="Shape 3"/>
          <p:cNvSpPr/>
          <p:nvPr/>
        </p:nvSpPr>
        <p:spPr>
          <a:xfrm>
            <a:off x="347472" y="813816"/>
            <a:ext cx="1417320" cy="256032"/>
          </a:xfrm>
          <a:prstGeom prst="roundRect">
            <a:avLst>
              <a:gd name="adj" fmla="val 17857"/>
            </a:avLst>
          </a:prstGeom>
          <a:solidFill>
            <a:srgbClr val="FFB800">
              <a:alpha val="88000"/>
            </a:srgbClr>
          </a:solidFill>
          <a:ln w="12700">
            <a:solidFill>
              <a:srgbClr val="FFB800"/>
            </a:solidFill>
            <a:prstDash val="solid"/>
          </a:ln>
        </p:spPr>
      </p:sp>
      <p:sp>
        <p:nvSpPr>
          <p:cNvPr id="6" name="Text 4"/>
          <p:cNvSpPr/>
          <p:nvPr/>
        </p:nvSpPr>
        <p:spPr>
          <a:xfrm>
            <a:off x="347472" y="81381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VAGO</a:t>
            </a:r>
            <a:endParaRPr lang="en-US" sz="700" dirty="0"/>
          </a:p>
        </p:txBody>
      </p:sp>
      <p:sp>
        <p:nvSpPr>
          <p:cNvPr id="7" name="Text 5"/>
          <p:cNvSpPr/>
          <p:nvPr/>
        </p:nvSpPr>
        <p:spPr>
          <a:xfrm>
            <a:off x="1847088" y="749808"/>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Las personas en silla de ruedas a veces se chocan con cosas.</a:t>
            </a:r>
            <a:endParaRPr lang="en-US" sz="900" dirty="0"/>
          </a:p>
        </p:txBody>
      </p:sp>
      <p:sp>
        <p:nvSpPr>
          <p:cNvPr id="8" name="Shape 6"/>
          <p:cNvSpPr/>
          <p:nvPr/>
        </p:nvSpPr>
        <p:spPr>
          <a:xfrm>
            <a:off x="274320" y="1280160"/>
            <a:ext cx="4389120" cy="475488"/>
          </a:xfrm>
          <a:prstGeom prst="roundRect">
            <a:avLst>
              <a:gd name="adj" fmla="val 15385"/>
            </a:avLst>
          </a:prstGeom>
          <a:solidFill>
            <a:srgbClr val="1A2550"/>
          </a:solidFill>
          <a:ln w="15240">
            <a:solidFill>
              <a:srgbClr val="9B59B6"/>
            </a:solidFill>
            <a:prstDash val="solid"/>
          </a:ln>
        </p:spPr>
      </p:sp>
      <p:sp>
        <p:nvSpPr>
          <p:cNvPr id="9" name="Shape 7"/>
          <p:cNvSpPr/>
          <p:nvPr/>
        </p:nvSpPr>
        <p:spPr>
          <a:xfrm>
            <a:off x="347472" y="1344168"/>
            <a:ext cx="1417320" cy="256032"/>
          </a:xfrm>
          <a:prstGeom prst="roundRect">
            <a:avLst>
              <a:gd name="adj" fmla="val 17857"/>
            </a:avLst>
          </a:prstGeom>
          <a:solidFill>
            <a:srgbClr val="9B59B6">
              <a:alpha val="88000"/>
            </a:srgbClr>
          </a:solidFill>
          <a:ln w="12700">
            <a:solidFill>
              <a:srgbClr val="9B59B6"/>
            </a:solidFill>
            <a:prstDash val="solid"/>
          </a:ln>
        </p:spPr>
      </p:sp>
      <p:sp>
        <p:nvSpPr>
          <p:cNvPr id="10" name="Text 8"/>
          <p:cNvSpPr/>
          <p:nvPr/>
        </p:nvSpPr>
        <p:spPr>
          <a:xfrm>
            <a:off x="347472" y="1344168"/>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VARIABLE</a:t>
            </a:r>
            <a:endParaRPr lang="en-US" sz="700" dirty="0"/>
          </a:p>
        </p:txBody>
      </p:sp>
      <p:sp>
        <p:nvSpPr>
          <p:cNvPr id="11" name="Text 9"/>
          <p:cNvSpPr/>
          <p:nvPr/>
        </p:nvSpPr>
        <p:spPr>
          <a:xfrm>
            <a:off x="1847088" y="1280160"/>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Distancia al obstáculo más próximo en la dirección de movimiento (sensor ultrasónico, en centímetros).</a:t>
            </a:r>
            <a:endParaRPr lang="en-US" sz="900" dirty="0"/>
          </a:p>
        </p:txBody>
      </p:sp>
      <p:sp>
        <p:nvSpPr>
          <p:cNvPr id="12" name="Shape 10"/>
          <p:cNvSpPr/>
          <p:nvPr/>
        </p:nvSpPr>
        <p:spPr>
          <a:xfrm>
            <a:off x="274320" y="1810512"/>
            <a:ext cx="4389120" cy="475488"/>
          </a:xfrm>
          <a:prstGeom prst="roundRect">
            <a:avLst>
              <a:gd name="adj" fmla="val 15385"/>
            </a:avLst>
          </a:prstGeom>
          <a:solidFill>
            <a:srgbClr val="1A2550"/>
          </a:solidFill>
          <a:ln w="15240">
            <a:solidFill>
              <a:srgbClr val="FF4D6A"/>
            </a:solidFill>
            <a:prstDash val="solid"/>
          </a:ln>
        </p:spPr>
      </p:sp>
      <p:sp>
        <p:nvSpPr>
          <p:cNvPr id="13" name="Shape 11"/>
          <p:cNvSpPr/>
          <p:nvPr/>
        </p:nvSpPr>
        <p:spPr>
          <a:xfrm>
            <a:off x="347472" y="1874520"/>
            <a:ext cx="1417320" cy="256032"/>
          </a:xfrm>
          <a:prstGeom prst="roundRect">
            <a:avLst>
              <a:gd name="adj" fmla="val 17857"/>
            </a:avLst>
          </a:prstGeom>
          <a:solidFill>
            <a:srgbClr val="FF4D6A">
              <a:alpha val="88000"/>
            </a:srgbClr>
          </a:solidFill>
          <a:ln w="12700">
            <a:solidFill>
              <a:srgbClr val="FF4D6A"/>
            </a:solidFill>
            <a:prstDash val="solid"/>
          </a:ln>
        </p:spPr>
      </p:sp>
      <p:sp>
        <p:nvSpPr>
          <p:cNvPr id="14" name="Text 12"/>
          <p:cNvSpPr/>
          <p:nvPr/>
        </p:nvSpPr>
        <p:spPr>
          <a:xfrm>
            <a:off x="347472" y="1874520"/>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PUNTO DE QUIEBRE</a:t>
            </a:r>
            <a:endParaRPr lang="en-US" sz="700" dirty="0"/>
          </a:p>
        </p:txBody>
      </p:sp>
      <p:sp>
        <p:nvSpPr>
          <p:cNvPr id="15" name="Text 13"/>
          <p:cNvSpPr/>
          <p:nvPr/>
        </p:nvSpPr>
        <p:spPr>
          <a:xfrm>
            <a:off x="1847088" y="1810512"/>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Distancia al obstáculo menor a 30 cm con la silla en movimiento.</a:t>
            </a:r>
            <a:endParaRPr lang="en-US" sz="900" dirty="0"/>
          </a:p>
        </p:txBody>
      </p:sp>
      <p:sp>
        <p:nvSpPr>
          <p:cNvPr id="16" name="Shape 14"/>
          <p:cNvSpPr/>
          <p:nvPr/>
        </p:nvSpPr>
        <p:spPr>
          <a:xfrm>
            <a:off x="274320" y="2340864"/>
            <a:ext cx="4389120" cy="594360"/>
          </a:xfrm>
          <a:prstGeom prst="roundRect">
            <a:avLst>
              <a:gd name="adj" fmla="val 12308"/>
            </a:avLst>
          </a:prstGeom>
          <a:solidFill>
            <a:srgbClr val="1A2550"/>
          </a:solidFill>
          <a:ln w="15240">
            <a:solidFill>
              <a:srgbClr val="00C896"/>
            </a:solidFill>
            <a:prstDash val="solid"/>
          </a:ln>
        </p:spPr>
      </p:sp>
      <p:sp>
        <p:nvSpPr>
          <p:cNvPr id="17" name="Shape 15"/>
          <p:cNvSpPr/>
          <p:nvPr/>
        </p:nvSpPr>
        <p:spPr>
          <a:xfrm>
            <a:off x="347472" y="2404872"/>
            <a:ext cx="1417320" cy="256032"/>
          </a:xfrm>
          <a:prstGeom prst="roundRect">
            <a:avLst>
              <a:gd name="adj" fmla="val 17857"/>
            </a:avLst>
          </a:prstGeom>
          <a:solidFill>
            <a:srgbClr val="00C896">
              <a:alpha val="88000"/>
            </a:srgbClr>
          </a:solidFill>
          <a:ln w="12700">
            <a:solidFill>
              <a:srgbClr val="00C896"/>
            </a:solidFill>
            <a:prstDash val="solid"/>
          </a:ln>
        </p:spPr>
      </p:sp>
      <p:sp>
        <p:nvSpPr>
          <p:cNvPr id="18" name="Text 16"/>
          <p:cNvSpPr/>
          <p:nvPr/>
        </p:nvSpPr>
        <p:spPr>
          <a:xfrm>
            <a:off x="347472" y="2404872"/>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TECNICO</a:t>
            </a:r>
            <a:endParaRPr lang="en-US" sz="700" dirty="0"/>
          </a:p>
        </p:txBody>
      </p:sp>
      <p:sp>
        <p:nvSpPr>
          <p:cNvPr id="19" name="Text 17"/>
          <p:cNvSpPr/>
          <p:nvPr/>
        </p:nvSpPr>
        <p:spPr>
          <a:xfrm>
            <a:off x="1847088" y="2340864"/>
            <a:ext cx="2724912" cy="594360"/>
          </a:xfrm>
          <a:prstGeom prst="rect">
            <a:avLst/>
          </a:prstGeom>
          <a:noFill/>
          <a:ln/>
        </p:spPr>
        <p:txBody>
          <a:bodyPr wrap="square" lIns="635" tIns="635" rIns="635" bIns="635" rtlCol="0" anchor="ctr"/>
          <a:lstStyle/>
          <a:p>
            <a:pPr indent="0" marL="0">
              <a:buNone/>
            </a:pPr>
            <a:r>
              <a:rPr lang="en-US" sz="900" dirty="0">
                <a:solidFill>
                  <a:srgbClr val="E8EDF5"/>
                </a:solidFill>
              </a:rPr>
              <a:t>En un interior, la silla de ruedas en movimiento detecta un obstáculo a menos de 30 cm en su trayectoria, lo que genera riesgo de colisión con consecuencias físicas para el usuario.</a:t>
            </a:r>
            <a:endParaRPr lang="en-US" sz="900" dirty="0"/>
          </a:p>
        </p:txBody>
      </p:sp>
      <p:sp>
        <p:nvSpPr>
          <p:cNvPr id="20" name="Shape 18"/>
          <p:cNvSpPr/>
          <p:nvPr/>
        </p:nvSpPr>
        <p:spPr>
          <a:xfrm>
            <a:off x="274320" y="2990088"/>
            <a:ext cx="4389120" cy="841248"/>
          </a:xfrm>
          <a:prstGeom prst="roundRect">
            <a:avLst>
              <a:gd name="adj" fmla="val 8696"/>
            </a:avLst>
          </a:prstGeom>
          <a:solidFill>
            <a:srgbClr val="1A2550"/>
          </a:solidFill>
          <a:ln w="15240">
            <a:solidFill>
              <a:srgbClr val="00D4FF"/>
            </a:solidFill>
            <a:prstDash val="solid"/>
          </a:ln>
        </p:spPr>
      </p:sp>
      <p:sp>
        <p:nvSpPr>
          <p:cNvPr id="21" name="Shape 19"/>
          <p:cNvSpPr/>
          <p:nvPr/>
        </p:nvSpPr>
        <p:spPr>
          <a:xfrm>
            <a:off x="347472" y="3054096"/>
            <a:ext cx="1417320" cy="256032"/>
          </a:xfrm>
          <a:prstGeom prst="roundRect">
            <a:avLst>
              <a:gd name="adj" fmla="val 17857"/>
            </a:avLst>
          </a:prstGeom>
          <a:solidFill>
            <a:srgbClr val="00D4FF">
              <a:alpha val="88000"/>
            </a:srgbClr>
          </a:solidFill>
          <a:ln w="12700">
            <a:solidFill>
              <a:srgbClr val="00D4FF"/>
            </a:solidFill>
            <a:prstDash val="solid"/>
          </a:ln>
        </p:spPr>
      </p:sp>
      <p:sp>
        <p:nvSpPr>
          <p:cNvPr id="22" name="Text 20"/>
          <p:cNvSpPr/>
          <p:nvPr/>
        </p:nvSpPr>
        <p:spPr>
          <a:xfrm>
            <a:off x="347472" y="305409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OBJETIVOS</a:t>
            </a:r>
            <a:endParaRPr lang="en-US" sz="700" dirty="0"/>
          </a:p>
        </p:txBody>
      </p:sp>
      <p:sp>
        <p:nvSpPr>
          <p:cNvPr id="23" name="Text 21"/>
          <p:cNvSpPr/>
          <p:nvPr/>
        </p:nvSpPr>
        <p:spPr>
          <a:xfrm>
            <a:off x="1847088" y="2990088"/>
            <a:ext cx="2724912" cy="841248"/>
          </a:xfrm>
          <a:prstGeom prst="rect">
            <a:avLst/>
          </a:prstGeom>
          <a:noFill/>
          <a:ln/>
        </p:spPr>
        <p:txBody>
          <a:bodyPr wrap="square" lIns="635" tIns="635" rIns="635" bIns="635" rtlCol="0" anchor="ctr"/>
          <a:lstStyle/>
          <a:p>
            <a:pPr indent="0" marL="0">
              <a:buNone/>
            </a:pPr>
            <a:r>
              <a:rPr lang="en-US" sz="850" dirty="0">
                <a:solidFill>
                  <a:srgbClr val="E8EDF5"/>
                </a:solidFill>
              </a:rPr>
              <a:t>1. Medir continuamente la distancia a obstáculos en la dirección de avance.  2. Detener automáticamente los motores de la silla cuando la distancia sea menor a 30 cm.  3. Emitir una alerta sonora y visual antes de la detención para informar al usuario.</a:t>
            </a:r>
            <a:endParaRPr lang="en-US" sz="850" dirty="0"/>
          </a:p>
        </p:txBody>
      </p:sp>
      <p:sp>
        <p:nvSpPr>
          <p:cNvPr id="24" name="Shape 22"/>
          <p:cNvSpPr/>
          <p:nvPr/>
        </p:nvSpPr>
        <p:spPr>
          <a:xfrm>
            <a:off x="4937760" y="749808"/>
            <a:ext cx="3977640" cy="2971800"/>
          </a:xfrm>
          <a:prstGeom prst="roundRect">
            <a:avLst>
              <a:gd name="adj" fmla="val 4615"/>
            </a:avLst>
          </a:prstGeom>
          <a:solidFill>
            <a:srgbClr val="FF4D6A">
              <a:alpha val="92000"/>
            </a:srgbClr>
          </a:solidFill>
          <a:ln w="25400">
            <a:solidFill>
              <a:srgbClr val="FF4D6A"/>
            </a:solidFill>
            <a:prstDash val="solid"/>
          </a:ln>
          <a:effectLst>
            <a:outerShdw sx="100000" sy="100000" kx="0" ky="0" algn="bl" rotWithShape="0" blurRad="127000" dist="38100" dir="2700000">
              <a:srgbClr val="000000">
                <a:alpha val="18000"/>
              </a:srgbClr>
            </a:outerShdw>
          </a:effectLst>
        </p:spPr>
      </p:sp>
      <p:sp>
        <p:nvSpPr>
          <p:cNvPr id="25" name="Text 23"/>
          <p:cNvSpPr/>
          <p:nvPr/>
        </p:nvSpPr>
        <p:spPr>
          <a:xfrm>
            <a:off x="5074920" y="822960"/>
            <a:ext cx="3703320" cy="320040"/>
          </a:xfrm>
          <a:prstGeom prst="rect">
            <a:avLst/>
          </a:prstGeom>
          <a:noFill/>
          <a:ln/>
        </p:spPr>
        <p:txBody>
          <a:bodyPr wrap="square" lIns="0" tIns="0" rIns="0" bIns="0" rtlCol="0" anchor="ctr"/>
          <a:lstStyle/>
          <a:p>
            <a:pPr algn="ctr" indent="0" marL="0">
              <a:buNone/>
            </a:pPr>
            <a:r>
              <a:rPr lang="en-US" sz="1200" b="1" dirty="0">
                <a:solidFill>
                  <a:srgbClr val="0A0E2A"/>
                </a:solidFill>
              </a:rPr>
              <a:t>SOLUCIÓN</a:t>
            </a:r>
            <a:endParaRPr lang="en-US" sz="1200" dirty="0"/>
          </a:p>
        </p:txBody>
      </p:sp>
      <p:sp>
        <p:nvSpPr>
          <p:cNvPr id="26" name="Text 24"/>
          <p:cNvSpPr/>
          <p:nvPr/>
        </p:nvSpPr>
        <p:spPr>
          <a:xfrm>
            <a:off x="5074920" y="1188720"/>
            <a:ext cx="3703320" cy="1828800"/>
          </a:xfrm>
          <a:prstGeom prst="rect">
            <a:avLst/>
          </a:prstGeom>
          <a:noFill/>
          <a:ln/>
        </p:spPr>
        <p:txBody>
          <a:bodyPr wrap="square" lIns="0" tIns="0" rIns="0" bIns="0" rtlCol="0" anchor="ctr"/>
          <a:lstStyle/>
          <a:p>
            <a:pPr indent="0" marL="0">
              <a:buNone/>
            </a:pPr>
            <a:r>
              <a:rPr lang="en-US" sz="1100" dirty="0">
                <a:solidFill>
                  <a:srgbClr val="0A0E2A"/>
                </a:solidFill>
              </a:rPr>
              <a:t>Sistema con sensor ultrasónico HC-SR04 + Arduino + controlador de motores L298N. A menos de 30 cm activa freno y buzzer. A menos de 50 cm reduce velocidad como pre-alerta.</a:t>
            </a:r>
            <a:endParaRPr lang="en-US" sz="1100" dirty="0"/>
          </a:p>
        </p:txBody>
      </p:sp>
      <p:sp>
        <p:nvSpPr>
          <p:cNvPr id="27" name="Text 25"/>
          <p:cNvSpPr/>
          <p:nvPr/>
        </p:nvSpPr>
        <p:spPr>
          <a:xfrm>
            <a:off x="5074920" y="3017520"/>
            <a:ext cx="3703320" cy="502920"/>
          </a:xfrm>
          <a:prstGeom prst="rect">
            <a:avLst/>
          </a:prstGeom>
          <a:noFill/>
          <a:ln/>
        </p:spPr>
        <p:txBody>
          <a:bodyPr wrap="square" lIns="0" tIns="0" rIns="0" bIns="0" rtlCol="0" anchor="ctr"/>
          <a:lstStyle/>
          <a:p>
            <a:pPr indent="0" marL="0">
              <a:buNone/>
            </a:pPr>
            <a:r>
              <a:rPr lang="en-US" sz="950" i="1" dirty="0">
                <a:solidFill>
                  <a:srgbClr val="0A0E2A"/>
                </a:solidFill>
              </a:rPr>
              <a:t>📷  Silla de ruedas con sensor HC-SR04 frontal, Arduino y controlador de motores</a:t>
            </a:r>
            <a:endParaRPr lang="en-US" sz="950" dirty="0"/>
          </a:p>
        </p:txBody>
      </p:sp>
      <p:sp>
        <p:nvSpPr>
          <p:cNvPr id="28" name="Shape 26"/>
          <p:cNvSpPr/>
          <p:nvPr/>
        </p:nvSpPr>
        <p:spPr>
          <a:xfrm>
            <a:off x="274320" y="3858768"/>
            <a:ext cx="8549640" cy="841248"/>
          </a:xfrm>
          <a:prstGeom prst="roundRect">
            <a:avLst>
              <a:gd name="adj" fmla="val 13043"/>
            </a:avLst>
          </a:prstGeom>
          <a:solidFill>
            <a:srgbClr val="1A2550"/>
          </a:solidFill>
          <a:ln w="15240">
            <a:solidFill>
              <a:srgbClr val="FF4D6A"/>
            </a:solidFill>
            <a:prstDash val="solid"/>
          </a:ln>
        </p:spPr>
      </p:sp>
      <p:sp>
        <p:nvSpPr>
          <p:cNvPr id="29" name="Text 27"/>
          <p:cNvSpPr/>
          <p:nvPr/>
        </p:nvSpPr>
        <p:spPr>
          <a:xfrm>
            <a:off x="457200" y="3858768"/>
            <a:ext cx="8229600" cy="841248"/>
          </a:xfrm>
          <a:prstGeom prst="rect">
            <a:avLst/>
          </a:prstGeom>
          <a:noFill/>
          <a:ln/>
        </p:spPr>
        <p:txBody>
          <a:bodyPr wrap="square" lIns="0" tIns="0" rIns="0" bIns="0" rtlCol="0" anchor="ctr"/>
          <a:lstStyle/>
          <a:p>
            <a:pPr algn="ctr" indent="0" marL="0">
              <a:buNone/>
            </a:pPr>
            <a:r>
              <a:rPr lang="en-US" sz="1200" dirty="0">
                <a:solidFill>
                  <a:srgbClr val="E8EDF5"/>
                </a:solidFill>
              </a:rPr>
              <a:t>¿Qué equipo formuló mejor cada componente?  ·  ¿Cuál se acercó más a la solución real?  ·  ¿Qué mejorarían?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00D4FF"/>
          </a:solidFill>
          <a:ln w="12700">
            <a:solidFill>
              <a:srgbClr val="00D4FF"/>
            </a:solidFill>
            <a:prstDash val="solid"/>
          </a:ln>
        </p:spPr>
      </p:sp>
      <p:sp>
        <p:nvSpPr>
          <p:cNvPr id="3" name="Text 1"/>
          <p:cNvSpPr/>
          <p:nvPr/>
        </p:nvSpPr>
        <p:spPr>
          <a:xfrm>
            <a:off x="0" y="365760"/>
            <a:ext cx="3474720" cy="2286000"/>
          </a:xfrm>
          <a:prstGeom prst="rect">
            <a:avLst/>
          </a:prstGeom>
          <a:noFill/>
          <a:ln/>
        </p:spPr>
        <p:txBody>
          <a:bodyPr wrap="square" lIns="0" tIns="0" rIns="0" bIns="0" rtlCol="0" anchor="ctr"/>
          <a:lstStyle/>
          <a:p>
            <a:pPr algn="ctr" indent="0" marL="0">
              <a:buNone/>
            </a:pPr>
            <a:r>
              <a:rPr lang="en-US" sz="16000" b="1" dirty="0">
                <a:solidFill>
                  <a:srgbClr val="0A0E2A"/>
                </a:solidFill>
              </a:rPr>
              <a:t>4</a:t>
            </a:r>
            <a:endParaRPr lang="en-US" sz="16000" dirty="0"/>
          </a:p>
        </p:txBody>
      </p:sp>
      <p:sp>
        <p:nvSpPr>
          <p:cNvPr id="4" name="Text 2"/>
          <p:cNvSpPr/>
          <p:nvPr/>
        </p:nvSpPr>
        <p:spPr>
          <a:xfrm>
            <a:off x="0" y="2926080"/>
            <a:ext cx="3474720" cy="502920"/>
          </a:xfrm>
          <a:prstGeom prst="rect">
            <a:avLst/>
          </a:prstGeom>
          <a:noFill/>
          <a:ln/>
        </p:spPr>
        <p:txBody>
          <a:bodyPr wrap="square" lIns="0" tIns="0" rIns="0" bIns="0" rtlCol="0" anchor="ctr"/>
          <a:lstStyle/>
          <a:p>
            <a:pPr algn="ctr" indent="0" marL="0">
              <a:buNone/>
            </a:pPr>
            <a:r>
              <a:rPr lang="en-US" sz="1800" b="1" dirty="0">
                <a:solidFill>
                  <a:srgbClr val="0A0E2A"/>
                </a:solidFill>
              </a:rPr>
              <a:t>P4</a:t>
            </a:r>
            <a:endParaRPr lang="en-US" sz="1800" dirty="0"/>
          </a:p>
        </p:txBody>
      </p:sp>
      <p:sp>
        <p:nvSpPr>
          <p:cNvPr id="5" name="Text 3"/>
          <p:cNvSpPr/>
          <p:nvPr/>
        </p:nvSpPr>
        <p:spPr>
          <a:xfrm>
            <a:off x="91440" y="3429000"/>
            <a:ext cx="3291840" cy="548640"/>
          </a:xfrm>
          <a:prstGeom prst="rect">
            <a:avLst/>
          </a:prstGeom>
          <a:noFill/>
          <a:ln/>
        </p:spPr>
        <p:txBody>
          <a:bodyPr wrap="square" lIns="0" tIns="0" rIns="0" bIns="0" rtlCol="0" anchor="ctr"/>
          <a:lstStyle/>
          <a:p>
            <a:pPr algn="ctr" indent="0" marL="0">
              <a:buNone/>
            </a:pPr>
            <a:r>
              <a:rPr lang="en-US" sz="1000" i="1" dirty="0">
                <a:solidFill>
                  <a:srgbClr val="0A0E2A"/>
                </a:solidFill>
              </a:rPr>
              <a:t>Robótica · IA · Sustentabilidad</a:t>
            </a:r>
            <a:endParaRPr lang="en-US" sz="1000" dirty="0"/>
          </a:p>
        </p:txBody>
      </p:sp>
      <p:sp>
        <p:nvSpPr>
          <p:cNvPr id="6" name="Text 4"/>
          <p:cNvSpPr/>
          <p:nvPr/>
        </p:nvSpPr>
        <p:spPr>
          <a:xfrm>
            <a:off x="3840480" y="411480"/>
            <a:ext cx="5029200" cy="1188720"/>
          </a:xfrm>
          <a:prstGeom prst="rect">
            <a:avLst/>
          </a:prstGeom>
          <a:noFill/>
          <a:ln/>
        </p:spPr>
        <p:txBody>
          <a:bodyPr wrap="square" lIns="0" tIns="0" rIns="0" bIns="0" rtlCol="0" anchor="t"/>
          <a:lstStyle/>
          <a:p>
            <a:pPr indent="0" marL="0">
              <a:buNone/>
            </a:pPr>
            <a:r>
              <a:rPr lang="en-US" sz="2800" b="1" dirty="0">
                <a:solidFill>
                  <a:srgbClr val="00D4FF"/>
                </a:solidFill>
              </a:rPr>
              <a:t>Brazo Robótico Clasificador</a:t>
            </a:r>
            <a:endParaRPr lang="en-US" sz="2800" dirty="0"/>
          </a:p>
        </p:txBody>
      </p:sp>
      <p:sp>
        <p:nvSpPr>
          <p:cNvPr id="7" name="Shape 5"/>
          <p:cNvSpPr/>
          <p:nvPr/>
        </p:nvSpPr>
        <p:spPr>
          <a:xfrm>
            <a:off x="3840480" y="1691640"/>
            <a:ext cx="5029200" cy="2011680"/>
          </a:xfrm>
          <a:prstGeom prst="roundRect">
            <a:avLst>
              <a:gd name="adj" fmla="val 5455"/>
            </a:avLst>
          </a:prstGeom>
          <a:solidFill>
            <a:srgbClr val="1A2550"/>
          </a:solidFill>
          <a:ln w="19050">
            <a:solidFill>
              <a:srgbClr val="00D4FF"/>
            </a:solidFill>
            <a:prstDash val="solid"/>
          </a:ln>
          <a:effectLst>
            <a:outerShdw sx="100000" sy="100000" kx="0" ky="0" algn="bl" rotWithShape="0" blurRad="127000" dist="38100" dir="2700000">
              <a:srgbClr val="000000">
                <a:alpha val="18000"/>
              </a:srgbClr>
            </a:outerShdw>
          </a:effectLst>
        </p:spPr>
      </p:sp>
      <p:sp>
        <p:nvSpPr>
          <p:cNvPr id="8" name="Text 6"/>
          <p:cNvSpPr/>
          <p:nvPr/>
        </p:nvSpPr>
        <p:spPr>
          <a:xfrm>
            <a:off x="3977640" y="1755648"/>
            <a:ext cx="4754880" cy="274320"/>
          </a:xfrm>
          <a:prstGeom prst="rect">
            <a:avLst/>
          </a:prstGeom>
          <a:noFill/>
          <a:ln/>
        </p:spPr>
        <p:txBody>
          <a:bodyPr wrap="square" lIns="0" tIns="0" rIns="0" bIns="0" rtlCol="0" anchor="ctr"/>
          <a:lstStyle/>
          <a:p>
            <a:pPr indent="0" marL="0">
              <a:buNone/>
            </a:pPr>
            <a:r>
              <a:rPr lang="en-US" sz="950" b="1" dirty="0">
                <a:solidFill>
                  <a:srgbClr val="00D4FF"/>
                </a:solidFill>
              </a:rPr>
              <a:t>CONTEXTO DEL PROYECTO</a:t>
            </a:r>
            <a:endParaRPr lang="en-US" sz="950" dirty="0"/>
          </a:p>
        </p:txBody>
      </p:sp>
      <p:sp>
        <p:nvSpPr>
          <p:cNvPr id="9" name="Text 7"/>
          <p:cNvSpPr/>
          <p:nvPr/>
        </p:nvSpPr>
        <p:spPr>
          <a:xfrm>
            <a:off x="3977640" y="2057400"/>
            <a:ext cx="4754880" cy="1554480"/>
          </a:xfrm>
          <a:prstGeom prst="rect">
            <a:avLst/>
          </a:prstGeom>
          <a:noFill/>
          <a:ln/>
        </p:spPr>
        <p:txBody>
          <a:bodyPr wrap="square" lIns="0" tIns="0" rIns="0" bIns="0" rtlCol="0" anchor="ctr"/>
          <a:lstStyle/>
          <a:p>
            <a:pPr indent="0" marL="0">
              <a:buNone/>
            </a:pPr>
            <a:r>
              <a:rPr lang="en-US" sz="1250" dirty="0">
                <a:solidFill>
                  <a:srgbClr val="E8EDF5"/>
                </a:solidFill>
              </a:rPr>
              <a:t>Puntos de reciclaje donde los usuarios depositan residuos mezclados sin clasificar, generando contaminación de material reciclable.</a:t>
            </a:r>
            <a:endParaRPr lang="en-US" sz="1250" dirty="0"/>
          </a:p>
        </p:txBody>
      </p:sp>
      <p:sp>
        <p:nvSpPr>
          <p:cNvPr id="10" name="Shape 8"/>
          <p:cNvSpPr/>
          <p:nvPr/>
        </p:nvSpPr>
        <p:spPr>
          <a:xfrm>
            <a:off x="3840480" y="3840480"/>
            <a:ext cx="5029200" cy="868680"/>
          </a:xfrm>
          <a:prstGeom prst="roundRect">
            <a:avLst>
              <a:gd name="adj" fmla="val 10526"/>
            </a:avLst>
          </a:prstGeom>
          <a:solidFill>
            <a:srgbClr val="1A2550"/>
          </a:solidFill>
          <a:ln w="12700">
            <a:solidFill>
              <a:srgbClr val="00D4FF">
                <a:alpha val="50000"/>
              </a:srgbClr>
            </a:solidFill>
            <a:prstDash val="solid"/>
          </a:ln>
        </p:spPr>
      </p:sp>
      <p:sp>
        <p:nvSpPr>
          <p:cNvPr id="11" name="Text 9"/>
          <p:cNvSpPr/>
          <p:nvPr/>
        </p:nvSpPr>
        <p:spPr>
          <a:xfrm>
            <a:off x="3977640" y="3886200"/>
            <a:ext cx="1097280" cy="274320"/>
          </a:xfrm>
          <a:prstGeom prst="rect">
            <a:avLst/>
          </a:prstGeom>
          <a:noFill/>
          <a:ln/>
        </p:spPr>
        <p:txBody>
          <a:bodyPr wrap="square" lIns="0" tIns="0" rIns="0" bIns="0" rtlCol="0" anchor="ctr"/>
          <a:lstStyle/>
          <a:p>
            <a:pPr indent="0" marL="0">
              <a:buNone/>
            </a:pPr>
            <a:r>
              <a:rPr lang="en-US" sz="900" b="1" dirty="0">
                <a:solidFill>
                  <a:srgbClr val="00D4FF"/>
                </a:solidFill>
              </a:rPr>
              <a:t>5 RONDAS:</a:t>
            </a:r>
            <a:endParaRPr lang="en-US" sz="900" dirty="0"/>
          </a:p>
        </p:txBody>
      </p:sp>
      <p:sp>
        <p:nvSpPr>
          <p:cNvPr id="12" name="Shape 10"/>
          <p:cNvSpPr/>
          <p:nvPr/>
        </p:nvSpPr>
        <p:spPr>
          <a:xfrm>
            <a:off x="3977640" y="4187952"/>
            <a:ext cx="868680" cy="411480"/>
          </a:xfrm>
          <a:prstGeom prst="roundRect">
            <a:avLst>
              <a:gd name="adj" fmla="val 15556"/>
            </a:avLst>
          </a:prstGeom>
          <a:solidFill>
            <a:srgbClr val="FFB800">
              <a:alpha val="85000"/>
            </a:srgbClr>
          </a:solidFill>
          <a:ln w="12700">
            <a:solidFill>
              <a:srgbClr val="FFB800"/>
            </a:solidFill>
            <a:prstDash val="solid"/>
          </a:ln>
        </p:spPr>
      </p:sp>
      <p:sp>
        <p:nvSpPr>
          <p:cNvPr id="13" name="Text 11"/>
          <p:cNvSpPr/>
          <p:nvPr/>
        </p:nvSpPr>
        <p:spPr>
          <a:xfrm>
            <a:off x="397764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Prob.</a:t>
            </a:r>
            <a:endParaRPr lang="en-US" sz="750" dirty="0"/>
          </a:p>
          <a:p>
            <a:pPr algn="ctr" indent="0" marL="0">
              <a:buNone/>
            </a:pPr>
            <a:r>
              <a:rPr lang="en-US" sz="750" b="1" dirty="0">
                <a:solidFill>
                  <a:srgbClr val="0A0E2A"/>
                </a:solidFill>
              </a:rPr>
              <a:t>Vago</a:t>
            </a:r>
            <a:endParaRPr lang="en-US" sz="750" dirty="0"/>
          </a:p>
        </p:txBody>
      </p:sp>
      <p:sp>
        <p:nvSpPr>
          <p:cNvPr id="14" name="Shape 12"/>
          <p:cNvSpPr/>
          <p:nvPr/>
        </p:nvSpPr>
        <p:spPr>
          <a:xfrm>
            <a:off x="4937760" y="4187952"/>
            <a:ext cx="868680" cy="411480"/>
          </a:xfrm>
          <a:prstGeom prst="roundRect">
            <a:avLst>
              <a:gd name="adj" fmla="val 15556"/>
            </a:avLst>
          </a:prstGeom>
          <a:solidFill>
            <a:srgbClr val="00D4FF">
              <a:alpha val="85000"/>
            </a:srgbClr>
          </a:solidFill>
          <a:ln w="12700">
            <a:solidFill>
              <a:srgbClr val="00D4FF"/>
            </a:solidFill>
            <a:prstDash val="solid"/>
          </a:ln>
        </p:spPr>
      </p:sp>
      <p:sp>
        <p:nvSpPr>
          <p:cNvPr id="15" name="Text 13"/>
          <p:cNvSpPr/>
          <p:nvPr/>
        </p:nvSpPr>
        <p:spPr>
          <a:xfrm>
            <a:off x="493776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Dispa-</a:t>
            </a:r>
            <a:endParaRPr lang="en-US" sz="750" dirty="0"/>
          </a:p>
          <a:p>
            <a:pPr algn="ctr" indent="0" marL="0">
              <a:buNone/>
            </a:pPr>
            <a:r>
              <a:rPr lang="en-US" sz="750" b="1" dirty="0">
                <a:solidFill>
                  <a:srgbClr val="0A0E2A"/>
                </a:solidFill>
              </a:rPr>
              <a:t>radoras</a:t>
            </a:r>
            <a:endParaRPr lang="en-US" sz="750" dirty="0"/>
          </a:p>
        </p:txBody>
      </p:sp>
      <p:sp>
        <p:nvSpPr>
          <p:cNvPr id="16" name="Shape 14"/>
          <p:cNvSpPr/>
          <p:nvPr/>
        </p:nvSpPr>
        <p:spPr>
          <a:xfrm>
            <a:off x="5897880" y="4187952"/>
            <a:ext cx="868680" cy="411480"/>
          </a:xfrm>
          <a:prstGeom prst="roundRect">
            <a:avLst>
              <a:gd name="adj" fmla="val 15556"/>
            </a:avLst>
          </a:prstGeom>
          <a:solidFill>
            <a:srgbClr val="00C896">
              <a:alpha val="85000"/>
            </a:srgbClr>
          </a:solidFill>
          <a:ln w="12700">
            <a:solidFill>
              <a:srgbClr val="00C896"/>
            </a:solidFill>
            <a:prstDash val="solid"/>
          </a:ln>
        </p:spPr>
      </p:sp>
      <p:sp>
        <p:nvSpPr>
          <p:cNvPr id="17" name="Text 15"/>
          <p:cNvSpPr/>
          <p:nvPr/>
        </p:nvSpPr>
        <p:spPr>
          <a:xfrm>
            <a:off x="589788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4 Comp.</a:t>
            </a:r>
            <a:endParaRPr lang="en-US" sz="750" dirty="0"/>
          </a:p>
          <a:p>
            <a:pPr algn="ctr" indent="0" marL="0">
              <a:buNone/>
            </a:pPr>
            <a:r>
              <a:rPr lang="en-US" sz="750" b="1" dirty="0">
                <a:solidFill>
                  <a:srgbClr val="0A0E2A"/>
                </a:solidFill>
              </a:rPr>
              <a:t>+ Técnico</a:t>
            </a:r>
            <a:endParaRPr lang="en-US" sz="750" dirty="0"/>
          </a:p>
        </p:txBody>
      </p:sp>
      <p:sp>
        <p:nvSpPr>
          <p:cNvPr id="18" name="Shape 16"/>
          <p:cNvSpPr/>
          <p:nvPr/>
        </p:nvSpPr>
        <p:spPr>
          <a:xfrm>
            <a:off x="6858000" y="4187952"/>
            <a:ext cx="868680" cy="411480"/>
          </a:xfrm>
          <a:prstGeom prst="roundRect">
            <a:avLst>
              <a:gd name="adj" fmla="val 15556"/>
            </a:avLst>
          </a:prstGeom>
          <a:solidFill>
            <a:srgbClr val="9B59B6">
              <a:alpha val="85000"/>
            </a:srgbClr>
          </a:solidFill>
          <a:ln w="12700">
            <a:solidFill>
              <a:srgbClr val="9B59B6"/>
            </a:solidFill>
            <a:prstDash val="solid"/>
          </a:ln>
        </p:spPr>
      </p:sp>
      <p:sp>
        <p:nvSpPr>
          <p:cNvPr id="19" name="Text 17"/>
          <p:cNvSpPr/>
          <p:nvPr/>
        </p:nvSpPr>
        <p:spPr>
          <a:xfrm>
            <a:off x="685800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Obje-</a:t>
            </a:r>
            <a:endParaRPr lang="en-US" sz="750" dirty="0"/>
          </a:p>
          <a:p>
            <a:pPr algn="ctr" indent="0" marL="0">
              <a:buNone/>
            </a:pPr>
            <a:r>
              <a:rPr lang="en-US" sz="750" b="1" dirty="0">
                <a:solidFill>
                  <a:srgbClr val="0A0E2A"/>
                </a:solidFill>
              </a:rPr>
              <a:t>tivos</a:t>
            </a:r>
            <a:endParaRPr lang="en-US" sz="750" dirty="0"/>
          </a:p>
        </p:txBody>
      </p:sp>
      <p:sp>
        <p:nvSpPr>
          <p:cNvPr id="20" name="Shape 18"/>
          <p:cNvSpPr/>
          <p:nvPr/>
        </p:nvSpPr>
        <p:spPr>
          <a:xfrm>
            <a:off x="7818120" y="4187952"/>
            <a:ext cx="868680" cy="411480"/>
          </a:xfrm>
          <a:prstGeom prst="roundRect">
            <a:avLst>
              <a:gd name="adj" fmla="val 15556"/>
            </a:avLst>
          </a:prstGeom>
          <a:solidFill>
            <a:srgbClr val="FF4D6A">
              <a:alpha val="85000"/>
            </a:srgbClr>
          </a:solidFill>
          <a:ln w="12700">
            <a:solidFill>
              <a:srgbClr val="FF4D6A"/>
            </a:solidFill>
            <a:prstDash val="solid"/>
          </a:ln>
        </p:spPr>
      </p:sp>
      <p:sp>
        <p:nvSpPr>
          <p:cNvPr id="21" name="Text 19"/>
          <p:cNvSpPr/>
          <p:nvPr/>
        </p:nvSpPr>
        <p:spPr>
          <a:xfrm>
            <a:off x="7818120" y="4187952"/>
            <a:ext cx="868680" cy="411480"/>
          </a:xfrm>
          <a:prstGeom prst="rect">
            <a:avLst/>
          </a:prstGeom>
          <a:noFill/>
          <a:ln/>
        </p:spPr>
        <p:txBody>
          <a:bodyPr wrap="square" lIns="0" tIns="0" rIns="0" bIns="0" rtlCol="0" anchor="ctr"/>
          <a:lstStyle/>
          <a:p>
            <a:pPr algn="ctr" indent="0" marL="0">
              <a:buNone/>
            </a:pPr>
            <a:r>
              <a:rPr lang="en-US" sz="750" b="1" dirty="0">
                <a:solidFill>
                  <a:srgbClr val="0A0E2A"/>
                </a:solidFill>
              </a:rPr>
              <a:t>Solu-</a:t>
            </a:r>
            <a:endParaRPr lang="en-US" sz="750" dirty="0"/>
          </a:p>
          <a:p>
            <a:pPr algn="ctr" indent="0" marL="0">
              <a:buNone/>
            </a:pPr>
            <a:r>
              <a:rPr lang="en-US" sz="750" b="1" dirty="0">
                <a:solidFill>
                  <a:srgbClr val="0A0E2A"/>
                </a:solidFill>
              </a:rPr>
              <a:t>ción</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D4FF"/>
          </a:solidFill>
          <a:ln w="12700">
            <a:solidFill>
              <a:srgbClr val="00D4FF"/>
            </a:solidFill>
            <a:prstDash val="solid"/>
          </a:ln>
        </p:spPr>
      </p:sp>
      <p:sp>
        <p:nvSpPr>
          <p:cNvPr id="3" name="Text 1"/>
          <p:cNvSpPr/>
          <p:nvPr/>
        </p:nvSpPr>
        <p:spPr>
          <a:xfrm>
            <a:off x="274320" y="0"/>
            <a:ext cx="6858000" cy="502920"/>
          </a:xfrm>
          <a:prstGeom prst="rect">
            <a:avLst/>
          </a:prstGeom>
          <a:noFill/>
          <a:ln/>
        </p:spPr>
        <p:txBody>
          <a:bodyPr wrap="square" lIns="0" tIns="0" rIns="0" bIns="0" rtlCol="0" anchor="ctr"/>
          <a:lstStyle/>
          <a:p>
            <a:pPr indent="0" marL="0">
              <a:buNone/>
            </a:pPr>
            <a:r>
              <a:rPr lang="en-US" sz="1100" b="1" dirty="0">
                <a:solidFill>
                  <a:srgbClr val="0A0E2A"/>
                </a:solidFill>
              </a:rPr>
              <a:t>BRAZO ROBÓTICO CLASIFICADOR  ·  LEÉ ANTES DE LA RONDA 1</a:t>
            </a:r>
            <a:endParaRPr lang="en-US" sz="1100" dirty="0"/>
          </a:p>
        </p:txBody>
      </p:sp>
      <p:sp>
        <p:nvSpPr>
          <p:cNvPr id="4" name="Shape 2"/>
          <p:cNvSpPr/>
          <p:nvPr/>
        </p:nvSpPr>
        <p:spPr>
          <a:xfrm>
            <a:off x="7863840" y="54864"/>
            <a:ext cx="384048" cy="384048"/>
          </a:xfrm>
          <a:prstGeom prst="ellipse">
            <a:avLst/>
          </a:prstGeom>
          <a:solidFill>
            <a:srgbClr val="0A0E2A"/>
          </a:solidFill>
          <a:ln w="12700">
            <a:solidFill>
              <a:srgbClr val="0A0E2A"/>
            </a:solidFill>
            <a:prstDash val="solid"/>
          </a:ln>
        </p:spPr>
      </p:sp>
      <p:sp>
        <p:nvSpPr>
          <p:cNvPr id="5" name="Text 3"/>
          <p:cNvSpPr/>
          <p:nvPr/>
        </p:nvSpPr>
        <p:spPr>
          <a:xfrm>
            <a:off x="7863840" y="54864"/>
            <a:ext cx="384048" cy="384048"/>
          </a:xfrm>
          <a:prstGeom prst="rect">
            <a:avLst/>
          </a:prstGeom>
          <a:noFill/>
          <a:ln/>
        </p:spPr>
        <p:txBody>
          <a:bodyPr wrap="square" lIns="0" tIns="0" rIns="0" bIns="0" rtlCol="0" anchor="ctr"/>
          <a:lstStyle/>
          <a:p>
            <a:pPr algn="ctr" indent="0" marL="0">
              <a:buNone/>
            </a:pPr>
            <a:r>
              <a:rPr lang="en-US" sz="1300" b="1" dirty="0">
                <a:solidFill>
                  <a:srgbClr val="00D4FF"/>
                </a:solidFill>
              </a:rPr>
              <a:t>4</a:t>
            </a:r>
            <a:endParaRPr lang="en-US" sz="1300" dirty="0"/>
          </a:p>
        </p:txBody>
      </p:sp>
      <p:sp>
        <p:nvSpPr>
          <p:cNvPr id="6" name="Shape 4"/>
          <p:cNvSpPr/>
          <p:nvPr/>
        </p:nvSpPr>
        <p:spPr>
          <a:xfrm>
            <a:off x="0" y="502920"/>
            <a:ext cx="2560320" cy="4640580"/>
          </a:xfrm>
          <a:prstGeom prst="rect">
            <a:avLst/>
          </a:prstGeom>
          <a:solidFill>
            <a:srgbClr val="00D4FF"/>
          </a:solidFill>
          <a:ln w="12700">
            <a:solidFill>
              <a:srgbClr val="00D4FF"/>
            </a:solidFill>
            <a:prstDash val="solid"/>
          </a:ln>
        </p:spPr>
      </p:sp>
      <p:sp>
        <p:nvSpPr>
          <p:cNvPr id="7" name="Text 5"/>
          <p:cNvSpPr/>
          <p:nvPr/>
        </p:nvSpPr>
        <p:spPr>
          <a:xfrm>
            <a:off x="0" y="548640"/>
            <a:ext cx="2560320" cy="2286000"/>
          </a:xfrm>
          <a:prstGeom prst="rect">
            <a:avLst/>
          </a:prstGeom>
          <a:noFill/>
          <a:ln/>
        </p:spPr>
        <p:txBody>
          <a:bodyPr wrap="square" lIns="0" tIns="0" rIns="0" bIns="0" rtlCol="0" anchor="ctr"/>
          <a:lstStyle/>
          <a:p>
            <a:pPr algn="ctr" indent="0" marL="0">
              <a:buNone/>
            </a:pPr>
            <a:r>
              <a:rPr lang="en-US" sz="14000" b="1" dirty="0">
                <a:solidFill>
                  <a:srgbClr val="0A0E2A"/>
                </a:solidFill>
              </a:rPr>
              <a:t>4</a:t>
            </a:r>
            <a:endParaRPr lang="en-US" sz="14000" dirty="0"/>
          </a:p>
        </p:txBody>
      </p:sp>
      <p:sp>
        <p:nvSpPr>
          <p:cNvPr id="8" name="Text 6"/>
          <p:cNvSpPr/>
          <p:nvPr/>
        </p:nvSpPr>
        <p:spPr>
          <a:xfrm>
            <a:off x="91440" y="3108960"/>
            <a:ext cx="2377440" cy="1371600"/>
          </a:xfrm>
          <a:prstGeom prst="rect">
            <a:avLst/>
          </a:prstGeom>
          <a:noFill/>
          <a:ln/>
        </p:spPr>
        <p:txBody>
          <a:bodyPr wrap="square" lIns="0" tIns="0" rIns="0" bIns="0" rtlCol="0" anchor="ctr"/>
          <a:lstStyle/>
          <a:p>
            <a:pPr algn="ctr" indent="0" marL="0">
              <a:buNone/>
            </a:pPr>
            <a:r>
              <a:rPr lang="en-US" sz="1100" b="1" dirty="0">
                <a:solidFill>
                  <a:srgbClr val="0A0E2A"/>
                </a:solidFill>
              </a:rPr>
              <a:t>Robótica</a:t>
            </a:r>
            <a:endParaRPr lang="en-US" sz="1100" dirty="0"/>
          </a:p>
          <a:p>
            <a:pPr algn="ctr" indent="0" marL="0">
              <a:buNone/>
            </a:pPr>
            <a:r>
              <a:rPr lang="en-US" sz="1100" b="1" dirty="0">
                <a:solidFill>
                  <a:srgbClr val="0A0E2A"/>
                </a:solidFill>
              </a:rPr>
              <a:t>IA</a:t>
            </a:r>
            <a:endParaRPr lang="en-US" sz="1100" dirty="0"/>
          </a:p>
          <a:p>
            <a:pPr algn="ctr" indent="0" marL="0">
              <a:buNone/>
            </a:pPr>
            <a:r>
              <a:rPr lang="en-US" sz="1100" b="1" dirty="0">
                <a:solidFill>
                  <a:srgbClr val="0A0E2A"/>
                </a:solidFill>
              </a:rPr>
              <a:t>Sustentabilidad</a:t>
            </a:r>
            <a:endParaRPr lang="en-US" sz="1100" dirty="0"/>
          </a:p>
        </p:txBody>
      </p:sp>
      <p:sp>
        <p:nvSpPr>
          <p:cNvPr id="9" name="Text 7"/>
          <p:cNvSpPr/>
          <p:nvPr/>
        </p:nvSpPr>
        <p:spPr>
          <a:xfrm>
            <a:off x="2926080" y="594360"/>
            <a:ext cx="5943600" cy="868680"/>
          </a:xfrm>
          <a:prstGeom prst="rect">
            <a:avLst/>
          </a:prstGeom>
          <a:noFill/>
          <a:ln/>
        </p:spPr>
        <p:txBody>
          <a:bodyPr wrap="square" lIns="0" tIns="0" rIns="0" bIns="0" rtlCol="0" anchor="t"/>
          <a:lstStyle/>
          <a:p>
            <a:pPr indent="0" marL="0">
              <a:buNone/>
            </a:pPr>
            <a:r>
              <a:rPr lang="en-US" sz="2400" b="1" dirty="0">
                <a:solidFill>
                  <a:srgbClr val="00D4FF"/>
                </a:solidFill>
              </a:rPr>
              <a:t>Brazo Robótico Clasificador</a:t>
            </a:r>
            <a:endParaRPr lang="en-US" sz="2400" dirty="0"/>
          </a:p>
        </p:txBody>
      </p:sp>
      <p:sp>
        <p:nvSpPr>
          <p:cNvPr id="10" name="Shape 8"/>
          <p:cNvSpPr/>
          <p:nvPr/>
        </p:nvSpPr>
        <p:spPr>
          <a:xfrm>
            <a:off x="2834640" y="1572768"/>
            <a:ext cx="6035040" cy="1920240"/>
          </a:xfrm>
          <a:prstGeom prst="roundRect">
            <a:avLst>
              <a:gd name="adj" fmla="val 5714"/>
            </a:avLst>
          </a:prstGeom>
          <a:solidFill>
            <a:srgbClr val="0A0E2A"/>
          </a:solidFill>
          <a:ln w="19050">
            <a:solidFill>
              <a:srgbClr val="00D4FF"/>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3017520" y="1645920"/>
            <a:ext cx="5669280" cy="256032"/>
          </a:xfrm>
          <a:prstGeom prst="rect">
            <a:avLst/>
          </a:prstGeom>
          <a:noFill/>
          <a:ln/>
        </p:spPr>
        <p:txBody>
          <a:bodyPr wrap="square" lIns="0" tIns="0" rIns="0" bIns="0" rtlCol="0" anchor="ctr"/>
          <a:lstStyle/>
          <a:p>
            <a:pPr indent="0" marL="0">
              <a:buNone/>
            </a:pPr>
            <a:r>
              <a:rPr lang="en-US" sz="950" b="1" dirty="0">
                <a:solidFill>
                  <a:srgbClr val="00D4FF"/>
                </a:solidFill>
              </a:rPr>
              <a:t>LA SITUACIÓN</a:t>
            </a:r>
            <a:endParaRPr lang="en-US" sz="950" dirty="0"/>
          </a:p>
        </p:txBody>
      </p:sp>
      <p:sp>
        <p:nvSpPr>
          <p:cNvPr id="12" name="Text 10"/>
          <p:cNvSpPr/>
          <p:nvPr/>
        </p:nvSpPr>
        <p:spPr>
          <a:xfrm>
            <a:off x="3017520" y="1938528"/>
            <a:ext cx="5669280" cy="1463040"/>
          </a:xfrm>
          <a:prstGeom prst="rect">
            <a:avLst/>
          </a:prstGeom>
          <a:noFill/>
          <a:ln/>
        </p:spPr>
        <p:txBody>
          <a:bodyPr wrap="square" lIns="0" tIns="0" rIns="0" bIns="0" rtlCol="0" anchor="ctr"/>
          <a:lstStyle/>
          <a:p>
            <a:pPr indent="0" marL="0">
              <a:lnSpc>
                <a:spcPct val="115000"/>
              </a:lnSpc>
              <a:buNone/>
            </a:pPr>
            <a:r>
              <a:rPr lang="en-US" sz="1250" dirty="0">
                <a:solidFill>
                  <a:srgbClr val="E8EDF5"/>
                </a:solidFill>
              </a:rPr>
              <a:t>En un punto de reciclaje escolar o doméstico, las personas depositan residuos de todo tipo en el mismo lugar: plástico, papel, metal, restos de comida. Aunque hay contenedores separados, casi nadie los usa bien. Cuando un residuo contaminante cae en el contenedor de reciclables, todo ese material ya no puede procesarse.</a:t>
            </a:r>
            <a:endParaRPr lang="en-US" sz="1250" dirty="0"/>
          </a:p>
        </p:txBody>
      </p:sp>
      <p:sp>
        <p:nvSpPr>
          <p:cNvPr id="13" name="Shape 11"/>
          <p:cNvSpPr/>
          <p:nvPr/>
        </p:nvSpPr>
        <p:spPr>
          <a:xfrm>
            <a:off x="2834640" y="3611880"/>
            <a:ext cx="6035040" cy="594360"/>
          </a:xfrm>
          <a:prstGeom prst="roundRect">
            <a:avLst>
              <a:gd name="adj" fmla="val 15385"/>
            </a:avLst>
          </a:prstGeom>
          <a:solidFill>
            <a:srgbClr val="FFFFFF"/>
          </a:solidFill>
          <a:ln w="12700">
            <a:solidFill>
              <a:srgbClr val="00D4FF">
                <a:alpha val="50000"/>
              </a:srgbClr>
            </a:solidFill>
            <a:prstDash val="solid"/>
          </a:ln>
        </p:spPr>
      </p:sp>
      <p:sp>
        <p:nvSpPr>
          <p:cNvPr id="14" name="Text 12"/>
          <p:cNvSpPr/>
          <p:nvPr/>
        </p:nvSpPr>
        <p:spPr>
          <a:xfrm>
            <a:off x="2999232" y="3611880"/>
            <a:ext cx="1005840" cy="594360"/>
          </a:xfrm>
          <a:prstGeom prst="rect">
            <a:avLst/>
          </a:prstGeom>
          <a:noFill/>
          <a:ln/>
        </p:spPr>
        <p:txBody>
          <a:bodyPr wrap="square" lIns="0" tIns="0" rIns="0" bIns="0" rtlCol="0" anchor="ctr"/>
          <a:lstStyle/>
          <a:p>
            <a:pPr indent="0" marL="0">
              <a:buNone/>
            </a:pPr>
            <a:r>
              <a:rPr lang="en-US" sz="950" b="1" dirty="0">
                <a:solidFill>
                  <a:srgbClr val="00D4FF"/>
                </a:solidFill>
              </a:rPr>
              <a:t>CONTEXTO:</a:t>
            </a:r>
            <a:endParaRPr lang="en-US" sz="950" dirty="0"/>
          </a:p>
        </p:txBody>
      </p:sp>
      <p:sp>
        <p:nvSpPr>
          <p:cNvPr id="15" name="Text 13"/>
          <p:cNvSpPr/>
          <p:nvPr/>
        </p:nvSpPr>
        <p:spPr>
          <a:xfrm>
            <a:off x="4041648" y="3611880"/>
            <a:ext cx="4736592" cy="594360"/>
          </a:xfrm>
          <a:prstGeom prst="rect">
            <a:avLst/>
          </a:prstGeom>
          <a:noFill/>
          <a:ln/>
        </p:spPr>
        <p:txBody>
          <a:bodyPr wrap="square" lIns="0" tIns="0" rIns="0" bIns="0" rtlCol="0" anchor="ctr"/>
          <a:lstStyle/>
          <a:p>
            <a:pPr indent="0" marL="0">
              <a:buNone/>
            </a:pPr>
            <a:r>
              <a:rPr lang="en-US" sz="1100" dirty="0">
                <a:solidFill>
                  <a:srgbClr val="2E3A5C"/>
                </a:solidFill>
              </a:rPr>
              <a:t>Puntos de reciclaje donde los usuarios depositan residuos mezclados sin clasificar, generando contaminación de material reciclable.</a:t>
            </a:r>
            <a:endParaRPr lang="en-US" sz="1100" dirty="0"/>
          </a:p>
        </p:txBody>
      </p:sp>
      <p:sp>
        <p:nvSpPr>
          <p:cNvPr id="16" name="Shape 14"/>
          <p:cNvSpPr/>
          <p:nvPr/>
        </p:nvSpPr>
        <p:spPr>
          <a:xfrm>
            <a:off x="2834640" y="4325112"/>
            <a:ext cx="6035040" cy="594360"/>
          </a:xfrm>
          <a:prstGeom prst="roundRect">
            <a:avLst>
              <a:gd name="adj" fmla="val 15385"/>
            </a:avLst>
          </a:prstGeom>
          <a:solidFill>
            <a:srgbClr val="00D4FF">
              <a:alpha val="92000"/>
            </a:srgbClr>
          </a:solidFill>
          <a:ln w="12700">
            <a:solidFill>
              <a:srgbClr val="00D4FF"/>
            </a:solidFill>
            <a:prstDash val="solid"/>
          </a:ln>
        </p:spPr>
      </p:sp>
      <p:sp>
        <p:nvSpPr>
          <p:cNvPr id="17" name="Text 15"/>
          <p:cNvSpPr/>
          <p:nvPr/>
        </p:nvSpPr>
        <p:spPr>
          <a:xfrm>
            <a:off x="2971800" y="4325112"/>
            <a:ext cx="5806440" cy="594360"/>
          </a:xfrm>
          <a:prstGeom prst="rect">
            <a:avLst/>
          </a:prstGeom>
          <a:noFill/>
          <a:ln/>
        </p:spPr>
        <p:txBody>
          <a:bodyPr wrap="square" lIns="0" tIns="0" rIns="0" bIns="0" rtlCol="0" anchor="ctr"/>
          <a:lstStyle/>
          <a:p>
            <a:pPr indent="0" marL="0">
              <a:buNone/>
            </a:pPr>
            <a:r>
              <a:rPr lang="en-US" sz="1200" b="1" dirty="0">
                <a:solidFill>
                  <a:srgbClr val="0A0E2A"/>
                </a:solidFill>
              </a:rPr>
              <a:t>❓  ¿Qué problema hay acá? — Escriban su respuesta en Ronda 1</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D4FF"/>
          </a:solidFill>
          <a:ln w="12700">
            <a:solidFill>
              <a:srgbClr val="00D4FF"/>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BRAZO ROBÓTICO CLASIFICADOR  ·  RONDA 1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B800"/>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B800"/>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B800"/>
                </a:solidFill>
              </a:rPr>
              <a:t>RONDA 1</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B800"/>
                </a:solidFill>
              </a:rPr>
              <a:t>PROBLEMA VAGO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B800"/>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Lean la slide anterior. Escriban en UNA oración el problema vago que da origen a esta solución.</a:t>
            </a:r>
            <a:endParaRPr lang="en-US" sz="1300" dirty="0"/>
          </a:p>
          <a:p>
            <a:pPr indent="0" marL="0">
              <a:buNone/>
            </a:pPr>
            <a:r>
              <a:rPr lang="en-US" sz="1300" dirty="0">
                <a:solidFill>
                  <a:srgbClr val="E8EDF5"/>
                </a:solidFill>
              </a:rPr>
              <a:t>No técnico. Como lo diría alguien en la calle.</a:t>
            </a:r>
            <a:endParaRPr lang="en-US" sz="1300" dirty="0"/>
          </a:p>
        </p:txBody>
      </p:sp>
      <p:sp>
        <p:nvSpPr>
          <p:cNvPr id="10" name="Shape 8"/>
          <p:cNvSpPr/>
          <p:nvPr/>
        </p:nvSpPr>
        <p:spPr>
          <a:xfrm>
            <a:off x="365760" y="2606040"/>
            <a:ext cx="8412480" cy="2194560"/>
          </a:xfrm>
          <a:prstGeom prst="roundRect">
            <a:avLst>
              <a:gd name="adj" fmla="val 5000"/>
            </a:avLst>
          </a:prstGeom>
          <a:solidFill>
            <a:srgbClr val="1A2550"/>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1" name="Text 9"/>
          <p:cNvSpPr/>
          <p:nvPr/>
        </p:nvSpPr>
        <p:spPr>
          <a:xfrm>
            <a:off x="548640" y="2670048"/>
            <a:ext cx="8046720" cy="274320"/>
          </a:xfrm>
          <a:prstGeom prst="rect">
            <a:avLst/>
          </a:prstGeom>
          <a:noFill/>
          <a:ln/>
        </p:spPr>
        <p:txBody>
          <a:bodyPr wrap="square" lIns="0" tIns="0" rIns="0" bIns="0" rtlCol="0" anchor="ctr"/>
          <a:lstStyle/>
          <a:p>
            <a:pPr indent="0" marL="0">
              <a:buNone/>
            </a:pPr>
            <a:r>
              <a:rPr lang="en-US" sz="1000" b="1" dirty="0">
                <a:solidFill>
                  <a:srgbClr val="FFB800"/>
                </a:solidFill>
              </a:rPr>
              <a:t>PISTA — ¿Cómo lo diría alguien sin conocimiento técnico?</a:t>
            </a:r>
            <a:endParaRPr lang="en-US" sz="1000" dirty="0"/>
          </a:p>
        </p:txBody>
      </p:sp>
      <p:sp>
        <p:nvSpPr>
          <p:cNvPr id="12" name="Text 10"/>
          <p:cNvSpPr/>
          <p:nvPr/>
        </p:nvSpPr>
        <p:spPr>
          <a:xfrm>
            <a:off x="548640" y="2999232"/>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NO: 'El sensor TCS3200 detecta material no ferroso' — eso es técnico, no vago.</a:t>
            </a:r>
            <a:endParaRPr lang="en-US" sz="1100" dirty="0"/>
          </a:p>
        </p:txBody>
      </p:sp>
      <p:sp>
        <p:nvSpPr>
          <p:cNvPr id="13" name="Text 11"/>
          <p:cNvSpPr/>
          <p:nvPr/>
        </p:nvSpPr>
        <p:spPr>
          <a:xfrm>
            <a:off x="548640" y="3291840"/>
            <a:ext cx="8046720" cy="256032"/>
          </a:xfrm>
          <a:prstGeom prst="rect">
            <a:avLst/>
          </a:prstGeom>
          <a:noFill/>
          <a:ln/>
        </p:spPr>
        <p:txBody>
          <a:bodyPr wrap="square" lIns="0" tIns="0" rIns="0" bIns="0" rtlCol="0" anchor="ctr"/>
          <a:lstStyle/>
          <a:p>
            <a:pPr indent="0" marL="0">
              <a:buNone/>
            </a:pPr>
            <a:r>
              <a:rPr lang="en-US" sz="1100" i="1" dirty="0">
                <a:solidFill>
                  <a:srgbClr val="E8EDF5"/>
                </a:solidFill>
              </a:rPr>
              <a:t>✓  SÍ: 'La gente tira todo junto en el mismo tacho y los reciclables terminan contaminados y no se pueden usar.'</a:t>
            </a:r>
            <a:endParaRPr lang="en-US" sz="1100" dirty="0"/>
          </a:p>
        </p:txBody>
      </p:sp>
      <p:sp>
        <p:nvSpPr>
          <p:cNvPr id="14" name="Shape 12"/>
          <p:cNvSpPr/>
          <p:nvPr/>
        </p:nvSpPr>
        <p:spPr>
          <a:xfrm>
            <a:off x="548640" y="3657600"/>
            <a:ext cx="8046720" cy="457200"/>
          </a:xfrm>
          <a:prstGeom prst="roundRect">
            <a:avLst>
              <a:gd name="adj" fmla="val 16000"/>
            </a:avLst>
          </a:prstGeom>
          <a:solidFill>
            <a:srgbClr val="FFB800">
              <a:alpha val="88000"/>
            </a:srgbClr>
          </a:solidFill>
          <a:ln w="12700">
            <a:solidFill>
              <a:srgbClr val="FFB800"/>
            </a:solidFill>
            <a:prstDash val="solid"/>
          </a:ln>
        </p:spPr>
      </p:sp>
      <p:sp>
        <p:nvSpPr>
          <p:cNvPr id="15" name="Text 13"/>
          <p:cNvSpPr/>
          <p:nvPr/>
        </p:nvSpPr>
        <p:spPr>
          <a:xfrm>
            <a:off x="685800" y="3657600"/>
            <a:ext cx="7772400" cy="457200"/>
          </a:xfrm>
          <a:prstGeom prst="rect">
            <a:avLst/>
          </a:prstGeom>
          <a:noFill/>
          <a:ln/>
        </p:spPr>
        <p:txBody>
          <a:bodyPr wrap="square" lIns="0" tIns="0" rIns="0" bIns="0" rtlCol="0" anchor="ctr"/>
          <a:lstStyle/>
          <a:p>
            <a:pPr indent="0" marL="0">
              <a:buNone/>
            </a:pPr>
            <a:r>
              <a:rPr lang="en-US" sz="1200" b="1" dirty="0">
                <a:solidFill>
                  <a:srgbClr val="0A0E2A"/>
                </a:solidFill>
              </a:rPr>
              <a:t>✍  Escriban su problema vago. Comparten al terminar el tiempo.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D4FF"/>
          </a:solidFill>
          <a:ln w="12700">
            <a:solidFill>
              <a:srgbClr val="00D4FF"/>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BRAZO ROBÓTICO CLASIFICADOR  ·  RONDA 2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D4FF"/>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D4FF"/>
                </a:solidFill>
              </a:rPr>
              <a:t>⏱  4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D4FF"/>
                </a:solidFill>
              </a:rPr>
              <a:t>RONDA 2</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PREGUNTAS DISPARADORAS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00D4FF"/>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Formulen UNA pregunta disparadora para cada tipo:</a:t>
            </a:r>
            <a:endParaRPr lang="en-US" sz="1300" dirty="0"/>
          </a:p>
          <a:p>
            <a:pPr indent="0" marL="0">
              <a:buNone/>
            </a:pPr>
            <a:r>
              <a:rPr lang="en-US" sz="1300" dirty="0">
                <a:solidFill>
                  <a:srgbClr val="0A0E2A"/>
                </a:solidFill>
              </a:rPr>
              <a:t>¿Cómo...? · ¿Por qué...? · ¿Para qué...? · ¿Qué harías...?</a:t>
            </a:r>
            <a:endParaRPr lang="en-US" sz="1300" dirty="0"/>
          </a:p>
        </p:txBody>
      </p:sp>
      <p:sp>
        <p:nvSpPr>
          <p:cNvPr id="10" name="Shape 8"/>
          <p:cNvSpPr/>
          <p:nvPr/>
        </p:nvSpPr>
        <p:spPr>
          <a:xfrm>
            <a:off x="365760" y="2578608"/>
            <a:ext cx="4160520" cy="1078992"/>
          </a:xfrm>
          <a:prstGeom prst="roundRect">
            <a:avLst>
              <a:gd name="adj" fmla="val 8475"/>
            </a:avLst>
          </a:prstGeom>
          <a:solidFill>
            <a:srgbClr val="FFFFFF"/>
          </a:solidFill>
          <a:ln w="19050">
            <a:solidFill>
              <a:srgbClr val="00D4FF"/>
            </a:solidFill>
            <a:prstDash val="solid"/>
          </a:ln>
          <a:effectLst>
            <a:outerShdw sx="100000" sy="100000" kx="0" ky="0" algn="bl" rotWithShape="0" blurRad="127000" dist="38100" dir="2700000">
              <a:srgbClr val="000000">
                <a:alpha val="18000"/>
              </a:srgbClr>
            </a:outerShdw>
          </a:effectLst>
        </p:spPr>
      </p:sp>
      <p:sp>
        <p:nvSpPr>
          <p:cNvPr id="11" name="Shape 9"/>
          <p:cNvSpPr/>
          <p:nvPr/>
        </p:nvSpPr>
        <p:spPr>
          <a:xfrm>
            <a:off x="457200" y="2670048"/>
            <a:ext cx="1371600" cy="292608"/>
          </a:xfrm>
          <a:prstGeom prst="roundRect">
            <a:avLst>
              <a:gd name="adj" fmla="val 15625"/>
            </a:avLst>
          </a:prstGeom>
          <a:solidFill>
            <a:srgbClr val="00D4FF">
              <a:alpha val="90000"/>
            </a:srgbClr>
          </a:solidFill>
          <a:ln w="12700">
            <a:solidFill>
              <a:srgbClr val="00D4FF"/>
            </a:solidFill>
            <a:prstDash val="solid"/>
          </a:ln>
        </p:spPr>
      </p:sp>
      <p:sp>
        <p:nvSpPr>
          <p:cNvPr id="12" name="Text 10"/>
          <p:cNvSpPr/>
          <p:nvPr/>
        </p:nvSpPr>
        <p:spPr>
          <a:xfrm>
            <a:off x="4572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¿Cómo...?</a:t>
            </a:r>
            <a:endParaRPr lang="en-US" sz="1100" dirty="0"/>
          </a:p>
        </p:txBody>
      </p:sp>
      <p:sp>
        <p:nvSpPr>
          <p:cNvPr id="13" name="Text 11"/>
          <p:cNvSpPr/>
          <p:nvPr/>
        </p:nvSpPr>
        <p:spPr>
          <a:xfrm>
            <a:off x="19202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Busca crear un proceso o solución</a:t>
            </a:r>
            <a:endParaRPr lang="en-US" sz="950" dirty="0"/>
          </a:p>
        </p:txBody>
      </p:sp>
      <p:sp>
        <p:nvSpPr>
          <p:cNvPr id="14" name="Shape 12"/>
          <p:cNvSpPr/>
          <p:nvPr/>
        </p:nvSpPr>
        <p:spPr>
          <a:xfrm>
            <a:off x="457200" y="3035808"/>
            <a:ext cx="3886200" cy="502920"/>
          </a:xfrm>
          <a:prstGeom prst="roundRect">
            <a:avLst>
              <a:gd name="adj" fmla="val 10909"/>
            </a:avLst>
          </a:prstGeom>
          <a:solidFill>
            <a:srgbClr val="00D4FF">
              <a:alpha val="8000"/>
            </a:srgbClr>
          </a:solidFill>
          <a:ln w="12700">
            <a:solidFill>
              <a:srgbClr val="00D4FF">
                <a:alpha val="40000"/>
              </a:srgbClr>
            </a:solidFill>
            <a:prstDash val="solid"/>
          </a:ln>
        </p:spPr>
      </p:sp>
      <p:sp>
        <p:nvSpPr>
          <p:cNvPr id="15" name="Text 13"/>
          <p:cNvSpPr/>
          <p:nvPr/>
        </p:nvSpPr>
        <p:spPr>
          <a:xfrm>
            <a:off x="5486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16" name="Shape 14"/>
          <p:cNvSpPr/>
          <p:nvPr/>
        </p:nvSpPr>
        <p:spPr>
          <a:xfrm>
            <a:off x="4709160" y="2578608"/>
            <a:ext cx="4160520" cy="1078992"/>
          </a:xfrm>
          <a:prstGeom prst="roundRect">
            <a:avLst>
              <a:gd name="adj" fmla="val 8475"/>
            </a:avLst>
          </a:prstGeom>
          <a:solidFill>
            <a:srgbClr val="FFFFFF"/>
          </a:solidFill>
          <a:ln w="19050">
            <a:solidFill>
              <a:srgbClr val="FFB800"/>
            </a:solidFill>
            <a:prstDash val="solid"/>
          </a:ln>
          <a:effectLst>
            <a:outerShdw sx="100000" sy="100000" kx="0" ky="0" algn="bl" rotWithShape="0" blurRad="127000" dist="38100" dir="2700000">
              <a:srgbClr val="000000">
                <a:alpha val="18000"/>
              </a:srgbClr>
            </a:outerShdw>
          </a:effectLst>
        </p:spPr>
      </p:sp>
      <p:sp>
        <p:nvSpPr>
          <p:cNvPr id="17" name="Shape 15"/>
          <p:cNvSpPr/>
          <p:nvPr/>
        </p:nvSpPr>
        <p:spPr>
          <a:xfrm>
            <a:off x="4800600" y="2670048"/>
            <a:ext cx="1371600" cy="292608"/>
          </a:xfrm>
          <a:prstGeom prst="roundRect">
            <a:avLst>
              <a:gd name="adj" fmla="val 15625"/>
            </a:avLst>
          </a:prstGeom>
          <a:solidFill>
            <a:srgbClr val="FFB800">
              <a:alpha val="90000"/>
            </a:srgbClr>
          </a:solidFill>
          <a:ln w="12700">
            <a:solidFill>
              <a:srgbClr val="FFB800"/>
            </a:solidFill>
            <a:prstDash val="solid"/>
          </a:ln>
        </p:spPr>
      </p:sp>
      <p:sp>
        <p:nvSpPr>
          <p:cNvPr id="18" name="Text 16"/>
          <p:cNvSpPr/>
          <p:nvPr/>
        </p:nvSpPr>
        <p:spPr>
          <a:xfrm>
            <a:off x="4800600" y="2670048"/>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¿Por qué...?</a:t>
            </a:r>
            <a:endParaRPr lang="en-US" sz="1100" dirty="0"/>
          </a:p>
        </p:txBody>
      </p:sp>
      <p:sp>
        <p:nvSpPr>
          <p:cNvPr id="19" name="Text 17"/>
          <p:cNvSpPr/>
          <p:nvPr/>
        </p:nvSpPr>
        <p:spPr>
          <a:xfrm>
            <a:off x="6263640" y="2688336"/>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Investiga causas</a:t>
            </a:r>
            <a:endParaRPr lang="en-US" sz="950" dirty="0"/>
          </a:p>
        </p:txBody>
      </p:sp>
      <p:sp>
        <p:nvSpPr>
          <p:cNvPr id="20" name="Shape 18"/>
          <p:cNvSpPr/>
          <p:nvPr/>
        </p:nvSpPr>
        <p:spPr>
          <a:xfrm>
            <a:off x="4800600" y="3035808"/>
            <a:ext cx="3886200" cy="502920"/>
          </a:xfrm>
          <a:prstGeom prst="roundRect">
            <a:avLst>
              <a:gd name="adj" fmla="val 10909"/>
            </a:avLst>
          </a:prstGeom>
          <a:solidFill>
            <a:srgbClr val="FFB800">
              <a:alpha val="8000"/>
            </a:srgbClr>
          </a:solidFill>
          <a:ln w="12700">
            <a:solidFill>
              <a:srgbClr val="FFB800">
                <a:alpha val="40000"/>
              </a:srgbClr>
            </a:solidFill>
            <a:prstDash val="solid"/>
          </a:ln>
        </p:spPr>
      </p:sp>
      <p:sp>
        <p:nvSpPr>
          <p:cNvPr id="21" name="Text 19"/>
          <p:cNvSpPr/>
          <p:nvPr/>
        </p:nvSpPr>
        <p:spPr>
          <a:xfrm>
            <a:off x="4892040" y="3035808"/>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2" name="Shape 20"/>
          <p:cNvSpPr/>
          <p:nvPr/>
        </p:nvSpPr>
        <p:spPr>
          <a:xfrm>
            <a:off x="365760" y="3749040"/>
            <a:ext cx="4160520" cy="1078992"/>
          </a:xfrm>
          <a:prstGeom prst="roundRect">
            <a:avLst>
              <a:gd name="adj" fmla="val 8475"/>
            </a:avLst>
          </a:prstGeom>
          <a:solidFill>
            <a:srgbClr val="FFFFFF"/>
          </a:solidFill>
          <a:ln w="19050">
            <a:solidFill>
              <a:srgbClr val="00C896"/>
            </a:solidFill>
            <a:prstDash val="solid"/>
          </a:ln>
          <a:effectLst>
            <a:outerShdw sx="100000" sy="100000" kx="0" ky="0" algn="bl" rotWithShape="0" blurRad="127000" dist="38100" dir="2700000">
              <a:srgbClr val="000000">
                <a:alpha val="18000"/>
              </a:srgbClr>
            </a:outerShdw>
          </a:effectLst>
        </p:spPr>
      </p:sp>
      <p:sp>
        <p:nvSpPr>
          <p:cNvPr id="23" name="Shape 21"/>
          <p:cNvSpPr/>
          <p:nvPr/>
        </p:nvSpPr>
        <p:spPr>
          <a:xfrm>
            <a:off x="457200" y="3840480"/>
            <a:ext cx="1371600" cy="292608"/>
          </a:xfrm>
          <a:prstGeom prst="roundRect">
            <a:avLst>
              <a:gd name="adj" fmla="val 15625"/>
            </a:avLst>
          </a:prstGeom>
          <a:solidFill>
            <a:srgbClr val="00C896">
              <a:alpha val="90000"/>
            </a:srgbClr>
          </a:solidFill>
          <a:ln w="12700">
            <a:solidFill>
              <a:srgbClr val="00C896"/>
            </a:solidFill>
            <a:prstDash val="solid"/>
          </a:ln>
        </p:spPr>
      </p:sp>
      <p:sp>
        <p:nvSpPr>
          <p:cNvPr id="24" name="Text 22"/>
          <p:cNvSpPr/>
          <p:nvPr/>
        </p:nvSpPr>
        <p:spPr>
          <a:xfrm>
            <a:off x="4572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¿Para qué...?</a:t>
            </a:r>
            <a:endParaRPr lang="en-US" sz="1100" dirty="0"/>
          </a:p>
        </p:txBody>
      </p:sp>
      <p:sp>
        <p:nvSpPr>
          <p:cNvPr id="25" name="Text 23"/>
          <p:cNvSpPr/>
          <p:nvPr/>
        </p:nvSpPr>
        <p:spPr>
          <a:xfrm>
            <a:off x="19202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Explora el propósito</a:t>
            </a:r>
            <a:endParaRPr lang="en-US" sz="950" dirty="0"/>
          </a:p>
        </p:txBody>
      </p:sp>
      <p:sp>
        <p:nvSpPr>
          <p:cNvPr id="26" name="Shape 24"/>
          <p:cNvSpPr/>
          <p:nvPr/>
        </p:nvSpPr>
        <p:spPr>
          <a:xfrm>
            <a:off x="457200" y="4206240"/>
            <a:ext cx="3886200" cy="502920"/>
          </a:xfrm>
          <a:prstGeom prst="roundRect">
            <a:avLst>
              <a:gd name="adj" fmla="val 10909"/>
            </a:avLst>
          </a:prstGeom>
          <a:solidFill>
            <a:srgbClr val="00C896">
              <a:alpha val="8000"/>
            </a:srgbClr>
          </a:solidFill>
          <a:ln w="12700">
            <a:solidFill>
              <a:srgbClr val="00C896">
                <a:alpha val="40000"/>
              </a:srgbClr>
            </a:solidFill>
            <a:prstDash val="solid"/>
          </a:ln>
        </p:spPr>
      </p:sp>
      <p:sp>
        <p:nvSpPr>
          <p:cNvPr id="27" name="Text 25"/>
          <p:cNvSpPr/>
          <p:nvPr/>
        </p:nvSpPr>
        <p:spPr>
          <a:xfrm>
            <a:off x="5486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
        <p:nvSpPr>
          <p:cNvPr id="28" name="Shape 26"/>
          <p:cNvSpPr/>
          <p:nvPr/>
        </p:nvSpPr>
        <p:spPr>
          <a:xfrm>
            <a:off x="4709160" y="3749040"/>
            <a:ext cx="4160520" cy="1078992"/>
          </a:xfrm>
          <a:prstGeom prst="roundRect">
            <a:avLst>
              <a:gd name="adj" fmla="val 8475"/>
            </a:avLst>
          </a:prstGeom>
          <a:solidFill>
            <a:srgbClr val="FFFFFF"/>
          </a:solidFill>
          <a:ln w="19050">
            <a:solidFill>
              <a:srgbClr val="9B59B6"/>
            </a:solidFill>
            <a:prstDash val="solid"/>
          </a:ln>
          <a:effectLst>
            <a:outerShdw sx="100000" sy="100000" kx="0" ky="0" algn="bl" rotWithShape="0" blurRad="127000" dist="38100" dir="2700000">
              <a:srgbClr val="000000">
                <a:alpha val="18000"/>
              </a:srgbClr>
            </a:outerShdw>
          </a:effectLst>
        </p:spPr>
      </p:sp>
      <p:sp>
        <p:nvSpPr>
          <p:cNvPr id="29" name="Shape 27"/>
          <p:cNvSpPr/>
          <p:nvPr/>
        </p:nvSpPr>
        <p:spPr>
          <a:xfrm>
            <a:off x="4800600" y="3840480"/>
            <a:ext cx="1371600" cy="292608"/>
          </a:xfrm>
          <a:prstGeom prst="roundRect">
            <a:avLst>
              <a:gd name="adj" fmla="val 15625"/>
            </a:avLst>
          </a:prstGeom>
          <a:solidFill>
            <a:srgbClr val="9B59B6">
              <a:alpha val="90000"/>
            </a:srgbClr>
          </a:solidFill>
          <a:ln w="12700">
            <a:solidFill>
              <a:srgbClr val="9B59B6"/>
            </a:solidFill>
            <a:prstDash val="solid"/>
          </a:ln>
        </p:spPr>
      </p:sp>
      <p:sp>
        <p:nvSpPr>
          <p:cNvPr id="30" name="Text 28"/>
          <p:cNvSpPr/>
          <p:nvPr/>
        </p:nvSpPr>
        <p:spPr>
          <a:xfrm>
            <a:off x="4800600" y="3840480"/>
            <a:ext cx="1371600" cy="292608"/>
          </a:xfrm>
          <a:prstGeom prst="rect">
            <a:avLst/>
          </a:prstGeom>
          <a:noFill/>
          <a:ln/>
        </p:spPr>
        <p:txBody>
          <a:bodyPr wrap="square" lIns="0" tIns="0" rIns="0" bIns="0" rtlCol="0" anchor="ctr"/>
          <a:lstStyle/>
          <a:p>
            <a:pPr algn="ctr" indent="0" marL="0">
              <a:buNone/>
            </a:pPr>
            <a:r>
              <a:rPr lang="en-US" sz="1100" b="1" dirty="0">
                <a:solidFill>
                  <a:srgbClr val="0A0E2A"/>
                </a:solidFill>
              </a:rPr>
              <a:t>¿Qué harías...?</a:t>
            </a:r>
            <a:endParaRPr lang="en-US" sz="1100" dirty="0"/>
          </a:p>
        </p:txBody>
      </p:sp>
      <p:sp>
        <p:nvSpPr>
          <p:cNvPr id="31" name="Text 29"/>
          <p:cNvSpPr/>
          <p:nvPr/>
        </p:nvSpPr>
        <p:spPr>
          <a:xfrm>
            <a:off x="6263640" y="3858768"/>
            <a:ext cx="2514600" cy="256032"/>
          </a:xfrm>
          <a:prstGeom prst="rect">
            <a:avLst/>
          </a:prstGeom>
          <a:noFill/>
          <a:ln/>
        </p:spPr>
        <p:txBody>
          <a:bodyPr wrap="square" lIns="0" tIns="0" rIns="0" bIns="0" rtlCol="0" anchor="ctr"/>
          <a:lstStyle/>
          <a:p>
            <a:pPr indent="0" marL="0">
              <a:buNone/>
            </a:pPr>
            <a:r>
              <a:rPr lang="en-US" sz="950" i="1" dirty="0">
                <a:solidFill>
                  <a:srgbClr val="5A6A8A"/>
                </a:solidFill>
              </a:rPr>
              <a:t>Imagina soluciones</a:t>
            </a:r>
            <a:endParaRPr lang="en-US" sz="950" dirty="0"/>
          </a:p>
        </p:txBody>
      </p:sp>
      <p:sp>
        <p:nvSpPr>
          <p:cNvPr id="32" name="Shape 30"/>
          <p:cNvSpPr/>
          <p:nvPr/>
        </p:nvSpPr>
        <p:spPr>
          <a:xfrm>
            <a:off x="4800600" y="4206240"/>
            <a:ext cx="3886200" cy="502920"/>
          </a:xfrm>
          <a:prstGeom prst="roundRect">
            <a:avLst>
              <a:gd name="adj" fmla="val 10909"/>
            </a:avLst>
          </a:prstGeom>
          <a:solidFill>
            <a:srgbClr val="9B59B6">
              <a:alpha val="8000"/>
            </a:srgbClr>
          </a:solidFill>
          <a:ln w="12700">
            <a:solidFill>
              <a:srgbClr val="9B59B6">
                <a:alpha val="40000"/>
              </a:srgbClr>
            </a:solidFill>
            <a:prstDash val="solid"/>
          </a:ln>
        </p:spPr>
      </p:sp>
      <p:sp>
        <p:nvSpPr>
          <p:cNvPr id="33" name="Text 31"/>
          <p:cNvSpPr/>
          <p:nvPr/>
        </p:nvSpPr>
        <p:spPr>
          <a:xfrm>
            <a:off x="4892040" y="4206240"/>
            <a:ext cx="3703320" cy="502920"/>
          </a:xfrm>
          <a:prstGeom prst="rect">
            <a:avLst/>
          </a:prstGeom>
          <a:noFill/>
          <a:ln/>
        </p:spPr>
        <p:txBody>
          <a:bodyPr wrap="square" lIns="0" tIns="0" rIns="0" bIns="0" rtlCol="0" anchor="ctr"/>
          <a:lstStyle/>
          <a:p>
            <a:pPr indent="0" marL="0">
              <a:buNone/>
            </a:pPr>
            <a:r>
              <a:rPr lang="en-US" sz="1000" i="1" dirty="0">
                <a:solidFill>
                  <a:srgbClr val="5A6A8A"/>
                </a:solidFill>
              </a:rPr>
              <a:t>Su pregunta aquí...</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D4FF"/>
          </a:solidFill>
          <a:ln w="12700">
            <a:solidFill>
              <a:srgbClr val="00D4FF"/>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BRAZO ROBÓTICO CLASIFICADOR  ·  RONDA 3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00C89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00C896"/>
                </a:solidFill>
              </a:rPr>
              <a:t>⏱  6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00C896"/>
                </a:solidFill>
              </a:rPr>
              <a:t>RONDA 3</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0C896"/>
                </a:solidFill>
              </a:rPr>
              <a:t>4 COMPONENTES + PROBLEMA TÉCNICO</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00C89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Identifiquen: CONTEXTO · VARIABLE · PUNTO DE QUIEBRE</a:t>
            </a:r>
            <a:endParaRPr lang="en-US" sz="1300" dirty="0"/>
          </a:p>
          <a:p>
            <a:pPr indent="0" marL="0">
              <a:buNone/>
            </a:pPr>
            <a:r>
              <a:rPr lang="en-US" sz="1300" dirty="0">
                <a:solidFill>
                  <a:srgbClr val="E8EDF5"/>
                </a:solidFill>
              </a:rPr>
              <a:t>Luego enuncien el PROBLEMA TÉCNICO en una sola oración sin adjetivos subjetivos.</a:t>
            </a:r>
            <a:endParaRPr lang="en-US" sz="1300" dirty="0"/>
          </a:p>
        </p:txBody>
      </p:sp>
      <p:sp>
        <p:nvSpPr>
          <p:cNvPr id="10" name="Shape 8"/>
          <p:cNvSpPr/>
          <p:nvPr/>
        </p:nvSpPr>
        <p:spPr>
          <a:xfrm>
            <a:off x="365760" y="2578608"/>
            <a:ext cx="8412480" cy="530352"/>
          </a:xfrm>
          <a:prstGeom prst="roundRect">
            <a:avLst>
              <a:gd name="adj" fmla="val 13793"/>
            </a:avLst>
          </a:prstGeom>
          <a:solidFill>
            <a:srgbClr val="1A2550"/>
          </a:solidFill>
          <a:ln w="19050">
            <a:solidFill>
              <a:srgbClr val="00D4FF"/>
            </a:solidFill>
            <a:prstDash val="solid"/>
          </a:ln>
          <a:effectLst>
            <a:outerShdw sx="100000" sy="100000" kx="0" ky="0" algn="bl" rotWithShape="0" blurRad="50800" dist="12700" dir="2700000">
              <a:srgbClr val="000000">
                <a:alpha val="8000"/>
              </a:srgbClr>
            </a:outerShdw>
          </a:effectLst>
        </p:spPr>
      </p:sp>
      <p:sp>
        <p:nvSpPr>
          <p:cNvPr id="11" name="Shape 9"/>
          <p:cNvSpPr/>
          <p:nvPr/>
        </p:nvSpPr>
        <p:spPr>
          <a:xfrm>
            <a:off x="457200" y="2651760"/>
            <a:ext cx="1645920" cy="365760"/>
          </a:xfrm>
          <a:prstGeom prst="roundRect">
            <a:avLst>
              <a:gd name="adj" fmla="val 15000"/>
            </a:avLst>
          </a:prstGeom>
          <a:solidFill>
            <a:srgbClr val="00D4FF">
              <a:alpha val="92000"/>
            </a:srgbClr>
          </a:solidFill>
          <a:ln w="12700">
            <a:solidFill>
              <a:srgbClr val="00D4FF"/>
            </a:solidFill>
            <a:prstDash val="solid"/>
          </a:ln>
        </p:spPr>
      </p:sp>
      <p:sp>
        <p:nvSpPr>
          <p:cNvPr id="12" name="Text 10"/>
          <p:cNvSpPr/>
          <p:nvPr/>
        </p:nvSpPr>
        <p:spPr>
          <a:xfrm>
            <a:off x="457200" y="2651760"/>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CONTEXTO</a:t>
            </a:r>
            <a:endParaRPr lang="en-US" sz="950" dirty="0"/>
          </a:p>
        </p:txBody>
      </p:sp>
      <p:sp>
        <p:nvSpPr>
          <p:cNvPr id="13" name="Text 11"/>
          <p:cNvSpPr/>
          <p:nvPr/>
        </p:nvSpPr>
        <p:spPr>
          <a:xfrm>
            <a:off x="2194560" y="2578608"/>
            <a:ext cx="6492240" cy="530352"/>
          </a:xfrm>
          <a:prstGeom prst="rect">
            <a:avLst/>
          </a:prstGeom>
          <a:noFill/>
          <a:ln/>
        </p:spPr>
        <p:txBody>
          <a:bodyPr wrap="square" lIns="0" tIns="0" rIns="0" bIns="0" rtlCol="0" anchor="ctr"/>
          <a:lstStyle/>
          <a:p>
            <a:pPr indent="0" marL="0">
              <a:buNone/>
            </a:pPr>
            <a:r>
              <a:rPr lang="en-US" sz="1050" dirty="0">
                <a:solidFill>
                  <a:srgbClr val="E8EDF5"/>
                </a:solidFill>
              </a:rPr>
              <a:t>¿En qué sistema / lugar / momento ocurre?</a:t>
            </a:r>
            <a:endParaRPr lang="en-US" sz="1050" dirty="0"/>
          </a:p>
        </p:txBody>
      </p:sp>
      <p:sp>
        <p:nvSpPr>
          <p:cNvPr id="14" name="Shape 12"/>
          <p:cNvSpPr/>
          <p:nvPr/>
        </p:nvSpPr>
        <p:spPr>
          <a:xfrm>
            <a:off x="365760" y="3182112"/>
            <a:ext cx="8412480" cy="530352"/>
          </a:xfrm>
          <a:prstGeom prst="roundRect">
            <a:avLst>
              <a:gd name="adj" fmla="val 13793"/>
            </a:avLst>
          </a:prstGeom>
          <a:solidFill>
            <a:srgbClr val="1A2550"/>
          </a:solidFill>
          <a:ln w="19050">
            <a:solidFill>
              <a:srgbClr val="FFB800"/>
            </a:solidFill>
            <a:prstDash val="solid"/>
          </a:ln>
          <a:effectLst>
            <a:outerShdw sx="100000" sy="100000" kx="0" ky="0" algn="bl" rotWithShape="0" blurRad="50800" dist="12700" dir="2700000">
              <a:srgbClr val="000000">
                <a:alpha val="8000"/>
              </a:srgbClr>
            </a:outerShdw>
          </a:effectLst>
        </p:spPr>
      </p:sp>
      <p:sp>
        <p:nvSpPr>
          <p:cNvPr id="15" name="Shape 13"/>
          <p:cNvSpPr/>
          <p:nvPr/>
        </p:nvSpPr>
        <p:spPr>
          <a:xfrm>
            <a:off x="457200" y="3255264"/>
            <a:ext cx="1645920" cy="365760"/>
          </a:xfrm>
          <a:prstGeom prst="roundRect">
            <a:avLst>
              <a:gd name="adj" fmla="val 15000"/>
            </a:avLst>
          </a:prstGeom>
          <a:solidFill>
            <a:srgbClr val="FFB800">
              <a:alpha val="92000"/>
            </a:srgbClr>
          </a:solidFill>
          <a:ln w="12700">
            <a:solidFill>
              <a:srgbClr val="FFB800"/>
            </a:solidFill>
            <a:prstDash val="solid"/>
          </a:ln>
        </p:spPr>
      </p:sp>
      <p:sp>
        <p:nvSpPr>
          <p:cNvPr id="16" name="Text 14"/>
          <p:cNvSpPr/>
          <p:nvPr/>
        </p:nvSpPr>
        <p:spPr>
          <a:xfrm>
            <a:off x="457200" y="3255264"/>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VARIABLE</a:t>
            </a:r>
            <a:endParaRPr lang="en-US" sz="950" dirty="0"/>
          </a:p>
        </p:txBody>
      </p:sp>
      <p:sp>
        <p:nvSpPr>
          <p:cNvPr id="17" name="Text 15"/>
          <p:cNvSpPr/>
          <p:nvPr/>
        </p:nvSpPr>
        <p:spPr>
          <a:xfrm>
            <a:off x="2194560" y="3182112"/>
            <a:ext cx="6492240" cy="530352"/>
          </a:xfrm>
          <a:prstGeom prst="rect">
            <a:avLst/>
          </a:prstGeom>
          <a:noFill/>
          <a:ln/>
        </p:spPr>
        <p:txBody>
          <a:bodyPr wrap="square" lIns="0" tIns="0" rIns="0" bIns="0" rtlCol="0" anchor="ctr"/>
          <a:lstStyle/>
          <a:p>
            <a:pPr indent="0" marL="0">
              <a:buNone/>
            </a:pPr>
            <a:r>
              <a:rPr lang="en-US" sz="1050" dirty="0">
                <a:solidFill>
                  <a:srgbClr val="E8EDF5"/>
                </a:solidFill>
              </a:rPr>
              <a:t>¿Qué es lo único que, si lo mido, me dice si el problema existe?</a:t>
            </a:r>
            <a:endParaRPr lang="en-US" sz="1050" dirty="0"/>
          </a:p>
        </p:txBody>
      </p:sp>
      <p:sp>
        <p:nvSpPr>
          <p:cNvPr id="18" name="Shape 16"/>
          <p:cNvSpPr/>
          <p:nvPr/>
        </p:nvSpPr>
        <p:spPr>
          <a:xfrm>
            <a:off x="365760" y="3785616"/>
            <a:ext cx="8412480" cy="530352"/>
          </a:xfrm>
          <a:prstGeom prst="roundRect">
            <a:avLst>
              <a:gd name="adj" fmla="val 13793"/>
            </a:avLst>
          </a:prstGeom>
          <a:solidFill>
            <a:srgbClr val="1A2550"/>
          </a:solidFill>
          <a:ln w="19050">
            <a:solidFill>
              <a:srgbClr val="FF4D6A"/>
            </a:solidFill>
            <a:prstDash val="solid"/>
          </a:ln>
          <a:effectLst>
            <a:outerShdw sx="100000" sy="100000" kx="0" ky="0" algn="bl" rotWithShape="0" blurRad="50800" dist="12700" dir="2700000">
              <a:srgbClr val="000000">
                <a:alpha val="8000"/>
              </a:srgbClr>
            </a:outerShdw>
          </a:effectLst>
        </p:spPr>
      </p:sp>
      <p:sp>
        <p:nvSpPr>
          <p:cNvPr id="19" name="Shape 17"/>
          <p:cNvSpPr/>
          <p:nvPr/>
        </p:nvSpPr>
        <p:spPr>
          <a:xfrm>
            <a:off x="457200" y="3858768"/>
            <a:ext cx="1645920" cy="365760"/>
          </a:xfrm>
          <a:prstGeom prst="roundRect">
            <a:avLst>
              <a:gd name="adj" fmla="val 15000"/>
            </a:avLst>
          </a:prstGeom>
          <a:solidFill>
            <a:srgbClr val="FF4D6A">
              <a:alpha val="92000"/>
            </a:srgbClr>
          </a:solidFill>
          <a:ln w="12700">
            <a:solidFill>
              <a:srgbClr val="FF4D6A"/>
            </a:solidFill>
            <a:prstDash val="solid"/>
          </a:ln>
        </p:spPr>
      </p:sp>
      <p:sp>
        <p:nvSpPr>
          <p:cNvPr id="20" name="Text 18"/>
          <p:cNvSpPr/>
          <p:nvPr/>
        </p:nvSpPr>
        <p:spPr>
          <a:xfrm>
            <a:off x="457200" y="3858768"/>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PUNTO DE QUIEBRE</a:t>
            </a:r>
            <a:endParaRPr lang="en-US" sz="950" dirty="0"/>
          </a:p>
        </p:txBody>
      </p:sp>
      <p:sp>
        <p:nvSpPr>
          <p:cNvPr id="21" name="Text 19"/>
          <p:cNvSpPr/>
          <p:nvPr/>
        </p:nvSpPr>
        <p:spPr>
          <a:xfrm>
            <a:off x="2194560" y="3785616"/>
            <a:ext cx="6492240" cy="530352"/>
          </a:xfrm>
          <a:prstGeom prst="rect">
            <a:avLst/>
          </a:prstGeom>
          <a:noFill/>
          <a:ln/>
        </p:spPr>
        <p:txBody>
          <a:bodyPr wrap="square" lIns="0" tIns="0" rIns="0" bIns="0" rtlCol="0" anchor="ctr"/>
          <a:lstStyle/>
          <a:p>
            <a:pPr indent="0" marL="0">
              <a:buNone/>
            </a:pPr>
            <a:r>
              <a:rPr lang="en-US" sz="1050" dirty="0">
                <a:solidFill>
                  <a:srgbClr val="E8EDF5"/>
                </a:solidFill>
              </a:rPr>
              <a:t>¿A partir de qué valor digo que el problema empieza?</a:t>
            </a:r>
            <a:endParaRPr lang="en-US" sz="1050" dirty="0"/>
          </a:p>
        </p:txBody>
      </p:sp>
      <p:sp>
        <p:nvSpPr>
          <p:cNvPr id="22" name="Shape 20"/>
          <p:cNvSpPr/>
          <p:nvPr/>
        </p:nvSpPr>
        <p:spPr>
          <a:xfrm>
            <a:off x="365760" y="4389120"/>
            <a:ext cx="8412480" cy="530352"/>
          </a:xfrm>
          <a:prstGeom prst="roundRect">
            <a:avLst>
              <a:gd name="adj" fmla="val 13793"/>
            </a:avLst>
          </a:prstGeom>
          <a:solidFill>
            <a:srgbClr val="1A2550"/>
          </a:solidFill>
          <a:ln w="19050">
            <a:solidFill>
              <a:srgbClr val="00C896"/>
            </a:solidFill>
            <a:prstDash val="solid"/>
          </a:ln>
          <a:effectLst>
            <a:outerShdw sx="100000" sy="100000" kx="0" ky="0" algn="bl" rotWithShape="0" blurRad="50800" dist="12700" dir="2700000">
              <a:srgbClr val="000000">
                <a:alpha val="8000"/>
              </a:srgbClr>
            </a:outerShdw>
          </a:effectLst>
        </p:spPr>
      </p:sp>
      <p:sp>
        <p:nvSpPr>
          <p:cNvPr id="23" name="Shape 21"/>
          <p:cNvSpPr/>
          <p:nvPr/>
        </p:nvSpPr>
        <p:spPr>
          <a:xfrm>
            <a:off x="457200" y="4462272"/>
            <a:ext cx="1645920" cy="365760"/>
          </a:xfrm>
          <a:prstGeom prst="roundRect">
            <a:avLst>
              <a:gd name="adj" fmla="val 15000"/>
            </a:avLst>
          </a:prstGeom>
          <a:solidFill>
            <a:srgbClr val="00C896">
              <a:alpha val="92000"/>
            </a:srgbClr>
          </a:solidFill>
          <a:ln w="12700">
            <a:solidFill>
              <a:srgbClr val="00C896"/>
            </a:solidFill>
            <a:prstDash val="solid"/>
          </a:ln>
        </p:spPr>
      </p:sp>
      <p:sp>
        <p:nvSpPr>
          <p:cNvPr id="24" name="Text 22"/>
          <p:cNvSpPr/>
          <p:nvPr/>
        </p:nvSpPr>
        <p:spPr>
          <a:xfrm>
            <a:off x="457200" y="4462272"/>
            <a:ext cx="1645920" cy="365760"/>
          </a:xfrm>
          <a:prstGeom prst="rect">
            <a:avLst/>
          </a:prstGeom>
          <a:noFill/>
          <a:ln/>
        </p:spPr>
        <p:txBody>
          <a:bodyPr wrap="square" lIns="0" tIns="0" rIns="0" bIns="0" rtlCol="0" anchor="ctr"/>
          <a:lstStyle/>
          <a:p>
            <a:pPr algn="ctr" indent="0" marL="0">
              <a:buNone/>
            </a:pPr>
            <a:r>
              <a:rPr lang="en-US" sz="950" b="1" dirty="0">
                <a:solidFill>
                  <a:srgbClr val="0A0E2A"/>
                </a:solidFill>
              </a:rPr>
              <a:t>PROBLEMA TÉCNICO</a:t>
            </a:r>
            <a:endParaRPr lang="en-US" sz="950" dirty="0"/>
          </a:p>
        </p:txBody>
      </p:sp>
      <p:sp>
        <p:nvSpPr>
          <p:cNvPr id="25" name="Text 23"/>
          <p:cNvSpPr/>
          <p:nvPr/>
        </p:nvSpPr>
        <p:spPr>
          <a:xfrm>
            <a:off x="2194560" y="4389120"/>
            <a:ext cx="6492240" cy="530352"/>
          </a:xfrm>
          <a:prstGeom prst="rect">
            <a:avLst/>
          </a:prstGeom>
          <a:noFill/>
          <a:ln/>
        </p:spPr>
        <p:txBody>
          <a:bodyPr wrap="square" lIns="0" tIns="0" rIns="0" bIns="0" rtlCol="0" anchor="ctr"/>
          <a:lstStyle/>
          <a:p>
            <a:pPr indent="0" marL="0">
              <a:buNone/>
            </a:pPr>
            <a:r>
              <a:rPr lang="en-US" sz="1050" i="1" dirty="0">
                <a:solidFill>
                  <a:srgbClr val="E8EDF5"/>
                </a:solidFill>
              </a:rPr>
              <a:t>En [contexto] ocurre [problema] cuando [variable] supera [quiebre].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0F4F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D4FF"/>
          </a:solidFill>
          <a:ln w="12700">
            <a:solidFill>
              <a:srgbClr val="00D4FF"/>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BRAZO ROBÓTICO CLASIFICADOR  ·  RONDA 4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9B59B6"/>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9B59B6"/>
                </a:solidFill>
              </a:rPr>
              <a:t>⏱  3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9B59B6"/>
                </a:solidFill>
              </a:rPr>
              <a:t>RONDA 4</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0A0E2A"/>
                </a:solidFill>
              </a:rPr>
              <a:t>OBJETIVOS</a:t>
            </a:r>
            <a:endParaRPr lang="en-US" sz="2600" dirty="0"/>
          </a:p>
        </p:txBody>
      </p:sp>
      <p:sp>
        <p:nvSpPr>
          <p:cNvPr id="8" name="Shape 6"/>
          <p:cNvSpPr/>
          <p:nvPr/>
        </p:nvSpPr>
        <p:spPr>
          <a:xfrm>
            <a:off x="365760" y="1600200"/>
            <a:ext cx="8412480" cy="868680"/>
          </a:xfrm>
          <a:prstGeom prst="roundRect">
            <a:avLst>
              <a:gd name="adj" fmla="val 12632"/>
            </a:avLst>
          </a:prstGeom>
          <a:solidFill>
            <a:srgbClr val="FFFFFF"/>
          </a:solidFill>
          <a:ln w="22860">
            <a:solidFill>
              <a:srgbClr val="9B59B6"/>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0A0E2A"/>
                </a:solidFill>
              </a:rPr>
              <a:t>A partir del problema técnico, enuncien 2 o 3 objetivos concretos y medibles.</a:t>
            </a:r>
            <a:endParaRPr lang="en-US" sz="1300" dirty="0"/>
          </a:p>
          <a:p>
            <a:pPr indent="0" marL="0">
              <a:buNone/>
            </a:pPr>
            <a:r>
              <a:rPr lang="en-US" sz="1300" dirty="0">
                <a:solidFill>
                  <a:srgbClr val="0A0E2A"/>
                </a:solidFill>
              </a:rPr>
              <a:t>Cada objetivo debe poder verificarse.</a:t>
            </a:r>
            <a:endParaRPr lang="en-US" sz="1300" dirty="0"/>
          </a:p>
        </p:txBody>
      </p:sp>
      <p:sp>
        <p:nvSpPr>
          <p:cNvPr id="10" name="Shape 8"/>
          <p:cNvSpPr/>
          <p:nvPr/>
        </p:nvSpPr>
        <p:spPr>
          <a:xfrm>
            <a:off x="365760" y="2578608"/>
            <a:ext cx="8412480" cy="2176272"/>
          </a:xfrm>
          <a:prstGeom prst="roundRect">
            <a:avLst>
              <a:gd name="adj" fmla="val 5042"/>
            </a:avLst>
          </a:prstGeom>
          <a:solidFill>
            <a:srgbClr val="FFFFFF"/>
          </a:solidFill>
          <a:ln w="19050">
            <a:solidFill>
              <a:srgbClr val="9B59B6"/>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9B59B6"/>
                </a:solidFill>
              </a:rPr>
              <a:t>REGLAS DEL OBJETIVO BIEN PLANTEADO:</a:t>
            </a:r>
            <a:endParaRPr lang="en-US" sz="1050" dirty="0"/>
          </a:p>
        </p:txBody>
      </p:sp>
      <p:sp>
        <p:nvSpPr>
          <p:cNvPr id="12" name="Shape 10"/>
          <p:cNvSpPr/>
          <p:nvPr/>
        </p:nvSpPr>
        <p:spPr>
          <a:xfrm>
            <a:off x="548640" y="2999232"/>
            <a:ext cx="256032" cy="256032"/>
          </a:xfrm>
          <a:prstGeom prst="ellipse">
            <a:avLst/>
          </a:prstGeom>
          <a:solidFill>
            <a:srgbClr val="9B59B6"/>
          </a:solidFill>
          <a:ln w="12700">
            <a:solidFill>
              <a:srgbClr val="9B59B6"/>
            </a:solidFill>
            <a:prstDash val="solid"/>
          </a:ln>
        </p:spPr>
      </p:sp>
      <p:sp>
        <p:nvSpPr>
          <p:cNvPr id="13" name="Text 11"/>
          <p:cNvSpPr/>
          <p:nvPr/>
        </p:nvSpPr>
        <p:spPr>
          <a:xfrm>
            <a:off x="548640" y="29992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1</a:t>
            </a:r>
            <a:endParaRPr lang="en-US" sz="900" dirty="0"/>
          </a:p>
        </p:txBody>
      </p:sp>
      <p:sp>
        <p:nvSpPr>
          <p:cNvPr id="14" name="Text 12"/>
          <p:cNvSpPr/>
          <p:nvPr/>
        </p:nvSpPr>
        <p:spPr>
          <a:xfrm>
            <a:off x="914400" y="2971800"/>
            <a:ext cx="7680960" cy="384048"/>
          </a:xfrm>
          <a:prstGeom prst="rect">
            <a:avLst/>
          </a:prstGeom>
          <a:noFill/>
          <a:ln/>
        </p:spPr>
        <p:txBody>
          <a:bodyPr wrap="square" lIns="0" tIns="0" rIns="0" bIns="0" rtlCol="0" anchor="ctr"/>
          <a:lstStyle/>
          <a:p>
            <a:pPr indent="0" marL="0">
              <a:buNone/>
            </a:pPr>
            <a:r>
              <a:rPr lang="en-US" sz="1100" dirty="0">
                <a:solidFill>
                  <a:srgbClr val="0A0E2A"/>
                </a:solidFill>
              </a:rPr>
              <a:t>Comienza con un verbo de acción (detectar, activar, medir, controlar, enviar...)</a:t>
            </a:r>
            <a:endParaRPr lang="en-US" sz="1100" dirty="0"/>
          </a:p>
        </p:txBody>
      </p:sp>
      <p:sp>
        <p:nvSpPr>
          <p:cNvPr id="15" name="Shape 13"/>
          <p:cNvSpPr/>
          <p:nvPr/>
        </p:nvSpPr>
        <p:spPr>
          <a:xfrm>
            <a:off x="548640" y="3410712"/>
            <a:ext cx="256032" cy="256032"/>
          </a:xfrm>
          <a:prstGeom prst="ellipse">
            <a:avLst/>
          </a:prstGeom>
          <a:solidFill>
            <a:srgbClr val="9B59B6"/>
          </a:solidFill>
          <a:ln w="12700">
            <a:solidFill>
              <a:srgbClr val="9B59B6"/>
            </a:solidFill>
            <a:prstDash val="solid"/>
          </a:ln>
        </p:spPr>
      </p:sp>
      <p:sp>
        <p:nvSpPr>
          <p:cNvPr id="16" name="Text 14"/>
          <p:cNvSpPr/>
          <p:nvPr/>
        </p:nvSpPr>
        <p:spPr>
          <a:xfrm>
            <a:off x="548640" y="3410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2</a:t>
            </a:r>
            <a:endParaRPr lang="en-US" sz="900" dirty="0"/>
          </a:p>
        </p:txBody>
      </p:sp>
      <p:sp>
        <p:nvSpPr>
          <p:cNvPr id="17" name="Text 15"/>
          <p:cNvSpPr/>
          <p:nvPr/>
        </p:nvSpPr>
        <p:spPr>
          <a:xfrm>
            <a:off x="914400" y="3383280"/>
            <a:ext cx="7680960" cy="384048"/>
          </a:xfrm>
          <a:prstGeom prst="rect">
            <a:avLst/>
          </a:prstGeom>
          <a:noFill/>
          <a:ln/>
        </p:spPr>
        <p:txBody>
          <a:bodyPr wrap="square" lIns="0" tIns="0" rIns="0" bIns="0" rtlCol="0" anchor="ctr"/>
          <a:lstStyle/>
          <a:p>
            <a:pPr indent="0" marL="0">
              <a:buNone/>
            </a:pPr>
            <a:r>
              <a:rPr lang="en-US" sz="1100" dirty="0">
                <a:solidFill>
                  <a:srgbClr val="0A0E2A"/>
                </a:solidFill>
              </a:rPr>
              <a:t>Incluye la variable y el punto de quiebre que ya identificaron</a:t>
            </a:r>
            <a:endParaRPr lang="en-US" sz="1100" dirty="0"/>
          </a:p>
        </p:txBody>
      </p:sp>
      <p:sp>
        <p:nvSpPr>
          <p:cNvPr id="18" name="Shape 16"/>
          <p:cNvSpPr/>
          <p:nvPr/>
        </p:nvSpPr>
        <p:spPr>
          <a:xfrm>
            <a:off x="548640" y="3822192"/>
            <a:ext cx="256032" cy="256032"/>
          </a:xfrm>
          <a:prstGeom prst="ellipse">
            <a:avLst/>
          </a:prstGeom>
          <a:solidFill>
            <a:srgbClr val="9B59B6"/>
          </a:solidFill>
          <a:ln w="12700">
            <a:solidFill>
              <a:srgbClr val="9B59B6"/>
            </a:solidFill>
            <a:prstDash val="solid"/>
          </a:ln>
        </p:spPr>
      </p:sp>
      <p:sp>
        <p:nvSpPr>
          <p:cNvPr id="19" name="Text 17"/>
          <p:cNvSpPr/>
          <p:nvPr/>
        </p:nvSpPr>
        <p:spPr>
          <a:xfrm>
            <a:off x="54864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3</a:t>
            </a:r>
            <a:endParaRPr lang="en-US" sz="900" dirty="0"/>
          </a:p>
        </p:txBody>
      </p:sp>
      <p:sp>
        <p:nvSpPr>
          <p:cNvPr id="20" name="Text 18"/>
          <p:cNvSpPr/>
          <p:nvPr/>
        </p:nvSpPr>
        <p:spPr>
          <a:xfrm>
            <a:off x="914400" y="3794760"/>
            <a:ext cx="7680960" cy="384048"/>
          </a:xfrm>
          <a:prstGeom prst="rect">
            <a:avLst/>
          </a:prstGeom>
          <a:noFill/>
          <a:ln/>
        </p:spPr>
        <p:txBody>
          <a:bodyPr wrap="square" lIns="0" tIns="0" rIns="0" bIns="0" rtlCol="0" anchor="ctr"/>
          <a:lstStyle/>
          <a:p>
            <a:pPr indent="0" marL="0">
              <a:buNone/>
            </a:pPr>
            <a:r>
              <a:rPr lang="en-US" sz="1100" dirty="0">
                <a:solidFill>
                  <a:srgbClr val="0A0E2A"/>
                </a:solidFill>
              </a:rPr>
              <a:t>Se puede verificar — sabés exactamente cuándo se cumplió</a:t>
            </a:r>
            <a:endParaRPr lang="en-US" sz="1100" dirty="0"/>
          </a:p>
        </p:txBody>
      </p:sp>
      <p:sp>
        <p:nvSpPr>
          <p:cNvPr id="21" name="Shape 19"/>
          <p:cNvSpPr/>
          <p:nvPr/>
        </p:nvSpPr>
        <p:spPr>
          <a:xfrm>
            <a:off x="548640" y="4233672"/>
            <a:ext cx="256032" cy="256032"/>
          </a:xfrm>
          <a:prstGeom prst="ellipse">
            <a:avLst/>
          </a:prstGeom>
          <a:solidFill>
            <a:srgbClr val="9B59B6"/>
          </a:solidFill>
          <a:ln w="12700">
            <a:solidFill>
              <a:srgbClr val="9B59B6"/>
            </a:solidFill>
            <a:prstDash val="solid"/>
          </a:ln>
        </p:spPr>
      </p:sp>
      <p:sp>
        <p:nvSpPr>
          <p:cNvPr id="22" name="Text 20"/>
          <p:cNvSpPr/>
          <p:nvPr/>
        </p:nvSpPr>
        <p:spPr>
          <a:xfrm>
            <a:off x="548640" y="42336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rPr>
              <a:t>4</a:t>
            </a:r>
            <a:endParaRPr lang="en-US" sz="900" dirty="0"/>
          </a:p>
        </p:txBody>
      </p:sp>
      <p:sp>
        <p:nvSpPr>
          <p:cNvPr id="23" name="Text 21"/>
          <p:cNvSpPr/>
          <p:nvPr/>
        </p:nvSpPr>
        <p:spPr>
          <a:xfrm>
            <a:off x="914400" y="4206240"/>
            <a:ext cx="7680960" cy="384048"/>
          </a:xfrm>
          <a:prstGeom prst="rect">
            <a:avLst/>
          </a:prstGeom>
          <a:noFill/>
          <a:ln/>
        </p:spPr>
        <p:txBody>
          <a:bodyPr wrap="square" lIns="0" tIns="0" rIns="0" bIns="0" rtlCol="0" anchor="ctr"/>
          <a:lstStyle/>
          <a:p>
            <a:pPr indent="0" marL="0">
              <a:buNone/>
            </a:pPr>
            <a:r>
              <a:rPr lang="en-US" sz="1100" dirty="0">
                <a:solidFill>
                  <a:srgbClr val="0A0E2A"/>
                </a:solidFill>
              </a:rPr>
              <a:t>Un objetivo por tarea. Sin 'y' que una dos objetivos distintos</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00D4FF"/>
          </a:solidFill>
          <a:ln w="12700">
            <a:solidFill>
              <a:srgbClr val="00D4FF"/>
            </a:solidFill>
            <a:prstDash val="solid"/>
          </a:ln>
        </p:spPr>
      </p:sp>
      <p:sp>
        <p:nvSpPr>
          <p:cNvPr id="3" name="Text 1"/>
          <p:cNvSpPr/>
          <p:nvPr/>
        </p:nvSpPr>
        <p:spPr>
          <a:xfrm>
            <a:off x="274320" y="0"/>
            <a:ext cx="7315200" cy="502920"/>
          </a:xfrm>
          <a:prstGeom prst="rect">
            <a:avLst/>
          </a:prstGeom>
          <a:noFill/>
          <a:ln/>
        </p:spPr>
        <p:txBody>
          <a:bodyPr wrap="square" lIns="0" tIns="0" rIns="0" bIns="0" rtlCol="0" anchor="ctr"/>
          <a:lstStyle/>
          <a:p>
            <a:pPr indent="0" marL="0">
              <a:buNone/>
            </a:pPr>
            <a:r>
              <a:rPr lang="en-US" sz="1100" b="1" dirty="0">
                <a:solidFill>
                  <a:srgbClr val="0A0E2A"/>
                </a:solidFill>
              </a:rPr>
              <a:t>BRAZO ROBÓTICO CLASIFICADOR  ·  RONDA 5 DE 5</a:t>
            </a:r>
            <a:endParaRPr lang="en-US" sz="1100" dirty="0"/>
          </a:p>
        </p:txBody>
      </p:sp>
      <p:sp>
        <p:nvSpPr>
          <p:cNvPr id="4" name="Shape 2"/>
          <p:cNvSpPr/>
          <p:nvPr/>
        </p:nvSpPr>
        <p:spPr>
          <a:xfrm>
            <a:off x="7498080" y="54864"/>
            <a:ext cx="1417320" cy="384048"/>
          </a:xfrm>
          <a:prstGeom prst="roundRect">
            <a:avLst>
              <a:gd name="adj" fmla="val 19048"/>
            </a:avLst>
          </a:prstGeom>
          <a:solidFill>
            <a:srgbClr val="0A0E2A"/>
          </a:solidFill>
          <a:ln w="12700">
            <a:solidFill>
              <a:srgbClr val="FF4D6A"/>
            </a:solidFill>
            <a:prstDash val="solid"/>
          </a:ln>
        </p:spPr>
      </p:sp>
      <p:sp>
        <p:nvSpPr>
          <p:cNvPr id="5" name="Text 3"/>
          <p:cNvSpPr/>
          <p:nvPr/>
        </p:nvSpPr>
        <p:spPr>
          <a:xfrm>
            <a:off x="7498080" y="54864"/>
            <a:ext cx="1417320" cy="384048"/>
          </a:xfrm>
          <a:prstGeom prst="rect">
            <a:avLst/>
          </a:prstGeom>
          <a:noFill/>
          <a:ln/>
        </p:spPr>
        <p:txBody>
          <a:bodyPr wrap="square" lIns="0" tIns="0" rIns="0" bIns="0" rtlCol="0" anchor="ctr"/>
          <a:lstStyle/>
          <a:p>
            <a:pPr algn="ctr" indent="0" marL="0">
              <a:buNone/>
            </a:pPr>
            <a:r>
              <a:rPr lang="en-US" sz="1300" b="1" dirty="0">
                <a:solidFill>
                  <a:srgbClr val="FF4D6A"/>
                </a:solidFill>
              </a:rPr>
              <a:t>⏱  2 min</a:t>
            </a:r>
            <a:endParaRPr lang="en-US" sz="1300" dirty="0"/>
          </a:p>
        </p:txBody>
      </p:sp>
      <p:sp>
        <p:nvSpPr>
          <p:cNvPr id="6" name="Text 4"/>
          <p:cNvSpPr/>
          <p:nvPr/>
        </p:nvSpPr>
        <p:spPr>
          <a:xfrm>
            <a:off x="457200" y="621792"/>
            <a:ext cx="2286000" cy="347472"/>
          </a:xfrm>
          <a:prstGeom prst="rect">
            <a:avLst/>
          </a:prstGeom>
          <a:noFill/>
          <a:ln/>
        </p:spPr>
        <p:txBody>
          <a:bodyPr wrap="square" lIns="0" tIns="0" rIns="0" bIns="0" rtlCol="0" anchor="ctr"/>
          <a:lstStyle/>
          <a:p>
            <a:pPr indent="0" marL="0">
              <a:buNone/>
            </a:pPr>
            <a:r>
              <a:rPr lang="en-US" sz="1100" b="1" dirty="0">
                <a:solidFill>
                  <a:srgbClr val="FF4D6A"/>
                </a:solidFill>
              </a:rPr>
              <a:t>RONDA 5</a:t>
            </a:r>
            <a:endParaRPr lang="en-US" sz="1100" dirty="0"/>
          </a:p>
        </p:txBody>
      </p:sp>
      <p:sp>
        <p:nvSpPr>
          <p:cNvPr id="7" name="Text 5"/>
          <p:cNvSpPr/>
          <p:nvPr/>
        </p:nvSpPr>
        <p:spPr>
          <a:xfrm>
            <a:off x="457200" y="896112"/>
            <a:ext cx="8229600" cy="640080"/>
          </a:xfrm>
          <a:prstGeom prst="rect">
            <a:avLst/>
          </a:prstGeom>
          <a:noFill/>
          <a:ln/>
        </p:spPr>
        <p:txBody>
          <a:bodyPr wrap="square" lIns="0" tIns="0" rIns="0" bIns="0" rtlCol="0" anchor="ctr"/>
          <a:lstStyle/>
          <a:p>
            <a:pPr indent="0" marL="0">
              <a:buNone/>
            </a:pPr>
            <a:r>
              <a:rPr lang="en-US" sz="2600" b="1" dirty="0">
                <a:solidFill>
                  <a:srgbClr val="FF4D6A"/>
                </a:solidFill>
              </a:rPr>
              <a:t>¿CUÁL ES LA SOLUCIÓN?</a:t>
            </a:r>
            <a:endParaRPr lang="en-US" sz="2600" dirty="0"/>
          </a:p>
        </p:txBody>
      </p:sp>
      <p:sp>
        <p:nvSpPr>
          <p:cNvPr id="8" name="Shape 6"/>
          <p:cNvSpPr/>
          <p:nvPr/>
        </p:nvSpPr>
        <p:spPr>
          <a:xfrm>
            <a:off x="365760" y="1600200"/>
            <a:ext cx="8412480" cy="868680"/>
          </a:xfrm>
          <a:prstGeom prst="roundRect">
            <a:avLst>
              <a:gd name="adj" fmla="val 12632"/>
            </a:avLst>
          </a:prstGeom>
          <a:solidFill>
            <a:srgbClr val="1A2550"/>
          </a:solidFill>
          <a:ln w="22860">
            <a:solidFill>
              <a:srgbClr val="FF4D6A"/>
            </a:solidFill>
            <a:prstDash val="solid"/>
          </a:ln>
          <a:effectLst>
            <a:outerShdw sx="100000" sy="100000" kx="0" ky="0" algn="bl" rotWithShape="0" blurRad="177800" dist="50800" dir="2700000">
              <a:srgbClr val="000000">
                <a:alpha val="13000"/>
              </a:srgbClr>
            </a:outerShdw>
          </a:effectLst>
        </p:spPr>
      </p:sp>
      <p:sp>
        <p:nvSpPr>
          <p:cNvPr id="9" name="Text 7"/>
          <p:cNvSpPr/>
          <p:nvPr/>
        </p:nvSpPr>
        <p:spPr>
          <a:xfrm>
            <a:off x="548640" y="1600200"/>
            <a:ext cx="8138160" cy="868680"/>
          </a:xfrm>
          <a:prstGeom prst="rect">
            <a:avLst/>
          </a:prstGeom>
          <a:noFill/>
          <a:ln/>
        </p:spPr>
        <p:txBody>
          <a:bodyPr wrap="square" lIns="0" tIns="0" rIns="0" bIns="0" rtlCol="0" anchor="ctr"/>
          <a:lstStyle/>
          <a:p>
            <a:pPr indent="0" marL="0">
              <a:buNone/>
            </a:pPr>
            <a:r>
              <a:rPr lang="en-US" sz="1300" dirty="0">
                <a:solidFill>
                  <a:srgbClr val="E8EDF5"/>
                </a:solidFill>
              </a:rPr>
              <a:t>Sin mirar nada. ¿Qué dispositivo, sistema o artefacto resuelve exactamente este problema?</a:t>
            </a:r>
            <a:endParaRPr lang="en-US" sz="1300" dirty="0"/>
          </a:p>
          <a:p>
            <a:pPr indent="0" marL="0">
              <a:buNone/>
            </a:pPr>
            <a:r>
              <a:rPr lang="en-US" sz="1300" dirty="0">
                <a:solidFill>
                  <a:srgbClr val="E8EDF5"/>
                </a:solidFill>
              </a:rPr>
              <a:t>Describir en 2 líneas.</a:t>
            </a:r>
            <a:endParaRPr lang="en-US" sz="1300" dirty="0"/>
          </a:p>
        </p:txBody>
      </p:sp>
      <p:sp>
        <p:nvSpPr>
          <p:cNvPr id="10" name="Shape 8"/>
          <p:cNvSpPr/>
          <p:nvPr/>
        </p:nvSpPr>
        <p:spPr>
          <a:xfrm>
            <a:off x="365760" y="2578608"/>
            <a:ext cx="8412480" cy="2176272"/>
          </a:xfrm>
          <a:prstGeom prst="roundRect">
            <a:avLst>
              <a:gd name="adj" fmla="val 5042"/>
            </a:avLst>
          </a:prstGeom>
          <a:solidFill>
            <a:srgbClr val="1A2550"/>
          </a:solidFill>
          <a:ln w="19050">
            <a:solidFill>
              <a:srgbClr val="FF4D6A"/>
            </a:solidFill>
            <a:prstDash val="solid"/>
          </a:ln>
          <a:effectLst>
            <a:outerShdw sx="100000" sy="100000" kx="0" ky="0" algn="bl" rotWithShape="0" blurRad="177800" dist="50800" dir="2700000">
              <a:srgbClr val="000000">
                <a:alpha val="13000"/>
              </a:srgbClr>
            </a:outerShdw>
          </a:effectLst>
        </p:spPr>
      </p:sp>
      <p:sp>
        <p:nvSpPr>
          <p:cNvPr id="11" name="Text 9"/>
          <p:cNvSpPr/>
          <p:nvPr/>
        </p:nvSpPr>
        <p:spPr>
          <a:xfrm>
            <a:off x="548640" y="2651760"/>
            <a:ext cx="8046720" cy="274320"/>
          </a:xfrm>
          <a:prstGeom prst="rect">
            <a:avLst/>
          </a:prstGeom>
          <a:noFill/>
          <a:ln/>
        </p:spPr>
        <p:txBody>
          <a:bodyPr wrap="square" lIns="0" tIns="0" rIns="0" bIns="0" rtlCol="0" anchor="ctr"/>
          <a:lstStyle/>
          <a:p>
            <a:pPr indent="0" marL="0">
              <a:buNone/>
            </a:pPr>
            <a:r>
              <a:rPr lang="en-US" sz="1050" b="1" dirty="0">
                <a:solidFill>
                  <a:srgbClr val="FF4D6A"/>
                </a:solidFill>
              </a:rPr>
              <a:t>PISTAS PERMITIDAS:</a:t>
            </a:r>
            <a:endParaRPr lang="en-US" sz="1050" dirty="0"/>
          </a:p>
        </p:txBody>
      </p:sp>
      <p:sp>
        <p:nvSpPr>
          <p:cNvPr id="12" name="Shape 10"/>
          <p:cNvSpPr/>
          <p:nvPr/>
        </p:nvSpPr>
        <p:spPr>
          <a:xfrm>
            <a:off x="548640" y="299923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3" name="Text 11"/>
          <p:cNvSpPr/>
          <p:nvPr/>
        </p:nvSpPr>
        <p:spPr>
          <a:xfrm>
            <a:off x="685800" y="299923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La variable principal es: Tipo de material detectado por sensor de color o inductivo</a:t>
            </a:r>
            <a:endParaRPr lang="en-US" sz="1100" dirty="0"/>
          </a:p>
        </p:txBody>
      </p:sp>
      <p:sp>
        <p:nvSpPr>
          <p:cNvPr id="14" name="Shape 12"/>
          <p:cNvSpPr/>
          <p:nvPr/>
        </p:nvSpPr>
        <p:spPr>
          <a:xfrm>
            <a:off x="548640" y="3410712"/>
            <a:ext cx="8046720" cy="347472"/>
          </a:xfrm>
          <a:prstGeom prst="roundRect">
            <a:avLst>
              <a:gd name="adj" fmla="val 13158"/>
            </a:avLst>
          </a:prstGeom>
          <a:solidFill>
            <a:srgbClr val="FF4D6A">
              <a:alpha val="12000"/>
            </a:srgbClr>
          </a:solidFill>
          <a:ln w="12700">
            <a:solidFill>
              <a:srgbClr val="FF4D6A">
                <a:alpha val="35000"/>
              </a:srgbClr>
            </a:solidFill>
            <a:prstDash val="solid"/>
          </a:ln>
        </p:spPr>
      </p:sp>
      <p:sp>
        <p:nvSpPr>
          <p:cNvPr id="15" name="Text 13"/>
          <p:cNvSpPr/>
          <p:nvPr/>
        </p:nvSpPr>
        <p:spPr>
          <a:xfrm>
            <a:off x="685800" y="3410712"/>
            <a:ext cx="7772400" cy="347472"/>
          </a:xfrm>
          <a:prstGeom prst="rect">
            <a:avLst/>
          </a:prstGeom>
          <a:noFill/>
          <a:ln/>
        </p:spPr>
        <p:txBody>
          <a:bodyPr wrap="square" lIns="0" tIns="0" rIns="0" bIns="0" rtlCol="0" anchor="ctr"/>
          <a:lstStyle/>
          <a:p>
            <a:pPr indent="0" marL="0">
              <a:buNone/>
            </a:pPr>
            <a:r>
              <a:rPr lang="en-US" sz="1100" b="1" dirty="0">
                <a:solidFill>
                  <a:srgbClr val="E8EDF5"/>
                </a:solidFill>
              </a:rPr>
              <a:t>🔍  El punto de quiebre es: Detección de material metálico (sensor inductivo activo) o clasificación de color por sensor TCS3200</a:t>
            </a:r>
            <a:endParaRPr lang="en-US" sz="1100" dirty="0"/>
          </a:p>
        </p:txBody>
      </p:sp>
      <p:sp>
        <p:nvSpPr>
          <p:cNvPr id="16" name="Shape 14"/>
          <p:cNvSpPr/>
          <p:nvPr/>
        </p:nvSpPr>
        <p:spPr>
          <a:xfrm>
            <a:off x="548640" y="382219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7" name="Text 15"/>
          <p:cNvSpPr/>
          <p:nvPr/>
        </p:nvSpPr>
        <p:spPr>
          <a:xfrm>
            <a:off x="685800" y="382219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¿Qué componente electrónico mide esa variable? ¿Qué actúa cuando se supera el quiebre?</a:t>
            </a:r>
            <a:endParaRPr lang="en-US" sz="1050" dirty="0"/>
          </a:p>
        </p:txBody>
      </p:sp>
      <p:sp>
        <p:nvSpPr>
          <p:cNvPr id="18" name="Shape 16"/>
          <p:cNvSpPr/>
          <p:nvPr/>
        </p:nvSpPr>
        <p:spPr>
          <a:xfrm>
            <a:off x="548640" y="4233672"/>
            <a:ext cx="8046720" cy="347472"/>
          </a:xfrm>
          <a:prstGeom prst="roundRect">
            <a:avLst>
              <a:gd name="adj" fmla="val 13158"/>
            </a:avLst>
          </a:prstGeom>
          <a:solidFill>
            <a:srgbClr val="FF4D6A">
              <a:alpha val="5000"/>
            </a:srgbClr>
          </a:solidFill>
          <a:ln w="12700">
            <a:solidFill>
              <a:srgbClr val="FF4D6A">
                <a:alpha val="35000"/>
              </a:srgbClr>
            </a:solidFill>
            <a:prstDash val="solid"/>
          </a:ln>
        </p:spPr>
      </p:sp>
      <p:sp>
        <p:nvSpPr>
          <p:cNvPr id="19" name="Text 17"/>
          <p:cNvSpPr/>
          <p:nvPr/>
        </p:nvSpPr>
        <p:spPr>
          <a:xfrm>
            <a:off x="685800" y="4233672"/>
            <a:ext cx="7772400" cy="347472"/>
          </a:xfrm>
          <a:prstGeom prst="rect">
            <a:avLst/>
          </a:prstGeom>
          <a:noFill/>
          <a:ln/>
        </p:spPr>
        <p:txBody>
          <a:bodyPr wrap="square" lIns="0" tIns="0" rIns="0" bIns="0" rtlCol="0" anchor="ctr"/>
          <a:lstStyle/>
          <a:p>
            <a:pPr indent="0" marL="0">
              <a:buNone/>
            </a:pPr>
            <a:r>
              <a:rPr lang="en-US" sz="1050" dirty="0">
                <a:solidFill>
                  <a:srgbClr val="E8EDF5"/>
                </a:solidFill>
              </a:rPr>
              <a:t>💡  Pensá en: sensor + controlador + actuador</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D4FF"/>
          </a:solidFill>
          <a:ln w="12700">
            <a:solidFill>
              <a:srgbClr val="00D4FF"/>
            </a:solidFill>
            <a:prstDash val="solid"/>
          </a:ln>
        </p:spPr>
      </p:sp>
      <p:sp>
        <p:nvSpPr>
          <p:cNvPr id="3" name="Text 1"/>
          <p:cNvSpPr/>
          <p:nvPr/>
        </p:nvSpPr>
        <p:spPr>
          <a:xfrm>
            <a:off x="320040" y="0"/>
            <a:ext cx="8503920" cy="640080"/>
          </a:xfrm>
          <a:prstGeom prst="rect">
            <a:avLst/>
          </a:prstGeom>
          <a:noFill/>
          <a:ln/>
        </p:spPr>
        <p:txBody>
          <a:bodyPr wrap="square" lIns="0" tIns="0" rIns="0" bIns="0" rtlCol="0" anchor="ctr"/>
          <a:lstStyle/>
          <a:p>
            <a:pPr indent="0" marL="0">
              <a:buNone/>
            </a:pPr>
            <a:r>
              <a:rPr lang="en-US" sz="1300" b="1" dirty="0">
                <a:solidFill>
                  <a:srgbClr val="0A0E2A"/>
                </a:solidFill>
              </a:rPr>
              <a:t>REVEAL · BRAZO ROBÓTICO CLASIFICADOR</a:t>
            </a:r>
            <a:endParaRPr lang="en-US" sz="1300" dirty="0"/>
          </a:p>
        </p:txBody>
      </p:sp>
      <p:sp>
        <p:nvSpPr>
          <p:cNvPr id="4" name="Shape 2"/>
          <p:cNvSpPr/>
          <p:nvPr/>
        </p:nvSpPr>
        <p:spPr>
          <a:xfrm>
            <a:off x="274320" y="749808"/>
            <a:ext cx="4389120" cy="475488"/>
          </a:xfrm>
          <a:prstGeom prst="roundRect">
            <a:avLst>
              <a:gd name="adj" fmla="val 15385"/>
            </a:avLst>
          </a:prstGeom>
          <a:solidFill>
            <a:srgbClr val="1A2550"/>
          </a:solidFill>
          <a:ln w="15240">
            <a:solidFill>
              <a:srgbClr val="FFB800"/>
            </a:solidFill>
            <a:prstDash val="solid"/>
          </a:ln>
        </p:spPr>
      </p:sp>
      <p:sp>
        <p:nvSpPr>
          <p:cNvPr id="5" name="Shape 3"/>
          <p:cNvSpPr/>
          <p:nvPr/>
        </p:nvSpPr>
        <p:spPr>
          <a:xfrm>
            <a:off x="347472" y="813816"/>
            <a:ext cx="1417320" cy="256032"/>
          </a:xfrm>
          <a:prstGeom prst="roundRect">
            <a:avLst>
              <a:gd name="adj" fmla="val 17857"/>
            </a:avLst>
          </a:prstGeom>
          <a:solidFill>
            <a:srgbClr val="FFB800">
              <a:alpha val="88000"/>
            </a:srgbClr>
          </a:solidFill>
          <a:ln w="12700">
            <a:solidFill>
              <a:srgbClr val="FFB800"/>
            </a:solidFill>
            <a:prstDash val="solid"/>
          </a:ln>
        </p:spPr>
      </p:sp>
      <p:sp>
        <p:nvSpPr>
          <p:cNvPr id="6" name="Text 4"/>
          <p:cNvSpPr/>
          <p:nvPr/>
        </p:nvSpPr>
        <p:spPr>
          <a:xfrm>
            <a:off x="347472" y="81381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VAGO</a:t>
            </a:r>
            <a:endParaRPr lang="en-US" sz="700" dirty="0"/>
          </a:p>
        </p:txBody>
      </p:sp>
      <p:sp>
        <p:nvSpPr>
          <p:cNvPr id="7" name="Text 5"/>
          <p:cNvSpPr/>
          <p:nvPr/>
        </p:nvSpPr>
        <p:spPr>
          <a:xfrm>
            <a:off x="1847088" y="749808"/>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La gente no separa bien la basura y los reciclables se contaminan.</a:t>
            </a:r>
            <a:endParaRPr lang="en-US" sz="900" dirty="0"/>
          </a:p>
        </p:txBody>
      </p:sp>
      <p:sp>
        <p:nvSpPr>
          <p:cNvPr id="8" name="Shape 6"/>
          <p:cNvSpPr/>
          <p:nvPr/>
        </p:nvSpPr>
        <p:spPr>
          <a:xfrm>
            <a:off x="274320" y="1280160"/>
            <a:ext cx="4389120" cy="475488"/>
          </a:xfrm>
          <a:prstGeom prst="roundRect">
            <a:avLst>
              <a:gd name="adj" fmla="val 15385"/>
            </a:avLst>
          </a:prstGeom>
          <a:solidFill>
            <a:srgbClr val="1A2550"/>
          </a:solidFill>
          <a:ln w="15240">
            <a:solidFill>
              <a:srgbClr val="9B59B6"/>
            </a:solidFill>
            <a:prstDash val="solid"/>
          </a:ln>
        </p:spPr>
      </p:sp>
      <p:sp>
        <p:nvSpPr>
          <p:cNvPr id="9" name="Shape 7"/>
          <p:cNvSpPr/>
          <p:nvPr/>
        </p:nvSpPr>
        <p:spPr>
          <a:xfrm>
            <a:off x="347472" y="1344168"/>
            <a:ext cx="1417320" cy="256032"/>
          </a:xfrm>
          <a:prstGeom prst="roundRect">
            <a:avLst>
              <a:gd name="adj" fmla="val 17857"/>
            </a:avLst>
          </a:prstGeom>
          <a:solidFill>
            <a:srgbClr val="9B59B6">
              <a:alpha val="88000"/>
            </a:srgbClr>
          </a:solidFill>
          <a:ln w="12700">
            <a:solidFill>
              <a:srgbClr val="9B59B6"/>
            </a:solidFill>
            <a:prstDash val="solid"/>
          </a:ln>
        </p:spPr>
      </p:sp>
      <p:sp>
        <p:nvSpPr>
          <p:cNvPr id="10" name="Text 8"/>
          <p:cNvSpPr/>
          <p:nvPr/>
        </p:nvSpPr>
        <p:spPr>
          <a:xfrm>
            <a:off x="347472" y="1344168"/>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VARIABLE</a:t>
            </a:r>
            <a:endParaRPr lang="en-US" sz="700" dirty="0"/>
          </a:p>
        </p:txBody>
      </p:sp>
      <p:sp>
        <p:nvSpPr>
          <p:cNvPr id="11" name="Text 9"/>
          <p:cNvSpPr/>
          <p:nvPr/>
        </p:nvSpPr>
        <p:spPr>
          <a:xfrm>
            <a:off x="1847088" y="1280160"/>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Tipo de material detectado por sensor de color o inductivo (metálico / no metálico / transparente).</a:t>
            </a:r>
            <a:endParaRPr lang="en-US" sz="900" dirty="0"/>
          </a:p>
        </p:txBody>
      </p:sp>
      <p:sp>
        <p:nvSpPr>
          <p:cNvPr id="12" name="Shape 10"/>
          <p:cNvSpPr/>
          <p:nvPr/>
        </p:nvSpPr>
        <p:spPr>
          <a:xfrm>
            <a:off x="274320" y="1810512"/>
            <a:ext cx="4389120" cy="475488"/>
          </a:xfrm>
          <a:prstGeom prst="roundRect">
            <a:avLst>
              <a:gd name="adj" fmla="val 15385"/>
            </a:avLst>
          </a:prstGeom>
          <a:solidFill>
            <a:srgbClr val="1A2550"/>
          </a:solidFill>
          <a:ln w="15240">
            <a:solidFill>
              <a:srgbClr val="FF4D6A"/>
            </a:solidFill>
            <a:prstDash val="solid"/>
          </a:ln>
        </p:spPr>
      </p:sp>
      <p:sp>
        <p:nvSpPr>
          <p:cNvPr id="13" name="Shape 11"/>
          <p:cNvSpPr/>
          <p:nvPr/>
        </p:nvSpPr>
        <p:spPr>
          <a:xfrm>
            <a:off x="347472" y="1874520"/>
            <a:ext cx="1417320" cy="256032"/>
          </a:xfrm>
          <a:prstGeom prst="roundRect">
            <a:avLst>
              <a:gd name="adj" fmla="val 17857"/>
            </a:avLst>
          </a:prstGeom>
          <a:solidFill>
            <a:srgbClr val="FF4D6A">
              <a:alpha val="88000"/>
            </a:srgbClr>
          </a:solidFill>
          <a:ln w="12700">
            <a:solidFill>
              <a:srgbClr val="FF4D6A"/>
            </a:solidFill>
            <a:prstDash val="solid"/>
          </a:ln>
        </p:spPr>
      </p:sp>
      <p:sp>
        <p:nvSpPr>
          <p:cNvPr id="14" name="Text 12"/>
          <p:cNvSpPr/>
          <p:nvPr/>
        </p:nvSpPr>
        <p:spPr>
          <a:xfrm>
            <a:off x="347472" y="1874520"/>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PUNTO DE QUIEBRE</a:t>
            </a:r>
            <a:endParaRPr lang="en-US" sz="700" dirty="0"/>
          </a:p>
        </p:txBody>
      </p:sp>
      <p:sp>
        <p:nvSpPr>
          <p:cNvPr id="15" name="Text 13"/>
          <p:cNvSpPr/>
          <p:nvPr/>
        </p:nvSpPr>
        <p:spPr>
          <a:xfrm>
            <a:off x="1847088" y="1810512"/>
            <a:ext cx="2724912" cy="475488"/>
          </a:xfrm>
          <a:prstGeom prst="rect">
            <a:avLst/>
          </a:prstGeom>
          <a:noFill/>
          <a:ln/>
        </p:spPr>
        <p:txBody>
          <a:bodyPr wrap="square" lIns="635" tIns="635" rIns="635" bIns="635" rtlCol="0" anchor="ctr"/>
          <a:lstStyle/>
          <a:p>
            <a:pPr indent="0" marL="0">
              <a:buNone/>
            </a:pPr>
            <a:r>
              <a:rPr lang="en-US" sz="900" dirty="0">
                <a:solidFill>
                  <a:srgbClr val="E8EDF5"/>
                </a:solidFill>
              </a:rPr>
              <a:t>Detección de material metálico (sensor inductivo activo) o clasificación de color por sensor TCS3200.</a:t>
            </a:r>
            <a:endParaRPr lang="en-US" sz="900" dirty="0"/>
          </a:p>
        </p:txBody>
      </p:sp>
      <p:sp>
        <p:nvSpPr>
          <p:cNvPr id="16" name="Shape 14"/>
          <p:cNvSpPr/>
          <p:nvPr/>
        </p:nvSpPr>
        <p:spPr>
          <a:xfrm>
            <a:off x="274320" y="2340864"/>
            <a:ext cx="4389120" cy="594360"/>
          </a:xfrm>
          <a:prstGeom prst="roundRect">
            <a:avLst>
              <a:gd name="adj" fmla="val 12308"/>
            </a:avLst>
          </a:prstGeom>
          <a:solidFill>
            <a:srgbClr val="1A2550"/>
          </a:solidFill>
          <a:ln w="15240">
            <a:solidFill>
              <a:srgbClr val="00C896"/>
            </a:solidFill>
            <a:prstDash val="solid"/>
          </a:ln>
        </p:spPr>
      </p:sp>
      <p:sp>
        <p:nvSpPr>
          <p:cNvPr id="17" name="Shape 15"/>
          <p:cNvSpPr/>
          <p:nvPr/>
        </p:nvSpPr>
        <p:spPr>
          <a:xfrm>
            <a:off x="347472" y="2404872"/>
            <a:ext cx="1417320" cy="256032"/>
          </a:xfrm>
          <a:prstGeom prst="roundRect">
            <a:avLst>
              <a:gd name="adj" fmla="val 17857"/>
            </a:avLst>
          </a:prstGeom>
          <a:solidFill>
            <a:srgbClr val="00C896">
              <a:alpha val="88000"/>
            </a:srgbClr>
          </a:solidFill>
          <a:ln w="12700">
            <a:solidFill>
              <a:srgbClr val="00C896"/>
            </a:solidFill>
            <a:prstDash val="solid"/>
          </a:ln>
        </p:spPr>
      </p:sp>
      <p:sp>
        <p:nvSpPr>
          <p:cNvPr id="18" name="Text 16"/>
          <p:cNvSpPr/>
          <p:nvPr/>
        </p:nvSpPr>
        <p:spPr>
          <a:xfrm>
            <a:off x="347472" y="2404872"/>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PROBLEMA TECNICO</a:t>
            </a:r>
            <a:endParaRPr lang="en-US" sz="700" dirty="0"/>
          </a:p>
        </p:txBody>
      </p:sp>
      <p:sp>
        <p:nvSpPr>
          <p:cNvPr id="19" name="Text 17"/>
          <p:cNvSpPr/>
          <p:nvPr/>
        </p:nvSpPr>
        <p:spPr>
          <a:xfrm>
            <a:off x="1847088" y="2340864"/>
            <a:ext cx="2724912" cy="594360"/>
          </a:xfrm>
          <a:prstGeom prst="rect">
            <a:avLst/>
          </a:prstGeom>
          <a:noFill/>
          <a:ln/>
        </p:spPr>
        <p:txBody>
          <a:bodyPr wrap="square" lIns="635" tIns="635" rIns="635" bIns="635" rtlCol="0" anchor="ctr"/>
          <a:lstStyle/>
          <a:p>
            <a:pPr indent="0" marL="0">
              <a:buNone/>
            </a:pPr>
            <a:r>
              <a:rPr lang="en-US" sz="900" dirty="0">
                <a:solidFill>
                  <a:srgbClr val="E8EDF5"/>
                </a:solidFill>
              </a:rPr>
              <a:t>En el punto de reciclaje, un objeto depositado sin clasificar activa el sensor antes de caer en el contenedor general, lo que genera pérdida de material reciclable recuperable.</a:t>
            </a:r>
            <a:endParaRPr lang="en-US" sz="900" dirty="0"/>
          </a:p>
        </p:txBody>
      </p:sp>
      <p:sp>
        <p:nvSpPr>
          <p:cNvPr id="20" name="Shape 18"/>
          <p:cNvSpPr/>
          <p:nvPr/>
        </p:nvSpPr>
        <p:spPr>
          <a:xfrm>
            <a:off x="274320" y="2990088"/>
            <a:ext cx="4389120" cy="841248"/>
          </a:xfrm>
          <a:prstGeom prst="roundRect">
            <a:avLst>
              <a:gd name="adj" fmla="val 8696"/>
            </a:avLst>
          </a:prstGeom>
          <a:solidFill>
            <a:srgbClr val="1A2550"/>
          </a:solidFill>
          <a:ln w="15240">
            <a:solidFill>
              <a:srgbClr val="00D4FF"/>
            </a:solidFill>
            <a:prstDash val="solid"/>
          </a:ln>
        </p:spPr>
      </p:sp>
      <p:sp>
        <p:nvSpPr>
          <p:cNvPr id="21" name="Shape 19"/>
          <p:cNvSpPr/>
          <p:nvPr/>
        </p:nvSpPr>
        <p:spPr>
          <a:xfrm>
            <a:off x="347472" y="3054096"/>
            <a:ext cx="1417320" cy="256032"/>
          </a:xfrm>
          <a:prstGeom prst="roundRect">
            <a:avLst>
              <a:gd name="adj" fmla="val 17857"/>
            </a:avLst>
          </a:prstGeom>
          <a:solidFill>
            <a:srgbClr val="00D4FF">
              <a:alpha val="88000"/>
            </a:srgbClr>
          </a:solidFill>
          <a:ln w="12700">
            <a:solidFill>
              <a:srgbClr val="00D4FF"/>
            </a:solidFill>
            <a:prstDash val="solid"/>
          </a:ln>
        </p:spPr>
      </p:sp>
      <p:sp>
        <p:nvSpPr>
          <p:cNvPr id="22" name="Text 20"/>
          <p:cNvSpPr/>
          <p:nvPr/>
        </p:nvSpPr>
        <p:spPr>
          <a:xfrm>
            <a:off x="347472" y="3054096"/>
            <a:ext cx="1417320" cy="256032"/>
          </a:xfrm>
          <a:prstGeom prst="rect">
            <a:avLst/>
          </a:prstGeom>
          <a:noFill/>
          <a:ln/>
        </p:spPr>
        <p:txBody>
          <a:bodyPr wrap="square" lIns="0" tIns="0" rIns="0" bIns="0" rtlCol="0" anchor="ctr"/>
          <a:lstStyle/>
          <a:p>
            <a:pPr algn="ctr" indent="0" marL="0">
              <a:buNone/>
            </a:pPr>
            <a:r>
              <a:rPr lang="en-US" sz="700" b="1" dirty="0">
                <a:solidFill>
                  <a:srgbClr val="0A0E2A"/>
                </a:solidFill>
              </a:rPr>
              <a:t>OBJETIVOS</a:t>
            </a:r>
            <a:endParaRPr lang="en-US" sz="700" dirty="0"/>
          </a:p>
        </p:txBody>
      </p:sp>
      <p:sp>
        <p:nvSpPr>
          <p:cNvPr id="23" name="Text 21"/>
          <p:cNvSpPr/>
          <p:nvPr/>
        </p:nvSpPr>
        <p:spPr>
          <a:xfrm>
            <a:off x="1847088" y="2990088"/>
            <a:ext cx="2724912" cy="841248"/>
          </a:xfrm>
          <a:prstGeom prst="rect">
            <a:avLst/>
          </a:prstGeom>
          <a:noFill/>
          <a:ln/>
        </p:spPr>
        <p:txBody>
          <a:bodyPr wrap="square" lIns="635" tIns="635" rIns="635" bIns="635" rtlCol="0" anchor="ctr"/>
          <a:lstStyle/>
          <a:p>
            <a:pPr indent="0" marL="0">
              <a:buNone/>
            </a:pPr>
            <a:r>
              <a:rPr lang="en-US" sz="850" dirty="0">
                <a:solidFill>
                  <a:srgbClr val="E8EDF5"/>
                </a:solidFill>
              </a:rPr>
              <a:t>1. Detectar automáticamente el tipo de material de cada objeto depositado.  2. Activar el brazo robótico para dirigir el objeto al contenedor correcto según su clasificación.  3. Registrar la cantidad de objetos clasificados por tipo para estadísticas de reciclaje.</a:t>
            </a:r>
            <a:endParaRPr lang="en-US" sz="850" dirty="0"/>
          </a:p>
        </p:txBody>
      </p:sp>
      <p:sp>
        <p:nvSpPr>
          <p:cNvPr id="24" name="Shape 22"/>
          <p:cNvSpPr/>
          <p:nvPr/>
        </p:nvSpPr>
        <p:spPr>
          <a:xfrm>
            <a:off x="4937760" y="749808"/>
            <a:ext cx="3977640" cy="2971800"/>
          </a:xfrm>
          <a:prstGeom prst="roundRect">
            <a:avLst>
              <a:gd name="adj" fmla="val 4615"/>
            </a:avLst>
          </a:prstGeom>
          <a:solidFill>
            <a:srgbClr val="00D4FF">
              <a:alpha val="92000"/>
            </a:srgbClr>
          </a:solidFill>
          <a:ln w="25400">
            <a:solidFill>
              <a:srgbClr val="00D4FF"/>
            </a:solidFill>
            <a:prstDash val="solid"/>
          </a:ln>
          <a:effectLst>
            <a:outerShdw sx="100000" sy="100000" kx="0" ky="0" algn="bl" rotWithShape="0" blurRad="127000" dist="38100" dir="2700000">
              <a:srgbClr val="000000">
                <a:alpha val="18000"/>
              </a:srgbClr>
            </a:outerShdw>
          </a:effectLst>
        </p:spPr>
      </p:sp>
      <p:sp>
        <p:nvSpPr>
          <p:cNvPr id="25" name="Text 23"/>
          <p:cNvSpPr/>
          <p:nvPr/>
        </p:nvSpPr>
        <p:spPr>
          <a:xfrm>
            <a:off x="5074920" y="822960"/>
            <a:ext cx="3703320" cy="320040"/>
          </a:xfrm>
          <a:prstGeom prst="rect">
            <a:avLst/>
          </a:prstGeom>
          <a:noFill/>
          <a:ln/>
        </p:spPr>
        <p:txBody>
          <a:bodyPr wrap="square" lIns="0" tIns="0" rIns="0" bIns="0" rtlCol="0" anchor="ctr"/>
          <a:lstStyle/>
          <a:p>
            <a:pPr algn="ctr" indent="0" marL="0">
              <a:buNone/>
            </a:pPr>
            <a:r>
              <a:rPr lang="en-US" sz="1200" b="1" dirty="0">
                <a:solidFill>
                  <a:srgbClr val="0A0E2A"/>
                </a:solidFill>
              </a:rPr>
              <a:t>SOLUCIÓN</a:t>
            </a:r>
            <a:endParaRPr lang="en-US" sz="1200" dirty="0"/>
          </a:p>
        </p:txBody>
      </p:sp>
      <p:sp>
        <p:nvSpPr>
          <p:cNvPr id="26" name="Text 24"/>
          <p:cNvSpPr/>
          <p:nvPr/>
        </p:nvSpPr>
        <p:spPr>
          <a:xfrm>
            <a:off x="5074920" y="1188720"/>
            <a:ext cx="3703320" cy="1828800"/>
          </a:xfrm>
          <a:prstGeom prst="rect">
            <a:avLst/>
          </a:prstGeom>
          <a:noFill/>
          <a:ln/>
        </p:spPr>
        <p:txBody>
          <a:bodyPr wrap="square" lIns="0" tIns="0" rIns="0" bIns="0" rtlCol="0" anchor="ctr"/>
          <a:lstStyle/>
          <a:p>
            <a:pPr indent="0" marL="0">
              <a:buNone/>
            </a:pPr>
            <a:r>
              <a:rPr lang="en-US" sz="1100" dirty="0">
                <a:solidFill>
                  <a:srgbClr val="0A0E2A"/>
                </a:solidFill>
              </a:rPr>
              <a:t>Brazo con 3 servomotores + sensor inductivo + sensor de color TCS3200 + Arduino. El sistema identifica el material y rota el brazo al ángulo correspondiente a cada contenedor.</a:t>
            </a:r>
            <a:endParaRPr lang="en-US" sz="1100" dirty="0"/>
          </a:p>
        </p:txBody>
      </p:sp>
      <p:sp>
        <p:nvSpPr>
          <p:cNvPr id="27" name="Text 25"/>
          <p:cNvSpPr/>
          <p:nvPr/>
        </p:nvSpPr>
        <p:spPr>
          <a:xfrm>
            <a:off x="5074920" y="3017520"/>
            <a:ext cx="3703320" cy="502920"/>
          </a:xfrm>
          <a:prstGeom prst="rect">
            <a:avLst/>
          </a:prstGeom>
          <a:noFill/>
          <a:ln/>
        </p:spPr>
        <p:txBody>
          <a:bodyPr wrap="square" lIns="0" tIns="0" rIns="0" bIns="0" rtlCol="0" anchor="ctr"/>
          <a:lstStyle/>
          <a:p>
            <a:pPr indent="0" marL="0">
              <a:buNone/>
            </a:pPr>
            <a:r>
              <a:rPr lang="en-US" sz="950" i="1" dirty="0">
                <a:solidFill>
                  <a:srgbClr val="0A0E2A"/>
                </a:solidFill>
              </a:rPr>
              <a:t>📷  Brazo robótico con sensor de color y tres contenedores de reciclaje</a:t>
            </a:r>
            <a:endParaRPr lang="en-US" sz="950" dirty="0"/>
          </a:p>
        </p:txBody>
      </p:sp>
      <p:sp>
        <p:nvSpPr>
          <p:cNvPr id="28" name="Shape 26"/>
          <p:cNvSpPr/>
          <p:nvPr/>
        </p:nvSpPr>
        <p:spPr>
          <a:xfrm>
            <a:off x="274320" y="3858768"/>
            <a:ext cx="8549640" cy="841248"/>
          </a:xfrm>
          <a:prstGeom prst="roundRect">
            <a:avLst>
              <a:gd name="adj" fmla="val 13043"/>
            </a:avLst>
          </a:prstGeom>
          <a:solidFill>
            <a:srgbClr val="1A2550"/>
          </a:solidFill>
          <a:ln w="15240">
            <a:solidFill>
              <a:srgbClr val="00D4FF"/>
            </a:solidFill>
            <a:prstDash val="solid"/>
          </a:ln>
        </p:spPr>
      </p:sp>
      <p:sp>
        <p:nvSpPr>
          <p:cNvPr id="29" name="Text 27"/>
          <p:cNvSpPr/>
          <p:nvPr/>
        </p:nvSpPr>
        <p:spPr>
          <a:xfrm>
            <a:off x="457200" y="3858768"/>
            <a:ext cx="8229600" cy="841248"/>
          </a:xfrm>
          <a:prstGeom prst="rect">
            <a:avLst/>
          </a:prstGeom>
          <a:noFill/>
          <a:ln/>
        </p:spPr>
        <p:txBody>
          <a:bodyPr wrap="square" lIns="0" tIns="0" rIns="0" bIns="0" rtlCol="0" anchor="ctr"/>
          <a:lstStyle/>
          <a:p>
            <a:pPr algn="ctr" indent="0" marL="0">
              <a:buNone/>
            </a:pPr>
            <a:r>
              <a:rPr lang="en-US" sz="1200" dirty="0">
                <a:solidFill>
                  <a:srgbClr val="E8EDF5"/>
                </a:solidFill>
              </a:rPr>
              <a:t>¿Qué equipo formuló mejor cada componente?  ·  ¿Cuál se acercó más a la solución real?  ·  ¿Qué mejorarían?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0E2A"/>
        </a:solidFill>
      </p:bgPr>
    </p:bg>
    <p:spTree>
      <p:nvGrpSpPr>
        <p:cNvPr id="1" name=""/>
        <p:cNvGrpSpPr/>
        <p:nvPr/>
      </p:nvGrpSpPr>
      <p:grpSpPr>
        <a:xfrm>
          <a:off x="0" y="0"/>
          <a:ext cx="0" cy="0"/>
          <a:chOff x="0" y="0"/>
          <a:chExt cx="0" cy="0"/>
        </a:xfrm>
      </p:grpSpPr>
      <p:sp>
        <p:nvSpPr>
          <p:cNvPr id="2" name="Shape 0"/>
          <p:cNvSpPr/>
          <p:nvPr/>
        </p:nvSpPr>
        <p:spPr>
          <a:xfrm>
            <a:off x="3200400" y="457200"/>
            <a:ext cx="2743200" cy="2743200"/>
          </a:xfrm>
          <a:prstGeom prst="ellipse">
            <a:avLst/>
          </a:prstGeom>
          <a:solidFill>
            <a:srgbClr val="1A2550"/>
          </a:solidFill>
          <a:ln w="12700">
            <a:solidFill>
              <a:srgbClr val="1A2550"/>
            </a:solidFill>
            <a:prstDash val="solid"/>
          </a:ln>
        </p:spPr>
      </p:sp>
      <p:pic>
        <p:nvPicPr>
          <p:cNvPr id="3" name="Image 0" descr="preencoded.png">    </p:cNvPr>
          <p:cNvPicPr>
            <a:picLocks noChangeAspect="1"/>
          </p:cNvPicPr>
          <p:nvPr/>
        </p:nvPicPr>
        <p:blipFill>
          <a:blip r:embed="rId1"/>
          <a:stretch>
            <a:fillRect/>
          </a:stretch>
        </p:blipFill>
        <p:spPr>
          <a:xfrm>
            <a:off x="4206240" y="822960"/>
            <a:ext cx="731520" cy="731520"/>
          </a:xfrm>
          <a:prstGeom prst="rect">
            <a:avLst/>
          </a:prstGeom>
        </p:spPr>
      </p:pic>
      <p:sp>
        <p:nvSpPr>
          <p:cNvPr id="4" name="Text 1"/>
          <p:cNvSpPr/>
          <p:nvPr/>
        </p:nvSpPr>
        <p:spPr>
          <a:xfrm>
            <a:off x="457200" y="1463040"/>
            <a:ext cx="8229600" cy="640080"/>
          </a:xfrm>
          <a:prstGeom prst="rect">
            <a:avLst/>
          </a:prstGeom>
          <a:noFill/>
          <a:ln/>
        </p:spPr>
        <p:txBody>
          <a:bodyPr wrap="square" lIns="0" tIns="0" rIns="0" bIns="0" rtlCol="0" anchor="ctr"/>
          <a:lstStyle/>
          <a:p>
            <a:pPr algn="ctr" indent="0" marL="0">
              <a:buNone/>
            </a:pPr>
            <a:r>
              <a:rPr lang="en-US" sz="3200" b="1" dirty="0">
                <a:solidFill>
                  <a:srgbClr val="FFFFFF"/>
                </a:solidFill>
              </a:rPr>
              <a:t>¿Qué aprendimos?</a:t>
            </a:r>
            <a:endParaRPr lang="en-US" sz="3200" dirty="0"/>
          </a:p>
        </p:txBody>
      </p:sp>
      <p:sp>
        <p:nvSpPr>
          <p:cNvPr id="5" name="Shape 2"/>
          <p:cNvSpPr/>
          <p:nvPr/>
        </p:nvSpPr>
        <p:spPr>
          <a:xfrm>
            <a:off x="457200" y="2286000"/>
            <a:ext cx="8229600" cy="530352"/>
          </a:xfrm>
          <a:prstGeom prst="roundRect">
            <a:avLst>
              <a:gd name="adj" fmla="val 17241"/>
            </a:avLst>
          </a:prstGeom>
          <a:solidFill>
            <a:srgbClr val="1A2550"/>
          </a:solidFill>
          <a:ln w="19050">
            <a:solidFill>
              <a:srgbClr val="00D4FF"/>
            </a:solidFill>
            <a:prstDash val="solid"/>
          </a:ln>
        </p:spPr>
      </p:sp>
      <p:sp>
        <p:nvSpPr>
          <p:cNvPr id="6" name="Shape 3"/>
          <p:cNvSpPr/>
          <p:nvPr/>
        </p:nvSpPr>
        <p:spPr>
          <a:xfrm>
            <a:off x="566928" y="2359152"/>
            <a:ext cx="365760" cy="365760"/>
          </a:xfrm>
          <a:prstGeom prst="ellipse">
            <a:avLst/>
          </a:prstGeom>
          <a:solidFill>
            <a:srgbClr val="00D4FF"/>
          </a:solidFill>
          <a:ln w="12700">
            <a:solidFill>
              <a:srgbClr val="00D4FF"/>
            </a:solidFill>
            <a:prstDash val="solid"/>
          </a:ln>
        </p:spPr>
      </p:sp>
      <p:sp>
        <p:nvSpPr>
          <p:cNvPr id="7" name="Text 4"/>
          <p:cNvSpPr/>
          <p:nvPr/>
        </p:nvSpPr>
        <p:spPr>
          <a:xfrm>
            <a:off x="566928" y="2359152"/>
            <a:ext cx="365760" cy="365760"/>
          </a:xfrm>
          <a:prstGeom prst="rect">
            <a:avLst/>
          </a:prstGeom>
          <a:noFill/>
          <a:ln/>
        </p:spPr>
        <p:txBody>
          <a:bodyPr wrap="square" lIns="0" tIns="0" rIns="0" bIns="0" rtlCol="0" anchor="ctr"/>
          <a:lstStyle/>
          <a:p>
            <a:pPr algn="ctr" indent="0" marL="0">
              <a:buNone/>
            </a:pPr>
            <a:r>
              <a:rPr lang="en-US" sz="1200" b="1" dirty="0">
                <a:solidFill>
                  <a:srgbClr val="0A0E2A"/>
                </a:solidFill>
              </a:rPr>
              <a:t>1</a:t>
            </a:r>
            <a:endParaRPr lang="en-US" sz="1200" dirty="0"/>
          </a:p>
        </p:txBody>
      </p:sp>
      <p:sp>
        <p:nvSpPr>
          <p:cNvPr id="8" name="Text 5"/>
          <p:cNvSpPr/>
          <p:nvPr/>
        </p:nvSpPr>
        <p:spPr>
          <a:xfrm>
            <a:off x="1051560" y="2286000"/>
            <a:ext cx="7498080" cy="530352"/>
          </a:xfrm>
          <a:prstGeom prst="rect">
            <a:avLst/>
          </a:prstGeom>
          <a:noFill/>
          <a:ln/>
        </p:spPr>
        <p:txBody>
          <a:bodyPr wrap="square" lIns="0" tIns="0" rIns="0" bIns="0" rtlCol="0" anchor="ctr"/>
          <a:lstStyle/>
          <a:p>
            <a:pPr indent="0" marL="0">
              <a:buNone/>
            </a:pPr>
            <a:r>
              <a:rPr lang="en-US" sz="1250" dirty="0">
                <a:solidFill>
                  <a:srgbClr val="E8EDF5"/>
                </a:solidFill>
              </a:rPr>
              <a:t>Un problema vago bien analizado lleva siempre a una solución precisa</a:t>
            </a:r>
            <a:endParaRPr lang="en-US" sz="1250" dirty="0"/>
          </a:p>
        </p:txBody>
      </p:sp>
      <p:sp>
        <p:nvSpPr>
          <p:cNvPr id="9" name="Shape 6"/>
          <p:cNvSpPr/>
          <p:nvPr/>
        </p:nvSpPr>
        <p:spPr>
          <a:xfrm>
            <a:off x="457200" y="2898648"/>
            <a:ext cx="8229600" cy="530352"/>
          </a:xfrm>
          <a:prstGeom prst="roundRect">
            <a:avLst>
              <a:gd name="adj" fmla="val 17241"/>
            </a:avLst>
          </a:prstGeom>
          <a:solidFill>
            <a:srgbClr val="1A2550"/>
          </a:solidFill>
          <a:ln w="19050">
            <a:solidFill>
              <a:srgbClr val="FFB800"/>
            </a:solidFill>
            <a:prstDash val="solid"/>
          </a:ln>
        </p:spPr>
      </p:sp>
      <p:sp>
        <p:nvSpPr>
          <p:cNvPr id="10" name="Shape 7"/>
          <p:cNvSpPr/>
          <p:nvPr/>
        </p:nvSpPr>
        <p:spPr>
          <a:xfrm>
            <a:off x="566928" y="2971800"/>
            <a:ext cx="365760" cy="365760"/>
          </a:xfrm>
          <a:prstGeom prst="ellipse">
            <a:avLst/>
          </a:prstGeom>
          <a:solidFill>
            <a:srgbClr val="FFB800"/>
          </a:solidFill>
          <a:ln w="12700">
            <a:solidFill>
              <a:srgbClr val="FFB800"/>
            </a:solidFill>
            <a:prstDash val="solid"/>
          </a:ln>
        </p:spPr>
      </p:sp>
      <p:sp>
        <p:nvSpPr>
          <p:cNvPr id="11" name="Text 8"/>
          <p:cNvSpPr/>
          <p:nvPr/>
        </p:nvSpPr>
        <p:spPr>
          <a:xfrm>
            <a:off x="566928" y="2971800"/>
            <a:ext cx="365760" cy="365760"/>
          </a:xfrm>
          <a:prstGeom prst="rect">
            <a:avLst/>
          </a:prstGeom>
          <a:noFill/>
          <a:ln/>
        </p:spPr>
        <p:txBody>
          <a:bodyPr wrap="square" lIns="0" tIns="0" rIns="0" bIns="0" rtlCol="0" anchor="ctr"/>
          <a:lstStyle/>
          <a:p>
            <a:pPr algn="ctr" indent="0" marL="0">
              <a:buNone/>
            </a:pPr>
            <a:r>
              <a:rPr lang="en-US" sz="1200" b="1" dirty="0">
                <a:solidFill>
                  <a:srgbClr val="0A0E2A"/>
                </a:solidFill>
              </a:rPr>
              <a:t>2</a:t>
            </a:r>
            <a:endParaRPr lang="en-US" sz="1200" dirty="0"/>
          </a:p>
        </p:txBody>
      </p:sp>
      <p:sp>
        <p:nvSpPr>
          <p:cNvPr id="12" name="Text 9"/>
          <p:cNvSpPr/>
          <p:nvPr/>
        </p:nvSpPr>
        <p:spPr>
          <a:xfrm>
            <a:off x="1051560" y="2898648"/>
            <a:ext cx="7498080" cy="530352"/>
          </a:xfrm>
          <a:prstGeom prst="rect">
            <a:avLst/>
          </a:prstGeom>
          <a:noFill/>
          <a:ln/>
        </p:spPr>
        <p:txBody>
          <a:bodyPr wrap="square" lIns="0" tIns="0" rIns="0" bIns="0" rtlCol="0" anchor="ctr"/>
          <a:lstStyle/>
          <a:p>
            <a:pPr indent="0" marL="0">
              <a:buNone/>
            </a:pPr>
            <a:r>
              <a:rPr lang="en-US" sz="1250" dirty="0">
                <a:solidFill>
                  <a:srgbClr val="E8EDF5"/>
                </a:solidFill>
              </a:rPr>
              <a:t>La variable y el punto de quiebre son el corazón del problema técnico</a:t>
            </a:r>
            <a:endParaRPr lang="en-US" sz="1250" dirty="0"/>
          </a:p>
        </p:txBody>
      </p:sp>
      <p:sp>
        <p:nvSpPr>
          <p:cNvPr id="13" name="Shape 10"/>
          <p:cNvSpPr/>
          <p:nvPr/>
        </p:nvSpPr>
        <p:spPr>
          <a:xfrm>
            <a:off x="457200" y="3511296"/>
            <a:ext cx="8229600" cy="530352"/>
          </a:xfrm>
          <a:prstGeom prst="roundRect">
            <a:avLst>
              <a:gd name="adj" fmla="val 17241"/>
            </a:avLst>
          </a:prstGeom>
          <a:solidFill>
            <a:srgbClr val="1A2550"/>
          </a:solidFill>
          <a:ln w="19050">
            <a:solidFill>
              <a:srgbClr val="00C896"/>
            </a:solidFill>
            <a:prstDash val="solid"/>
          </a:ln>
        </p:spPr>
      </p:sp>
      <p:sp>
        <p:nvSpPr>
          <p:cNvPr id="14" name="Shape 11"/>
          <p:cNvSpPr/>
          <p:nvPr/>
        </p:nvSpPr>
        <p:spPr>
          <a:xfrm>
            <a:off x="566928" y="3584448"/>
            <a:ext cx="365760" cy="365760"/>
          </a:xfrm>
          <a:prstGeom prst="ellipse">
            <a:avLst/>
          </a:prstGeom>
          <a:solidFill>
            <a:srgbClr val="00C896"/>
          </a:solidFill>
          <a:ln w="12700">
            <a:solidFill>
              <a:srgbClr val="00C896"/>
            </a:solidFill>
            <a:prstDash val="solid"/>
          </a:ln>
        </p:spPr>
      </p:sp>
      <p:sp>
        <p:nvSpPr>
          <p:cNvPr id="15" name="Text 12"/>
          <p:cNvSpPr/>
          <p:nvPr/>
        </p:nvSpPr>
        <p:spPr>
          <a:xfrm>
            <a:off x="566928" y="3584448"/>
            <a:ext cx="365760" cy="365760"/>
          </a:xfrm>
          <a:prstGeom prst="rect">
            <a:avLst/>
          </a:prstGeom>
          <a:noFill/>
          <a:ln/>
        </p:spPr>
        <p:txBody>
          <a:bodyPr wrap="square" lIns="0" tIns="0" rIns="0" bIns="0" rtlCol="0" anchor="ctr"/>
          <a:lstStyle/>
          <a:p>
            <a:pPr algn="ctr" indent="0" marL="0">
              <a:buNone/>
            </a:pPr>
            <a:r>
              <a:rPr lang="en-US" sz="1200" b="1" dirty="0">
                <a:solidFill>
                  <a:srgbClr val="0A0E2A"/>
                </a:solidFill>
              </a:rPr>
              <a:t>3</a:t>
            </a:r>
            <a:endParaRPr lang="en-US" sz="1200" dirty="0"/>
          </a:p>
        </p:txBody>
      </p:sp>
      <p:sp>
        <p:nvSpPr>
          <p:cNvPr id="16" name="Text 13"/>
          <p:cNvSpPr/>
          <p:nvPr/>
        </p:nvSpPr>
        <p:spPr>
          <a:xfrm>
            <a:off x="1051560" y="3511296"/>
            <a:ext cx="7498080" cy="530352"/>
          </a:xfrm>
          <a:prstGeom prst="rect">
            <a:avLst/>
          </a:prstGeom>
          <a:noFill/>
          <a:ln/>
        </p:spPr>
        <p:txBody>
          <a:bodyPr wrap="square" lIns="0" tIns="0" rIns="0" bIns="0" rtlCol="0" anchor="ctr"/>
          <a:lstStyle/>
          <a:p>
            <a:pPr indent="0" marL="0">
              <a:buNone/>
            </a:pPr>
            <a:r>
              <a:rPr lang="en-US" sz="1250" dirty="0">
                <a:solidFill>
                  <a:srgbClr val="E8EDF5"/>
                </a:solidFill>
              </a:rPr>
              <a:t>Sin disparadoras, el problema técnico queda a mitad de camino</a:t>
            </a:r>
            <a:endParaRPr lang="en-US" sz="1250" dirty="0"/>
          </a:p>
        </p:txBody>
      </p:sp>
      <p:sp>
        <p:nvSpPr>
          <p:cNvPr id="17" name="Shape 14"/>
          <p:cNvSpPr/>
          <p:nvPr/>
        </p:nvSpPr>
        <p:spPr>
          <a:xfrm>
            <a:off x="457200" y="4123944"/>
            <a:ext cx="8229600" cy="530352"/>
          </a:xfrm>
          <a:prstGeom prst="roundRect">
            <a:avLst>
              <a:gd name="adj" fmla="val 17241"/>
            </a:avLst>
          </a:prstGeom>
          <a:solidFill>
            <a:srgbClr val="1A2550"/>
          </a:solidFill>
          <a:ln w="19050">
            <a:solidFill>
              <a:srgbClr val="FF4D6A"/>
            </a:solidFill>
            <a:prstDash val="solid"/>
          </a:ln>
        </p:spPr>
      </p:sp>
      <p:sp>
        <p:nvSpPr>
          <p:cNvPr id="18" name="Shape 15"/>
          <p:cNvSpPr/>
          <p:nvPr/>
        </p:nvSpPr>
        <p:spPr>
          <a:xfrm>
            <a:off x="566928" y="4197096"/>
            <a:ext cx="365760" cy="365760"/>
          </a:xfrm>
          <a:prstGeom prst="ellipse">
            <a:avLst/>
          </a:prstGeom>
          <a:solidFill>
            <a:srgbClr val="FF4D6A"/>
          </a:solidFill>
          <a:ln w="12700">
            <a:solidFill>
              <a:srgbClr val="FF4D6A"/>
            </a:solidFill>
            <a:prstDash val="solid"/>
          </a:ln>
        </p:spPr>
      </p:sp>
      <p:sp>
        <p:nvSpPr>
          <p:cNvPr id="19" name="Text 16"/>
          <p:cNvSpPr/>
          <p:nvPr/>
        </p:nvSpPr>
        <p:spPr>
          <a:xfrm>
            <a:off x="566928" y="4197096"/>
            <a:ext cx="365760" cy="365760"/>
          </a:xfrm>
          <a:prstGeom prst="rect">
            <a:avLst/>
          </a:prstGeom>
          <a:noFill/>
          <a:ln/>
        </p:spPr>
        <p:txBody>
          <a:bodyPr wrap="square" lIns="0" tIns="0" rIns="0" bIns="0" rtlCol="0" anchor="ctr"/>
          <a:lstStyle/>
          <a:p>
            <a:pPr algn="ctr" indent="0" marL="0">
              <a:buNone/>
            </a:pPr>
            <a:r>
              <a:rPr lang="en-US" sz="1200" b="1" dirty="0">
                <a:solidFill>
                  <a:srgbClr val="0A0E2A"/>
                </a:solidFill>
              </a:rPr>
              <a:t>4</a:t>
            </a:r>
            <a:endParaRPr lang="en-US" sz="1200" dirty="0"/>
          </a:p>
        </p:txBody>
      </p:sp>
      <p:sp>
        <p:nvSpPr>
          <p:cNvPr id="20" name="Text 17"/>
          <p:cNvSpPr/>
          <p:nvPr/>
        </p:nvSpPr>
        <p:spPr>
          <a:xfrm>
            <a:off x="1051560" y="4123944"/>
            <a:ext cx="7498080" cy="530352"/>
          </a:xfrm>
          <a:prstGeom prst="rect">
            <a:avLst/>
          </a:prstGeom>
          <a:noFill/>
          <a:ln/>
        </p:spPr>
        <p:txBody>
          <a:bodyPr wrap="square" lIns="0" tIns="0" rIns="0" bIns="0" rtlCol="0" anchor="ctr"/>
          <a:lstStyle/>
          <a:p>
            <a:pPr indent="0" marL="0">
              <a:buNone/>
            </a:pPr>
            <a:r>
              <a:rPr lang="en-US" sz="1250" dirty="0">
                <a:solidFill>
                  <a:srgbClr val="E8EDF5"/>
                </a:solidFill>
              </a:rPr>
              <a:t>Los mejores proyectos nacen de problemas reales y medibles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Competencia Grupal — Preguntas Disparadoras</dc:title>
  <dc:subject>PptxGenJS Presentation</dc:subject>
  <dc:creator>PptxGenJS</dc:creator>
  <cp:lastModifiedBy>PptxGenJS</cp:lastModifiedBy>
  <cp:revision>1</cp:revision>
  <dcterms:created xsi:type="dcterms:W3CDTF">2026-06-22T04:31:34Z</dcterms:created>
  <dcterms:modified xsi:type="dcterms:W3CDTF">2026-06-22T04:31:34Z</dcterms:modified>
</cp:coreProperties>
</file>