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PORTADA. Explicar la dinámica antes de arrancar. Dividir en equipos de 3-4 alumnos. Cada equipo necesita hojas y lápiz. Se proyecta un proyecto a la vez — todos los equipos trabajan el mismo.</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 name="Google Shape;4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 PROYECTO 1: Monitor de Calidad del Aire. Dar 30 segundos para que los equipos lean. No revelar nada más. Arrancar el cronómetro de la Ronda 1 inmediatamente.</a:t>
            </a:r>
            <a:endParaRPr/>
          </a:p>
        </p:txBody>
      </p:sp>
      <p:sp>
        <p:nvSpPr>
          <p:cNvPr id="50" name="Google Shape;5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TARJETA PROYECTO 1: Monitor de Calidad del Aire.</a:t>
            </a:r>
            <a:br>
              <a:rPr lang="en-US"/>
            </a:br>
            <a:r>
              <a:rPr lang="en-US"/>
              <a:t>Dejar esta slide proyectada durante TODA la Ronda 1 (2 min).</a:t>
            </a:r>
            <a:br>
              <a:rPr lang="en-US"/>
            </a:br>
            <a:r>
              <a:rPr lang="en-US"/>
              <a:t>Los equipos leen acá para formular el problema vago.</a:t>
            </a:r>
            <a:br>
              <a:rPr lang="en-US"/>
            </a:br>
            <a:r>
              <a:rPr lang="en-US"/>
              <a:t>No avanzar a la Ronda 1 hasta que todos hayan leído.</a:t>
            </a:r>
            <a:endParaRPr/>
          </a:p>
        </p:txBody>
      </p:sp>
      <p:sp>
        <p:nvSpPr>
          <p:cNvPr id="75" name="Google Shape;7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1 — PROBLEMA VAGO · Proyecto: Monitor de Calidad del Aire</a:t>
            </a:r>
            <a:br>
              <a:rPr lang="en-US"/>
            </a:br>
            <a:r>
              <a:rPr lang="en-US"/>
              <a:t>Tiempo: 2 min. Al terminar el tiempo, pedir a un equipo que comparta. Luego la siguiente slide muestra la respuesta correcta.</a:t>
            </a:r>
            <a:endParaRPr/>
          </a:p>
        </p:txBody>
      </p:sp>
      <p:sp>
        <p:nvSpPr>
          <p:cNvPr id="96" name="Google Shape;9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4" name="Google Shape;114;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2 — PREGUNTAS DISPARADORAS · Proyecto: Monitor de Calidad del Aire</a:t>
            </a:r>
            <a:br>
              <a:rPr lang="en-US"/>
            </a:br>
            <a:r>
              <a:rPr lang="en-US"/>
              <a:t>Tiempo: 4 min. Al terminar el tiempo, pedir a un equipo que comparta. Luego la siguiente slide muestra la respuesta correcta.</a:t>
            </a:r>
            <a:endParaRPr/>
          </a:p>
        </p:txBody>
      </p:sp>
      <p:sp>
        <p:nvSpPr>
          <p:cNvPr id="115" name="Google Shape;115;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3 — 4 COMPONENTES + PROBLEMA TÉCNICO · Proyecto: Monitor de Calidad del Aire</a:t>
            </a:r>
            <a:br>
              <a:rPr lang="en-US"/>
            </a:br>
            <a:r>
              <a:rPr lang="en-US"/>
              <a:t>Tiempo: 6 min. Al terminar el tiempo, pedir a un equipo que comparta. Luego la siguiente slide muestra la respuesta correcta.</a:t>
            </a:r>
            <a:endParaRPr/>
          </a:p>
        </p:txBody>
      </p:sp>
      <p:sp>
        <p:nvSpPr>
          <p:cNvPr id="152" name="Google Shape;15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4 — OBJETIVOS · Proyecto: Monitor de Calidad del Aire</a:t>
            </a:r>
            <a:br>
              <a:rPr lang="en-US"/>
            </a:br>
            <a:r>
              <a:rPr lang="en-US"/>
              <a:t>Tiempo: 3 min. Al terminar el tiempo, pedir a un equipo que comparta. Luego la siguiente slide muestra la respuesta correcta.</a:t>
            </a:r>
            <a:endParaRPr/>
          </a:p>
        </p:txBody>
      </p:sp>
      <p:sp>
        <p:nvSpPr>
          <p:cNvPr id="181" name="Google Shape;18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7" name="Google Shape;20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5 — ¿CUÁL ES LA SOLUCIÓN? · Proyecto: Monitor de Calidad del Aire</a:t>
            </a:r>
            <a:br>
              <a:rPr lang="en-US"/>
            </a:br>
            <a:r>
              <a:rPr lang="en-US"/>
              <a:t>Tiempo: 2 min. Al terminar el tiempo, pedir a un equipo que comparta. Luego la siguiente slide muestra la respuesta correcta.</a:t>
            </a:r>
            <a:endParaRPr/>
          </a:p>
        </p:txBody>
      </p:sp>
      <p:sp>
        <p:nvSpPr>
          <p:cNvPr id="208" name="Google Shape;20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REVEAL PROYECTO 1. Comparar respuestas equipo por equipo. Destacar la mejor formulación del problema técnico y el objetivo más preciso. Aprox 3-4 min de discusión antes del siguiente proyecto.</a:t>
            </a:r>
            <a:endParaRPr/>
          </a:p>
        </p:txBody>
      </p:sp>
      <p:sp>
        <p:nvSpPr>
          <p:cNvPr id="231" name="Google Shape;23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3" name="Google Shape;26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 PROYECTO 2: Panel Solar con Seguidor de Luz. Dar 30 segundos para que los equipos lean. No revelar nada más. Arrancar el cronómetro de la Ronda 1 inmediatamente.</a:t>
            </a:r>
            <a:endParaRPr/>
          </a:p>
        </p:txBody>
      </p:sp>
      <p:sp>
        <p:nvSpPr>
          <p:cNvPr id="264" name="Google Shape;26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TARJETA PROYECTO 2: Panel Solar con Seguidor de Luz.</a:t>
            </a:r>
            <a:br>
              <a:rPr lang="en-US"/>
            </a:br>
            <a:r>
              <a:rPr lang="en-US"/>
              <a:t>Dejar esta slide proyectada durante TODA la Ronda 1 (2 min).</a:t>
            </a:r>
            <a:br>
              <a:rPr lang="en-US"/>
            </a:br>
            <a:r>
              <a:rPr lang="en-US"/>
              <a:t>Los equipos leen acá para formular el problema vago.</a:t>
            </a:r>
            <a:br>
              <a:rPr lang="en-US"/>
            </a:br>
            <a:r>
              <a:rPr lang="en-US"/>
              <a:t>No avanzar a la Ronda 1 hasta que todos hayan leído.</a:t>
            </a:r>
            <a:endParaRPr/>
          </a:p>
        </p:txBody>
      </p:sp>
      <p:sp>
        <p:nvSpPr>
          <p:cNvPr id="289" name="Google Shape;28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1 — PROBLEMA VAGO · Proyecto: Panel Solar con Seguidor de Luz</a:t>
            </a:r>
            <a:br>
              <a:rPr lang="en-US"/>
            </a:br>
            <a:r>
              <a:rPr lang="en-US"/>
              <a:t>Tiempo: 2 min. Al terminar el tiempo, pedir a un equipo que comparta. Luego la siguiente slide muestra la respuesta correcta.</a:t>
            </a:r>
            <a:endParaRPr/>
          </a:p>
        </p:txBody>
      </p:sp>
      <p:sp>
        <p:nvSpPr>
          <p:cNvPr id="310" name="Google Shape;31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2 — PREGUNTAS DISPARADORAS · Proyecto: Panel Solar con Seguidor de Luz</a:t>
            </a:r>
            <a:br>
              <a:rPr lang="en-US"/>
            </a:br>
            <a:r>
              <a:rPr lang="en-US"/>
              <a:t>Tiempo: 4 min. Al terminar el tiempo, pedir a un equipo que comparta. Luego la siguiente slide muestra la respuesta correcta.</a:t>
            </a:r>
            <a:endParaRPr/>
          </a:p>
        </p:txBody>
      </p:sp>
      <p:sp>
        <p:nvSpPr>
          <p:cNvPr id="329" name="Google Shape;32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5" name="Google Shape;36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3 — 4 COMPONENTES + PROBLEMA TÉCNICO · Proyecto: Panel Solar con Seguidor de Luz</a:t>
            </a:r>
            <a:br>
              <a:rPr lang="en-US"/>
            </a:br>
            <a:r>
              <a:rPr lang="en-US"/>
              <a:t>Tiempo: 6 min. Al terminar el tiempo, pedir a un equipo que comparta. Luego la siguiente slide muestra la respuesta correcta.</a:t>
            </a:r>
            <a:endParaRPr/>
          </a:p>
        </p:txBody>
      </p:sp>
      <p:sp>
        <p:nvSpPr>
          <p:cNvPr id="366" name="Google Shape;36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4 — OBJETIVOS · Proyecto: Panel Solar con Seguidor de Luz</a:t>
            </a:r>
            <a:br>
              <a:rPr lang="en-US"/>
            </a:br>
            <a:r>
              <a:rPr lang="en-US"/>
              <a:t>Tiempo: 3 min. Al terminar el tiempo, pedir a un equipo que comparta. Luego la siguiente slide muestra la respuesta correcta.</a:t>
            </a:r>
            <a:endParaRPr/>
          </a:p>
        </p:txBody>
      </p:sp>
      <p:sp>
        <p:nvSpPr>
          <p:cNvPr id="395" name="Google Shape;395;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1" name="Google Shape;42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5 — ¿CUÁL ES LA SOLUCIÓN? · Proyecto: Panel Solar con Seguidor de Luz</a:t>
            </a:r>
            <a:br>
              <a:rPr lang="en-US"/>
            </a:br>
            <a:r>
              <a:rPr lang="en-US"/>
              <a:t>Tiempo: 2 min. Al terminar el tiempo, pedir a un equipo que comparta. Luego la siguiente slide muestra la respuesta correcta.</a:t>
            </a:r>
            <a:endParaRPr/>
          </a:p>
        </p:txBody>
      </p:sp>
      <p:sp>
        <p:nvSpPr>
          <p:cNvPr id="422" name="Google Shape;42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4" name="Google Shape;44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REVEAL PROYECTO 2. Comparar respuestas equipo por equipo. Destacar la mejor formulación del problema técnico y el objetivo más preciso. Aprox 3-4 min de discusión antes del siguiente proyecto.</a:t>
            </a:r>
            <a:endParaRPr/>
          </a:p>
        </p:txBody>
      </p:sp>
      <p:sp>
        <p:nvSpPr>
          <p:cNvPr id="445" name="Google Shape;44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 PROYECTO 3: Silla de Ruedas Autónoma. Dar 30 segundos para que los equipos lean. No revelar nada más. Arrancar el cronómetro de la Ronda 1 inmediatamente.</a:t>
            </a:r>
            <a:endParaRPr/>
          </a:p>
        </p:txBody>
      </p:sp>
      <p:sp>
        <p:nvSpPr>
          <p:cNvPr id="478" name="Google Shape;47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2" name="Google Shape;502;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TARJETA PROYECTO 3: Silla de Ruedas Autónoma.</a:t>
            </a:r>
            <a:br>
              <a:rPr lang="en-US"/>
            </a:br>
            <a:r>
              <a:rPr lang="en-US"/>
              <a:t>Dejar esta slide proyectada durante TODA la Ronda 1 (2 min).</a:t>
            </a:r>
            <a:br>
              <a:rPr lang="en-US"/>
            </a:br>
            <a:r>
              <a:rPr lang="en-US"/>
              <a:t>Los equipos leen acá para formular el problema vago.</a:t>
            </a:r>
            <a:br>
              <a:rPr lang="en-US"/>
            </a:br>
            <a:r>
              <a:rPr lang="en-US"/>
              <a:t>No avanzar a la Ronda 1 hasta que todos hayan leído.</a:t>
            </a:r>
            <a:endParaRPr/>
          </a:p>
        </p:txBody>
      </p:sp>
      <p:sp>
        <p:nvSpPr>
          <p:cNvPr id="503" name="Google Shape;503;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3" name="Google Shape;523;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1 — PROBLEMA VAGO · Proyecto: Silla de Ruedas Autónoma</a:t>
            </a:r>
            <a:br>
              <a:rPr lang="en-US"/>
            </a:br>
            <a:r>
              <a:rPr lang="en-US"/>
              <a:t>Tiempo: 2 min. Al terminar el tiempo, pedir a un equipo que comparta. Luego la siguiente slide muestra la respuesta correcta.</a:t>
            </a:r>
            <a:endParaRPr/>
          </a:p>
        </p:txBody>
      </p:sp>
      <p:sp>
        <p:nvSpPr>
          <p:cNvPr id="524" name="Google Shape;524;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2" name="Google Shape;54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2 — PREGUNTAS DISPARADORAS · Proyecto: Silla de Ruedas Autónoma</a:t>
            </a:r>
            <a:br>
              <a:rPr lang="en-US"/>
            </a:br>
            <a:r>
              <a:rPr lang="en-US"/>
              <a:t>Tiempo: 4 min. Al terminar el tiempo, pedir a un equipo que comparta. Luego la siguiente slide muestra la respuesta correcta.</a:t>
            </a:r>
            <a:endParaRPr/>
          </a:p>
        </p:txBody>
      </p:sp>
      <p:sp>
        <p:nvSpPr>
          <p:cNvPr id="543" name="Google Shape;543;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9" name="Google Shape;57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3 — 4 COMPONENTES + PROBLEMA TÉCNICO · Proyecto: Silla de Ruedas Autónoma</a:t>
            </a:r>
            <a:br>
              <a:rPr lang="en-US"/>
            </a:br>
            <a:r>
              <a:rPr lang="en-US"/>
              <a:t>Tiempo: 6 min. Al terminar el tiempo, pedir a un equipo que comparta. Luego la siguiente slide muestra la respuesta correcta.</a:t>
            </a:r>
            <a:endParaRPr/>
          </a:p>
        </p:txBody>
      </p:sp>
      <p:sp>
        <p:nvSpPr>
          <p:cNvPr id="580" name="Google Shape;580;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8" name="Google Shape;60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4 — OBJETIVOS · Proyecto: Silla de Ruedas Autónoma</a:t>
            </a:r>
            <a:br>
              <a:rPr lang="en-US"/>
            </a:br>
            <a:r>
              <a:rPr lang="en-US"/>
              <a:t>Tiempo: 3 min. Al terminar el tiempo, pedir a un equipo que comparta. Luego la siguiente slide muestra la respuesta correcta.</a:t>
            </a:r>
            <a:endParaRPr/>
          </a:p>
        </p:txBody>
      </p:sp>
      <p:sp>
        <p:nvSpPr>
          <p:cNvPr id="609" name="Google Shape;60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5 — ¿CUÁL ES LA SOLUCIÓN? · Proyecto: Silla de Ruedas Autónoma</a:t>
            </a:r>
            <a:br>
              <a:rPr lang="en-US"/>
            </a:br>
            <a:r>
              <a:rPr lang="en-US"/>
              <a:t>Tiempo: 2 min. Al terminar el tiempo, pedir a un equipo que comparta. Luego la siguiente slide muestra la respuesta correcta.</a:t>
            </a:r>
            <a:endParaRPr/>
          </a:p>
        </p:txBody>
      </p:sp>
      <p:sp>
        <p:nvSpPr>
          <p:cNvPr id="636" name="Google Shape;636;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6" name="Shape 656"/>
        <p:cNvGrpSpPr/>
        <p:nvPr/>
      </p:nvGrpSpPr>
      <p:grpSpPr>
        <a:xfrm>
          <a:off x="0" y="0"/>
          <a:ext cx="0" cy="0"/>
          <a:chOff x="0" y="0"/>
          <a:chExt cx="0" cy="0"/>
        </a:xfrm>
      </p:grpSpPr>
      <p:sp>
        <p:nvSpPr>
          <p:cNvPr id="657" name="Google Shape;657;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8" name="Google Shape;658;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REVEAL PROYECTO 3. Comparar respuestas equipo por equipo. Destacar la mejor formulación del problema técnico y el objetivo más preciso. Aprox 3-4 min de discusión antes del siguiente proyecto.</a:t>
            </a:r>
            <a:endParaRPr/>
          </a:p>
        </p:txBody>
      </p:sp>
      <p:sp>
        <p:nvSpPr>
          <p:cNvPr id="659" name="Google Shape;659;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91" name="Google Shape;691;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 PROYECTO 4: Brazo Robótico Clasificador. Dar 30 segundos para que los equipos lean. No revelar nada más. Arrancar el cronómetro de la Ronda 1 inmediatamente.</a:t>
            </a:r>
            <a:endParaRPr/>
          </a:p>
        </p:txBody>
      </p:sp>
      <p:sp>
        <p:nvSpPr>
          <p:cNvPr id="692" name="Google Shape;692;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6" name="Google Shape;716;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TARJETA PROYECTO 4: Brazo Robótico Clasificador.</a:t>
            </a:r>
            <a:br>
              <a:rPr lang="en-US"/>
            </a:br>
            <a:r>
              <a:rPr lang="en-US"/>
              <a:t>Dejar esta slide proyectada durante TODA la Ronda 1 (2 min).</a:t>
            </a:r>
            <a:br>
              <a:rPr lang="en-US"/>
            </a:br>
            <a:r>
              <a:rPr lang="en-US"/>
              <a:t>Los equipos leen acá para formular el problema vago.</a:t>
            </a:r>
            <a:br>
              <a:rPr lang="en-US"/>
            </a:br>
            <a:r>
              <a:rPr lang="en-US"/>
              <a:t>No avanzar a la Ronda 1 hasta que todos hayan leído.</a:t>
            </a:r>
            <a:endParaRPr/>
          </a:p>
        </p:txBody>
      </p:sp>
      <p:sp>
        <p:nvSpPr>
          <p:cNvPr id="717" name="Google Shape;717;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1 — PROBLEMA VAGO · Proyecto: Brazo Robótico Clasificador</a:t>
            </a:r>
            <a:br>
              <a:rPr lang="en-US"/>
            </a:br>
            <a:r>
              <a:rPr lang="en-US"/>
              <a:t>Tiempo: 2 min. Al terminar el tiempo, pedir a un equipo que comparta. Luego la siguiente slide muestra la respuesta correcta.</a:t>
            </a:r>
            <a:endParaRPr/>
          </a:p>
        </p:txBody>
      </p:sp>
      <p:sp>
        <p:nvSpPr>
          <p:cNvPr id="738" name="Google Shape;738;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2 — PREGUNTAS DISPARADORAS · Proyecto: Brazo Robótico Clasificador</a:t>
            </a:r>
            <a:br>
              <a:rPr lang="en-US"/>
            </a:br>
            <a:r>
              <a:rPr lang="en-US"/>
              <a:t>Tiempo: 4 min. Al terminar el tiempo, pedir a un equipo que comparta. Luego la siguiente slide muestra la respuesta correcta.</a:t>
            </a:r>
            <a:endParaRPr/>
          </a:p>
        </p:txBody>
      </p:sp>
      <p:sp>
        <p:nvSpPr>
          <p:cNvPr id="757" name="Google Shape;757;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3" name="Google Shape;793;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3 — 4 COMPONENTES + PROBLEMA TÉCNICO · Proyecto: Brazo Robótico Clasificador</a:t>
            </a:r>
            <a:br>
              <a:rPr lang="en-US"/>
            </a:br>
            <a:r>
              <a:rPr lang="en-US"/>
              <a:t>Tiempo: 6 min. Al terminar el tiempo, pedir a un equipo que comparta. Luego la siguiente slide muestra la respuesta correcta.</a:t>
            </a:r>
            <a:endParaRPr/>
          </a:p>
        </p:txBody>
      </p:sp>
      <p:sp>
        <p:nvSpPr>
          <p:cNvPr id="794" name="Google Shape;794;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0" name="Shape 820"/>
        <p:cNvGrpSpPr/>
        <p:nvPr/>
      </p:nvGrpSpPr>
      <p:grpSpPr>
        <a:xfrm>
          <a:off x="0" y="0"/>
          <a:ext cx="0" cy="0"/>
          <a:chOff x="0" y="0"/>
          <a:chExt cx="0" cy="0"/>
        </a:xfrm>
      </p:grpSpPr>
      <p:sp>
        <p:nvSpPr>
          <p:cNvPr id="821" name="Google Shape;821;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2" name="Google Shape;822;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4 — OBJETIVOS · Proyecto: Brazo Robótico Clasificador</a:t>
            </a:r>
            <a:br>
              <a:rPr lang="en-US"/>
            </a:br>
            <a:r>
              <a:rPr lang="en-US"/>
              <a:t>Tiempo: 3 min. Al terminar el tiempo, pedir a un equipo que comparta. Luego la siguiente slide muestra la respuesta correcta.</a:t>
            </a:r>
            <a:endParaRPr/>
          </a:p>
        </p:txBody>
      </p:sp>
      <p:sp>
        <p:nvSpPr>
          <p:cNvPr id="823" name="Google Shape;823;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7" name="Shape 847"/>
        <p:cNvGrpSpPr/>
        <p:nvPr/>
      </p:nvGrpSpPr>
      <p:grpSpPr>
        <a:xfrm>
          <a:off x="0" y="0"/>
          <a:ext cx="0" cy="0"/>
          <a:chOff x="0" y="0"/>
          <a:chExt cx="0" cy="0"/>
        </a:xfrm>
      </p:grpSpPr>
      <p:sp>
        <p:nvSpPr>
          <p:cNvPr id="848" name="Google Shape;84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49" name="Google Shape;849;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RONDA 5 — ¿CUÁL ES LA SOLUCIÓN? · Proyecto: Brazo Robótico Clasificador</a:t>
            </a:r>
            <a:br>
              <a:rPr lang="en-US"/>
            </a:br>
            <a:r>
              <a:rPr lang="en-US"/>
              <a:t>Tiempo: 2 min. Al terminar el tiempo, pedir a un equipo que comparta. Luego la siguiente slide muestra la respuesta correcta.</a:t>
            </a:r>
            <a:endParaRPr/>
          </a:p>
        </p:txBody>
      </p:sp>
      <p:sp>
        <p:nvSpPr>
          <p:cNvPr id="850" name="Google Shape;850;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0" name="Shape 870"/>
        <p:cNvGrpSpPr/>
        <p:nvPr/>
      </p:nvGrpSpPr>
      <p:grpSpPr>
        <a:xfrm>
          <a:off x="0" y="0"/>
          <a:ext cx="0" cy="0"/>
          <a:chOff x="0" y="0"/>
          <a:chExt cx="0" cy="0"/>
        </a:xfrm>
      </p:grpSpPr>
      <p:sp>
        <p:nvSpPr>
          <p:cNvPr id="871" name="Google Shape;871;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2" name="Google Shape;872;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REVEAL PROYECTO 4. Comparar respuestas equipo por equipo. Destacar la mejor formulación del problema técnico y el objetivo más preciso. Aprox 3-4 min de discusión antes del siguiente proyecto.</a:t>
            </a:r>
            <a:endParaRPr/>
          </a:p>
        </p:txBody>
      </p:sp>
      <p:sp>
        <p:nvSpPr>
          <p:cNvPr id="873" name="Google Shape;873;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3" name="Shape 903"/>
        <p:cNvGrpSpPr/>
        <p:nvPr/>
      </p:nvGrpSpPr>
      <p:grpSpPr>
        <a:xfrm>
          <a:off x="0" y="0"/>
          <a:ext cx="0" cy="0"/>
          <a:chOff x="0" y="0"/>
          <a:chExt cx="0" cy="0"/>
        </a:xfrm>
      </p:grpSpPr>
      <p:sp>
        <p:nvSpPr>
          <p:cNvPr id="904" name="Google Shape;904;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5" name="Google Shape;905;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Cierre de la competencia. Preguntar: ¿qué proyecto les resultó más difícil de formular? ¿Por qué? El aprendizaje real está en esa dificultad.</a:t>
            </a:r>
            <a:endParaRPr/>
          </a:p>
        </p:txBody>
      </p:sp>
      <p:sp>
        <p:nvSpPr>
          <p:cNvPr id="906" name="Google Shape;906;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15" name="Shape 15"/>
        <p:cNvGrpSpPr/>
        <p:nvPr/>
      </p:nvGrpSpPr>
      <p:grpSpPr>
        <a:xfrm>
          <a:off x="0" y="0"/>
          <a:ext cx="0" cy="0"/>
          <a:chOff x="0" y="0"/>
          <a:chExt cx="0" cy="0"/>
        </a:xfrm>
      </p:grpSpPr>
      <p:sp>
        <p:nvSpPr>
          <p:cNvPr id="16" name="Google Shape;16;p3"/>
          <p:cNvSpPr/>
          <p:nvPr/>
        </p:nvSpPr>
        <p:spPr>
          <a:xfrm>
            <a:off x="6858000" y="-1371600"/>
            <a:ext cx="4572000" cy="4572000"/>
          </a:xfrm>
          <a:prstGeom prst="ellipse">
            <a:avLst/>
          </a:prstGeom>
          <a:solidFill>
            <a:srgbClr val="1A2550"/>
          </a:solidFill>
          <a:ln cap="flat" cmpd="sng" w="12700">
            <a:solidFill>
              <a:srgbClr val="1A2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7498080" y="-731520"/>
            <a:ext cx="3200400" cy="3200400"/>
          </a:xfrm>
          <a:prstGeom prst="ellipse">
            <a:avLst/>
          </a:prstGeom>
          <a:solidFill>
            <a:srgbClr val="00C896">
              <a:alpha val="10196"/>
            </a:srgbClr>
          </a:solidFill>
          <a:ln cap="flat" cmpd="sng" w="12700">
            <a:solidFill>
              <a:srgbClr val="00C896">
                <a:alpha val="3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48640" y="457200"/>
            <a:ext cx="3474720" cy="384048"/>
          </a:xfrm>
          <a:prstGeom prst="roundRect">
            <a:avLst>
              <a:gd fmla="val 16667" name="adj"/>
            </a:avLst>
          </a:prstGeom>
          <a:solidFill>
            <a:srgbClr val="00C896">
              <a:alpha val="90196"/>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548640" y="457200"/>
            <a:ext cx="3474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000"/>
              <a:buFont typeface="Calibri"/>
              <a:buNone/>
            </a:pPr>
            <a:r>
              <a:rPr b="1" i="0" lang="en-US" sz="1000" u="none" cap="none" strike="noStrike">
                <a:solidFill>
                  <a:srgbClr val="0A0E2A"/>
                </a:solidFill>
                <a:latin typeface="Calibri"/>
                <a:ea typeface="Calibri"/>
                <a:cs typeface="Calibri"/>
                <a:sym typeface="Calibri"/>
              </a:rPr>
              <a:t>EJERCICIO GRUPAL · TALLER DE PROYECTO</a:t>
            </a:r>
            <a:endParaRPr b="0" i="0" sz="1000" u="none" cap="none" strike="noStrike">
              <a:solidFill>
                <a:schemeClr val="dk1"/>
              </a:solidFill>
              <a:latin typeface="Calibri"/>
              <a:ea typeface="Calibri"/>
              <a:cs typeface="Calibri"/>
              <a:sym typeface="Calibri"/>
            </a:endParaRPr>
          </a:p>
        </p:txBody>
      </p:sp>
      <p:sp>
        <p:nvSpPr>
          <p:cNvPr id="20" name="Google Shape;20;p3"/>
          <p:cNvSpPr/>
          <p:nvPr/>
        </p:nvSpPr>
        <p:spPr>
          <a:xfrm>
            <a:off x="548640" y="960120"/>
            <a:ext cx="6400800" cy="2011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Competencia</a:t>
            </a:r>
            <a:endParaRPr b="0" i="0" sz="5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5200"/>
              <a:buFont typeface="Calibri"/>
              <a:buNone/>
            </a:pPr>
            <a:r>
              <a:rPr b="1" i="0" lang="en-US" sz="5200" u="none" cap="none" strike="noStrike">
                <a:solidFill>
                  <a:srgbClr val="FFFFFF"/>
                </a:solidFill>
                <a:latin typeface="Calibri"/>
                <a:ea typeface="Calibri"/>
                <a:cs typeface="Calibri"/>
                <a:sym typeface="Calibri"/>
              </a:rPr>
              <a:t>de Proyectos</a:t>
            </a:r>
            <a:endParaRPr b="0" i="0" sz="5200" u="none" cap="none" strike="noStrike">
              <a:solidFill>
                <a:schemeClr val="dk1"/>
              </a:solidFill>
              <a:latin typeface="Calibri"/>
              <a:ea typeface="Calibri"/>
              <a:cs typeface="Calibri"/>
              <a:sym typeface="Calibri"/>
            </a:endParaRPr>
          </a:p>
        </p:txBody>
      </p:sp>
      <p:sp>
        <p:nvSpPr>
          <p:cNvPr id="21" name="Google Shape;21;p3"/>
          <p:cNvSpPr/>
          <p:nvPr/>
        </p:nvSpPr>
        <p:spPr>
          <a:xfrm>
            <a:off x="548640" y="3017520"/>
            <a:ext cx="6400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400"/>
              <a:buFont typeface="Calibri"/>
              <a:buNone/>
            </a:pPr>
            <a:r>
              <a:rPr b="0" i="1" lang="en-US" sz="1400" u="none" cap="none" strike="noStrike">
                <a:solidFill>
                  <a:srgbClr val="E8EDF5"/>
                </a:solidFill>
                <a:latin typeface="Calibri"/>
                <a:ea typeface="Calibri"/>
                <a:cs typeface="Calibri"/>
                <a:sym typeface="Calibri"/>
              </a:rPr>
              <a:t>Del problema vago a la solución técnica · 4 proyectos · 5 rondas</a:t>
            </a:r>
            <a:endParaRPr b="0" i="0" sz="1400" u="none" cap="none" strike="noStrike">
              <a:solidFill>
                <a:schemeClr val="dk1"/>
              </a:solidFill>
              <a:latin typeface="Calibri"/>
              <a:ea typeface="Calibri"/>
              <a:cs typeface="Calibri"/>
              <a:sym typeface="Calibri"/>
            </a:endParaRPr>
          </a:p>
        </p:txBody>
      </p:sp>
      <p:sp>
        <p:nvSpPr>
          <p:cNvPr id="22" name="Google Shape;22;p3"/>
          <p:cNvSpPr/>
          <p:nvPr/>
        </p:nvSpPr>
        <p:spPr>
          <a:xfrm>
            <a:off x="548640" y="3840480"/>
            <a:ext cx="502920" cy="502920"/>
          </a:xfrm>
          <a:prstGeom prst="ellipse">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a:off x="548640" y="4389120"/>
            <a:ext cx="5029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Aire</a:t>
            </a:r>
            <a:endParaRPr b="0" i="0" sz="900" u="none" cap="none" strike="noStrike">
              <a:solidFill>
                <a:schemeClr val="dk1"/>
              </a:solidFill>
              <a:latin typeface="Calibri"/>
              <a:ea typeface="Calibri"/>
              <a:cs typeface="Calibri"/>
              <a:sym typeface="Calibri"/>
            </a:endParaRPr>
          </a:p>
        </p:txBody>
      </p:sp>
      <p:sp>
        <p:nvSpPr>
          <p:cNvPr id="24" name="Google Shape;24;p3"/>
          <p:cNvSpPr/>
          <p:nvPr/>
        </p:nvSpPr>
        <p:spPr>
          <a:xfrm>
            <a:off x="1554480" y="3840480"/>
            <a:ext cx="502920" cy="502920"/>
          </a:xfrm>
          <a:prstGeom prst="ellipse">
            <a:avLst/>
          </a:prstGeom>
          <a:solidFill>
            <a:srgbClr val="FFB800"/>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a:off x="1554480" y="4389120"/>
            <a:ext cx="5029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Solar</a:t>
            </a:r>
            <a:endParaRPr b="0" i="0" sz="900" u="none" cap="none" strike="noStrike">
              <a:solidFill>
                <a:schemeClr val="dk1"/>
              </a:solidFill>
              <a:latin typeface="Calibri"/>
              <a:ea typeface="Calibri"/>
              <a:cs typeface="Calibri"/>
              <a:sym typeface="Calibri"/>
            </a:endParaRPr>
          </a:p>
        </p:txBody>
      </p:sp>
      <p:sp>
        <p:nvSpPr>
          <p:cNvPr id="26" name="Google Shape;26;p3"/>
          <p:cNvSpPr/>
          <p:nvPr/>
        </p:nvSpPr>
        <p:spPr>
          <a:xfrm>
            <a:off x="2560320" y="3840480"/>
            <a:ext cx="502920" cy="502920"/>
          </a:xfrm>
          <a:prstGeom prst="ellipse">
            <a:avLst/>
          </a:prstGeom>
          <a:solidFill>
            <a:srgbClr val="FF4D6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a:off x="2560320" y="4389120"/>
            <a:ext cx="5029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Silla</a:t>
            </a:r>
            <a:endParaRPr b="0" i="0" sz="900" u="none" cap="none" strike="noStrike">
              <a:solidFill>
                <a:schemeClr val="dk1"/>
              </a:solidFill>
              <a:latin typeface="Calibri"/>
              <a:ea typeface="Calibri"/>
              <a:cs typeface="Calibri"/>
              <a:sym typeface="Calibri"/>
            </a:endParaRPr>
          </a:p>
        </p:txBody>
      </p:sp>
      <p:sp>
        <p:nvSpPr>
          <p:cNvPr id="28" name="Google Shape;28;p3"/>
          <p:cNvSpPr/>
          <p:nvPr/>
        </p:nvSpPr>
        <p:spPr>
          <a:xfrm>
            <a:off x="3566160" y="3840480"/>
            <a:ext cx="502920" cy="502920"/>
          </a:xfrm>
          <a:prstGeom prst="ellipse">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a:off x="3566160" y="4389120"/>
            <a:ext cx="502920" cy="228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Brazo</a:t>
            </a:r>
            <a:endParaRPr b="0" i="0" sz="900" u="none" cap="none" strike="noStrike">
              <a:solidFill>
                <a:schemeClr val="dk1"/>
              </a:solidFill>
              <a:latin typeface="Calibri"/>
              <a:ea typeface="Calibri"/>
              <a:cs typeface="Calibri"/>
              <a:sym typeface="Calibri"/>
            </a:endParaRPr>
          </a:p>
        </p:txBody>
      </p:sp>
      <p:sp>
        <p:nvSpPr>
          <p:cNvPr id="30" name="Google Shape;30;p3"/>
          <p:cNvSpPr/>
          <p:nvPr/>
        </p:nvSpPr>
        <p:spPr>
          <a:xfrm>
            <a:off x="5029200" y="1097280"/>
            <a:ext cx="3749040" cy="3474720"/>
          </a:xfrm>
          <a:prstGeom prst="roundRect">
            <a:avLst>
              <a:gd fmla="val 3947" name="adj"/>
            </a:avLst>
          </a:prstGeom>
          <a:solidFill>
            <a:srgbClr val="1A2550"/>
          </a:solidFill>
          <a:ln cap="flat" cmpd="sng" w="12700">
            <a:solidFill>
              <a:srgbClr val="0097B8"/>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a:off x="5120640" y="1234440"/>
            <a:ext cx="356616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CÓMO FUNCIONA</a:t>
            </a:r>
            <a:endParaRPr b="0" i="0" sz="1100" u="none" cap="none" strike="noStrike">
              <a:solidFill>
                <a:schemeClr val="dk1"/>
              </a:solidFill>
              <a:latin typeface="Calibri"/>
              <a:ea typeface="Calibri"/>
              <a:cs typeface="Calibri"/>
              <a:sym typeface="Calibri"/>
            </a:endParaRPr>
          </a:p>
        </p:txBody>
      </p:sp>
      <p:sp>
        <p:nvSpPr>
          <p:cNvPr id="32" name="Google Shape;32;p3"/>
          <p:cNvSpPr/>
          <p:nvPr/>
        </p:nvSpPr>
        <p:spPr>
          <a:xfrm>
            <a:off x="5212080" y="1664208"/>
            <a:ext cx="256032" cy="256032"/>
          </a:xfrm>
          <a:prstGeom prst="ellipse">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a:off x="5212080" y="1664208"/>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00"/>
              <a:buFont typeface="Calibri"/>
              <a:buNone/>
            </a:pPr>
            <a:r>
              <a:rPr b="1" i="0" lang="en-US" sz="900" u="none" cap="none" strike="noStrike">
                <a:solidFill>
                  <a:srgbClr val="0A0E2A"/>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34" name="Google Shape;34;p3"/>
          <p:cNvSpPr/>
          <p:nvPr/>
        </p:nvSpPr>
        <p:spPr>
          <a:xfrm>
            <a:off x="5559552" y="1645920"/>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Todos los equipos trabajan el mismo proyecto</a:t>
            </a:r>
            <a:endParaRPr b="0" i="0" sz="1050" u="none" cap="none" strike="noStrike">
              <a:solidFill>
                <a:schemeClr val="dk1"/>
              </a:solidFill>
              <a:latin typeface="Calibri"/>
              <a:ea typeface="Calibri"/>
              <a:cs typeface="Calibri"/>
              <a:sym typeface="Calibri"/>
            </a:endParaRPr>
          </a:p>
        </p:txBody>
      </p:sp>
      <p:sp>
        <p:nvSpPr>
          <p:cNvPr id="35" name="Google Shape;35;p3"/>
          <p:cNvSpPr/>
          <p:nvPr/>
        </p:nvSpPr>
        <p:spPr>
          <a:xfrm>
            <a:off x="5212080" y="2139696"/>
            <a:ext cx="256032" cy="256032"/>
          </a:xfrm>
          <a:prstGeom prst="ellipse">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a:off x="5212080" y="2139696"/>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00"/>
              <a:buFont typeface="Calibri"/>
              <a:buNone/>
            </a:pPr>
            <a:r>
              <a:rPr b="1" i="0" lang="en-US" sz="900" u="none" cap="none" strike="noStrike">
                <a:solidFill>
                  <a:srgbClr val="0A0E2A"/>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37" name="Google Shape;37;p3"/>
          <p:cNvSpPr/>
          <p:nvPr/>
        </p:nvSpPr>
        <p:spPr>
          <a:xfrm>
            <a:off x="5559552" y="2121408"/>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5 rondas cronometradas por proyecto</a:t>
            </a:r>
            <a:endParaRPr b="0" i="0" sz="1050" u="none" cap="none" strike="noStrike">
              <a:solidFill>
                <a:schemeClr val="dk1"/>
              </a:solidFill>
              <a:latin typeface="Calibri"/>
              <a:ea typeface="Calibri"/>
              <a:cs typeface="Calibri"/>
              <a:sym typeface="Calibri"/>
            </a:endParaRPr>
          </a:p>
        </p:txBody>
      </p:sp>
      <p:sp>
        <p:nvSpPr>
          <p:cNvPr id="38" name="Google Shape;38;p3"/>
          <p:cNvSpPr/>
          <p:nvPr/>
        </p:nvSpPr>
        <p:spPr>
          <a:xfrm>
            <a:off x="5212080" y="2615184"/>
            <a:ext cx="256032" cy="256032"/>
          </a:xfrm>
          <a:prstGeom prst="ellipse">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p:nvPr/>
        </p:nvSpPr>
        <p:spPr>
          <a:xfrm>
            <a:off x="5212080" y="2615184"/>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00"/>
              <a:buFont typeface="Calibri"/>
              <a:buNone/>
            </a:pPr>
            <a:r>
              <a:rPr b="1" i="0" lang="en-US" sz="900" u="none" cap="none" strike="noStrike">
                <a:solidFill>
                  <a:srgbClr val="0A0E2A"/>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40" name="Google Shape;40;p3"/>
          <p:cNvSpPr/>
          <p:nvPr/>
        </p:nvSpPr>
        <p:spPr>
          <a:xfrm>
            <a:off x="5559552" y="2596896"/>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Cada equipo escribe sus respuestas</a:t>
            </a:r>
            <a:endParaRPr b="0" i="0" sz="1050" u="none" cap="none" strike="noStrike">
              <a:solidFill>
                <a:schemeClr val="dk1"/>
              </a:solidFill>
              <a:latin typeface="Calibri"/>
              <a:ea typeface="Calibri"/>
              <a:cs typeface="Calibri"/>
              <a:sym typeface="Calibri"/>
            </a:endParaRPr>
          </a:p>
        </p:txBody>
      </p:sp>
      <p:sp>
        <p:nvSpPr>
          <p:cNvPr id="41" name="Google Shape;41;p3"/>
          <p:cNvSpPr/>
          <p:nvPr/>
        </p:nvSpPr>
        <p:spPr>
          <a:xfrm>
            <a:off x="5212080" y="3090672"/>
            <a:ext cx="256032" cy="256032"/>
          </a:xfrm>
          <a:prstGeom prst="ellipse">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5212080" y="309067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00"/>
              <a:buFont typeface="Calibri"/>
              <a:buNone/>
            </a:pPr>
            <a:r>
              <a:rPr b="1" i="0" lang="en-US" sz="900" u="none" cap="none" strike="noStrike">
                <a:solidFill>
                  <a:srgbClr val="0A0E2A"/>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43" name="Google Shape;43;p3"/>
          <p:cNvSpPr/>
          <p:nvPr/>
        </p:nvSpPr>
        <p:spPr>
          <a:xfrm>
            <a:off x="5559552" y="3072384"/>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Al cierre de cada ronda: comparamos</a:t>
            </a:r>
            <a:endParaRPr b="0" i="0" sz="1050" u="none" cap="none" strike="noStrike">
              <a:solidFill>
                <a:schemeClr val="dk1"/>
              </a:solidFill>
              <a:latin typeface="Calibri"/>
              <a:ea typeface="Calibri"/>
              <a:cs typeface="Calibri"/>
              <a:sym typeface="Calibri"/>
            </a:endParaRPr>
          </a:p>
        </p:txBody>
      </p:sp>
      <p:sp>
        <p:nvSpPr>
          <p:cNvPr id="44" name="Google Shape;44;p3"/>
          <p:cNvSpPr/>
          <p:nvPr/>
        </p:nvSpPr>
        <p:spPr>
          <a:xfrm>
            <a:off x="5212080" y="3566160"/>
            <a:ext cx="256032" cy="256032"/>
          </a:xfrm>
          <a:prstGeom prst="ellipse">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5212080" y="3566160"/>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00"/>
              <a:buFont typeface="Calibri"/>
              <a:buNone/>
            </a:pPr>
            <a:r>
              <a:rPr b="1" i="0" lang="en-US" sz="900" u="none" cap="none" strike="noStrike">
                <a:solidFill>
                  <a:srgbClr val="0A0E2A"/>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
        <p:nvSpPr>
          <p:cNvPr id="46" name="Google Shape;46;p3"/>
          <p:cNvSpPr/>
          <p:nvPr/>
        </p:nvSpPr>
        <p:spPr>
          <a:xfrm>
            <a:off x="5559552" y="3547872"/>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El equipo con mejor formulación gana la ronda</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51" name="Shape 51"/>
        <p:cNvGrpSpPr/>
        <p:nvPr/>
      </p:nvGrpSpPr>
      <p:grpSpPr>
        <a:xfrm>
          <a:off x="0" y="0"/>
          <a:ext cx="0" cy="0"/>
          <a:chOff x="0" y="0"/>
          <a:chExt cx="0" cy="0"/>
        </a:xfrm>
      </p:grpSpPr>
      <p:sp>
        <p:nvSpPr>
          <p:cNvPr id="52" name="Google Shape;52;p4"/>
          <p:cNvSpPr/>
          <p:nvPr/>
        </p:nvSpPr>
        <p:spPr>
          <a:xfrm>
            <a:off x="0" y="0"/>
            <a:ext cx="3474720" cy="5143500"/>
          </a:xfrm>
          <a:prstGeom prst="rect">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p:nvPr/>
        </p:nvSpPr>
        <p:spPr>
          <a:xfrm>
            <a:off x="0" y="365760"/>
            <a:ext cx="3474720" cy="228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6000"/>
              <a:buFont typeface="Calibri"/>
              <a:buNone/>
            </a:pPr>
            <a:r>
              <a:rPr b="1" i="0" lang="en-US" sz="16000" u="none" cap="none" strike="noStrike">
                <a:solidFill>
                  <a:srgbClr val="0A0E2A"/>
                </a:solidFill>
                <a:latin typeface="Calibri"/>
                <a:ea typeface="Calibri"/>
                <a:cs typeface="Calibri"/>
                <a:sym typeface="Calibri"/>
              </a:rPr>
              <a:t>1</a:t>
            </a:r>
            <a:endParaRPr b="0" i="0" sz="16000" u="none" cap="none" strike="noStrike">
              <a:solidFill>
                <a:schemeClr val="dk1"/>
              </a:solidFill>
              <a:latin typeface="Calibri"/>
              <a:ea typeface="Calibri"/>
              <a:cs typeface="Calibri"/>
              <a:sym typeface="Calibri"/>
            </a:endParaRPr>
          </a:p>
        </p:txBody>
      </p:sp>
      <p:sp>
        <p:nvSpPr>
          <p:cNvPr id="54" name="Google Shape;54;p4"/>
          <p:cNvSpPr/>
          <p:nvPr/>
        </p:nvSpPr>
        <p:spPr>
          <a:xfrm>
            <a:off x="0" y="2926080"/>
            <a:ext cx="34747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800"/>
              <a:buFont typeface="Calibri"/>
              <a:buNone/>
            </a:pPr>
            <a:r>
              <a:rPr b="1" i="0" lang="en-US" sz="1800" u="none" cap="none" strike="noStrike">
                <a:solidFill>
                  <a:srgbClr val="0A0E2A"/>
                </a:solidFill>
                <a:latin typeface="Calibri"/>
                <a:ea typeface="Calibri"/>
                <a:cs typeface="Calibri"/>
                <a:sym typeface="Calibri"/>
              </a:rPr>
              <a:t>P1</a:t>
            </a:r>
            <a:endParaRPr b="0" i="0" sz="1800" u="none" cap="none" strike="noStrike">
              <a:solidFill>
                <a:schemeClr val="dk1"/>
              </a:solidFill>
              <a:latin typeface="Calibri"/>
              <a:ea typeface="Calibri"/>
              <a:cs typeface="Calibri"/>
              <a:sym typeface="Calibri"/>
            </a:endParaRPr>
          </a:p>
        </p:txBody>
      </p:sp>
      <p:sp>
        <p:nvSpPr>
          <p:cNvPr id="55" name="Google Shape;55;p4"/>
          <p:cNvSpPr/>
          <p:nvPr/>
        </p:nvSpPr>
        <p:spPr>
          <a:xfrm>
            <a:off x="91440" y="3429000"/>
            <a:ext cx="32918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000"/>
              <a:buFont typeface="Calibri"/>
              <a:buNone/>
            </a:pPr>
            <a:r>
              <a:rPr b="0" i="1" lang="en-US" sz="1000" u="none" cap="none" strike="noStrike">
                <a:solidFill>
                  <a:srgbClr val="0A0E2A"/>
                </a:solidFill>
                <a:latin typeface="Calibri"/>
                <a:ea typeface="Calibri"/>
                <a:cs typeface="Calibri"/>
                <a:sym typeface="Calibri"/>
              </a:rPr>
              <a:t>Automatización · Salud · IoT</a:t>
            </a:r>
            <a:endParaRPr b="0" i="0" sz="1000" u="none" cap="none" strike="noStrike">
              <a:solidFill>
                <a:schemeClr val="dk1"/>
              </a:solidFill>
              <a:latin typeface="Calibri"/>
              <a:ea typeface="Calibri"/>
              <a:cs typeface="Calibri"/>
              <a:sym typeface="Calibri"/>
            </a:endParaRPr>
          </a:p>
        </p:txBody>
      </p:sp>
      <p:sp>
        <p:nvSpPr>
          <p:cNvPr id="56" name="Google Shape;56;p4"/>
          <p:cNvSpPr/>
          <p:nvPr/>
        </p:nvSpPr>
        <p:spPr>
          <a:xfrm>
            <a:off x="3840480" y="411480"/>
            <a:ext cx="502920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C896"/>
              </a:buClr>
              <a:buSzPts val="2800"/>
              <a:buFont typeface="Calibri"/>
              <a:buNone/>
            </a:pPr>
            <a:r>
              <a:rPr b="1" i="0" lang="en-US" sz="2800" u="none" cap="none" strike="noStrike">
                <a:solidFill>
                  <a:srgbClr val="00C896"/>
                </a:solidFill>
                <a:latin typeface="Calibri"/>
                <a:ea typeface="Calibri"/>
                <a:cs typeface="Calibri"/>
                <a:sym typeface="Calibri"/>
              </a:rPr>
              <a:t>Monitor de Calidad del Aire</a:t>
            </a:r>
            <a:endParaRPr b="0" i="0" sz="2800" u="none" cap="none" strike="noStrike">
              <a:solidFill>
                <a:schemeClr val="dk1"/>
              </a:solidFill>
              <a:latin typeface="Calibri"/>
              <a:ea typeface="Calibri"/>
              <a:cs typeface="Calibri"/>
              <a:sym typeface="Calibri"/>
            </a:endParaRPr>
          </a:p>
        </p:txBody>
      </p:sp>
      <p:sp>
        <p:nvSpPr>
          <p:cNvPr id="57" name="Google Shape;57;p4"/>
          <p:cNvSpPr/>
          <p:nvPr/>
        </p:nvSpPr>
        <p:spPr>
          <a:xfrm>
            <a:off x="3840480" y="1691640"/>
            <a:ext cx="5029200" cy="2011680"/>
          </a:xfrm>
          <a:prstGeom prst="roundRect">
            <a:avLst>
              <a:gd fmla="val 5455" name="adj"/>
            </a:avLst>
          </a:prstGeom>
          <a:solidFill>
            <a:srgbClr val="1A2550"/>
          </a:solidFill>
          <a:ln cap="flat" cmpd="sng" w="19050">
            <a:solidFill>
              <a:srgbClr val="00C896"/>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4"/>
          <p:cNvSpPr/>
          <p:nvPr/>
        </p:nvSpPr>
        <p:spPr>
          <a:xfrm>
            <a:off x="3977640" y="1755648"/>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896"/>
              </a:buClr>
              <a:buSzPts val="950"/>
              <a:buFont typeface="Calibri"/>
              <a:buNone/>
            </a:pPr>
            <a:r>
              <a:rPr b="1" i="0" lang="en-US" sz="950" u="none" cap="none" strike="noStrike">
                <a:solidFill>
                  <a:srgbClr val="00C896"/>
                </a:solidFill>
                <a:latin typeface="Calibri"/>
                <a:ea typeface="Calibri"/>
                <a:cs typeface="Calibri"/>
                <a:sym typeface="Calibri"/>
              </a:rPr>
              <a:t>CONTEXTO DEL PROYECTO</a:t>
            </a:r>
            <a:endParaRPr b="0" i="0" sz="950" u="none" cap="none" strike="noStrike">
              <a:solidFill>
                <a:schemeClr val="dk1"/>
              </a:solidFill>
              <a:latin typeface="Calibri"/>
              <a:ea typeface="Calibri"/>
              <a:cs typeface="Calibri"/>
              <a:sym typeface="Calibri"/>
            </a:endParaRPr>
          </a:p>
        </p:txBody>
      </p:sp>
      <p:sp>
        <p:nvSpPr>
          <p:cNvPr id="59" name="Google Shape;59;p4"/>
          <p:cNvSpPr/>
          <p:nvPr/>
        </p:nvSpPr>
        <p:spPr>
          <a:xfrm>
            <a:off x="3977640" y="2057400"/>
            <a:ext cx="475488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250"/>
              <a:buFont typeface="Calibri"/>
              <a:buNone/>
            </a:pPr>
            <a:r>
              <a:rPr b="0" i="0" lang="en-US" sz="1250" u="none" cap="none" strike="noStrike">
                <a:solidFill>
                  <a:srgbClr val="E8EDF5"/>
                </a:solidFill>
                <a:latin typeface="Calibri"/>
                <a:ea typeface="Calibri"/>
                <a:cs typeface="Calibri"/>
                <a:sym typeface="Calibri"/>
              </a:rPr>
              <a:t>Aulas con ventilación deficiente donde el CO₂ acumulado afecta la concentración y la salud de los estudiantes.</a:t>
            </a:r>
            <a:endParaRPr b="0" i="0" sz="1250" u="none" cap="none" strike="noStrike">
              <a:solidFill>
                <a:schemeClr val="dk1"/>
              </a:solidFill>
              <a:latin typeface="Calibri"/>
              <a:ea typeface="Calibri"/>
              <a:cs typeface="Calibri"/>
              <a:sym typeface="Calibri"/>
            </a:endParaRPr>
          </a:p>
        </p:txBody>
      </p:sp>
      <p:sp>
        <p:nvSpPr>
          <p:cNvPr id="60" name="Google Shape;60;p4"/>
          <p:cNvSpPr/>
          <p:nvPr/>
        </p:nvSpPr>
        <p:spPr>
          <a:xfrm>
            <a:off x="3840480" y="3840480"/>
            <a:ext cx="5029200" cy="868680"/>
          </a:xfrm>
          <a:prstGeom prst="roundRect">
            <a:avLst>
              <a:gd fmla="val 10526" name="adj"/>
            </a:avLst>
          </a:prstGeom>
          <a:solidFill>
            <a:srgbClr val="1A2550"/>
          </a:solidFill>
          <a:ln cap="flat" cmpd="sng" w="12700">
            <a:solidFill>
              <a:srgbClr val="00C89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p:nvPr/>
        </p:nvSpPr>
        <p:spPr>
          <a:xfrm>
            <a:off x="3977640" y="388620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896"/>
              </a:buClr>
              <a:buSzPts val="900"/>
              <a:buFont typeface="Calibri"/>
              <a:buNone/>
            </a:pPr>
            <a:r>
              <a:rPr b="1" i="0" lang="en-US" sz="900" u="none" cap="none" strike="noStrike">
                <a:solidFill>
                  <a:srgbClr val="00C896"/>
                </a:solidFill>
                <a:latin typeface="Calibri"/>
                <a:ea typeface="Calibri"/>
                <a:cs typeface="Calibri"/>
                <a:sym typeface="Calibri"/>
              </a:rPr>
              <a:t>5 RONDAS:</a:t>
            </a:r>
            <a:endParaRPr b="0" i="0" sz="900" u="none" cap="none" strike="noStrike">
              <a:solidFill>
                <a:schemeClr val="dk1"/>
              </a:solidFill>
              <a:latin typeface="Calibri"/>
              <a:ea typeface="Calibri"/>
              <a:cs typeface="Calibri"/>
              <a:sym typeface="Calibri"/>
            </a:endParaRPr>
          </a:p>
        </p:txBody>
      </p:sp>
      <p:sp>
        <p:nvSpPr>
          <p:cNvPr id="62" name="Google Shape;62;p4"/>
          <p:cNvSpPr/>
          <p:nvPr/>
        </p:nvSpPr>
        <p:spPr>
          <a:xfrm>
            <a:off x="3977640" y="4187952"/>
            <a:ext cx="868680" cy="411480"/>
          </a:xfrm>
          <a:prstGeom prst="roundRect">
            <a:avLst>
              <a:gd fmla="val 15556" name="adj"/>
            </a:avLst>
          </a:prstGeom>
          <a:solidFill>
            <a:srgbClr val="FFB800">
              <a:alpha val="85098"/>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p:nvPr/>
        </p:nvSpPr>
        <p:spPr>
          <a:xfrm>
            <a:off x="397764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Prob.</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Vago</a:t>
            </a:r>
            <a:endParaRPr b="0" i="0" sz="750" u="none" cap="none" strike="noStrike">
              <a:solidFill>
                <a:schemeClr val="dk1"/>
              </a:solidFill>
              <a:latin typeface="Calibri"/>
              <a:ea typeface="Calibri"/>
              <a:cs typeface="Calibri"/>
              <a:sym typeface="Calibri"/>
            </a:endParaRPr>
          </a:p>
        </p:txBody>
      </p:sp>
      <p:sp>
        <p:nvSpPr>
          <p:cNvPr id="64" name="Google Shape;64;p4"/>
          <p:cNvSpPr/>
          <p:nvPr/>
        </p:nvSpPr>
        <p:spPr>
          <a:xfrm>
            <a:off x="4937760" y="4187952"/>
            <a:ext cx="868680" cy="411480"/>
          </a:xfrm>
          <a:prstGeom prst="roundRect">
            <a:avLst>
              <a:gd fmla="val 15556" name="adj"/>
            </a:avLst>
          </a:prstGeom>
          <a:solidFill>
            <a:srgbClr val="00D4FF">
              <a:alpha val="85098"/>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p:nvPr/>
        </p:nvSpPr>
        <p:spPr>
          <a:xfrm>
            <a:off x="493776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Dispa-</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radoras</a:t>
            </a:r>
            <a:endParaRPr b="0" i="0" sz="750" u="none" cap="none" strike="noStrike">
              <a:solidFill>
                <a:schemeClr val="dk1"/>
              </a:solidFill>
              <a:latin typeface="Calibri"/>
              <a:ea typeface="Calibri"/>
              <a:cs typeface="Calibri"/>
              <a:sym typeface="Calibri"/>
            </a:endParaRPr>
          </a:p>
        </p:txBody>
      </p:sp>
      <p:sp>
        <p:nvSpPr>
          <p:cNvPr id="66" name="Google Shape;66;p4"/>
          <p:cNvSpPr/>
          <p:nvPr/>
        </p:nvSpPr>
        <p:spPr>
          <a:xfrm>
            <a:off x="5897880" y="4187952"/>
            <a:ext cx="868680" cy="411480"/>
          </a:xfrm>
          <a:prstGeom prst="roundRect">
            <a:avLst>
              <a:gd fmla="val 15556" name="adj"/>
            </a:avLst>
          </a:prstGeom>
          <a:solidFill>
            <a:srgbClr val="00C896">
              <a:alpha val="85098"/>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4"/>
          <p:cNvSpPr/>
          <p:nvPr/>
        </p:nvSpPr>
        <p:spPr>
          <a:xfrm>
            <a:off x="589788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4 Comp.</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 Técnico</a:t>
            </a:r>
            <a:endParaRPr b="0" i="0" sz="750" u="none" cap="none" strike="noStrike">
              <a:solidFill>
                <a:schemeClr val="dk1"/>
              </a:solidFill>
              <a:latin typeface="Calibri"/>
              <a:ea typeface="Calibri"/>
              <a:cs typeface="Calibri"/>
              <a:sym typeface="Calibri"/>
            </a:endParaRPr>
          </a:p>
        </p:txBody>
      </p:sp>
      <p:sp>
        <p:nvSpPr>
          <p:cNvPr id="68" name="Google Shape;68;p4"/>
          <p:cNvSpPr/>
          <p:nvPr/>
        </p:nvSpPr>
        <p:spPr>
          <a:xfrm>
            <a:off x="6858000" y="4187952"/>
            <a:ext cx="868680" cy="411480"/>
          </a:xfrm>
          <a:prstGeom prst="roundRect">
            <a:avLst>
              <a:gd fmla="val 15556" name="adj"/>
            </a:avLst>
          </a:prstGeom>
          <a:solidFill>
            <a:srgbClr val="9B59B6">
              <a:alpha val="85098"/>
            </a:srgbClr>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p:nvPr/>
        </p:nvSpPr>
        <p:spPr>
          <a:xfrm>
            <a:off x="685800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Obje-</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tivos</a:t>
            </a:r>
            <a:endParaRPr b="0" i="0" sz="750" u="none" cap="none" strike="noStrike">
              <a:solidFill>
                <a:schemeClr val="dk1"/>
              </a:solidFill>
              <a:latin typeface="Calibri"/>
              <a:ea typeface="Calibri"/>
              <a:cs typeface="Calibri"/>
              <a:sym typeface="Calibri"/>
            </a:endParaRPr>
          </a:p>
        </p:txBody>
      </p:sp>
      <p:sp>
        <p:nvSpPr>
          <p:cNvPr id="70" name="Google Shape;70;p4"/>
          <p:cNvSpPr/>
          <p:nvPr/>
        </p:nvSpPr>
        <p:spPr>
          <a:xfrm>
            <a:off x="7818120" y="4187952"/>
            <a:ext cx="868680" cy="411480"/>
          </a:xfrm>
          <a:prstGeom prst="roundRect">
            <a:avLst>
              <a:gd fmla="val 15556" name="adj"/>
            </a:avLst>
          </a:prstGeom>
          <a:solidFill>
            <a:srgbClr val="FF4D6A">
              <a:alpha val="85098"/>
            </a:srgbClr>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p:nvPr/>
        </p:nvSpPr>
        <p:spPr>
          <a:xfrm>
            <a:off x="781812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Solu-</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ción</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A"/>
        </a:solidFill>
      </p:bgPr>
    </p:bg>
    <p:spTree>
      <p:nvGrpSpPr>
        <p:cNvPr id="76" name="Shape 76"/>
        <p:cNvGrpSpPr/>
        <p:nvPr/>
      </p:nvGrpSpPr>
      <p:grpSpPr>
        <a:xfrm>
          <a:off x="0" y="0"/>
          <a:ext cx="0" cy="0"/>
          <a:chOff x="0" y="0"/>
          <a:chExt cx="0" cy="0"/>
        </a:xfrm>
      </p:grpSpPr>
      <p:sp>
        <p:nvSpPr>
          <p:cNvPr id="77" name="Google Shape;77;p5"/>
          <p:cNvSpPr/>
          <p:nvPr/>
        </p:nvSpPr>
        <p:spPr>
          <a:xfrm>
            <a:off x="0" y="0"/>
            <a:ext cx="9144000" cy="502920"/>
          </a:xfrm>
          <a:prstGeom prst="rect">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274320" y="0"/>
            <a:ext cx="6858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MONITOR DE CALIDAD DEL AIRE  ·  LEÉ ANTES DE LA RONDA 1</a:t>
            </a:r>
            <a:endParaRPr b="0" i="0" sz="1100" u="none" cap="none" strike="noStrike">
              <a:solidFill>
                <a:schemeClr val="dk1"/>
              </a:solidFill>
              <a:latin typeface="Calibri"/>
              <a:ea typeface="Calibri"/>
              <a:cs typeface="Calibri"/>
              <a:sym typeface="Calibri"/>
            </a:endParaRPr>
          </a:p>
        </p:txBody>
      </p:sp>
      <p:sp>
        <p:nvSpPr>
          <p:cNvPr id="79" name="Google Shape;79;p5"/>
          <p:cNvSpPr/>
          <p:nvPr/>
        </p:nvSpPr>
        <p:spPr>
          <a:xfrm>
            <a:off x="7863840" y="54864"/>
            <a:ext cx="384048" cy="384048"/>
          </a:xfrm>
          <a:prstGeom prst="ellipse">
            <a:avLst/>
          </a:prstGeom>
          <a:solidFill>
            <a:srgbClr val="0A0E2A"/>
          </a:solidFill>
          <a:ln cap="flat" cmpd="sng" w="12700">
            <a:solidFill>
              <a:srgbClr val="0A0E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7863840" y="548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896"/>
              </a:buClr>
              <a:buSzPts val="1300"/>
              <a:buFont typeface="Calibri"/>
              <a:buNone/>
            </a:pPr>
            <a:r>
              <a:rPr b="1" i="0" lang="en-US" sz="1300" u="none" cap="none" strike="noStrike">
                <a:solidFill>
                  <a:srgbClr val="00C896"/>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81" name="Google Shape;81;p5"/>
          <p:cNvSpPr/>
          <p:nvPr/>
        </p:nvSpPr>
        <p:spPr>
          <a:xfrm>
            <a:off x="0" y="502920"/>
            <a:ext cx="2560320" cy="4640580"/>
          </a:xfrm>
          <a:prstGeom prst="rect">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0" y="548640"/>
            <a:ext cx="2560320" cy="228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4000"/>
              <a:buFont typeface="Calibri"/>
              <a:buNone/>
            </a:pPr>
            <a:r>
              <a:rPr b="1" i="0" lang="en-US" sz="14000" u="none" cap="none" strike="noStrike">
                <a:solidFill>
                  <a:srgbClr val="0A0E2A"/>
                </a:solidFill>
                <a:latin typeface="Calibri"/>
                <a:ea typeface="Calibri"/>
                <a:cs typeface="Calibri"/>
                <a:sym typeface="Calibri"/>
              </a:rPr>
              <a:t>1</a:t>
            </a:r>
            <a:endParaRPr b="0" i="0" sz="14000" u="none" cap="none" strike="noStrike">
              <a:solidFill>
                <a:schemeClr val="dk1"/>
              </a:solidFill>
              <a:latin typeface="Calibri"/>
              <a:ea typeface="Calibri"/>
              <a:cs typeface="Calibri"/>
              <a:sym typeface="Calibri"/>
            </a:endParaRPr>
          </a:p>
        </p:txBody>
      </p:sp>
      <p:sp>
        <p:nvSpPr>
          <p:cNvPr id="83" name="Google Shape;83;p5"/>
          <p:cNvSpPr/>
          <p:nvPr/>
        </p:nvSpPr>
        <p:spPr>
          <a:xfrm>
            <a:off x="91440" y="3108960"/>
            <a:ext cx="237744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Automatización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Salud</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IoT</a:t>
            </a:r>
            <a:endParaRPr b="0" i="0" sz="1100" u="none" cap="none" strike="noStrike">
              <a:solidFill>
                <a:schemeClr val="dk1"/>
              </a:solidFill>
              <a:latin typeface="Calibri"/>
              <a:ea typeface="Calibri"/>
              <a:cs typeface="Calibri"/>
              <a:sym typeface="Calibri"/>
            </a:endParaRPr>
          </a:p>
        </p:txBody>
      </p:sp>
      <p:sp>
        <p:nvSpPr>
          <p:cNvPr id="84" name="Google Shape;84;p5"/>
          <p:cNvSpPr/>
          <p:nvPr/>
        </p:nvSpPr>
        <p:spPr>
          <a:xfrm>
            <a:off x="2926080" y="594360"/>
            <a:ext cx="594360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C896"/>
              </a:buClr>
              <a:buSzPts val="2400"/>
              <a:buFont typeface="Calibri"/>
              <a:buNone/>
            </a:pPr>
            <a:r>
              <a:rPr b="1" i="0" lang="en-US" sz="2400" u="none" cap="none" strike="noStrike">
                <a:solidFill>
                  <a:srgbClr val="00C896"/>
                </a:solidFill>
                <a:latin typeface="Calibri"/>
                <a:ea typeface="Calibri"/>
                <a:cs typeface="Calibri"/>
                <a:sym typeface="Calibri"/>
              </a:rPr>
              <a:t>Monitor de Calidad del Aire</a:t>
            </a:r>
            <a:endParaRPr b="0" i="0" sz="2400" u="none" cap="none" strike="noStrike">
              <a:solidFill>
                <a:schemeClr val="dk1"/>
              </a:solidFill>
              <a:latin typeface="Calibri"/>
              <a:ea typeface="Calibri"/>
              <a:cs typeface="Calibri"/>
              <a:sym typeface="Calibri"/>
            </a:endParaRPr>
          </a:p>
        </p:txBody>
      </p:sp>
      <p:sp>
        <p:nvSpPr>
          <p:cNvPr id="85" name="Google Shape;85;p5"/>
          <p:cNvSpPr/>
          <p:nvPr/>
        </p:nvSpPr>
        <p:spPr>
          <a:xfrm>
            <a:off x="2834640" y="1572768"/>
            <a:ext cx="6035040" cy="1920240"/>
          </a:xfrm>
          <a:prstGeom prst="roundRect">
            <a:avLst>
              <a:gd fmla="val 5714" name="adj"/>
            </a:avLst>
          </a:prstGeom>
          <a:solidFill>
            <a:srgbClr val="0A0E2A"/>
          </a:solidFill>
          <a:ln cap="flat" cmpd="sng" w="19050">
            <a:solidFill>
              <a:srgbClr val="00C896"/>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3017520" y="1645920"/>
            <a:ext cx="5669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896"/>
              </a:buClr>
              <a:buSzPts val="950"/>
              <a:buFont typeface="Calibri"/>
              <a:buNone/>
            </a:pPr>
            <a:r>
              <a:rPr b="1" i="0" lang="en-US" sz="950" u="none" cap="none" strike="noStrike">
                <a:solidFill>
                  <a:srgbClr val="00C896"/>
                </a:solidFill>
                <a:latin typeface="Calibri"/>
                <a:ea typeface="Calibri"/>
                <a:cs typeface="Calibri"/>
                <a:sym typeface="Calibri"/>
              </a:rPr>
              <a:t>LA SITUACIÓN</a:t>
            </a:r>
            <a:endParaRPr b="0" i="0" sz="950" u="none" cap="none" strike="noStrike">
              <a:solidFill>
                <a:schemeClr val="dk1"/>
              </a:solidFill>
              <a:latin typeface="Calibri"/>
              <a:ea typeface="Calibri"/>
              <a:cs typeface="Calibri"/>
              <a:sym typeface="Calibri"/>
            </a:endParaRPr>
          </a:p>
        </p:txBody>
      </p:sp>
      <p:sp>
        <p:nvSpPr>
          <p:cNvPr id="87" name="Google Shape;87;p5"/>
          <p:cNvSpPr/>
          <p:nvPr/>
        </p:nvSpPr>
        <p:spPr>
          <a:xfrm>
            <a:off x="3017520" y="1938528"/>
            <a:ext cx="5669280" cy="14630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DF5"/>
              </a:buClr>
              <a:buSzPts val="1250"/>
              <a:buFont typeface="Calibri"/>
              <a:buNone/>
            </a:pPr>
            <a:r>
              <a:rPr b="0" i="0" lang="en-US" sz="1250" u="none" cap="none" strike="noStrike">
                <a:solidFill>
                  <a:srgbClr val="E8EDF5"/>
                </a:solidFill>
                <a:latin typeface="Calibri"/>
                <a:ea typeface="Calibri"/>
                <a:cs typeface="Calibri"/>
                <a:sym typeface="Calibri"/>
              </a:rPr>
              <a:t>En muchas aulas con ventanas cerradas, el dióxido de carbono que exhalan los estudiantes se acumula con el tiempo. Nadie lo ve ni lo huele, pero el efecto es real: la gente empieza a sentirse cansada, le cuesta concentrarse y el rendimiento baja. El problema pasa todos los días y casi nadie lo asocia con el aire.</a:t>
            </a:r>
            <a:endParaRPr b="0" i="0" sz="1250" u="none" cap="none" strike="noStrike">
              <a:solidFill>
                <a:schemeClr val="dk1"/>
              </a:solidFill>
              <a:latin typeface="Calibri"/>
              <a:ea typeface="Calibri"/>
              <a:cs typeface="Calibri"/>
              <a:sym typeface="Calibri"/>
            </a:endParaRPr>
          </a:p>
        </p:txBody>
      </p:sp>
      <p:sp>
        <p:nvSpPr>
          <p:cNvPr id="88" name="Google Shape;88;p5"/>
          <p:cNvSpPr/>
          <p:nvPr/>
        </p:nvSpPr>
        <p:spPr>
          <a:xfrm>
            <a:off x="2834640" y="3611880"/>
            <a:ext cx="6035040" cy="594360"/>
          </a:xfrm>
          <a:prstGeom prst="roundRect">
            <a:avLst>
              <a:gd fmla="val 15385" name="adj"/>
            </a:avLst>
          </a:prstGeom>
          <a:solidFill>
            <a:srgbClr val="FFFFFF"/>
          </a:solidFill>
          <a:ln cap="flat" cmpd="sng" w="12700">
            <a:solidFill>
              <a:srgbClr val="00C896">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2999232" y="3611880"/>
            <a:ext cx="10058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896"/>
              </a:buClr>
              <a:buSzPts val="950"/>
              <a:buFont typeface="Calibri"/>
              <a:buNone/>
            </a:pPr>
            <a:r>
              <a:rPr b="1" i="0" lang="en-US" sz="950" u="none" cap="none" strike="noStrike">
                <a:solidFill>
                  <a:srgbClr val="00C896"/>
                </a:solidFill>
                <a:latin typeface="Calibri"/>
                <a:ea typeface="Calibri"/>
                <a:cs typeface="Calibri"/>
                <a:sym typeface="Calibri"/>
              </a:rPr>
              <a:t>CONTEXTO:</a:t>
            </a:r>
            <a:endParaRPr b="0" i="0" sz="950" u="none" cap="none" strike="noStrike">
              <a:solidFill>
                <a:schemeClr val="dk1"/>
              </a:solidFill>
              <a:latin typeface="Calibri"/>
              <a:ea typeface="Calibri"/>
              <a:cs typeface="Calibri"/>
              <a:sym typeface="Calibri"/>
            </a:endParaRPr>
          </a:p>
        </p:txBody>
      </p:sp>
      <p:sp>
        <p:nvSpPr>
          <p:cNvPr id="90" name="Google Shape;90;p5"/>
          <p:cNvSpPr/>
          <p:nvPr/>
        </p:nvSpPr>
        <p:spPr>
          <a:xfrm>
            <a:off x="4041648" y="3611880"/>
            <a:ext cx="47365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A5C"/>
              </a:buClr>
              <a:buSzPts val="1100"/>
              <a:buFont typeface="Calibri"/>
              <a:buNone/>
            </a:pPr>
            <a:r>
              <a:rPr b="0" i="0" lang="en-US" sz="1100" u="none" cap="none" strike="noStrike">
                <a:solidFill>
                  <a:srgbClr val="2E3A5C"/>
                </a:solidFill>
                <a:latin typeface="Calibri"/>
                <a:ea typeface="Calibri"/>
                <a:cs typeface="Calibri"/>
                <a:sym typeface="Calibri"/>
              </a:rPr>
              <a:t>Aulas con ventilación deficiente donde el CO₂ acumulado afecta la concentración y la salud de los estudiantes.</a:t>
            </a:r>
            <a:endParaRPr b="0" i="0" sz="1100" u="none" cap="none" strike="noStrike">
              <a:solidFill>
                <a:schemeClr val="dk1"/>
              </a:solidFill>
              <a:latin typeface="Calibri"/>
              <a:ea typeface="Calibri"/>
              <a:cs typeface="Calibri"/>
              <a:sym typeface="Calibri"/>
            </a:endParaRPr>
          </a:p>
        </p:txBody>
      </p:sp>
      <p:sp>
        <p:nvSpPr>
          <p:cNvPr id="91" name="Google Shape;91;p5"/>
          <p:cNvSpPr/>
          <p:nvPr/>
        </p:nvSpPr>
        <p:spPr>
          <a:xfrm>
            <a:off x="2834640" y="4325112"/>
            <a:ext cx="6035040" cy="594360"/>
          </a:xfrm>
          <a:prstGeom prst="roundRect">
            <a:avLst>
              <a:gd fmla="val 15385" name="adj"/>
            </a:avLst>
          </a:prstGeom>
          <a:solidFill>
            <a:srgbClr val="00C896">
              <a:alpha val="92156"/>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2971800" y="4325112"/>
            <a:ext cx="58064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  ¿Qué problema hay acá? — Escriban su respuesta en Ronda 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97" name="Shape 97"/>
        <p:cNvGrpSpPr/>
        <p:nvPr/>
      </p:nvGrpSpPr>
      <p:grpSpPr>
        <a:xfrm>
          <a:off x="0" y="0"/>
          <a:ext cx="0" cy="0"/>
          <a:chOff x="0" y="0"/>
          <a:chExt cx="0" cy="0"/>
        </a:xfrm>
      </p:grpSpPr>
      <p:sp>
        <p:nvSpPr>
          <p:cNvPr id="98" name="Google Shape;98;p6"/>
          <p:cNvSpPr/>
          <p:nvPr/>
        </p:nvSpPr>
        <p:spPr>
          <a:xfrm>
            <a:off x="0" y="0"/>
            <a:ext cx="9144000" cy="502920"/>
          </a:xfrm>
          <a:prstGeom prst="rect">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MONITOR DE CALIDAD DEL AIRE  ·  RONDA 1 DE 5</a:t>
            </a:r>
            <a:endParaRPr b="0" i="0" sz="1100" u="none" cap="none" strike="noStrike">
              <a:solidFill>
                <a:schemeClr val="dk1"/>
              </a:solidFill>
              <a:latin typeface="Calibri"/>
              <a:ea typeface="Calibri"/>
              <a:cs typeface="Calibri"/>
              <a:sym typeface="Calibri"/>
            </a:endParaRPr>
          </a:p>
        </p:txBody>
      </p:sp>
      <p:sp>
        <p:nvSpPr>
          <p:cNvPr id="100" name="Google Shape;100;p6"/>
          <p:cNvSpPr/>
          <p:nvPr/>
        </p:nvSpPr>
        <p:spPr>
          <a:xfrm>
            <a:off x="7498080" y="54864"/>
            <a:ext cx="1417320" cy="384048"/>
          </a:xfrm>
          <a:prstGeom prst="roundRect">
            <a:avLst>
              <a:gd fmla="val 19048" name="adj"/>
            </a:avLst>
          </a:prstGeom>
          <a:solidFill>
            <a:srgbClr val="0A0E2A"/>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B800"/>
              </a:buClr>
              <a:buSzPts val="1300"/>
              <a:buFont typeface="Calibri"/>
              <a:buNone/>
            </a:pPr>
            <a:r>
              <a:rPr b="1" i="0" lang="en-US" sz="1300" u="none" cap="none" strike="noStrike">
                <a:solidFill>
                  <a:srgbClr val="FFB800"/>
                </a:solidFill>
                <a:latin typeface="Calibri"/>
                <a:ea typeface="Calibri"/>
                <a:cs typeface="Calibri"/>
                <a:sym typeface="Calibri"/>
              </a:rPr>
              <a:t>⏱  2 min</a:t>
            </a:r>
            <a:endParaRPr b="0" i="0" sz="1300" u="none" cap="none" strike="noStrike">
              <a:solidFill>
                <a:schemeClr val="dk1"/>
              </a:solidFill>
              <a:latin typeface="Calibri"/>
              <a:ea typeface="Calibri"/>
              <a:cs typeface="Calibri"/>
              <a:sym typeface="Calibri"/>
            </a:endParaRPr>
          </a:p>
        </p:txBody>
      </p:sp>
      <p:sp>
        <p:nvSpPr>
          <p:cNvPr id="102" name="Google Shape;102;p6"/>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1100"/>
              <a:buFont typeface="Calibri"/>
              <a:buNone/>
            </a:pPr>
            <a:r>
              <a:rPr b="1" i="0" lang="en-US" sz="1100" u="none" cap="none" strike="noStrike">
                <a:solidFill>
                  <a:srgbClr val="FFB800"/>
                </a:solidFill>
                <a:latin typeface="Calibri"/>
                <a:ea typeface="Calibri"/>
                <a:cs typeface="Calibri"/>
                <a:sym typeface="Calibri"/>
              </a:rPr>
              <a:t>RONDA 1</a:t>
            </a:r>
            <a:endParaRPr b="0" i="0" sz="1100" u="none" cap="none" strike="noStrike">
              <a:solidFill>
                <a:schemeClr val="dk1"/>
              </a:solidFill>
              <a:latin typeface="Calibri"/>
              <a:ea typeface="Calibri"/>
              <a:cs typeface="Calibri"/>
              <a:sym typeface="Calibri"/>
            </a:endParaRPr>
          </a:p>
        </p:txBody>
      </p:sp>
      <p:sp>
        <p:nvSpPr>
          <p:cNvPr id="103" name="Google Shape;103;p6"/>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2600"/>
              <a:buFont typeface="Calibri"/>
              <a:buNone/>
            </a:pPr>
            <a:r>
              <a:rPr b="1" i="0" lang="en-US" sz="2600" u="none" cap="none" strike="noStrike">
                <a:solidFill>
                  <a:srgbClr val="FFB800"/>
                </a:solidFill>
                <a:latin typeface="Calibri"/>
                <a:ea typeface="Calibri"/>
                <a:cs typeface="Calibri"/>
                <a:sym typeface="Calibri"/>
              </a:rPr>
              <a:t>PROBLEMA VAGO</a:t>
            </a:r>
            <a:endParaRPr b="0" i="0" sz="2600" u="none" cap="none" strike="noStrike">
              <a:solidFill>
                <a:schemeClr val="dk1"/>
              </a:solidFill>
              <a:latin typeface="Calibri"/>
              <a:ea typeface="Calibri"/>
              <a:cs typeface="Calibri"/>
              <a:sym typeface="Calibri"/>
            </a:endParaRPr>
          </a:p>
        </p:txBody>
      </p:sp>
      <p:sp>
        <p:nvSpPr>
          <p:cNvPr id="104" name="Google Shape;104;p6"/>
          <p:cNvSpPr/>
          <p:nvPr/>
        </p:nvSpPr>
        <p:spPr>
          <a:xfrm>
            <a:off x="365760" y="1600200"/>
            <a:ext cx="8412480" cy="868680"/>
          </a:xfrm>
          <a:prstGeom prst="roundRect">
            <a:avLst>
              <a:gd fmla="val 12632" name="adj"/>
            </a:avLst>
          </a:prstGeom>
          <a:solidFill>
            <a:srgbClr val="1A2550"/>
          </a:solidFill>
          <a:ln cap="flat" cmpd="sng" w="22850">
            <a:solidFill>
              <a:srgbClr val="FFB800"/>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6"/>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Lean la slide anterior. Escriban en UNA oración el problema vago que da origen a esta solución.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No técnico. Como lo diría alguien en la calle.</a:t>
            </a:r>
            <a:endParaRPr b="0" i="0" sz="1300" u="none" cap="none" strike="noStrike">
              <a:solidFill>
                <a:schemeClr val="dk1"/>
              </a:solidFill>
              <a:latin typeface="Calibri"/>
              <a:ea typeface="Calibri"/>
              <a:cs typeface="Calibri"/>
              <a:sym typeface="Calibri"/>
            </a:endParaRPr>
          </a:p>
        </p:txBody>
      </p:sp>
      <p:sp>
        <p:nvSpPr>
          <p:cNvPr id="106" name="Google Shape;106;p6"/>
          <p:cNvSpPr/>
          <p:nvPr/>
        </p:nvSpPr>
        <p:spPr>
          <a:xfrm>
            <a:off x="365760" y="2606040"/>
            <a:ext cx="8412480" cy="2194560"/>
          </a:xfrm>
          <a:prstGeom prst="roundRect">
            <a:avLst>
              <a:gd fmla="val 5000" name="adj"/>
            </a:avLst>
          </a:prstGeom>
          <a:solidFill>
            <a:srgbClr val="1A2550"/>
          </a:solidFill>
          <a:ln cap="flat" cmpd="sng" w="19050">
            <a:solidFill>
              <a:srgbClr val="FFB800"/>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6"/>
          <p:cNvSpPr/>
          <p:nvPr/>
        </p:nvSpPr>
        <p:spPr>
          <a:xfrm>
            <a:off x="548640" y="267004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1000"/>
              <a:buFont typeface="Calibri"/>
              <a:buNone/>
            </a:pPr>
            <a:r>
              <a:rPr b="1" i="0" lang="en-US" sz="1000" u="none" cap="none" strike="noStrike">
                <a:solidFill>
                  <a:srgbClr val="FFB800"/>
                </a:solidFill>
                <a:latin typeface="Calibri"/>
                <a:ea typeface="Calibri"/>
                <a:cs typeface="Calibri"/>
                <a:sym typeface="Calibri"/>
              </a:rPr>
              <a:t>PISTA — ¿Cómo lo diría alguien sin conocimiento técnico?</a:t>
            </a:r>
            <a:endParaRPr b="0" i="0" sz="1000" u="none" cap="none" strike="noStrike">
              <a:solidFill>
                <a:schemeClr val="dk1"/>
              </a:solidFill>
              <a:latin typeface="Calibri"/>
              <a:ea typeface="Calibri"/>
              <a:cs typeface="Calibri"/>
              <a:sym typeface="Calibri"/>
            </a:endParaRPr>
          </a:p>
        </p:txBody>
      </p:sp>
      <p:sp>
        <p:nvSpPr>
          <p:cNvPr id="108" name="Google Shape;108;p6"/>
          <p:cNvSpPr/>
          <p:nvPr/>
        </p:nvSpPr>
        <p:spPr>
          <a:xfrm>
            <a:off x="548640" y="2999232"/>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0" i="1" lang="en-US" sz="1100" u="none" cap="none" strike="noStrike">
                <a:solidFill>
                  <a:srgbClr val="E8EDF5"/>
                </a:solidFill>
                <a:latin typeface="Calibri"/>
                <a:ea typeface="Calibri"/>
                <a:cs typeface="Calibri"/>
                <a:sym typeface="Calibri"/>
              </a:rPr>
              <a:t>✗  NO: 'El CO₂ supera las 1000 ppm' — eso es técnico, no vago.</a:t>
            </a:r>
            <a:endParaRPr b="0" i="0" sz="1100" u="none" cap="none" strike="noStrike">
              <a:solidFill>
                <a:schemeClr val="dk1"/>
              </a:solidFill>
              <a:latin typeface="Calibri"/>
              <a:ea typeface="Calibri"/>
              <a:cs typeface="Calibri"/>
              <a:sym typeface="Calibri"/>
            </a:endParaRPr>
          </a:p>
        </p:txBody>
      </p:sp>
      <p:sp>
        <p:nvSpPr>
          <p:cNvPr id="109" name="Google Shape;109;p6"/>
          <p:cNvSpPr/>
          <p:nvPr/>
        </p:nvSpPr>
        <p:spPr>
          <a:xfrm>
            <a:off x="548640" y="3291840"/>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0" i="1" lang="en-US" sz="1100" u="none" cap="none" strike="noStrike">
                <a:solidFill>
                  <a:srgbClr val="E8EDF5"/>
                </a:solidFill>
                <a:latin typeface="Calibri"/>
                <a:ea typeface="Calibri"/>
                <a:cs typeface="Calibri"/>
                <a:sym typeface="Calibri"/>
              </a:rPr>
              <a:t>✓  SÍ: 'En el aula se pone pesado el ambiente y la gente se cansa y no puede concentrarse.'</a:t>
            </a:r>
            <a:endParaRPr b="0" i="0" sz="1100" u="none" cap="none" strike="noStrike">
              <a:solidFill>
                <a:schemeClr val="dk1"/>
              </a:solidFill>
              <a:latin typeface="Calibri"/>
              <a:ea typeface="Calibri"/>
              <a:cs typeface="Calibri"/>
              <a:sym typeface="Calibri"/>
            </a:endParaRPr>
          </a:p>
        </p:txBody>
      </p:sp>
      <p:sp>
        <p:nvSpPr>
          <p:cNvPr id="110" name="Google Shape;110;p6"/>
          <p:cNvSpPr/>
          <p:nvPr/>
        </p:nvSpPr>
        <p:spPr>
          <a:xfrm>
            <a:off x="548640" y="3657600"/>
            <a:ext cx="8046720" cy="457200"/>
          </a:xfrm>
          <a:prstGeom prst="roundRect">
            <a:avLst>
              <a:gd fmla="val 16000" name="adj"/>
            </a:avLst>
          </a:prstGeom>
          <a:solidFill>
            <a:srgbClr val="FFB800">
              <a:alpha val="87843"/>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6"/>
          <p:cNvSpPr/>
          <p:nvPr/>
        </p:nvSpPr>
        <p:spPr>
          <a:xfrm>
            <a:off x="685800" y="365760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  Escriban su problema vago. Comparten al terminar el tiempo.</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A"/>
        </a:solidFill>
      </p:bgPr>
    </p:bg>
    <p:spTree>
      <p:nvGrpSpPr>
        <p:cNvPr id="116" name="Shape 116"/>
        <p:cNvGrpSpPr/>
        <p:nvPr/>
      </p:nvGrpSpPr>
      <p:grpSpPr>
        <a:xfrm>
          <a:off x="0" y="0"/>
          <a:ext cx="0" cy="0"/>
          <a:chOff x="0" y="0"/>
          <a:chExt cx="0" cy="0"/>
        </a:xfrm>
      </p:grpSpPr>
      <p:sp>
        <p:nvSpPr>
          <p:cNvPr id="117" name="Google Shape;117;p7"/>
          <p:cNvSpPr/>
          <p:nvPr/>
        </p:nvSpPr>
        <p:spPr>
          <a:xfrm>
            <a:off x="0" y="0"/>
            <a:ext cx="9144000" cy="502920"/>
          </a:xfrm>
          <a:prstGeom prst="rect">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MONITOR DE CALIDAD DEL AIRE  ·  RONDA 2 DE 5</a:t>
            </a:r>
            <a:endParaRPr b="0" i="0" sz="1100" u="none" cap="none" strike="noStrike">
              <a:solidFill>
                <a:schemeClr val="dk1"/>
              </a:solidFill>
              <a:latin typeface="Calibri"/>
              <a:ea typeface="Calibri"/>
              <a:cs typeface="Calibri"/>
              <a:sym typeface="Calibri"/>
            </a:endParaRPr>
          </a:p>
        </p:txBody>
      </p:sp>
      <p:sp>
        <p:nvSpPr>
          <p:cNvPr id="119" name="Google Shape;119;p7"/>
          <p:cNvSpPr/>
          <p:nvPr/>
        </p:nvSpPr>
        <p:spPr>
          <a:xfrm>
            <a:off x="7498080" y="54864"/>
            <a:ext cx="1417320" cy="384048"/>
          </a:xfrm>
          <a:prstGeom prst="roundRect">
            <a:avLst>
              <a:gd fmla="val 19048" name="adj"/>
            </a:avLst>
          </a:prstGeom>
          <a:solidFill>
            <a:srgbClr val="0A0E2A"/>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7"/>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1300"/>
              <a:buFont typeface="Calibri"/>
              <a:buNone/>
            </a:pPr>
            <a:r>
              <a:rPr b="1" i="0" lang="en-US" sz="1300" u="none" cap="none" strike="noStrike">
                <a:solidFill>
                  <a:srgbClr val="00D4FF"/>
                </a:solidFill>
                <a:latin typeface="Calibri"/>
                <a:ea typeface="Calibri"/>
                <a:cs typeface="Calibri"/>
                <a:sym typeface="Calibri"/>
              </a:rPr>
              <a:t>⏱  4 min</a:t>
            </a:r>
            <a:endParaRPr b="0" i="0" sz="1300" u="none" cap="none" strike="noStrike">
              <a:solidFill>
                <a:schemeClr val="dk1"/>
              </a:solidFill>
              <a:latin typeface="Calibri"/>
              <a:ea typeface="Calibri"/>
              <a:cs typeface="Calibri"/>
              <a:sym typeface="Calibri"/>
            </a:endParaRPr>
          </a:p>
        </p:txBody>
      </p:sp>
      <p:sp>
        <p:nvSpPr>
          <p:cNvPr id="121" name="Google Shape;121;p7"/>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RONDA 2</a:t>
            </a:r>
            <a:endParaRPr b="0" i="0" sz="1100" u="none" cap="none" strike="noStrike">
              <a:solidFill>
                <a:schemeClr val="dk1"/>
              </a:solidFill>
              <a:latin typeface="Calibri"/>
              <a:ea typeface="Calibri"/>
              <a:cs typeface="Calibri"/>
              <a:sym typeface="Calibri"/>
            </a:endParaRPr>
          </a:p>
        </p:txBody>
      </p:sp>
      <p:sp>
        <p:nvSpPr>
          <p:cNvPr id="122" name="Google Shape;122;p7"/>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2600"/>
              <a:buFont typeface="Calibri"/>
              <a:buNone/>
            </a:pPr>
            <a:r>
              <a:rPr b="1" i="0" lang="en-US" sz="2600" u="none" cap="none" strike="noStrike">
                <a:solidFill>
                  <a:srgbClr val="0A0E2A"/>
                </a:solidFill>
                <a:latin typeface="Calibri"/>
                <a:ea typeface="Calibri"/>
                <a:cs typeface="Calibri"/>
                <a:sym typeface="Calibri"/>
              </a:rPr>
              <a:t>PREGUNTAS DISPARADORAS</a:t>
            </a:r>
            <a:endParaRPr b="0" i="0" sz="2600" u="none" cap="none" strike="noStrike">
              <a:solidFill>
                <a:schemeClr val="dk1"/>
              </a:solidFill>
              <a:latin typeface="Calibri"/>
              <a:ea typeface="Calibri"/>
              <a:cs typeface="Calibri"/>
              <a:sym typeface="Calibri"/>
            </a:endParaRPr>
          </a:p>
        </p:txBody>
      </p:sp>
      <p:sp>
        <p:nvSpPr>
          <p:cNvPr id="123" name="Google Shape;123;p7"/>
          <p:cNvSpPr/>
          <p:nvPr/>
        </p:nvSpPr>
        <p:spPr>
          <a:xfrm>
            <a:off x="365760" y="1600200"/>
            <a:ext cx="8412480" cy="868680"/>
          </a:xfrm>
          <a:prstGeom prst="roundRect">
            <a:avLst>
              <a:gd fmla="val 12632" name="adj"/>
            </a:avLst>
          </a:prstGeom>
          <a:solidFill>
            <a:srgbClr val="FFFFFF"/>
          </a:solidFill>
          <a:ln cap="flat" cmpd="sng" w="22850">
            <a:solidFill>
              <a:srgbClr val="00D4FF"/>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7"/>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Formulen UNA pregunta disparadora para cada tipo:</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¿Cómo...? · ¿Por qué...? · ¿Para qué...? · ¿Qué harías...?</a:t>
            </a:r>
            <a:endParaRPr b="0" i="0" sz="1300" u="none" cap="none" strike="noStrike">
              <a:solidFill>
                <a:schemeClr val="dk1"/>
              </a:solidFill>
              <a:latin typeface="Calibri"/>
              <a:ea typeface="Calibri"/>
              <a:cs typeface="Calibri"/>
              <a:sym typeface="Calibri"/>
            </a:endParaRPr>
          </a:p>
        </p:txBody>
      </p:sp>
      <p:sp>
        <p:nvSpPr>
          <p:cNvPr id="125" name="Google Shape;125;p7"/>
          <p:cNvSpPr/>
          <p:nvPr/>
        </p:nvSpPr>
        <p:spPr>
          <a:xfrm>
            <a:off x="365760" y="2578608"/>
            <a:ext cx="4160520" cy="1078992"/>
          </a:xfrm>
          <a:prstGeom prst="roundRect">
            <a:avLst>
              <a:gd fmla="val 8475" name="adj"/>
            </a:avLst>
          </a:prstGeom>
          <a:solidFill>
            <a:srgbClr val="FFFFFF"/>
          </a:solidFill>
          <a:ln cap="flat" cmpd="sng" w="19050">
            <a:solidFill>
              <a:srgbClr val="00D4FF"/>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7"/>
          <p:cNvSpPr/>
          <p:nvPr/>
        </p:nvSpPr>
        <p:spPr>
          <a:xfrm>
            <a:off x="457200" y="2670048"/>
            <a:ext cx="1371600" cy="292608"/>
          </a:xfrm>
          <a:prstGeom prst="roundRect">
            <a:avLst>
              <a:gd fmla="val 15625" name="adj"/>
            </a:avLst>
          </a:prstGeom>
          <a:solidFill>
            <a:srgbClr val="00D4FF">
              <a:alpha val="90196"/>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7"/>
          <p:cNvSpPr/>
          <p:nvPr/>
        </p:nvSpPr>
        <p:spPr>
          <a:xfrm>
            <a:off x="457200" y="2670048"/>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¿Cómo...?</a:t>
            </a:r>
            <a:endParaRPr b="0" i="0" sz="1100" u="none" cap="none" strike="noStrike">
              <a:solidFill>
                <a:schemeClr val="dk1"/>
              </a:solidFill>
              <a:latin typeface="Calibri"/>
              <a:ea typeface="Calibri"/>
              <a:cs typeface="Calibri"/>
              <a:sym typeface="Calibri"/>
            </a:endParaRPr>
          </a:p>
        </p:txBody>
      </p:sp>
      <p:sp>
        <p:nvSpPr>
          <p:cNvPr id="128" name="Google Shape;128;p7"/>
          <p:cNvSpPr/>
          <p:nvPr/>
        </p:nvSpPr>
        <p:spPr>
          <a:xfrm>
            <a:off x="1920240" y="2688336"/>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Busca crear un proceso o solución</a:t>
            </a:r>
            <a:endParaRPr b="0" i="0" sz="950" u="none" cap="none" strike="noStrike">
              <a:solidFill>
                <a:schemeClr val="dk1"/>
              </a:solidFill>
              <a:latin typeface="Calibri"/>
              <a:ea typeface="Calibri"/>
              <a:cs typeface="Calibri"/>
              <a:sym typeface="Calibri"/>
            </a:endParaRPr>
          </a:p>
        </p:txBody>
      </p:sp>
      <p:sp>
        <p:nvSpPr>
          <p:cNvPr id="129" name="Google Shape;129;p7"/>
          <p:cNvSpPr/>
          <p:nvPr/>
        </p:nvSpPr>
        <p:spPr>
          <a:xfrm>
            <a:off x="457200" y="3035808"/>
            <a:ext cx="3886200" cy="502920"/>
          </a:xfrm>
          <a:prstGeom prst="roundRect">
            <a:avLst>
              <a:gd fmla="val 10909" name="adj"/>
            </a:avLst>
          </a:prstGeom>
          <a:solidFill>
            <a:srgbClr val="00D4FF">
              <a:alpha val="7843"/>
            </a:srgbClr>
          </a:solidFill>
          <a:ln cap="flat" cmpd="sng" w="12700">
            <a:solidFill>
              <a:srgbClr val="00D4FF">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7"/>
          <p:cNvSpPr/>
          <p:nvPr/>
        </p:nvSpPr>
        <p:spPr>
          <a:xfrm>
            <a:off x="548640" y="3035808"/>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
        <p:nvSpPr>
          <p:cNvPr id="131" name="Google Shape;131;p7"/>
          <p:cNvSpPr/>
          <p:nvPr/>
        </p:nvSpPr>
        <p:spPr>
          <a:xfrm>
            <a:off x="4709160" y="2578608"/>
            <a:ext cx="4160520" cy="1078992"/>
          </a:xfrm>
          <a:prstGeom prst="roundRect">
            <a:avLst>
              <a:gd fmla="val 8475" name="adj"/>
            </a:avLst>
          </a:prstGeom>
          <a:solidFill>
            <a:srgbClr val="FFFFFF"/>
          </a:solidFill>
          <a:ln cap="flat" cmpd="sng" w="19050">
            <a:solidFill>
              <a:srgbClr val="FFB800"/>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p:nvPr/>
        </p:nvSpPr>
        <p:spPr>
          <a:xfrm>
            <a:off x="4800600" y="2670048"/>
            <a:ext cx="1371600" cy="292608"/>
          </a:xfrm>
          <a:prstGeom prst="roundRect">
            <a:avLst>
              <a:gd fmla="val 15625" name="adj"/>
            </a:avLst>
          </a:prstGeom>
          <a:solidFill>
            <a:srgbClr val="FFB800">
              <a:alpha val="90196"/>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7"/>
          <p:cNvSpPr/>
          <p:nvPr/>
        </p:nvSpPr>
        <p:spPr>
          <a:xfrm>
            <a:off x="4800600" y="2670048"/>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¿Por qué...?</a:t>
            </a:r>
            <a:endParaRPr b="0" i="0" sz="1100" u="none" cap="none" strike="noStrike">
              <a:solidFill>
                <a:schemeClr val="dk1"/>
              </a:solidFill>
              <a:latin typeface="Calibri"/>
              <a:ea typeface="Calibri"/>
              <a:cs typeface="Calibri"/>
              <a:sym typeface="Calibri"/>
            </a:endParaRPr>
          </a:p>
        </p:txBody>
      </p:sp>
      <p:sp>
        <p:nvSpPr>
          <p:cNvPr id="134" name="Google Shape;134;p7"/>
          <p:cNvSpPr/>
          <p:nvPr/>
        </p:nvSpPr>
        <p:spPr>
          <a:xfrm>
            <a:off x="6263640" y="2688336"/>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Investiga causas</a:t>
            </a:r>
            <a:endParaRPr b="0" i="0" sz="950" u="none" cap="none" strike="noStrike">
              <a:solidFill>
                <a:schemeClr val="dk1"/>
              </a:solidFill>
              <a:latin typeface="Calibri"/>
              <a:ea typeface="Calibri"/>
              <a:cs typeface="Calibri"/>
              <a:sym typeface="Calibri"/>
            </a:endParaRPr>
          </a:p>
        </p:txBody>
      </p:sp>
      <p:sp>
        <p:nvSpPr>
          <p:cNvPr id="135" name="Google Shape;135;p7"/>
          <p:cNvSpPr/>
          <p:nvPr/>
        </p:nvSpPr>
        <p:spPr>
          <a:xfrm>
            <a:off x="4800600" y="3035808"/>
            <a:ext cx="3886200" cy="502920"/>
          </a:xfrm>
          <a:prstGeom prst="roundRect">
            <a:avLst>
              <a:gd fmla="val 10909" name="adj"/>
            </a:avLst>
          </a:prstGeom>
          <a:solidFill>
            <a:srgbClr val="FFB800">
              <a:alpha val="7843"/>
            </a:srgbClr>
          </a:solidFill>
          <a:ln cap="flat" cmpd="sng" w="12700">
            <a:solidFill>
              <a:srgbClr val="FFB800">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
          <p:cNvSpPr/>
          <p:nvPr/>
        </p:nvSpPr>
        <p:spPr>
          <a:xfrm>
            <a:off x="4892040" y="3035808"/>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
        <p:nvSpPr>
          <p:cNvPr id="137" name="Google Shape;137;p7"/>
          <p:cNvSpPr/>
          <p:nvPr/>
        </p:nvSpPr>
        <p:spPr>
          <a:xfrm>
            <a:off x="365760" y="3749040"/>
            <a:ext cx="4160520" cy="1078992"/>
          </a:xfrm>
          <a:prstGeom prst="roundRect">
            <a:avLst>
              <a:gd fmla="val 8475" name="adj"/>
            </a:avLst>
          </a:prstGeom>
          <a:solidFill>
            <a:srgbClr val="FFFFFF"/>
          </a:solidFill>
          <a:ln cap="flat" cmpd="sng" w="19050">
            <a:solidFill>
              <a:srgbClr val="00C896"/>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
          <p:cNvSpPr/>
          <p:nvPr/>
        </p:nvSpPr>
        <p:spPr>
          <a:xfrm>
            <a:off x="457200" y="3840480"/>
            <a:ext cx="1371600" cy="292608"/>
          </a:xfrm>
          <a:prstGeom prst="roundRect">
            <a:avLst>
              <a:gd fmla="val 15625" name="adj"/>
            </a:avLst>
          </a:prstGeom>
          <a:solidFill>
            <a:srgbClr val="00C896">
              <a:alpha val="90196"/>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7"/>
          <p:cNvSpPr/>
          <p:nvPr/>
        </p:nvSpPr>
        <p:spPr>
          <a:xfrm>
            <a:off x="457200" y="3840480"/>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¿Para qué...?</a:t>
            </a:r>
            <a:endParaRPr b="0" i="0" sz="1100" u="none" cap="none" strike="noStrike">
              <a:solidFill>
                <a:schemeClr val="dk1"/>
              </a:solidFill>
              <a:latin typeface="Calibri"/>
              <a:ea typeface="Calibri"/>
              <a:cs typeface="Calibri"/>
              <a:sym typeface="Calibri"/>
            </a:endParaRPr>
          </a:p>
        </p:txBody>
      </p:sp>
      <p:sp>
        <p:nvSpPr>
          <p:cNvPr id="140" name="Google Shape;140;p7"/>
          <p:cNvSpPr/>
          <p:nvPr/>
        </p:nvSpPr>
        <p:spPr>
          <a:xfrm>
            <a:off x="1920240" y="3858768"/>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Explora el propósito</a:t>
            </a:r>
            <a:endParaRPr b="0" i="0" sz="950" u="none" cap="none" strike="noStrike">
              <a:solidFill>
                <a:schemeClr val="dk1"/>
              </a:solidFill>
              <a:latin typeface="Calibri"/>
              <a:ea typeface="Calibri"/>
              <a:cs typeface="Calibri"/>
              <a:sym typeface="Calibri"/>
            </a:endParaRPr>
          </a:p>
        </p:txBody>
      </p:sp>
      <p:sp>
        <p:nvSpPr>
          <p:cNvPr id="141" name="Google Shape;141;p7"/>
          <p:cNvSpPr/>
          <p:nvPr/>
        </p:nvSpPr>
        <p:spPr>
          <a:xfrm>
            <a:off x="457200" y="4206240"/>
            <a:ext cx="3886200" cy="502920"/>
          </a:xfrm>
          <a:prstGeom prst="roundRect">
            <a:avLst>
              <a:gd fmla="val 10909" name="adj"/>
            </a:avLst>
          </a:prstGeom>
          <a:solidFill>
            <a:srgbClr val="00C896">
              <a:alpha val="7843"/>
            </a:srgbClr>
          </a:solidFill>
          <a:ln cap="flat" cmpd="sng" w="12700">
            <a:solidFill>
              <a:srgbClr val="00C89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
          <p:cNvSpPr/>
          <p:nvPr/>
        </p:nvSpPr>
        <p:spPr>
          <a:xfrm>
            <a:off x="548640" y="4206240"/>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
        <p:nvSpPr>
          <p:cNvPr id="143" name="Google Shape;143;p7"/>
          <p:cNvSpPr/>
          <p:nvPr/>
        </p:nvSpPr>
        <p:spPr>
          <a:xfrm>
            <a:off x="4709160" y="3749040"/>
            <a:ext cx="4160520" cy="1078992"/>
          </a:xfrm>
          <a:prstGeom prst="roundRect">
            <a:avLst>
              <a:gd fmla="val 8475" name="adj"/>
            </a:avLst>
          </a:prstGeom>
          <a:solidFill>
            <a:srgbClr val="FFFFFF"/>
          </a:solidFill>
          <a:ln cap="flat" cmpd="sng" w="19050">
            <a:solidFill>
              <a:srgbClr val="9B59B6"/>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7"/>
          <p:cNvSpPr/>
          <p:nvPr/>
        </p:nvSpPr>
        <p:spPr>
          <a:xfrm>
            <a:off x="4800600" y="3840480"/>
            <a:ext cx="1371600" cy="292608"/>
          </a:xfrm>
          <a:prstGeom prst="roundRect">
            <a:avLst>
              <a:gd fmla="val 15625" name="adj"/>
            </a:avLst>
          </a:prstGeom>
          <a:solidFill>
            <a:srgbClr val="9B59B6">
              <a:alpha val="90196"/>
            </a:srgbClr>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7"/>
          <p:cNvSpPr/>
          <p:nvPr/>
        </p:nvSpPr>
        <p:spPr>
          <a:xfrm>
            <a:off x="4800600" y="3840480"/>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¿Qué harías...?</a:t>
            </a:r>
            <a:endParaRPr b="0" i="0" sz="1100" u="none" cap="none" strike="noStrike">
              <a:solidFill>
                <a:schemeClr val="dk1"/>
              </a:solidFill>
              <a:latin typeface="Calibri"/>
              <a:ea typeface="Calibri"/>
              <a:cs typeface="Calibri"/>
              <a:sym typeface="Calibri"/>
            </a:endParaRPr>
          </a:p>
        </p:txBody>
      </p:sp>
      <p:sp>
        <p:nvSpPr>
          <p:cNvPr id="146" name="Google Shape;146;p7"/>
          <p:cNvSpPr/>
          <p:nvPr/>
        </p:nvSpPr>
        <p:spPr>
          <a:xfrm>
            <a:off x="6263640" y="3858768"/>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Imagina soluciones</a:t>
            </a:r>
            <a:endParaRPr b="0" i="0" sz="950" u="none" cap="none" strike="noStrike">
              <a:solidFill>
                <a:schemeClr val="dk1"/>
              </a:solidFill>
              <a:latin typeface="Calibri"/>
              <a:ea typeface="Calibri"/>
              <a:cs typeface="Calibri"/>
              <a:sym typeface="Calibri"/>
            </a:endParaRPr>
          </a:p>
        </p:txBody>
      </p:sp>
      <p:sp>
        <p:nvSpPr>
          <p:cNvPr id="147" name="Google Shape;147;p7"/>
          <p:cNvSpPr/>
          <p:nvPr/>
        </p:nvSpPr>
        <p:spPr>
          <a:xfrm>
            <a:off x="4800600" y="4206240"/>
            <a:ext cx="3886200" cy="502920"/>
          </a:xfrm>
          <a:prstGeom prst="roundRect">
            <a:avLst>
              <a:gd fmla="val 10909" name="adj"/>
            </a:avLst>
          </a:prstGeom>
          <a:solidFill>
            <a:srgbClr val="9B59B6">
              <a:alpha val="7843"/>
            </a:srgbClr>
          </a:solidFill>
          <a:ln cap="flat" cmpd="sng" w="12700">
            <a:solidFill>
              <a:srgbClr val="9B59B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4892040" y="4206240"/>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153" name="Shape 153"/>
        <p:cNvGrpSpPr/>
        <p:nvPr/>
      </p:nvGrpSpPr>
      <p:grpSpPr>
        <a:xfrm>
          <a:off x="0" y="0"/>
          <a:ext cx="0" cy="0"/>
          <a:chOff x="0" y="0"/>
          <a:chExt cx="0" cy="0"/>
        </a:xfrm>
      </p:grpSpPr>
      <p:sp>
        <p:nvSpPr>
          <p:cNvPr id="154" name="Google Shape;154;p8"/>
          <p:cNvSpPr/>
          <p:nvPr/>
        </p:nvSpPr>
        <p:spPr>
          <a:xfrm>
            <a:off x="0" y="0"/>
            <a:ext cx="9144000" cy="502920"/>
          </a:xfrm>
          <a:prstGeom prst="rect">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8"/>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MONITOR DE CALIDAD DEL AIRE  ·  RONDA 3 DE 5</a:t>
            </a:r>
            <a:endParaRPr b="0" i="0" sz="1100" u="none" cap="none" strike="noStrike">
              <a:solidFill>
                <a:schemeClr val="dk1"/>
              </a:solidFill>
              <a:latin typeface="Calibri"/>
              <a:ea typeface="Calibri"/>
              <a:cs typeface="Calibri"/>
              <a:sym typeface="Calibri"/>
            </a:endParaRPr>
          </a:p>
        </p:txBody>
      </p:sp>
      <p:sp>
        <p:nvSpPr>
          <p:cNvPr id="156" name="Google Shape;156;p8"/>
          <p:cNvSpPr/>
          <p:nvPr/>
        </p:nvSpPr>
        <p:spPr>
          <a:xfrm>
            <a:off x="7498080" y="54864"/>
            <a:ext cx="1417320" cy="384048"/>
          </a:xfrm>
          <a:prstGeom prst="roundRect">
            <a:avLst>
              <a:gd fmla="val 19048" name="adj"/>
            </a:avLst>
          </a:prstGeom>
          <a:solidFill>
            <a:srgbClr val="0A0E2A"/>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8"/>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896"/>
              </a:buClr>
              <a:buSzPts val="1300"/>
              <a:buFont typeface="Calibri"/>
              <a:buNone/>
            </a:pPr>
            <a:r>
              <a:rPr b="1" i="0" lang="en-US" sz="1300" u="none" cap="none" strike="noStrike">
                <a:solidFill>
                  <a:srgbClr val="00C896"/>
                </a:solidFill>
                <a:latin typeface="Calibri"/>
                <a:ea typeface="Calibri"/>
                <a:cs typeface="Calibri"/>
                <a:sym typeface="Calibri"/>
              </a:rPr>
              <a:t>⏱  6 min</a:t>
            </a:r>
            <a:endParaRPr b="0" i="0" sz="1300" u="none" cap="none" strike="noStrike">
              <a:solidFill>
                <a:schemeClr val="dk1"/>
              </a:solidFill>
              <a:latin typeface="Calibri"/>
              <a:ea typeface="Calibri"/>
              <a:cs typeface="Calibri"/>
              <a:sym typeface="Calibri"/>
            </a:endParaRPr>
          </a:p>
        </p:txBody>
      </p:sp>
      <p:sp>
        <p:nvSpPr>
          <p:cNvPr id="158" name="Google Shape;158;p8"/>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896"/>
              </a:buClr>
              <a:buSzPts val="1100"/>
              <a:buFont typeface="Calibri"/>
              <a:buNone/>
            </a:pPr>
            <a:r>
              <a:rPr b="1" i="0" lang="en-US" sz="1100" u="none" cap="none" strike="noStrike">
                <a:solidFill>
                  <a:srgbClr val="00C896"/>
                </a:solidFill>
                <a:latin typeface="Calibri"/>
                <a:ea typeface="Calibri"/>
                <a:cs typeface="Calibri"/>
                <a:sym typeface="Calibri"/>
              </a:rPr>
              <a:t>RONDA 3</a:t>
            </a:r>
            <a:endParaRPr b="0" i="0" sz="1100" u="none" cap="none" strike="noStrike">
              <a:solidFill>
                <a:schemeClr val="dk1"/>
              </a:solidFill>
              <a:latin typeface="Calibri"/>
              <a:ea typeface="Calibri"/>
              <a:cs typeface="Calibri"/>
              <a:sym typeface="Calibri"/>
            </a:endParaRPr>
          </a:p>
        </p:txBody>
      </p:sp>
      <p:sp>
        <p:nvSpPr>
          <p:cNvPr id="159" name="Google Shape;159;p8"/>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896"/>
              </a:buClr>
              <a:buSzPts val="2600"/>
              <a:buFont typeface="Calibri"/>
              <a:buNone/>
            </a:pPr>
            <a:r>
              <a:rPr b="1" i="0" lang="en-US" sz="2600" u="none" cap="none" strike="noStrike">
                <a:solidFill>
                  <a:srgbClr val="00C896"/>
                </a:solidFill>
                <a:latin typeface="Calibri"/>
                <a:ea typeface="Calibri"/>
                <a:cs typeface="Calibri"/>
                <a:sym typeface="Calibri"/>
              </a:rPr>
              <a:t>4 COMPONENTES + PROBLEMA TÉCNICO</a:t>
            </a:r>
            <a:endParaRPr b="0" i="0" sz="2600" u="none" cap="none" strike="noStrike">
              <a:solidFill>
                <a:schemeClr val="dk1"/>
              </a:solidFill>
              <a:latin typeface="Calibri"/>
              <a:ea typeface="Calibri"/>
              <a:cs typeface="Calibri"/>
              <a:sym typeface="Calibri"/>
            </a:endParaRPr>
          </a:p>
        </p:txBody>
      </p:sp>
      <p:sp>
        <p:nvSpPr>
          <p:cNvPr id="160" name="Google Shape;160;p8"/>
          <p:cNvSpPr/>
          <p:nvPr/>
        </p:nvSpPr>
        <p:spPr>
          <a:xfrm>
            <a:off x="365760" y="1600200"/>
            <a:ext cx="8412480" cy="868680"/>
          </a:xfrm>
          <a:prstGeom prst="roundRect">
            <a:avLst>
              <a:gd fmla="val 12632" name="adj"/>
            </a:avLst>
          </a:prstGeom>
          <a:solidFill>
            <a:srgbClr val="1A2550"/>
          </a:solidFill>
          <a:ln cap="flat" cmpd="sng" w="22850">
            <a:solidFill>
              <a:srgbClr val="00C896"/>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Identifiquen: CONTEXTO · VARIABLE · PUNTO DE QUIEBRE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Luego enuncien el PROBLEMA TÉCNICO en una sola oración sin adjetivos subjetivos.</a:t>
            </a:r>
            <a:endParaRPr b="0" i="0" sz="1300" u="none" cap="none" strike="noStrike">
              <a:solidFill>
                <a:schemeClr val="dk1"/>
              </a:solidFill>
              <a:latin typeface="Calibri"/>
              <a:ea typeface="Calibri"/>
              <a:cs typeface="Calibri"/>
              <a:sym typeface="Calibri"/>
            </a:endParaRPr>
          </a:p>
        </p:txBody>
      </p:sp>
      <p:sp>
        <p:nvSpPr>
          <p:cNvPr id="162" name="Google Shape;162;p8"/>
          <p:cNvSpPr/>
          <p:nvPr/>
        </p:nvSpPr>
        <p:spPr>
          <a:xfrm>
            <a:off x="365760" y="2578608"/>
            <a:ext cx="8412480" cy="530352"/>
          </a:xfrm>
          <a:prstGeom prst="roundRect">
            <a:avLst>
              <a:gd fmla="val 13793" name="adj"/>
            </a:avLst>
          </a:prstGeom>
          <a:solidFill>
            <a:srgbClr val="1A2550"/>
          </a:solidFill>
          <a:ln cap="flat" cmpd="sng" w="19050">
            <a:solidFill>
              <a:srgbClr val="00D4FF"/>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
          <p:cNvSpPr/>
          <p:nvPr/>
        </p:nvSpPr>
        <p:spPr>
          <a:xfrm>
            <a:off x="457200" y="2651760"/>
            <a:ext cx="1645920" cy="365760"/>
          </a:xfrm>
          <a:prstGeom prst="roundRect">
            <a:avLst>
              <a:gd fmla="val 15000" name="adj"/>
            </a:avLst>
          </a:prstGeom>
          <a:solidFill>
            <a:srgbClr val="00D4FF">
              <a:alpha val="92156"/>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p:nvPr/>
        </p:nvSpPr>
        <p:spPr>
          <a:xfrm>
            <a:off x="457200" y="2651760"/>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CONTEXTO</a:t>
            </a:r>
            <a:endParaRPr b="0" i="0" sz="950" u="none" cap="none" strike="noStrike">
              <a:solidFill>
                <a:schemeClr val="dk1"/>
              </a:solidFill>
              <a:latin typeface="Calibri"/>
              <a:ea typeface="Calibri"/>
              <a:cs typeface="Calibri"/>
              <a:sym typeface="Calibri"/>
            </a:endParaRPr>
          </a:p>
        </p:txBody>
      </p:sp>
      <p:sp>
        <p:nvSpPr>
          <p:cNvPr id="165" name="Google Shape;165;p8"/>
          <p:cNvSpPr/>
          <p:nvPr/>
        </p:nvSpPr>
        <p:spPr>
          <a:xfrm>
            <a:off x="2194560" y="2578608"/>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¿En qué sistema / lugar / momento ocurre?</a:t>
            </a:r>
            <a:endParaRPr b="0" i="0" sz="1050" u="none" cap="none" strike="noStrike">
              <a:solidFill>
                <a:schemeClr val="dk1"/>
              </a:solidFill>
              <a:latin typeface="Calibri"/>
              <a:ea typeface="Calibri"/>
              <a:cs typeface="Calibri"/>
              <a:sym typeface="Calibri"/>
            </a:endParaRPr>
          </a:p>
        </p:txBody>
      </p:sp>
      <p:sp>
        <p:nvSpPr>
          <p:cNvPr id="166" name="Google Shape;166;p8"/>
          <p:cNvSpPr/>
          <p:nvPr/>
        </p:nvSpPr>
        <p:spPr>
          <a:xfrm>
            <a:off x="365760" y="3182112"/>
            <a:ext cx="8412480" cy="530352"/>
          </a:xfrm>
          <a:prstGeom prst="roundRect">
            <a:avLst>
              <a:gd fmla="val 13793" name="adj"/>
            </a:avLst>
          </a:prstGeom>
          <a:solidFill>
            <a:srgbClr val="1A2550"/>
          </a:solidFill>
          <a:ln cap="flat" cmpd="sng" w="19050">
            <a:solidFill>
              <a:srgbClr val="FFB800"/>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p:nvPr/>
        </p:nvSpPr>
        <p:spPr>
          <a:xfrm>
            <a:off x="457200" y="3255264"/>
            <a:ext cx="1645920" cy="365760"/>
          </a:xfrm>
          <a:prstGeom prst="roundRect">
            <a:avLst>
              <a:gd fmla="val 15000" name="adj"/>
            </a:avLst>
          </a:prstGeom>
          <a:solidFill>
            <a:srgbClr val="FFB800">
              <a:alpha val="92156"/>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
          <p:cNvSpPr/>
          <p:nvPr/>
        </p:nvSpPr>
        <p:spPr>
          <a:xfrm>
            <a:off x="457200" y="3255264"/>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VARIABLE</a:t>
            </a:r>
            <a:endParaRPr b="0" i="0" sz="950" u="none" cap="none" strike="noStrike">
              <a:solidFill>
                <a:schemeClr val="dk1"/>
              </a:solidFill>
              <a:latin typeface="Calibri"/>
              <a:ea typeface="Calibri"/>
              <a:cs typeface="Calibri"/>
              <a:sym typeface="Calibri"/>
            </a:endParaRPr>
          </a:p>
        </p:txBody>
      </p:sp>
      <p:sp>
        <p:nvSpPr>
          <p:cNvPr id="169" name="Google Shape;169;p8"/>
          <p:cNvSpPr/>
          <p:nvPr/>
        </p:nvSpPr>
        <p:spPr>
          <a:xfrm>
            <a:off x="2194560" y="3182112"/>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¿Qué es lo único que, si lo mido, me dice si el problema existe?</a:t>
            </a:r>
            <a:endParaRPr b="0" i="0" sz="1050" u="none" cap="none" strike="noStrike">
              <a:solidFill>
                <a:schemeClr val="dk1"/>
              </a:solidFill>
              <a:latin typeface="Calibri"/>
              <a:ea typeface="Calibri"/>
              <a:cs typeface="Calibri"/>
              <a:sym typeface="Calibri"/>
            </a:endParaRPr>
          </a:p>
        </p:txBody>
      </p:sp>
      <p:sp>
        <p:nvSpPr>
          <p:cNvPr id="170" name="Google Shape;170;p8"/>
          <p:cNvSpPr/>
          <p:nvPr/>
        </p:nvSpPr>
        <p:spPr>
          <a:xfrm>
            <a:off x="365760" y="3785616"/>
            <a:ext cx="8412480" cy="530352"/>
          </a:xfrm>
          <a:prstGeom prst="roundRect">
            <a:avLst>
              <a:gd fmla="val 13793" name="adj"/>
            </a:avLst>
          </a:prstGeom>
          <a:solidFill>
            <a:srgbClr val="1A2550"/>
          </a:solidFill>
          <a:ln cap="flat" cmpd="sng" w="19050">
            <a:solidFill>
              <a:srgbClr val="FF4D6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457200" y="3858768"/>
            <a:ext cx="1645920" cy="365760"/>
          </a:xfrm>
          <a:prstGeom prst="roundRect">
            <a:avLst>
              <a:gd fmla="val 15000" name="adj"/>
            </a:avLst>
          </a:prstGeom>
          <a:solidFill>
            <a:srgbClr val="FF4D6A">
              <a:alpha val="92156"/>
            </a:srgbClr>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8"/>
          <p:cNvSpPr/>
          <p:nvPr/>
        </p:nvSpPr>
        <p:spPr>
          <a:xfrm>
            <a:off x="457200" y="3858768"/>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PUNTO DE QUIEBRE</a:t>
            </a:r>
            <a:endParaRPr b="0" i="0" sz="950" u="none" cap="none" strike="noStrike">
              <a:solidFill>
                <a:schemeClr val="dk1"/>
              </a:solidFill>
              <a:latin typeface="Calibri"/>
              <a:ea typeface="Calibri"/>
              <a:cs typeface="Calibri"/>
              <a:sym typeface="Calibri"/>
            </a:endParaRPr>
          </a:p>
        </p:txBody>
      </p:sp>
      <p:sp>
        <p:nvSpPr>
          <p:cNvPr id="173" name="Google Shape;173;p8"/>
          <p:cNvSpPr/>
          <p:nvPr/>
        </p:nvSpPr>
        <p:spPr>
          <a:xfrm>
            <a:off x="2194560" y="3785616"/>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¿A partir de qué valor digo que el problema empieza?</a:t>
            </a:r>
            <a:endParaRPr b="0" i="0" sz="1050" u="none" cap="none" strike="noStrike">
              <a:solidFill>
                <a:schemeClr val="dk1"/>
              </a:solidFill>
              <a:latin typeface="Calibri"/>
              <a:ea typeface="Calibri"/>
              <a:cs typeface="Calibri"/>
              <a:sym typeface="Calibri"/>
            </a:endParaRPr>
          </a:p>
        </p:txBody>
      </p:sp>
      <p:sp>
        <p:nvSpPr>
          <p:cNvPr id="174" name="Google Shape;174;p8"/>
          <p:cNvSpPr/>
          <p:nvPr/>
        </p:nvSpPr>
        <p:spPr>
          <a:xfrm>
            <a:off x="365760" y="4389120"/>
            <a:ext cx="8412480" cy="530352"/>
          </a:xfrm>
          <a:prstGeom prst="roundRect">
            <a:avLst>
              <a:gd fmla="val 13793" name="adj"/>
            </a:avLst>
          </a:prstGeom>
          <a:solidFill>
            <a:srgbClr val="1A2550"/>
          </a:solidFill>
          <a:ln cap="flat" cmpd="sng" w="19050">
            <a:solidFill>
              <a:srgbClr val="00C896"/>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
          <p:cNvSpPr/>
          <p:nvPr/>
        </p:nvSpPr>
        <p:spPr>
          <a:xfrm>
            <a:off x="457200" y="4462272"/>
            <a:ext cx="1645920" cy="365760"/>
          </a:xfrm>
          <a:prstGeom prst="roundRect">
            <a:avLst>
              <a:gd fmla="val 15000" name="adj"/>
            </a:avLst>
          </a:prstGeom>
          <a:solidFill>
            <a:srgbClr val="00C896">
              <a:alpha val="92156"/>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p:nvPr/>
        </p:nvSpPr>
        <p:spPr>
          <a:xfrm>
            <a:off x="457200" y="4462272"/>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PROBLEMA TÉCNICO</a:t>
            </a:r>
            <a:endParaRPr b="0" i="0" sz="950" u="none" cap="none" strike="noStrike">
              <a:solidFill>
                <a:schemeClr val="dk1"/>
              </a:solidFill>
              <a:latin typeface="Calibri"/>
              <a:ea typeface="Calibri"/>
              <a:cs typeface="Calibri"/>
              <a:sym typeface="Calibri"/>
            </a:endParaRPr>
          </a:p>
        </p:txBody>
      </p:sp>
      <p:sp>
        <p:nvSpPr>
          <p:cNvPr id="177" name="Google Shape;177;p8"/>
          <p:cNvSpPr/>
          <p:nvPr/>
        </p:nvSpPr>
        <p:spPr>
          <a:xfrm>
            <a:off x="2194560" y="4389120"/>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1" lang="en-US" sz="1050" u="none" cap="none" strike="noStrike">
                <a:solidFill>
                  <a:srgbClr val="E8EDF5"/>
                </a:solidFill>
                <a:latin typeface="Calibri"/>
                <a:ea typeface="Calibri"/>
                <a:cs typeface="Calibri"/>
                <a:sym typeface="Calibri"/>
              </a:rPr>
              <a:t>En [contexto] ocurre [problema] cuando [variable] supera [quiebre].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A"/>
        </a:solidFill>
      </p:bgPr>
    </p:bg>
    <p:spTree>
      <p:nvGrpSpPr>
        <p:cNvPr id="182" name="Shape 182"/>
        <p:cNvGrpSpPr/>
        <p:nvPr/>
      </p:nvGrpSpPr>
      <p:grpSpPr>
        <a:xfrm>
          <a:off x="0" y="0"/>
          <a:ext cx="0" cy="0"/>
          <a:chOff x="0" y="0"/>
          <a:chExt cx="0" cy="0"/>
        </a:xfrm>
      </p:grpSpPr>
      <p:sp>
        <p:nvSpPr>
          <p:cNvPr id="183" name="Google Shape;183;p9"/>
          <p:cNvSpPr/>
          <p:nvPr/>
        </p:nvSpPr>
        <p:spPr>
          <a:xfrm>
            <a:off x="0" y="0"/>
            <a:ext cx="9144000" cy="502920"/>
          </a:xfrm>
          <a:prstGeom prst="rect">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9"/>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MONITOR DE CALIDAD DEL AIRE  ·  RONDA 4 DE 5</a:t>
            </a:r>
            <a:endParaRPr b="0" i="0" sz="1100" u="none" cap="none" strike="noStrike">
              <a:solidFill>
                <a:schemeClr val="dk1"/>
              </a:solidFill>
              <a:latin typeface="Calibri"/>
              <a:ea typeface="Calibri"/>
              <a:cs typeface="Calibri"/>
              <a:sym typeface="Calibri"/>
            </a:endParaRPr>
          </a:p>
        </p:txBody>
      </p:sp>
      <p:sp>
        <p:nvSpPr>
          <p:cNvPr id="185" name="Google Shape;185;p9"/>
          <p:cNvSpPr/>
          <p:nvPr/>
        </p:nvSpPr>
        <p:spPr>
          <a:xfrm>
            <a:off x="7498080" y="54864"/>
            <a:ext cx="1417320" cy="384048"/>
          </a:xfrm>
          <a:prstGeom prst="roundRect">
            <a:avLst>
              <a:gd fmla="val 19048" name="adj"/>
            </a:avLst>
          </a:prstGeom>
          <a:solidFill>
            <a:srgbClr val="0A0E2A"/>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9"/>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B59B6"/>
              </a:buClr>
              <a:buSzPts val="1300"/>
              <a:buFont typeface="Calibri"/>
              <a:buNone/>
            </a:pPr>
            <a:r>
              <a:rPr b="1" i="0" lang="en-US" sz="1300" u="none" cap="none" strike="noStrike">
                <a:solidFill>
                  <a:srgbClr val="9B59B6"/>
                </a:solidFill>
                <a:latin typeface="Calibri"/>
                <a:ea typeface="Calibri"/>
                <a:cs typeface="Calibri"/>
                <a:sym typeface="Calibri"/>
              </a:rPr>
              <a:t>⏱  3 min</a:t>
            </a:r>
            <a:endParaRPr b="0" i="0" sz="1300" u="none" cap="none" strike="noStrike">
              <a:solidFill>
                <a:schemeClr val="dk1"/>
              </a:solidFill>
              <a:latin typeface="Calibri"/>
              <a:ea typeface="Calibri"/>
              <a:cs typeface="Calibri"/>
              <a:sym typeface="Calibri"/>
            </a:endParaRPr>
          </a:p>
        </p:txBody>
      </p:sp>
      <p:sp>
        <p:nvSpPr>
          <p:cNvPr id="187" name="Google Shape;187;p9"/>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1100"/>
              <a:buFont typeface="Calibri"/>
              <a:buNone/>
            </a:pPr>
            <a:r>
              <a:rPr b="1" i="0" lang="en-US" sz="1100" u="none" cap="none" strike="noStrike">
                <a:solidFill>
                  <a:srgbClr val="9B59B6"/>
                </a:solidFill>
                <a:latin typeface="Calibri"/>
                <a:ea typeface="Calibri"/>
                <a:cs typeface="Calibri"/>
                <a:sym typeface="Calibri"/>
              </a:rPr>
              <a:t>RONDA 4</a:t>
            </a:r>
            <a:endParaRPr b="0" i="0" sz="1100" u="none" cap="none" strike="noStrike">
              <a:solidFill>
                <a:schemeClr val="dk1"/>
              </a:solidFill>
              <a:latin typeface="Calibri"/>
              <a:ea typeface="Calibri"/>
              <a:cs typeface="Calibri"/>
              <a:sym typeface="Calibri"/>
            </a:endParaRPr>
          </a:p>
        </p:txBody>
      </p:sp>
      <p:sp>
        <p:nvSpPr>
          <p:cNvPr id="188" name="Google Shape;188;p9"/>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2600"/>
              <a:buFont typeface="Calibri"/>
              <a:buNone/>
            </a:pPr>
            <a:r>
              <a:rPr b="1" i="0" lang="en-US" sz="2600" u="none" cap="none" strike="noStrike">
                <a:solidFill>
                  <a:srgbClr val="0A0E2A"/>
                </a:solidFill>
                <a:latin typeface="Calibri"/>
                <a:ea typeface="Calibri"/>
                <a:cs typeface="Calibri"/>
                <a:sym typeface="Calibri"/>
              </a:rPr>
              <a:t>OBJETIVOS</a:t>
            </a:r>
            <a:endParaRPr b="0" i="0" sz="2600" u="none" cap="none" strike="noStrike">
              <a:solidFill>
                <a:schemeClr val="dk1"/>
              </a:solidFill>
              <a:latin typeface="Calibri"/>
              <a:ea typeface="Calibri"/>
              <a:cs typeface="Calibri"/>
              <a:sym typeface="Calibri"/>
            </a:endParaRPr>
          </a:p>
        </p:txBody>
      </p:sp>
      <p:sp>
        <p:nvSpPr>
          <p:cNvPr id="189" name="Google Shape;189;p9"/>
          <p:cNvSpPr/>
          <p:nvPr/>
        </p:nvSpPr>
        <p:spPr>
          <a:xfrm>
            <a:off x="365760" y="1600200"/>
            <a:ext cx="8412480" cy="868680"/>
          </a:xfrm>
          <a:prstGeom prst="roundRect">
            <a:avLst>
              <a:gd fmla="val 12632" name="adj"/>
            </a:avLst>
          </a:prstGeom>
          <a:solidFill>
            <a:srgbClr val="FFFFFF"/>
          </a:solidFill>
          <a:ln cap="flat" cmpd="sng" w="22850">
            <a:solidFill>
              <a:srgbClr val="9B59B6"/>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9"/>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A partir del problema técnico, enuncien 2 o 3 objetivos concretos y medibles.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Cada objetivo debe poder verificarse.</a:t>
            </a:r>
            <a:endParaRPr b="0" i="0" sz="1300" u="none" cap="none" strike="noStrike">
              <a:solidFill>
                <a:schemeClr val="dk1"/>
              </a:solidFill>
              <a:latin typeface="Calibri"/>
              <a:ea typeface="Calibri"/>
              <a:cs typeface="Calibri"/>
              <a:sym typeface="Calibri"/>
            </a:endParaRPr>
          </a:p>
        </p:txBody>
      </p:sp>
      <p:sp>
        <p:nvSpPr>
          <p:cNvPr id="191" name="Google Shape;191;p9"/>
          <p:cNvSpPr/>
          <p:nvPr/>
        </p:nvSpPr>
        <p:spPr>
          <a:xfrm>
            <a:off x="365760" y="2578608"/>
            <a:ext cx="8412480" cy="2176272"/>
          </a:xfrm>
          <a:prstGeom prst="roundRect">
            <a:avLst>
              <a:gd fmla="val 5042" name="adj"/>
            </a:avLst>
          </a:prstGeom>
          <a:solidFill>
            <a:srgbClr val="FFFFFF"/>
          </a:solidFill>
          <a:ln cap="flat" cmpd="sng" w="19050">
            <a:solidFill>
              <a:srgbClr val="9B59B6"/>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p:nvPr/>
        </p:nvSpPr>
        <p:spPr>
          <a:xfrm>
            <a:off x="548640" y="265176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1050"/>
              <a:buFont typeface="Calibri"/>
              <a:buNone/>
            </a:pPr>
            <a:r>
              <a:rPr b="1" i="0" lang="en-US" sz="1050" u="none" cap="none" strike="noStrike">
                <a:solidFill>
                  <a:srgbClr val="9B59B6"/>
                </a:solidFill>
                <a:latin typeface="Calibri"/>
                <a:ea typeface="Calibri"/>
                <a:cs typeface="Calibri"/>
                <a:sym typeface="Calibri"/>
              </a:rPr>
              <a:t>REGLAS DEL OBJETIVO BIEN PLANTEADO:</a:t>
            </a:r>
            <a:endParaRPr b="0" i="0" sz="1050" u="none" cap="none" strike="noStrike">
              <a:solidFill>
                <a:schemeClr val="dk1"/>
              </a:solidFill>
              <a:latin typeface="Calibri"/>
              <a:ea typeface="Calibri"/>
              <a:cs typeface="Calibri"/>
              <a:sym typeface="Calibri"/>
            </a:endParaRPr>
          </a:p>
        </p:txBody>
      </p:sp>
      <p:sp>
        <p:nvSpPr>
          <p:cNvPr id="193" name="Google Shape;193;p9"/>
          <p:cNvSpPr/>
          <p:nvPr/>
        </p:nvSpPr>
        <p:spPr>
          <a:xfrm>
            <a:off x="548640" y="299923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548640" y="299923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195" name="Google Shape;195;p9"/>
          <p:cNvSpPr/>
          <p:nvPr/>
        </p:nvSpPr>
        <p:spPr>
          <a:xfrm>
            <a:off x="914400" y="297180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Comienza con un verbo de acción (detectar, activar, medir, controlar, enviar...)</a:t>
            </a:r>
            <a:endParaRPr b="0" i="0" sz="1100" u="none" cap="none" strike="noStrike">
              <a:solidFill>
                <a:schemeClr val="dk1"/>
              </a:solidFill>
              <a:latin typeface="Calibri"/>
              <a:ea typeface="Calibri"/>
              <a:cs typeface="Calibri"/>
              <a:sym typeface="Calibri"/>
            </a:endParaRPr>
          </a:p>
        </p:txBody>
      </p:sp>
      <p:sp>
        <p:nvSpPr>
          <p:cNvPr id="196" name="Google Shape;196;p9"/>
          <p:cNvSpPr/>
          <p:nvPr/>
        </p:nvSpPr>
        <p:spPr>
          <a:xfrm>
            <a:off x="548640" y="341071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9"/>
          <p:cNvSpPr/>
          <p:nvPr/>
        </p:nvSpPr>
        <p:spPr>
          <a:xfrm>
            <a:off x="548640" y="341071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198" name="Google Shape;198;p9"/>
          <p:cNvSpPr/>
          <p:nvPr/>
        </p:nvSpPr>
        <p:spPr>
          <a:xfrm>
            <a:off x="914400" y="338328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Incluye la variable y el punto de quiebre que ya identificaron</a:t>
            </a:r>
            <a:endParaRPr b="0" i="0" sz="1100" u="none" cap="none" strike="noStrike">
              <a:solidFill>
                <a:schemeClr val="dk1"/>
              </a:solidFill>
              <a:latin typeface="Calibri"/>
              <a:ea typeface="Calibri"/>
              <a:cs typeface="Calibri"/>
              <a:sym typeface="Calibri"/>
            </a:endParaRPr>
          </a:p>
        </p:txBody>
      </p:sp>
      <p:sp>
        <p:nvSpPr>
          <p:cNvPr id="199" name="Google Shape;199;p9"/>
          <p:cNvSpPr/>
          <p:nvPr/>
        </p:nvSpPr>
        <p:spPr>
          <a:xfrm>
            <a:off x="548640" y="382219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548640" y="382219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201" name="Google Shape;201;p9"/>
          <p:cNvSpPr/>
          <p:nvPr/>
        </p:nvSpPr>
        <p:spPr>
          <a:xfrm>
            <a:off x="914400" y="379476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Se puede verificar — sabés exactamente cuándo se cumplió</a:t>
            </a:r>
            <a:endParaRPr b="0" i="0" sz="1100" u="none" cap="none" strike="noStrike">
              <a:solidFill>
                <a:schemeClr val="dk1"/>
              </a:solidFill>
              <a:latin typeface="Calibri"/>
              <a:ea typeface="Calibri"/>
              <a:cs typeface="Calibri"/>
              <a:sym typeface="Calibri"/>
            </a:endParaRPr>
          </a:p>
        </p:txBody>
      </p:sp>
      <p:sp>
        <p:nvSpPr>
          <p:cNvPr id="202" name="Google Shape;202;p9"/>
          <p:cNvSpPr/>
          <p:nvPr/>
        </p:nvSpPr>
        <p:spPr>
          <a:xfrm>
            <a:off x="548640" y="423367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9"/>
          <p:cNvSpPr/>
          <p:nvPr/>
        </p:nvSpPr>
        <p:spPr>
          <a:xfrm>
            <a:off x="548640" y="423367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204" name="Google Shape;204;p9"/>
          <p:cNvSpPr/>
          <p:nvPr/>
        </p:nvSpPr>
        <p:spPr>
          <a:xfrm>
            <a:off x="914400" y="420624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Un objetivo por tarea. Sin 'y' que una dos objetivos distintos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209" name="Shape 209"/>
        <p:cNvGrpSpPr/>
        <p:nvPr/>
      </p:nvGrpSpPr>
      <p:grpSpPr>
        <a:xfrm>
          <a:off x="0" y="0"/>
          <a:ext cx="0" cy="0"/>
          <a:chOff x="0" y="0"/>
          <a:chExt cx="0" cy="0"/>
        </a:xfrm>
      </p:grpSpPr>
      <p:sp>
        <p:nvSpPr>
          <p:cNvPr id="210" name="Google Shape;210;p10"/>
          <p:cNvSpPr/>
          <p:nvPr/>
        </p:nvSpPr>
        <p:spPr>
          <a:xfrm>
            <a:off x="0" y="0"/>
            <a:ext cx="9144000" cy="502920"/>
          </a:xfrm>
          <a:prstGeom prst="rect">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MONITOR DE CALIDAD DEL AIRE  ·  RONDA 5 DE 5</a:t>
            </a:r>
            <a:endParaRPr b="0" i="0" sz="1100" u="none" cap="none" strike="noStrike">
              <a:solidFill>
                <a:schemeClr val="dk1"/>
              </a:solidFill>
              <a:latin typeface="Calibri"/>
              <a:ea typeface="Calibri"/>
              <a:cs typeface="Calibri"/>
              <a:sym typeface="Calibri"/>
            </a:endParaRPr>
          </a:p>
        </p:txBody>
      </p:sp>
      <p:sp>
        <p:nvSpPr>
          <p:cNvPr id="212" name="Google Shape;212;p10"/>
          <p:cNvSpPr/>
          <p:nvPr/>
        </p:nvSpPr>
        <p:spPr>
          <a:xfrm>
            <a:off x="7498080" y="54864"/>
            <a:ext cx="1417320" cy="384048"/>
          </a:xfrm>
          <a:prstGeom prst="roundRect">
            <a:avLst>
              <a:gd fmla="val 19048" name="adj"/>
            </a:avLst>
          </a:prstGeom>
          <a:solidFill>
            <a:srgbClr val="0A0E2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0"/>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4D6A"/>
              </a:buClr>
              <a:buSzPts val="1300"/>
              <a:buFont typeface="Calibri"/>
              <a:buNone/>
            </a:pPr>
            <a:r>
              <a:rPr b="1" i="0" lang="en-US" sz="1300" u="none" cap="none" strike="noStrike">
                <a:solidFill>
                  <a:srgbClr val="FF4D6A"/>
                </a:solidFill>
                <a:latin typeface="Calibri"/>
                <a:ea typeface="Calibri"/>
                <a:cs typeface="Calibri"/>
                <a:sym typeface="Calibri"/>
              </a:rPr>
              <a:t>⏱  2 min</a:t>
            </a:r>
            <a:endParaRPr b="0" i="0" sz="1300" u="none" cap="none" strike="noStrike">
              <a:solidFill>
                <a:schemeClr val="dk1"/>
              </a:solidFill>
              <a:latin typeface="Calibri"/>
              <a:ea typeface="Calibri"/>
              <a:cs typeface="Calibri"/>
              <a:sym typeface="Calibri"/>
            </a:endParaRPr>
          </a:p>
        </p:txBody>
      </p:sp>
      <p:sp>
        <p:nvSpPr>
          <p:cNvPr id="214" name="Google Shape;214;p10"/>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1100"/>
              <a:buFont typeface="Calibri"/>
              <a:buNone/>
            </a:pPr>
            <a:r>
              <a:rPr b="1" i="0" lang="en-US" sz="1100" u="none" cap="none" strike="noStrike">
                <a:solidFill>
                  <a:srgbClr val="FF4D6A"/>
                </a:solidFill>
                <a:latin typeface="Calibri"/>
                <a:ea typeface="Calibri"/>
                <a:cs typeface="Calibri"/>
                <a:sym typeface="Calibri"/>
              </a:rPr>
              <a:t>RONDA 5</a:t>
            </a:r>
            <a:endParaRPr b="0" i="0" sz="1100" u="none" cap="none" strike="noStrike">
              <a:solidFill>
                <a:schemeClr val="dk1"/>
              </a:solidFill>
              <a:latin typeface="Calibri"/>
              <a:ea typeface="Calibri"/>
              <a:cs typeface="Calibri"/>
              <a:sym typeface="Calibri"/>
            </a:endParaRPr>
          </a:p>
        </p:txBody>
      </p:sp>
      <p:sp>
        <p:nvSpPr>
          <p:cNvPr id="215" name="Google Shape;215;p10"/>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2600"/>
              <a:buFont typeface="Calibri"/>
              <a:buNone/>
            </a:pPr>
            <a:r>
              <a:rPr b="1" i="0" lang="en-US" sz="2600" u="none" cap="none" strike="noStrike">
                <a:solidFill>
                  <a:srgbClr val="FF4D6A"/>
                </a:solidFill>
                <a:latin typeface="Calibri"/>
                <a:ea typeface="Calibri"/>
                <a:cs typeface="Calibri"/>
                <a:sym typeface="Calibri"/>
              </a:rPr>
              <a:t>¿CUÁL ES LA SOLUCIÓN?</a:t>
            </a:r>
            <a:endParaRPr b="0" i="0" sz="2600" u="none" cap="none" strike="noStrike">
              <a:solidFill>
                <a:schemeClr val="dk1"/>
              </a:solidFill>
              <a:latin typeface="Calibri"/>
              <a:ea typeface="Calibri"/>
              <a:cs typeface="Calibri"/>
              <a:sym typeface="Calibri"/>
            </a:endParaRPr>
          </a:p>
        </p:txBody>
      </p:sp>
      <p:sp>
        <p:nvSpPr>
          <p:cNvPr id="216" name="Google Shape;216;p10"/>
          <p:cNvSpPr/>
          <p:nvPr/>
        </p:nvSpPr>
        <p:spPr>
          <a:xfrm>
            <a:off x="365760" y="1600200"/>
            <a:ext cx="8412480" cy="868680"/>
          </a:xfrm>
          <a:prstGeom prst="roundRect">
            <a:avLst>
              <a:gd fmla="val 12632" name="adj"/>
            </a:avLst>
          </a:prstGeom>
          <a:solidFill>
            <a:srgbClr val="1A2550"/>
          </a:solidFill>
          <a:ln cap="flat" cmpd="sng" w="22850">
            <a:solidFill>
              <a:srgbClr val="FF4D6A"/>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Sin mirar nada. ¿Qué dispositivo, sistema o artefacto resuelve exactamente este problema?</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Describir en 2 líneas.</a:t>
            </a:r>
            <a:endParaRPr b="0" i="0" sz="1300" u="none" cap="none" strike="noStrike">
              <a:solidFill>
                <a:schemeClr val="dk1"/>
              </a:solidFill>
              <a:latin typeface="Calibri"/>
              <a:ea typeface="Calibri"/>
              <a:cs typeface="Calibri"/>
              <a:sym typeface="Calibri"/>
            </a:endParaRPr>
          </a:p>
        </p:txBody>
      </p:sp>
      <p:sp>
        <p:nvSpPr>
          <p:cNvPr id="218" name="Google Shape;218;p10"/>
          <p:cNvSpPr/>
          <p:nvPr/>
        </p:nvSpPr>
        <p:spPr>
          <a:xfrm>
            <a:off x="365760" y="2578608"/>
            <a:ext cx="8412480" cy="2176272"/>
          </a:xfrm>
          <a:prstGeom prst="roundRect">
            <a:avLst>
              <a:gd fmla="val 5042" name="adj"/>
            </a:avLst>
          </a:prstGeom>
          <a:solidFill>
            <a:srgbClr val="1A2550"/>
          </a:solidFill>
          <a:ln cap="flat" cmpd="sng" w="19050">
            <a:solidFill>
              <a:srgbClr val="FF4D6A"/>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10"/>
          <p:cNvSpPr/>
          <p:nvPr/>
        </p:nvSpPr>
        <p:spPr>
          <a:xfrm>
            <a:off x="548640" y="265176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1050"/>
              <a:buFont typeface="Calibri"/>
              <a:buNone/>
            </a:pPr>
            <a:r>
              <a:rPr b="1" i="0" lang="en-US" sz="1050" u="none" cap="none" strike="noStrike">
                <a:solidFill>
                  <a:srgbClr val="FF4D6A"/>
                </a:solidFill>
                <a:latin typeface="Calibri"/>
                <a:ea typeface="Calibri"/>
                <a:cs typeface="Calibri"/>
                <a:sym typeface="Calibri"/>
              </a:rPr>
              <a:t>PISTAS PERMITIDAS:</a:t>
            </a:r>
            <a:endParaRPr b="0" i="0" sz="1050" u="none" cap="none" strike="noStrike">
              <a:solidFill>
                <a:schemeClr val="dk1"/>
              </a:solidFill>
              <a:latin typeface="Calibri"/>
              <a:ea typeface="Calibri"/>
              <a:cs typeface="Calibri"/>
              <a:sym typeface="Calibri"/>
            </a:endParaRPr>
          </a:p>
        </p:txBody>
      </p:sp>
      <p:sp>
        <p:nvSpPr>
          <p:cNvPr id="220" name="Google Shape;220;p10"/>
          <p:cNvSpPr/>
          <p:nvPr/>
        </p:nvSpPr>
        <p:spPr>
          <a:xfrm>
            <a:off x="548640" y="2999232"/>
            <a:ext cx="8046720" cy="347472"/>
          </a:xfrm>
          <a:prstGeom prst="roundRect">
            <a:avLst>
              <a:gd fmla="val 13158" name="adj"/>
            </a:avLst>
          </a:prstGeom>
          <a:solidFill>
            <a:srgbClr val="FF4D6A">
              <a:alpha val="12156"/>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0"/>
          <p:cNvSpPr/>
          <p:nvPr/>
        </p:nvSpPr>
        <p:spPr>
          <a:xfrm>
            <a:off x="685800" y="299923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1" i="0" lang="en-US" sz="1100" u="none" cap="none" strike="noStrike">
                <a:solidFill>
                  <a:srgbClr val="E8EDF5"/>
                </a:solidFill>
                <a:latin typeface="Calibri"/>
                <a:ea typeface="Calibri"/>
                <a:cs typeface="Calibri"/>
                <a:sym typeface="Calibri"/>
              </a:rPr>
              <a:t>🔍  La variable principal es: Concentración de CO₂ en el aire</a:t>
            </a:r>
            <a:endParaRPr b="0" i="0" sz="1100" u="none" cap="none" strike="noStrike">
              <a:solidFill>
                <a:schemeClr val="dk1"/>
              </a:solidFill>
              <a:latin typeface="Calibri"/>
              <a:ea typeface="Calibri"/>
              <a:cs typeface="Calibri"/>
              <a:sym typeface="Calibri"/>
            </a:endParaRPr>
          </a:p>
        </p:txBody>
      </p:sp>
      <p:sp>
        <p:nvSpPr>
          <p:cNvPr id="222" name="Google Shape;222;p10"/>
          <p:cNvSpPr/>
          <p:nvPr/>
        </p:nvSpPr>
        <p:spPr>
          <a:xfrm>
            <a:off x="548640" y="3410712"/>
            <a:ext cx="8046720" cy="347472"/>
          </a:xfrm>
          <a:prstGeom prst="roundRect">
            <a:avLst>
              <a:gd fmla="val 13158" name="adj"/>
            </a:avLst>
          </a:prstGeom>
          <a:solidFill>
            <a:srgbClr val="FF4D6A">
              <a:alpha val="12156"/>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0"/>
          <p:cNvSpPr/>
          <p:nvPr/>
        </p:nvSpPr>
        <p:spPr>
          <a:xfrm>
            <a:off x="685800" y="341071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1" i="0" lang="en-US" sz="1100" u="none" cap="none" strike="noStrike">
                <a:solidFill>
                  <a:srgbClr val="E8EDF5"/>
                </a:solidFill>
                <a:latin typeface="Calibri"/>
                <a:ea typeface="Calibri"/>
                <a:cs typeface="Calibri"/>
                <a:sym typeface="Calibri"/>
              </a:rPr>
              <a:t>🔍  El punto de quiebre es: Concentración de CO₂ superior a 1000 ppm sostenida por más de 5 minutos</a:t>
            </a:r>
            <a:endParaRPr b="0" i="0" sz="1100" u="none" cap="none" strike="noStrike">
              <a:solidFill>
                <a:schemeClr val="dk1"/>
              </a:solidFill>
              <a:latin typeface="Calibri"/>
              <a:ea typeface="Calibri"/>
              <a:cs typeface="Calibri"/>
              <a:sym typeface="Calibri"/>
            </a:endParaRPr>
          </a:p>
        </p:txBody>
      </p:sp>
      <p:sp>
        <p:nvSpPr>
          <p:cNvPr id="224" name="Google Shape;224;p10"/>
          <p:cNvSpPr/>
          <p:nvPr/>
        </p:nvSpPr>
        <p:spPr>
          <a:xfrm>
            <a:off x="548640" y="3822192"/>
            <a:ext cx="8046720" cy="347472"/>
          </a:xfrm>
          <a:prstGeom prst="roundRect">
            <a:avLst>
              <a:gd fmla="val 13158" name="adj"/>
            </a:avLst>
          </a:prstGeom>
          <a:solidFill>
            <a:srgbClr val="FF4D6A">
              <a:alpha val="5098"/>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0"/>
          <p:cNvSpPr/>
          <p:nvPr/>
        </p:nvSpPr>
        <p:spPr>
          <a:xfrm>
            <a:off x="685800" y="382219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  ¿Qué componente electrónico mide esa variable? ¿Qué actúa cuando se supera el quiebre?</a:t>
            </a:r>
            <a:endParaRPr b="0" i="0" sz="1050" u="none" cap="none" strike="noStrike">
              <a:solidFill>
                <a:schemeClr val="dk1"/>
              </a:solidFill>
              <a:latin typeface="Calibri"/>
              <a:ea typeface="Calibri"/>
              <a:cs typeface="Calibri"/>
              <a:sym typeface="Calibri"/>
            </a:endParaRPr>
          </a:p>
        </p:txBody>
      </p:sp>
      <p:sp>
        <p:nvSpPr>
          <p:cNvPr id="226" name="Google Shape;226;p10"/>
          <p:cNvSpPr/>
          <p:nvPr/>
        </p:nvSpPr>
        <p:spPr>
          <a:xfrm>
            <a:off x="548640" y="4233672"/>
            <a:ext cx="8046720" cy="347472"/>
          </a:xfrm>
          <a:prstGeom prst="roundRect">
            <a:avLst>
              <a:gd fmla="val 13158" name="adj"/>
            </a:avLst>
          </a:prstGeom>
          <a:solidFill>
            <a:srgbClr val="FF4D6A">
              <a:alpha val="5098"/>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0"/>
          <p:cNvSpPr/>
          <p:nvPr/>
        </p:nvSpPr>
        <p:spPr>
          <a:xfrm>
            <a:off x="685800" y="423367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  Pensá en: sensor + controlador + actuador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232" name="Shape 232"/>
        <p:cNvGrpSpPr/>
        <p:nvPr/>
      </p:nvGrpSpPr>
      <p:grpSpPr>
        <a:xfrm>
          <a:off x="0" y="0"/>
          <a:ext cx="0" cy="0"/>
          <a:chOff x="0" y="0"/>
          <a:chExt cx="0" cy="0"/>
        </a:xfrm>
      </p:grpSpPr>
      <p:sp>
        <p:nvSpPr>
          <p:cNvPr id="233" name="Google Shape;233;p11"/>
          <p:cNvSpPr/>
          <p:nvPr/>
        </p:nvSpPr>
        <p:spPr>
          <a:xfrm>
            <a:off x="0" y="0"/>
            <a:ext cx="9144000" cy="640080"/>
          </a:xfrm>
          <a:prstGeom prst="rect">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a:off x="320040" y="0"/>
            <a:ext cx="8503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300"/>
              <a:buFont typeface="Calibri"/>
              <a:buNone/>
            </a:pPr>
            <a:r>
              <a:rPr b="1" i="0" lang="en-US" sz="1300" u="none" cap="none" strike="noStrike">
                <a:solidFill>
                  <a:srgbClr val="0A0E2A"/>
                </a:solidFill>
                <a:latin typeface="Calibri"/>
                <a:ea typeface="Calibri"/>
                <a:cs typeface="Calibri"/>
                <a:sym typeface="Calibri"/>
              </a:rPr>
              <a:t>REVEAL · MONITOR DE CALIDAD DEL AIRE</a:t>
            </a:r>
            <a:endParaRPr b="0" i="0" sz="1300" u="none" cap="none" strike="noStrike">
              <a:solidFill>
                <a:schemeClr val="dk1"/>
              </a:solidFill>
              <a:latin typeface="Calibri"/>
              <a:ea typeface="Calibri"/>
              <a:cs typeface="Calibri"/>
              <a:sym typeface="Calibri"/>
            </a:endParaRPr>
          </a:p>
        </p:txBody>
      </p:sp>
      <p:sp>
        <p:nvSpPr>
          <p:cNvPr id="235" name="Google Shape;235;p11"/>
          <p:cNvSpPr/>
          <p:nvPr/>
        </p:nvSpPr>
        <p:spPr>
          <a:xfrm>
            <a:off x="274320" y="749808"/>
            <a:ext cx="4389120" cy="475488"/>
          </a:xfrm>
          <a:prstGeom prst="roundRect">
            <a:avLst>
              <a:gd fmla="val 15385" name="adj"/>
            </a:avLst>
          </a:prstGeom>
          <a:solidFill>
            <a:srgbClr val="1A2550"/>
          </a:solidFill>
          <a:ln cap="flat" cmpd="sng" w="15225">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347472" y="813816"/>
            <a:ext cx="1417320" cy="256032"/>
          </a:xfrm>
          <a:prstGeom prst="roundRect">
            <a:avLst>
              <a:gd fmla="val 17857" name="adj"/>
            </a:avLst>
          </a:prstGeom>
          <a:solidFill>
            <a:srgbClr val="FFB800">
              <a:alpha val="87843"/>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a:off x="347472" y="813816"/>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PROBLEMA VAGO</a:t>
            </a:r>
            <a:endParaRPr b="0" i="0" sz="700" u="none" cap="none" strike="noStrike">
              <a:solidFill>
                <a:schemeClr val="dk1"/>
              </a:solidFill>
              <a:latin typeface="Calibri"/>
              <a:ea typeface="Calibri"/>
              <a:cs typeface="Calibri"/>
              <a:sym typeface="Calibri"/>
            </a:endParaRPr>
          </a:p>
        </p:txBody>
      </p:sp>
      <p:sp>
        <p:nvSpPr>
          <p:cNvPr id="238" name="Google Shape;238;p11"/>
          <p:cNvSpPr/>
          <p:nvPr/>
        </p:nvSpPr>
        <p:spPr>
          <a:xfrm>
            <a:off x="1847088" y="749808"/>
            <a:ext cx="2724912" cy="47548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En el aula a veces el ambiente se pone pesado y la gente se cansa.</a:t>
            </a:r>
            <a:endParaRPr b="0" i="0" sz="900" u="none" cap="none" strike="noStrike">
              <a:solidFill>
                <a:schemeClr val="dk1"/>
              </a:solidFill>
              <a:latin typeface="Calibri"/>
              <a:ea typeface="Calibri"/>
              <a:cs typeface="Calibri"/>
              <a:sym typeface="Calibri"/>
            </a:endParaRPr>
          </a:p>
        </p:txBody>
      </p:sp>
      <p:sp>
        <p:nvSpPr>
          <p:cNvPr id="239" name="Google Shape;239;p11"/>
          <p:cNvSpPr/>
          <p:nvPr/>
        </p:nvSpPr>
        <p:spPr>
          <a:xfrm>
            <a:off x="274320" y="1280160"/>
            <a:ext cx="4389120" cy="475488"/>
          </a:xfrm>
          <a:prstGeom prst="roundRect">
            <a:avLst>
              <a:gd fmla="val 15385" name="adj"/>
            </a:avLst>
          </a:prstGeom>
          <a:solidFill>
            <a:srgbClr val="1A2550"/>
          </a:solidFill>
          <a:ln cap="flat" cmpd="sng" w="15225">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a:off x="347472" y="1344168"/>
            <a:ext cx="1417320" cy="256032"/>
          </a:xfrm>
          <a:prstGeom prst="roundRect">
            <a:avLst>
              <a:gd fmla="val 17857" name="adj"/>
            </a:avLst>
          </a:prstGeom>
          <a:solidFill>
            <a:srgbClr val="9B59B6">
              <a:alpha val="87843"/>
            </a:srgbClr>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347472" y="1344168"/>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VARIABLE</a:t>
            </a:r>
            <a:endParaRPr b="0" i="0" sz="700" u="none" cap="none" strike="noStrike">
              <a:solidFill>
                <a:schemeClr val="dk1"/>
              </a:solidFill>
              <a:latin typeface="Calibri"/>
              <a:ea typeface="Calibri"/>
              <a:cs typeface="Calibri"/>
              <a:sym typeface="Calibri"/>
            </a:endParaRPr>
          </a:p>
        </p:txBody>
      </p:sp>
      <p:sp>
        <p:nvSpPr>
          <p:cNvPr id="242" name="Google Shape;242;p11"/>
          <p:cNvSpPr/>
          <p:nvPr/>
        </p:nvSpPr>
        <p:spPr>
          <a:xfrm>
            <a:off x="1847088" y="1280160"/>
            <a:ext cx="2724912" cy="47548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Concentración de CO₂ en el aire (ppm — partes por millón).</a:t>
            </a:r>
            <a:endParaRPr b="0" i="0" sz="900" u="none" cap="none" strike="noStrike">
              <a:solidFill>
                <a:schemeClr val="dk1"/>
              </a:solidFill>
              <a:latin typeface="Calibri"/>
              <a:ea typeface="Calibri"/>
              <a:cs typeface="Calibri"/>
              <a:sym typeface="Calibri"/>
            </a:endParaRPr>
          </a:p>
        </p:txBody>
      </p:sp>
      <p:sp>
        <p:nvSpPr>
          <p:cNvPr id="243" name="Google Shape;243;p11"/>
          <p:cNvSpPr/>
          <p:nvPr/>
        </p:nvSpPr>
        <p:spPr>
          <a:xfrm>
            <a:off x="274320" y="1810512"/>
            <a:ext cx="4389120" cy="475488"/>
          </a:xfrm>
          <a:prstGeom prst="roundRect">
            <a:avLst>
              <a:gd fmla="val 15385" name="adj"/>
            </a:avLst>
          </a:prstGeom>
          <a:solidFill>
            <a:srgbClr val="1A2550"/>
          </a:solidFill>
          <a:ln cap="flat" cmpd="sng" w="15225">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p:nvPr/>
        </p:nvSpPr>
        <p:spPr>
          <a:xfrm>
            <a:off x="347472" y="1874520"/>
            <a:ext cx="1417320" cy="256032"/>
          </a:xfrm>
          <a:prstGeom prst="roundRect">
            <a:avLst>
              <a:gd fmla="val 17857" name="adj"/>
            </a:avLst>
          </a:prstGeom>
          <a:solidFill>
            <a:srgbClr val="FF4D6A">
              <a:alpha val="87843"/>
            </a:srgbClr>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347472" y="1874520"/>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PUNTO DE QUIEBRE</a:t>
            </a:r>
            <a:endParaRPr b="0" i="0" sz="700" u="none" cap="none" strike="noStrike">
              <a:solidFill>
                <a:schemeClr val="dk1"/>
              </a:solidFill>
              <a:latin typeface="Calibri"/>
              <a:ea typeface="Calibri"/>
              <a:cs typeface="Calibri"/>
              <a:sym typeface="Calibri"/>
            </a:endParaRPr>
          </a:p>
        </p:txBody>
      </p:sp>
      <p:sp>
        <p:nvSpPr>
          <p:cNvPr id="246" name="Google Shape;246;p11"/>
          <p:cNvSpPr/>
          <p:nvPr/>
        </p:nvSpPr>
        <p:spPr>
          <a:xfrm>
            <a:off x="1847088" y="1810512"/>
            <a:ext cx="2724912" cy="47548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Concentración de CO₂ superior a 1000 ppm sostenida por más de 5 minutos.</a:t>
            </a:r>
            <a:endParaRPr b="0" i="0" sz="900" u="none" cap="none" strike="noStrike">
              <a:solidFill>
                <a:schemeClr val="dk1"/>
              </a:solidFill>
              <a:latin typeface="Calibri"/>
              <a:ea typeface="Calibri"/>
              <a:cs typeface="Calibri"/>
              <a:sym typeface="Calibri"/>
            </a:endParaRPr>
          </a:p>
        </p:txBody>
      </p:sp>
      <p:sp>
        <p:nvSpPr>
          <p:cNvPr id="247" name="Google Shape;247;p11"/>
          <p:cNvSpPr/>
          <p:nvPr/>
        </p:nvSpPr>
        <p:spPr>
          <a:xfrm>
            <a:off x="274320" y="2340864"/>
            <a:ext cx="4389120" cy="594360"/>
          </a:xfrm>
          <a:prstGeom prst="roundRect">
            <a:avLst>
              <a:gd fmla="val 12308" name="adj"/>
            </a:avLst>
          </a:prstGeom>
          <a:solidFill>
            <a:srgbClr val="1A2550"/>
          </a:solidFill>
          <a:ln cap="flat" cmpd="sng" w="15225">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a:off x="347472" y="2404872"/>
            <a:ext cx="1417320" cy="256032"/>
          </a:xfrm>
          <a:prstGeom prst="roundRect">
            <a:avLst>
              <a:gd fmla="val 17857" name="adj"/>
            </a:avLst>
          </a:prstGeom>
          <a:solidFill>
            <a:srgbClr val="00C896">
              <a:alpha val="87843"/>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a:off x="347472" y="2404872"/>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PROBLEMA TECNICO</a:t>
            </a:r>
            <a:endParaRPr b="0" i="0" sz="700" u="none" cap="none" strike="noStrike">
              <a:solidFill>
                <a:schemeClr val="dk1"/>
              </a:solidFill>
              <a:latin typeface="Calibri"/>
              <a:ea typeface="Calibri"/>
              <a:cs typeface="Calibri"/>
              <a:sym typeface="Calibri"/>
            </a:endParaRPr>
          </a:p>
        </p:txBody>
      </p:sp>
      <p:sp>
        <p:nvSpPr>
          <p:cNvPr id="250" name="Google Shape;250;p11"/>
          <p:cNvSpPr/>
          <p:nvPr/>
        </p:nvSpPr>
        <p:spPr>
          <a:xfrm>
            <a:off x="1847088" y="2340864"/>
            <a:ext cx="2724912" cy="5943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En el aula, la concentración de CO₂ supera las 1000 ppm durante más de 5 minutos con ventanas cerradas, lo que genera fatiga cognitiva y reduce el rendimiento de los estudiantes.</a:t>
            </a:r>
            <a:endParaRPr b="0" i="0" sz="900" u="none" cap="none" strike="noStrike">
              <a:solidFill>
                <a:schemeClr val="dk1"/>
              </a:solidFill>
              <a:latin typeface="Calibri"/>
              <a:ea typeface="Calibri"/>
              <a:cs typeface="Calibri"/>
              <a:sym typeface="Calibri"/>
            </a:endParaRPr>
          </a:p>
        </p:txBody>
      </p:sp>
      <p:sp>
        <p:nvSpPr>
          <p:cNvPr id="251" name="Google Shape;251;p11"/>
          <p:cNvSpPr/>
          <p:nvPr/>
        </p:nvSpPr>
        <p:spPr>
          <a:xfrm>
            <a:off x="274320" y="2990088"/>
            <a:ext cx="4389120" cy="841248"/>
          </a:xfrm>
          <a:prstGeom prst="roundRect">
            <a:avLst>
              <a:gd fmla="val 8696" name="adj"/>
            </a:avLst>
          </a:prstGeom>
          <a:solidFill>
            <a:srgbClr val="1A2550"/>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347472" y="3054096"/>
            <a:ext cx="1417320" cy="256032"/>
          </a:xfrm>
          <a:prstGeom prst="roundRect">
            <a:avLst>
              <a:gd fmla="val 17857" name="adj"/>
            </a:avLst>
          </a:prstGeom>
          <a:solidFill>
            <a:srgbClr val="00D4FF">
              <a:alpha val="87843"/>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347472" y="3054096"/>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OBJETIVOS</a:t>
            </a:r>
            <a:endParaRPr b="0" i="0" sz="700" u="none" cap="none" strike="noStrike">
              <a:solidFill>
                <a:schemeClr val="dk1"/>
              </a:solidFill>
              <a:latin typeface="Calibri"/>
              <a:ea typeface="Calibri"/>
              <a:cs typeface="Calibri"/>
              <a:sym typeface="Calibri"/>
            </a:endParaRPr>
          </a:p>
        </p:txBody>
      </p:sp>
      <p:sp>
        <p:nvSpPr>
          <p:cNvPr id="254" name="Google Shape;254;p11"/>
          <p:cNvSpPr/>
          <p:nvPr/>
        </p:nvSpPr>
        <p:spPr>
          <a:xfrm>
            <a:off x="1847088" y="2990088"/>
            <a:ext cx="2724912" cy="84124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850"/>
              <a:buFont typeface="Calibri"/>
              <a:buNone/>
            </a:pPr>
            <a:r>
              <a:rPr b="0" i="0" lang="en-US" sz="850" u="none" cap="none" strike="noStrike">
                <a:solidFill>
                  <a:srgbClr val="E8EDF5"/>
                </a:solidFill>
                <a:latin typeface="Calibri"/>
                <a:ea typeface="Calibri"/>
                <a:cs typeface="Calibri"/>
                <a:sym typeface="Calibri"/>
              </a:rPr>
              <a:t>1. Detectar continuamente la concentración de CO₂ en el ambiente del aula.  2. Activar una alarma sonora y visual cuando el CO₂ supere las 1000 ppm por más de 5 minutos.  3. Accionar automáticamente la apertura de ventilación o activar un extractor.</a:t>
            </a:r>
            <a:endParaRPr b="0" i="0" sz="850" u="none" cap="none" strike="noStrike">
              <a:solidFill>
                <a:schemeClr val="dk1"/>
              </a:solidFill>
              <a:latin typeface="Calibri"/>
              <a:ea typeface="Calibri"/>
              <a:cs typeface="Calibri"/>
              <a:sym typeface="Calibri"/>
            </a:endParaRPr>
          </a:p>
        </p:txBody>
      </p:sp>
      <p:sp>
        <p:nvSpPr>
          <p:cNvPr id="255" name="Google Shape;255;p11"/>
          <p:cNvSpPr/>
          <p:nvPr/>
        </p:nvSpPr>
        <p:spPr>
          <a:xfrm>
            <a:off x="4937760" y="749808"/>
            <a:ext cx="3977640" cy="2971800"/>
          </a:xfrm>
          <a:prstGeom prst="roundRect">
            <a:avLst>
              <a:gd fmla="val 4615" name="adj"/>
            </a:avLst>
          </a:prstGeom>
          <a:solidFill>
            <a:srgbClr val="00C896">
              <a:alpha val="92156"/>
            </a:srgbClr>
          </a:solidFill>
          <a:ln cap="flat" cmpd="sng" w="25400">
            <a:solidFill>
              <a:srgbClr val="00C896"/>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a:off x="5074920" y="822960"/>
            <a:ext cx="37033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SOLUCIÓN</a:t>
            </a:r>
            <a:endParaRPr b="0" i="0" sz="1200" u="none" cap="none" strike="noStrike">
              <a:solidFill>
                <a:schemeClr val="dk1"/>
              </a:solidFill>
              <a:latin typeface="Calibri"/>
              <a:ea typeface="Calibri"/>
              <a:cs typeface="Calibri"/>
              <a:sym typeface="Calibri"/>
            </a:endParaRPr>
          </a:p>
        </p:txBody>
      </p:sp>
      <p:sp>
        <p:nvSpPr>
          <p:cNvPr id="257" name="Google Shape;257;p11"/>
          <p:cNvSpPr/>
          <p:nvPr/>
        </p:nvSpPr>
        <p:spPr>
          <a:xfrm>
            <a:off x="5074920" y="1188720"/>
            <a:ext cx="3703320" cy="182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Sistema con sensor MQ-135 + Arduino que monitorea CO₂, muestra valores en pantalla LCD, activa LED rojo + buzzer al superar el umbral y acciona un relé que controla un extractor de aire.</a:t>
            </a:r>
            <a:endParaRPr b="0" i="0" sz="1100" u="none" cap="none" strike="noStrike">
              <a:solidFill>
                <a:schemeClr val="dk1"/>
              </a:solidFill>
              <a:latin typeface="Calibri"/>
              <a:ea typeface="Calibri"/>
              <a:cs typeface="Calibri"/>
              <a:sym typeface="Calibri"/>
            </a:endParaRPr>
          </a:p>
        </p:txBody>
      </p:sp>
      <p:sp>
        <p:nvSpPr>
          <p:cNvPr id="258" name="Google Shape;258;p11"/>
          <p:cNvSpPr/>
          <p:nvPr/>
        </p:nvSpPr>
        <p:spPr>
          <a:xfrm>
            <a:off x="5074920" y="3017520"/>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950"/>
              <a:buFont typeface="Calibri"/>
              <a:buNone/>
            </a:pPr>
            <a:r>
              <a:rPr b="0" i="1" lang="en-US" sz="950" u="none" cap="none" strike="noStrike">
                <a:solidFill>
                  <a:srgbClr val="0A0E2A"/>
                </a:solidFill>
                <a:latin typeface="Calibri"/>
                <a:ea typeface="Calibri"/>
                <a:cs typeface="Calibri"/>
                <a:sym typeface="Calibri"/>
              </a:rPr>
              <a:t>📷  Sensor MQ-135 conectado a Arduino con display LCD y ventilador controlado por relé</a:t>
            </a:r>
            <a:endParaRPr b="0" i="0" sz="950" u="none" cap="none" strike="noStrike">
              <a:solidFill>
                <a:schemeClr val="dk1"/>
              </a:solidFill>
              <a:latin typeface="Calibri"/>
              <a:ea typeface="Calibri"/>
              <a:cs typeface="Calibri"/>
              <a:sym typeface="Calibri"/>
            </a:endParaRPr>
          </a:p>
        </p:txBody>
      </p:sp>
      <p:sp>
        <p:nvSpPr>
          <p:cNvPr id="259" name="Google Shape;259;p11"/>
          <p:cNvSpPr/>
          <p:nvPr/>
        </p:nvSpPr>
        <p:spPr>
          <a:xfrm>
            <a:off x="274320" y="3858768"/>
            <a:ext cx="8549640" cy="841248"/>
          </a:xfrm>
          <a:prstGeom prst="roundRect">
            <a:avLst>
              <a:gd fmla="val 13043" name="adj"/>
            </a:avLst>
          </a:prstGeom>
          <a:solidFill>
            <a:srgbClr val="1A2550"/>
          </a:solidFill>
          <a:ln cap="flat" cmpd="sng" w="15225">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1"/>
          <p:cNvSpPr/>
          <p:nvPr/>
        </p:nvSpPr>
        <p:spPr>
          <a:xfrm>
            <a:off x="457200" y="3858768"/>
            <a:ext cx="822960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DF5"/>
              </a:buClr>
              <a:buSzPts val="1200"/>
              <a:buFont typeface="Calibri"/>
              <a:buNone/>
            </a:pPr>
            <a:r>
              <a:rPr b="0" i="0" lang="en-US" sz="1200" u="none" cap="none" strike="noStrike">
                <a:solidFill>
                  <a:srgbClr val="E8EDF5"/>
                </a:solidFill>
                <a:latin typeface="Calibri"/>
                <a:ea typeface="Calibri"/>
                <a:cs typeface="Calibri"/>
                <a:sym typeface="Calibri"/>
              </a:rPr>
              <a:t>¿Qué equipo formuló mejor cada componente?  ·  ¿Cuál se acercó más a la solución real?  ·  ¿Qué mejorarían?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265" name="Shape 265"/>
        <p:cNvGrpSpPr/>
        <p:nvPr/>
      </p:nvGrpSpPr>
      <p:grpSpPr>
        <a:xfrm>
          <a:off x="0" y="0"/>
          <a:ext cx="0" cy="0"/>
          <a:chOff x="0" y="0"/>
          <a:chExt cx="0" cy="0"/>
        </a:xfrm>
      </p:grpSpPr>
      <p:sp>
        <p:nvSpPr>
          <p:cNvPr id="266" name="Google Shape;266;p12"/>
          <p:cNvSpPr/>
          <p:nvPr/>
        </p:nvSpPr>
        <p:spPr>
          <a:xfrm>
            <a:off x="0" y="0"/>
            <a:ext cx="3474720" cy="5143500"/>
          </a:xfrm>
          <a:prstGeom prst="rect">
            <a:avLst/>
          </a:prstGeom>
          <a:solidFill>
            <a:srgbClr val="FFB800"/>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
          <p:cNvSpPr/>
          <p:nvPr/>
        </p:nvSpPr>
        <p:spPr>
          <a:xfrm>
            <a:off x="0" y="365760"/>
            <a:ext cx="3474720" cy="228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6000"/>
              <a:buFont typeface="Calibri"/>
              <a:buNone/>
            </a:pPr>
            <a:r>
              <a:rPr b="1" i="0" lang="en-US" sz="16000" u="none" cap="none" strike="noStrike">
                <a:solidFill>
                  <a:srgbClr val="0A0E2A"/>
                </a:solidFill>
                <a:latin typeface="Calibri"/>
                <a:ea typeface="Calibri"/>
                <a:cs typeface="Calibri"/>
                <a:sym typeface="Calibri"/>
              </a:rPr>
              <a:t>2</a:t>
            </a:r>
            <a:endParaRPr b="0" i="0" sz="16000" u="none" cap="none" strike="noStrike">
              <a:solidFill>
                <a:schemeClr val="dk1"/>
              </a:solidFill>
              <a:latin typeface="Calibri"/>
              <a:ea typeface="Calibri"/>
              <a:cs typeface="Calibri"/>
              <a:sym typeface="Calibri"/>
            </a:endParaRPr>
          </a:p>
        </p:txBody>
      </p:sp>
      <p:sp>
        <p:nvSpPr>
          <p:cNvPr id="268" name="Google Shape;268;p12"/>
          <p:cNvSpPr/>
          <p:nvPr/>
        </p:nvSpPr>
        <p:spPr>
          <a:xfrm>
            <a:off x="0" y="2926080"/>
            <a:ext cx="34747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800"/>
              <a:buFont typeface="Calibri"/>
              <a:buNone/>
            </a:pPr>
            <a:r>
              <a:rPr b="1" i="0" lang="en-US" sz="1800" u="none" cap="none" strike="noStrike">
                <a:solidFill>
                  <a:srgbClr val="0A0E2A"/>
                </a:solidFill>
                <a:latin typeface="Calibri"/>
                <a:ea typeface="Calibri"/>
                <a:cs typeface="Calibri"/>
                <a:sym typeface="Calibri"/>
              </a:rPr>
              <a:t>P2</a:t>
            </a:r>
            <a:endParaRPr b="0" i="0" sz="1800" u="none" cap="none" strike="noStrike">
              <a:solidFill>
                <a:schemeClr val="dk1"/>
              </a:solidFill>
              <a:latin typeface="Calibri"/>
              <a:ea typeface="Calibri"/>
              <a:cs typeface="Calibri"/>
              <a:sym typeface="Calibri"/>
            </a:endParaRPr>
          </a:p>
        </p:txBody>
      </p:sp>
      <p:sp>
        <p:nvSpPr>
          <p:cNvPr id="269" name="Google Shape;269;p12"/>
          <p:cNvSpPr/>
          <p:nvPr/>
        </p:nvSpPr>
        <p:spPr>
          <a:xfrm>
            <a:off x="91440" y="3429000"/>
            <a:ext cx="32918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000"/>
              <a:buFont typeface="Calibri"/>
              <a:buNone/>
            </a:pPr>
            <a:r>
              <a:rPr b="0" i="1" lang="en-US" sz="1000" u="none" cap="none" strike="noStrike">
                <a:solidFill>
                  <a:srgbClr val="0A0E2A"/>
                </a:solidFill>
                <a:latin typeface="Calibri"/>
                <a:ea typeface="Calibri"/>
                <a:cs typeface="Calibri"/>
                <a:sym typeface="Calibri"/>
              </a:rPr>
              <a:t>Energías Limpias · Automatización · Eficiencia</a:t>
            </a:r>
            <a:endParaRPr b="0" i="0" sz="1000" u="none" cap="none" strike="noStrike">
              <a:solidFill>
                <a:schemeClr val="dk1"/>
              </a:solidFill>
              <a:latin typeface="Calibri"/>
              <a:ea typeface="Calibri"/>
              <a:cs typeface="Calibri"/>
              <a:sym typeface="Calibri"/>
            </a:endParaRPr>
          </a:p>
        </p:txBody>
      </p:sp>
      <p:sp>
        <p:nvSpPr>
          <p:cNvPr id="270" name="Google Shape;270;p12"/>
          <p:cNvSpPr/>
          <p:nvPr/>
        </p:nvSpPr>
        <p:spPr>
          <a:xfrm>
            <a:off x="3840480" y="411480"/>
            <a:ext cx="502920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B800"/>
              </a:buClr>
              <a:buSzPts val="2800"/>
              <a:buFont typeface="Calibri"/>
              <a:buNone/>
            </a:pPr>
            <a:r>
              <a:rPr b="1" i="0" lang="en-US" sz="2800" u="none" cap="none" strike="noStrike">
                <a:solidFill>
                  <a:srgbClr val="FFB800"/>
                </a:solidFill>
                <a:latin typeface="Calibri"/>
                <a:ea typeface="Calibri"/>
                <a:cs typeface="Calibri"/>
                <a:sym typeface="Calibri"/>
              </a:rPr>
              <a:t>Panel Solar con Seguidor de Luz</a:t>
            </a:r>
            <a:endParaRPr b="0" i="0" sz="2800" u="none" cap="none" strike="noStrike">
              <a:solidFill>
                <a:schemeClr val="dk1"/>
              </a:solidFill>
              <a:latin typeface="Calibri"/>
              <a:ea typeface="Calibri"/>
              <a:cs typeface="Calibri"/>
              <a:sym typeface="Calibri"/>
            </a:endParaRPr>
          </a:p>
        </p:txBody>
      </p:sp>
      <p:sp>
        <p:nvSpPr>
          <p:cNvPr id="271" name="Google Shape;271;p12"/>
          <p:cNvSpPr/>
          <p:nvPr/>
        </p:nvSpPr>
        <p:spPr>
          <a:xfrm>
            <a:off x="3840480" y="1691640"/>
            <a:ext cx="5029200" cy="2011680"/>
          </a:xfrm>
          <a:prstGeom prst="roundRect">
            <a:avLst>
              <a:gd fmla="val 5455" name="adj"/>
            </a:avLst>
          </a:prstGeom>
          <a:solidFill>
            <a:srgbClr val="1A2550"/>
          </a:solidFill>
          <a:ln cap="flat" cmpd="sng" w="19050">
            <a:solidFill>
              <a:srgbClr val="FFB800"/>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12"/>
          <p:cNvSpPr/>
          <p:nvPr/>
        </p:nvSpPr>
        <p:spPr>
          <a:xfrm>
            <a:off x="3977640" y="1755648"/>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950"/>
              <a:buFont typeface="Calibri"/>
              <a:buNone/>
            </a:pPr>
            <a:r>
              <a:rPr b="1" i="0" lang="en-US" sz="950" u="none" cap="none" strike="noStrike">
                <a:solidFill>
                  <a:srgbClr val="FFB800"/>
                </a:solidFill>
                <a:latin typeface="Calibri"/>
                <a:ea typeface="Calibri"/>
                <a:cs typeface="Calibri"/>
                <a:sym typeface="Calibri"/>
              </a:rPr>
              <a:t>CONTEXTO DEL PROYECTO</a:t>
            </a:r>
            <a:endParaRPr b="0" i="0" sz="950" u="none" cap="none" strike="noStrike">
              <a:solidFill>
                <a:schemeClr val="dk1"/>
              </a:solidFill>
              <a:latin typeface="Calibri"/>
              <a:ea typeface="Calibri"/>
              <a:cs typeface="Calibri"/>
              <a:sym typeface="Calibri"/>
            </a:endParaRPr>
          </a:p>
        </p:txBody>
      </p:sp>
      <p:sp>
        <p:nvSpPr>
          <p:cNvPr id="273" name="Google Shape;273;p12"/>
          <p:cNvSpPr/>
          <p:nvPr/>
        </p:nvSpPr>
        <p:spPr>
          <a:xfrm>
            <a:off x="3977640" y="2057400"/>
            <a:ext cx="475488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250"/>
              <a:buFont typeface="Calibri"/>
              <a:buNone/>
            </a:pPr>
            <a:r>
              <a:rPr b="0" i="0" lang="en-US" sz="1250" u="none" cap="none" strike="noStrike">
                <a:solidFill>
                  <a:srgbClr val="E8EDF5"/>
                </a:solidFill>
                <a:latin typeface="Calibri"/>
                <a:ea typeface="Calibri"/>
                <a:cs typeface="Calibri"/>
                <a:sym typeface="Calibri"/>
              </a:rPr>
              <a:t>Instalaciones con paneles solares fijos que pierden eficiencia energética porque no siguen la trayectoria del sol.</a:t>
            </a:r>
            <a:endParaRPr b="0" i="0" sz="1250" u="none" cap="none" strike="noStrike">
              <a:solidFill>
                <a:schemeClr val="dk1"/>
              </a:solidFill>
              <a:latin typeface="Calibri"/>
              <a:ea typeface="Calibri"/>
              <a:cs typeface="Calibri"/>
              <a:sym typeface="Calibri"/>
            </a:endParaRPr>
          </a:p>
        </p:txBody>
      </p:sp>
      <p:sp>
        <p:nvSpPr>
          <p:cNvPr id="274" name="Google Shape;274;p12"/>
          <p:cNvSpPr/>
          <p:nvPr/>
        </p:nvSpPr>
        <p:spPr>
          <a:xfrm>
            <a:off x="3840480" y="3840480"/>
            <a:ext cx="5029200" cy="868680"/>
          </a:xfrm>
          <a:prstGeom prst="roundRect">
            <a:avLst>
              <a:gd fmla="val 10526" name="adj"/>
            </a:avLst>
          </a:prstGeom>
          <a:solidFill>
            <a:srgbClr val="1A2550"/>
          </a:solidFill>
          <a:ln cap="flat" cmpd="sng" w="12700">
            <a:solidFill>
              <a:srgbClr val="FFB800">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12"/>
          <p:cNvSpPr/>
          <p:nvPr/>
        </p:nvSpPr>
        <p:spPr>
          <a:xfrm>
            <a:off x="3977640" y="388620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900"/>
              <a:buFont typeface="Calibri"/>
              <a:buNone/>
            </a:pPr>
            <a:r>
              <a:rPr b="1" i="0" lang="en-US" sz="900" u="none" cap="none" strike="noStrike">
                <a:solidFill>
                  <a:srgbClr val="FFB800"/>
                </a:solidFill>
                <a:latin typeface="Calibri"/>
                <a:ea typeface="Calibri"/>
                <a:cs typeface="Calibri"/>
                <a:sym typeface="Calibri"/>
              </a:rPr>
              <a:t>5 RONDAS:</a:t>
            </a:r>
            <a:endParaRPr b="0" i="0" sz="900" u="none" cap="none" strike="noStrike">
              <a:solidFill>
                <a:schemeClr val="dk1"/>
              </a:solidFill>
              <a:latin typeface="Calibri"/>
              <a:ea typeface="Calibri"/>
              <a:cs typeface="Calibri"/>
              <a:sym typeface="Calibri"/>
            </a:endParaRPr>
          </a:p>
        </p:txBody>
      </p:sp>
      <p:sp>
        <p:nvSpPr>
          <p:cNvPr id="276" name="Google Shape;276;p12"/>
          <p:cNvSpPr/>
          <p:nvPr/>
        </p:nvSpPr>
        <p:spPr>
          <a:xfrm>
            <a:off x="3977640" y="4187952"/>
            <a:ext cx="868680" cy="411480"/>
          </a:xfrm>
          <a:prstGeom prst="roundRect">
            <a:avLst>
              <a:gd fmla="val 15556" name="adj"/>
            </a:avLst>
          </a:prstGeom>
          <a:solidFill>
            <a:srgbClr val="FFB800">
              <a:alpha val="85098"/>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p:nvPr/>
        </p:nvSpPr>
        <p:spPr>
          <a:xfrm>
            <a:off x="397764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Prob.</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Vago</a:t>
            </a:r>
            <a:endParaRPr b="0" i="0" sz="750" u="none" cap="none" strike="noStrike">
              <a:solidFill>
                <a:schemeClr val="dk1"/>
              </a:solidFill>
              <a:latin typeface="Calibri"/>
              <a:ea typeface="Calibri"/>
              <a:cs typeface="Calibri"/>
              <a:sym typeface="Calibri"/>
            </a:endParaRPr>
          </a:p>
        </p:txBody>
      </p:sp>
      <p:sp>
        <p:nvSpPr>
          <p:cNvPr id="278" name="Google Shape;278;p12"/>
          <p:cNvSpPr/>
          <p:nvPr/>
        </p:nvSpPr>
        <p:spPr>
          <a:xfrm>
            <a:off x="4937760" y="4187952"/>
            <a:ext cx="868680" cy="411480"/>
          </a:xfrm>
          <a:prstGeom prst="roundRect">
            <a:avLst>
              <a:gd fmla="val 15556" name="adj"/>
            </a:avLst>
          </a:prstGeom>
          <a:solidFill>
            <a:srgbClr val="00D4FF">
              <a:alpha val="85098"/>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12"/>
          <p:cNvSpPr/>
          <p:nvPr/>
        </p:nvSpPr>
        <p:spPr>
          <a:xfrm>
            <a:off x="493776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Dispa-</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radoras</a:t>
            </a:r>
            <a:endParaRPr b="0" i="0" sz="750" u="none" cap="none" strike="noStrike">
              <a:solidFill>
                <a:schemeClr val="dk1"/>
              </a:solidFill>
              <a:latin typeface="Calibri"/>
              <a:ea typeface="Calibri"/>
              <a:cs typeface="Calibri"/>
              <a:sym typeface="Calibri"/>
            </a:endParaRPr>
          </a:p>
        </p:txBody>
      </p:sp>
      <p:sp>
        <p:nvSpPr>
          <p:cNvPr id="280" name="Google Shape;280;p12"/>
          <p:cNvSpPr/>
          <p:nvPr/>
        </p:nvSpPr>
        <p:spPr>
          <a:xfrm>
            <a:off x="5897880" y="4187952"/>
            <a:ext cx="868680" cy="411480"/>
          </a:xfrm>
          <a:prstGeom prst="roundRect">
            <a:avLst>
              <a:gd fmla="val 15556" name="adj"/>
            </a:avLst>
          </a:prstGeom>
          <a:solidFill>
            <a:srgbClr val="00C896">
              <a:alpha val="85098"/>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12"/>
          <p:cNvSpPr/>
          <p:nvPr/>
        </p:nvSpPr>
        <p:spPr>
          <a:xfrm>
            <a:off x="589788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4 Comp.</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 Técnico</a:t>
            </a:r>
            <a:endParaRPr b="0" i="0" sz="750" u="none" cap="none" strike="noStrike">
              <a:solidFill>
                <a:schemeClr val="dk1"/>
              </a:solidFill>
              <a:latin typeface="Calibri"/>
              <a:ea typeface="Calibri"/>
              <a:cs typeface="Calibri"/>
              <a:sym typeface="Calibri"/>
            </a:endParaRPr>
          </a:p>
        </p:txBody>
      </p:sp>
      <p:sp>
        <p:nvSpPr>
          <p:cNvPr id="282" name="Google Shape;282;p12"/>
          <p:cNvSpPr/>
          <p:nvPr/>
        </p:nvSpPr>
        <p:spPr>
          <a:xfrm>
            <a:off x="6858000" y="4187952"/>
            <a:ext cx="868680" cy="411480"/>
          </a:xfrm>
          <a:prstGeom prst="roundRect">
            <a:avLst>
              <a:gd fmla="val 15556" name="adj"/>
            </a:avLst>
          </a:prstGeom>
          <a:solidFill>
            <a:srgbClr val="9B59B6">
              <a:alpha val="85098"/>
            </a:srgbClr>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12"/>
          <p:cNvSpPr/>
          <p:nvPr/>
        </p:nvSpPr>
        <p:spPr>
          <a:xfrm>
            <a:off x="685800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Obje-</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tivos</a:t>
            </a:r>
            <a:endParaRPr b="0" i="0" sz="750" u="none" cap="none" strike="noStrike">
              <a:solidFill>
                <a:schemeClr val="dk1"/>
              </a:solidFill>
              <a:latin typeface="Calibri"/>
              <a:ea typeface="Calibri"/>
              <a:cs typeface="Calibri"/>
              <a:sym typeface="Calibri"/>
            </a:endParaRPr>
          </a:p>
        </p:txBody>
      </p:sp>
      <p:sp>
        <p:nvSpPr>
          <p:cNvPr id="284" name="Google Shape;284;p12"/>
          <p:cNvSpPr/>
          <p:nvPr/>
        </p:nvSpPr>
        <p:spPr>
          <a:xfrm>
            <a:off x="7818120" y="4187952"/>
            <a:ext cx="868680" cy="411480"/>
          </a:xfrm>
          <a:prstGeom prst="roundRect">
            <a:avLst>
              <a:gd fmla="val 15556" name="adj"/>
            </a:avLst>
          </a:prstGeom>
          <a:solidFill>
            <a:srgbClr val="FF4D6A">
              <a:alpha val="85098"/>
            </a:srgbClr>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2"/>
          <p:cNvSpPr/>
          <p:nvPr/>
        </p:nvSpPr>
        <p:spPr>
          <a:xfrm>
            <a:off x="781812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Solu-</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ción</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A"/>
        </a:solidFill>
      </p:bgPr>
    </p:bg>
    <p:spTree>
      <p:nvGrpSpPr>
        <p:cNvPr id="290" name="Shape 290"/>
        <p:cNvGrpSpPr/>
        <p:nvPr/>
      </p:nvGrpSpPr>
      <p:grpSpPr>
        <a:xfrm>
          <a:off x="0" y="0"/>
          <a:ext cx="0" cy="0"/>
          <a:chOff x="0" y="0"/>
          <a:chExt cx="0" cy="0"/>
        </a:xfrm>
      </p:grpSpPr>
      <p:sp>
        <p:nvSpPr>
          <p:cNvPr id="291" name="Google Shape;291;p13"/>
          <p:cNvSpPr/>
          <p:nvPr/>
        </p:nvSpPr>
        <p:spPr>
          <a:xfrm>
            <a:off x="0" y="0"/>
            <a:ext cx="9144000" cy="502920"/>
          </a:xfrm>
          <a:prstGeom prst="rect">
            <a:avLst/>
          </a:prstGeom>
          <a:solidFill>
            <a:srgbClr val="FFB800"/>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3"/>
          <p:cNvSpPr/>
          <p:nvPr/>
        </p:nvSpPr>
        <p:spPr>
          <a:xfrm>
            <a:off x="274320" y="0"/>
            <a:ext cx="6858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PANEL SOLAR CON SEGUIDOR DE LUZ  ·  LEÉ ANTES DE LA RONDA 1</a:t>
            </a:r>
            <a:endParaRPr b="0" i="0" sz="1100" u="none" cap="none" strike="noStrike">
              <a:solidFill>
                <a:schemeClr val="dk1"/>
              </a:solidFill>
              <a:latin typeface="Calibri"/>
              <a:ea typeface="Calibri"/>
              <a:cs typeface="Calibri"/>
              <a:sym typeface="Calibri"/>
            </a:endParaRPr>
          </a:p>
        </p:txBody>
      </p:sp>
      <p:sp>
        <p:nvSpPr>
          <p:cNvPr id="293" name="Google Shape;293;p13"/>
          <p:cNvSpPr/>
          <p:nvPr/>
        </p:nvSpPr>
        <p:spPr>
          <a:xfrm>
            <a:off x="7863840" y="54864"/>
            <a:ext cx="384048" cy="384048"/>
          </a:xfrm>
          <a:prstGeom prst="ellipse">
            <a:avLst/>
          </a:prstGeom>
          <a:solidFill>
            <a:srgbClr val="0A0E2A"/>
          </a:solidFill>
          <a:ln cap="flat" cmpd="sng" w="12700">
            <a:solidFill>
              <a:srgbClr val="0A0E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13"/>
          <p:cNvSpPr/>
          <p:nvPr/>
        </p:nvSpPr>
        <p:spPr>
          <a:xfrm>
            <a:off x="7863840" y="548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B800"/>
              </a:buClr>
              <a:buSzPts val="1300"/>
              <a:buFont typeface="Calibri"/>
              <a:buNone/>
            </a:pPr>
            <a:r>
              <a:rPr b="1" i="0" lang="en-US" sz="1300" u="none" cap="none" strike="noStrike">
                <a:solidFill>
                  <a:srgbClr val="FFB800"/>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95" name="Google Shape;295;p13"/>
          <p:cNvSpPr/>
          <p:nvPr/>
        </p:nvSpPr>
        <p:spPr>
          <a:xfrm>
            <a:off x="0" y="502920"/>
            <a:ext cx="2560320" cy="4640580"/>
          </a:xfrm>
          <a:prstGeom prst="rect">
            <a:avLst/>
          </a:prstGeom>
          <a:solidFill>
            <a:srgbClr val="FFB800"/>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3"/>
          <p:cNvSpPr/>
          <p:nvPr/>
        </p:nvSpPr>
        <p:spPr>
          <a:xfrm>
            <a:off x="0" y="548640"/>
            <a:ext cx="2560320" cy="228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4000"/>
              <a:buFont typeface="Calibri"/>
              <a:buNone/>
            </a:pPr>
            <a:r>
              <a:rPr b="1" i="0" lang="en-US" sz="14000" u="none" cap="none" strike="noStrike">
                <a:solidFill>
                  <a:srgbClr val="0A0E2A"/>
                </a:solidFill>
                <a:latin typeface="Calibri"/>
                <a:ea typeface="Calibri"/>
                <a:cs typeface="Calibri"/>
                <a:sym typeface="Calibri"/>
              </a:rPr>
              <a:t>2</a:t>
            </a:r>
            <a:endParaRPr b="0" i="0" sz="14000" u="none" cap="none" strike="noStrike">
              <a:solidFill>
                <a:schemeClr val="dk1"/>
              </a:solidFill>
              <a:latin typeface="Calibri"/>
              <a:ea typeface="Calibri"/>
              <a:cs typeface="Calibri"/>
              <a:sym typeface="Calibri"/>
            </a:endParaRPr>
          </a:p>
        </p:txBody>
      </p:sp>
      <p:sp>
        <p:nvSpPr>
          <p:cNvPr id="297" name="Google Shape;297;p13"/>
          <p:cNvSpPr/>
          <p:nvPr/>
        </p:nvSpPr>
        <p:spPr>
          <a:xfrm>
            <a:off x="91440" y="3108960"/>
            <a:ext cx="237744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Energías Limpias</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Automatización</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Eficiencia</a:t>
            </a:r>
            <a:endParaRPr b="0" i="0" sz="1100" u="none" cap="none" strike="noStrike">
              <a:solidFill>
                <a:schemeClr val="dk1"/>
              </a:solidFill>
              <a:latin typeface="Calibri"/>
              <a:ea typeface="Calibri"/>
              <a:cs typeface="Calibri"/>
              <a:sym typeface="Calibri"/>
            </a:endParaRPr>
          </a:p>
        </p:txBody>
      </p:sp>
      <p:sp>
        <p:nvSpPr>
          <p:cNvPr id="298" name="Google Shape;298;p13"/>
          <p:cNvSpPr/>
          <p:nvPr/>
        </p:nvSpPr>
        <p:spPr>
          <a:xfrm>
            <a:off x="2926080" y="594360"/>
            <a:ext cx="594360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B800"/>
              </a:buClr>
              <a:buSzPts val="2400"/>
              <a:buFont typeface="Calibri"/>
              <a:buNone/>
            </a:pPr>
            <a:r>
              <a:rPr b="1" i="0" lang="en-US" sz="2400" u="none" cap="none" strike="noStrike">
                <a:solidFill>
                  <a:srgbClr val="FFB800"/>
                </a:solidFill>
                <a:latin typeface="Calibri"/>
                <a:ea typeface="Calibri"/>
                <a:cs typeface="Calibri"/>
                <a:sym typeface="Calibri"/>
              </a:rPr>
              <a:t>Panel Solar con Seguidor de Luz</a:t>
            </a:r>
            <a:endParaRPr b="0" i="0" sz="2400" u="none" cap="none" strike="noStrike">
              <a:solidFill>
                <a:schemeClr val="dk1"/>
              </a:solidFill>
              <a:latin typeface="Calibri"/>
              <a:ea typeface="Calibri"/>
              <a:cs typeface="Calibri"/>
              <a:sym typeface="Calibri"/>
            </a:endParaRPr>
          </a:p>
        </p:txBody>
      </p:sp>
      <p:sp>
        <p:nvSpPr>
          <p:cNvPr id="299" name="Google Shape;299;p13"/>
          <p:cNvSpPr/>
          <p:nvPr/>
        </p:nvSpPr>
        <p:spPr>
          <a:xfrm>
            <a:off x="2834640" y="1572768"/>
            <a:ext cx="6035040" cy="1920240"/>
          </a:xfrm>
          <a:prstGeom prst="roundRect">
            <a:avLst>
              <a:gd fmla="val 5714" name="adj"/>
            </a:avLst>
          </a:prstGeom>
          <a:solidFill>
            <a:srgbClr val="0A0E2A"/>
          </a:solidFill>
          <a:ln cap="flat" cmpd="sng" w="19050">
            <a:solidFill>
              <a:srgbClr val="FFB800"/>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3"/>
          <p:cNvSpPr/>
          <p:nvPr/>
        </p:nvSpPr>
        <p:spPr>
          <a:xfrm>
            <a:off x="3017520" y="1645920"/>
            <a:ext cx="5669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950"/>
              <a:buFont typeface="Calibri"/>
              <a:buNone/>
            </a:pPr>
            <a:r>
              <a:rPr b="1" i="0" lang="en-US" sz="950" u="none" cap="none" strike="noStrike">
                <a:solidFill>
                  <a:srgbClr val="FFB800"/>
                </a:solidFill>
                <a:latin typeface="Calibri"/>
                <a:ea typeface="Calibri"/>
                <a:cs typeface="Calibri"/>
                <a:sym typeface="Calibri"/>
              </a:rPr>
              <a:t>LA SITUACIÓN</a:t>
            </a:r>
            <a:endParaRPr b="0" i="0" sz="950" u="none" cap="none" strike="noStrike">
              <a:solidFill>
                <a:schemeClr val="dk1"/>
              </a:solidFill>
              <a:latin typeface="Calibri"/>
              <a:ea typeface="Calibri"/>
              <a:cs typeface="Calibri"/>
              <a:sym typeface="Calibri"/>
            </a:endParaRPr>
          </a:p>
        </p:txBody>
      </p:sp>
      <p:sp>
        <p:nvSpPr>
          <p:cNvPr id="301" name="Google Shape;301;p13"/>
          <p:cNvSpPr/>
          <p:nvPr/>
        </p:nvSpPr>
        <p:spPr>
          <a:xfrm>
            <a:off x="3017520" y="1938528"/>
            <a:ext cx="5669280" cy="14630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DF5"/>
              </a:buClr>
              <a:buSzPts val="1250"/>
              <a:buFont typeface="Calibri"/>
              <a:buNone/>
            </a:pPr>
            <a:r>
              <a:rPr b="0" i="0" lang="en-US" sz="1250" u="none" cap="none" strike="noStrike">
                <a:solidFill>
                  <a:srgbClr val="E8EDF5"/>
                </a:solidFill>
                <a:latin typeface="Calibri"/>
                <a:ea typeface="Calibri"/>
                <a:cs typeface="Calibri"/>
                <a:sym typeface="Calibri"/>
              </a:rPr>
              <a:t>Una instalación de paneles solares produce energía durante el día, pero el sol no se queda quieto — se mueve de este a oeste. Un panel fijo apunta bien solo en un momento del día; el resto del tiempo capta menos de lo que podría. Esa pérdida pasa todos los días, en silencio, sin que nadie la note.</a:t>
            </a:r>
            <a:endParaRPr b="0" i="0" sz="1250" u="none" cap="none" strike="noStrike">
              <a:solidFill>
                <a:schemeClr val="dk1"/>
              </a:solidFill>
              <a:latin typeface="Calibri"/>
              <a:ea typeface="Calibri"/>
              <a:cs typeface="Calibri"/>
              <a:sym typeface="Calibri"/>
            </a:endParaRPr>
          </a:p>
        </p:txBody>
      </p:sp>
      <p:sp>
        <p:nvSpPr>
          <p:cNvPr id="302" name="Google Shape;302;p13"/>
          <p:cNvSpPr/>
          <p:nvPr/>
        </p:nvSpPr>
        <p:spPr>
          <a:xfrm>
            <a:off x="2834640" y="3611880"/>
            <a:ext cx="6035040" cy="594360"/>
          </a:xfrm>
          <a:prstGeom prst="roundRect">
            <a:avLst>
              <a:gd fmla="val 15385" name="adj"/>
            </a:avLst>
          </a:prstGeom>
          <a:solidFill>
            <a:srgbClr val="FFFFFF"/>
          </a:solidFill>
          <a:ln cap="flat" cmpd="sng" w="12700">
            <a:solidFill>
              <a:srgbClr val="FFB800">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13"/>
          <p:cNvSpPr/>
          <p:nvPr/>
        </p:nvSpPr>
        <p:spPr>
          <a:xfrm>
            <a:off x="2999232" y="3611880"/>
            <a:ext cx="10058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950"/>
              <a:buFont typeface="Calibri"/>
              <a:buNone/>
            </a:pPr>
            <a:r>
              <a:rPr b="1" i="0" lang="en-US" sz="950" u="none" cap="none" strike="noStrike">
                <a:solidFill>
                  <a:srgbClr val="FFB800"/>
                </a:solidFill>
                <a:latin typeface="Calibri"/>
                <a:ea typeface="Calibri"/>
                <a:cs typeface="Calibri"/>
                <a:sym typeface="Calibri"/>
              </a:rPr>
              <a:t>CONTEXTO:</a:t>
            </a:r>
            <a:endParaRPr b="0" i="0" sz="950" u="none" cap="none" strike="noStrike">
              <a:solidFill>
                <a:schemeClr val="dk1"/>
              </a:solidFill>
              <a:latin typeface="Calibri"/>
              <a:ea typeface="Calibri"/>
              <a:cs typeface="Calibri"/>
              <a:sym typeface="Calibri"/>
            </a:endParaRPr>
          </a:p>
        </p:txBody>
      </p:sp>
      <p:sp>
        <p:nvSpPr>
          <p:cNvPr id="304" name="Google Shape;304;p13"/>
          <p:cNvSpPr/>
          <p:nvPr/>
        </p:nvSpPr>
        <p:spPr>
          <a:xfrm>
            <a:off x="4041648" y="3611880"/>
            <a:ext cx="47365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A5C"/>
              </a:buClr>
              <a:buSzPts val="1100"/>
              <a:buFont typeface="Calibri"/>
              <a:buNone/>
            </a:pPr>
            <a:r>
              <a:rPr b="0" i="0" lang="en-US" sz="1100" u="none" cap="none" strike="noStrike">
                <a:solidFill>
                  <a:srgbClr val="2E3A5C"/>
                </a:solidFill>
                <a:latin typeface="Calibri"/>
                <a:ea typeface="Calibri"/>
                <a:cs typeface="Calibri"/>
                <a:sym typeface="Calibri"/>
              </a:rPr>
              <a:t>Instalaciones con paneles solares fijos que pierden eficiencia energética porque no siguen la trayectoria del sol.</a:t>
            </a:r>
            <a:endParaRPr b="0" i="0" sz="1100" u="none" cap="none" strike="noStrike">
              <a:solidFill>
                <a:schemeClr val="dk1"/>
              </a:solidFill>
              <a:latin typeface="Calibri"/>
              <a:ea typeface="Calibri"/>
              <a:cs typeface="Calibri"/>
              <a:sym typeface="Calibri"/>
            </a:endParaRPr>
          </a:p>
        </p:txBody>
      </p:sp>
      <p:sp>
        <p:nvSpPr>
          <p:cNvPr id="305" name="Google Shape;305;p13"/>
          <p:cNvSpPr/>
          <p:nvPr/>
        </p:nvSpPr>
        <p:spPr>
          <a:xfrm>
            <a:off x="2834640" y="4325112"/>
            <a:ext cx="6035040" cy="594360"/>
          </a:xfrm>
          <a:prstGeom prst="roundRect">
            <a:avLst>
              <a:gd fmla="val 15385" name="adj"/>
            </a:avLst>
          </a:prstGeom>
          <a:solidFill>
            <a:srgbClr val="FFB800">
              <a:alpha val="92156"/>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3"/>
          <p:cNvSpPr/>
          <p:nvPr/>
        </p:nvSpPr>
        <p:spPr>
          <a:xfrm>
            <a:off x="2971800" y="4325112"/>
            <a:ext cx="58064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  ¿Qué problema hay acá? — Escriban su respuesta en Ronda 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311" name="Shape 311"/>
        <p:cNvGrpSpPr/>
        <p:nvPr/>
      </p:nvGrpSpPr>
      <p:grpSpPr>
        <a:xfrm>
          <a:off x="0" y="0"/>
          <a:ext cx="0" cy="0"/>
          <a:chOff x="0" y="0"/>
          <a:chExt cx="0" cy="0"/>
        </a:xfrm>
      </p:grpSpPr>
      <p:sp>
        <p:nvSpPr>
          <p:cNvPr id="312" name="Google Shape;312;p14"/>
          <p:cNvSpPr/>
          <p:nvPr/>
        </p:nvSpPr>
        <p:spPr>
          <a:xfrm>
            <a:off x="0" y="0"/>
            <a:ext cx="9144000" cy="502920"/>
          </a:xfrm>
          <a:prstGeom prst="rect">
            <a:avLst/>
          </a:prstGeom>
          <a:solidFill>
            <a:srgbClr val="FFB800"/>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14"/>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PANEL SOLAR CON SEGUIDOR DE LUZ  ·  RONDA 1 DE 5</a:t>
            </a:r>
            <a:endParaRPr b="0" i="0" sz="1100" u="none" cap="none" strike="noStrike">
              <a:solidFill>
                <a:schemeClr val="dk1"/>
              </a:solidFill>
              <a:latin typeface="Calibri"/>
              <a:ea typeface="Calibri"/>
              <a:cs typeface="Calibri"/>
              <a:sym typeface="Calibri"/>
            </a:endParaRPr>
          </a:p>
        </p:txBody>
      </p:sp>
      <p:sp>
        <p:nvSpPr>
          <p:cNvPr id="314" name="Google Shape;314;p14"/>
          <p:cNvSpPr/>
          <p:nvPr/>
        </p:nvSpPr>
        <p:spPr>
          <a:xfrm>
            <a:off x="7498080" y="54864"/>
            <a:ext cx="1417320" cy="384048"/>
          </a:xfrm>
          <a:prstGeom prst="roundRect">
            <a:avLst>
              <a:gd fmla="val 19048" name="adj"/>
            </a:avLst>
          </a:prstGeom>
          <a:solidFill>
            <a:srgbClr val="0A0E2A"/>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4"/>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B800"/>
              </a:buClr>
              <a:buSzPts val="1300"/>
              <a:buFont typeface="Calibri"/>
              <a:buNone/>
            </a:pPr>
            <a:r>
              <a:rPr b="1" i="0" lang="en-US" sz="1300" u="none" cap="none" strike="noStrike">
                <a:solidFill>
                  <a:srgbClr val="FFB800"/>
                </a:solidFill>
                <a:latin typeface="Calibri"/>
                <a:ea typeface="Calibri"/>
                <a:cs typeface="Calibri"/>
                <a:sym typeface="Calibri"/>
              </a:rPr>
              <a:t>⏱  2 min</a:t>
            </a:r>
            <a:endParaRPr b="0" i="0" sz="1300" u="none" cap="none" strike="noStrike">
              <a:solidFill>
                <a:schemeClr val="dk1"/>
              </a:solidFill>
              <a:latin typeface="Calibri"/>
              <a:ea typeface="Calibri"/>
              <a:cs typeface="Calibri"/>
              <a:sym typeface="Calibri"/>
            </a:endParaRPr>
          </a:p>
        </p:txBody>
      </p:sp>
      <p:sp>
        <p:nvSpPr>
          <p:cNvPr id="316" name="Google Shape;316;p14"/>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1100"/>
              <a:buFont typeface="Calibri"/>
              <a:buNone/>
            </a:pPr>
            <a:r>
              <a:rPr b="1" i="0" lang="en-US" sz="1100" u="none" cap="none" strike="noStrike">
                <a:solidFill>
                  <a:srgbClr val="FFB800"/>
                </a:solidFill>
                <a:latin typeface="Calibri"/>
                <a:ea typeface="Calibri"/>
                <a:cs typeface="Calibri"/>
                <a:sym typeface="Calibri"/>
              </a:rPr>
              <a:t>RONDA 1</a:t>
            </a:r>
            <a:endParaRPr b="0" i="0" sz="1100" u="none" cap="none" strike="noStrike">
              <a:solidFill>
                <a:schemeClr val="dk1"/>
              </a:solidFill>
              <a:latin typeface="Calibri"/>
              <a:ea typeface="Calibri"/>
              <a:cs typeface="Calibri"/>
              <a:sym typeface="Calibri"/>
            </a:endParaRPr>
          </a:p>
        </p:txBody>
      </p:sp>
      <p:sp>
        <p:nvSpPr>
          <p:cNvPr id="317" name="Google Shape;317;p14"/>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2600"/>
              <a:buFont typeface="Calibri"/>
              <a:buNone/>
            </a:pPr>
            <a:r>
              <a:rPr b="1" i="0" lang="en-US" sz="2600" u="none" cap="none" strike="noStrike">
                <a:solidFill>
                  <a:srgbClr val="FFB800"/>
                </a:solidFill>
                <a:latin typeface="Calibri"/>
                <a:ea typeface="Calibri"/>
                <a:cs typeface="Calibri"/>
                <a:sym typeface="Calibri"/>
              </a:rPr>
              <a:t>PROBLEMA VAGO</a:t>
            </a:r>
            <a:endParaRPr b="0" i="0" sz="2600" u="none" cap="none" strike="noStrike">
              <a:solidFill>
                <a:schemeClr val="dk1"/>
              </a:solidFill>
              <a:latin typeface="Calibri"/>
              <a:ea typeface="Calibri"/>
              <a:cs typeface="Calibri"/>
              <a:sym typeface="Calibri"/>
            </a:endParaRPr>
          </a:p>
        </p:txBody>
      </p:sp>
      <p:sp>
        <p:nvSpPr>
          <p:cNvPr id="318" name="Google Shape;318;p14"/>
          <p:cNvSpPr/>
          <p:nvPr/>
        </p:nvSpPr>
        <p:spPr>
          <a:xfrm>
            <a:off x="365760" y="1600200"/>
            <a:ext cx="8412480" cy="868680"/>
          </a:xfrm>
          <a:prstGeom prst="roundRect">
            <a:avLst>
              <a:gd fmla="val 12632" name="adj"/>
            </a:avLst>
          </a:prstGeom>
          <a:solidFill>
            <a:srgbClr val="1A2550"/>
          </a:solidFill>
          <a:ln cap="flat" cmpd="sng" w="22850">
            <a:solidFill>
              <a:srgbClr val="FFB800"/>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4"/>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Lean la slide anterior. Escriban en UNA oración el problema vago que da origen a esta solución.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No técnico. Como lo diría alguien en la calle.</a:t>
            </a:r>
            <a:endParaRPr b="0" i="0" sz="1300" u="none" cap="none" strike="noStrike">
              <a:solidFill>
                <a:schemeClr val="dk1"/>
              </a:solidFill>
              <a:latin typeface="Calibri"/>
              <a:ea typeface="Calibri"/>
              <a:cs typeface="Calibri"/>
              <a:sym typeface="Calibri"/>
            </a:endParaRPr>
          </a:p>
        </p:txBody>
      </p:sp>
      <p:sp>
        <p:nvSpPr>
          <p:cNvPr id="320" name="Google Shape;320;p14"/>
          <p:cNvSpPr/>
          <p:nvPr/>
        </p:nvSpPr>
        <p:spPr>
          <a:xfrm>
            <a:off x="365760" y="2606040"/>
            <a:ext cx="8412480" cy="2194560"/>
          </a:xfrm>
          <a:prstGeom prst="roundRect">
            <a:avLst>
              <a:gd fmla="val 5000" name="adj"/>
            </a:avLst>
          </a:prstGeom>
          <a:solidFill>
            <a:srgbClr val="1A2550"/>
          </a:solidFill>
          <a:ln cap="flat" cmpd="sng" w="19050">
            <a:solidFill>
              <a:srgbClr val="FFB800"/>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4"/>
          <p:cNvSpPr/>
          <p:nvPr/>
        </p:nvSpPr>
        <p:spPr>
          <a:xfrm>
            <a:off x="548640" y="267004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1000"/>
              <a:buFont typeface="Calibri"/>
              <a:buNone/>
            </a:pPr>
            <a:r>
              <a:rPr b="1" i="0" lang="en-US" sz="1000" u="none" cap="none" strike="noStrike">
                <a:solidFill>
                  <a:srgbClr val="FFB800"/>
                </a:solidFill>
                <a:latin typeface="Calibri"/>
                <a:ea typeface="Calibri"/>
                <a:cs typeface="Calibri"/>
                <a:sym typeface="Calibri"/>
              </a:rPr>
              <a:t>PISTA — ¿Cómo lo diría alguien sin conocimiento técnico?</a:t>
            </a:r>
            <a:endParaRPr b="0" i="0" sz="1000" u="none" cap="none" strike="noStrike">
              <a:solidFill>
                <a:schemeClr val="dk1"/>
              </a:solidFill>
              <a:latin typeface="Calibri"/>
              <a:ea typeface="Calibri"/>
              <a:cs typeface="Calibri"/>
              <a:sym typeface="Calibri"/>
            </a:endParaRPr>
          </a:p>
        </p:txBody>
      </p:sp>
      <p:sp>
        <p:nvSpPr>
          <p:cNvPr id="322" name="Google Shape;322;p14"/>
          <p:cNvSpPr/>
          <p:nvPr/>
        </p:nvSpPr>
        <p:spPr>
          <a:xfrm>
            <a:off x="548640" y="2999232"/>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0" i="1" lang="en-US" sz="1100" u="none" cap="none" strike="noStrike">
                <a:solidFill>
                  <a:srgbClr val="E8EDF5"/>
                </a:solidFill>
                <a:latin typeface="Calibri"/>
                <a:ea typeface="Calibri"/>
                <a:cs typeface="Calibri"/>
                <a:sym typeface="Calibri"/>
              </a:rPr>
              <a:t>✗  NO: 'La diferencia entre sensores LDR supera 50 unidades' — eso es técnico, no vago.</a:t>
            </a:r>
            <a:endParaRPr b="0" i="0" sz="1100" u="none" cap="none" strike="noStrike">
              <a:solidFill>
                <a:schemeClr val="dk1"/>
              </a:solidFill>
              <a:latin typeface="Calibri"/>
              <a:ea typeface="Calibri"/>
              <a:cs typeface="Calibri"/>
              <a:sym typeface="Calibri"/>
            </a:endParaRPr>
          </a:p>
        </p:txBody>
      </p:sp>
      <p:sp>
        <p:nvSpPr>
          <p:cNvPr id="323" name="Google Shape;323;p14"/>
          <p:cNvSpPr/>
          <p:nvPr/>
        </p:nvSpPr>
        <p:spPr>
          <a:xfrm>
            <a:off x="548640" y="3291840"/>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0" i="1" lang="en-US" sz="1100" u="none" cap="none" strike="noStrike">
                <a:solidFill>
                  <a:srgbClr val="E8EDF5"/>
                </a:solidFill>
                <a:latin typeface="Calibri"/>
                <a:ea typeface="Calibri"/>
                <a:cs typeface="Calibri"/>
                <a:sym typeface="Calibri"/>
              </a:rPr>
              <a:t>✓  SÍ: 'Los paneles solares de la escuela no aprovechan bien el sol cuando se mueve en el cielo.'</a:t>
            </a:r>
            <a:endParaRPr b="0" i="0" sz="1100" u="none" cap="none" strike="noStrike">
              <a:solidFill>
                <a:schemeClr val="dk1"/>
              </a:solidFill>
              <a:latin typeface="Calibri"/>
              <a:ea typeface="Calibri"/>
              <a:cs typeface="Calibri"/>
              <a:sym typeface="Calibri"/>
            </a:endParaRPr>
          </a:p>
        </p:txBody>
      </p:sp>
      <p:sp>
        <p:nvSpPr>
          <p:cNvPr id="324" name="Google Shape;324;p14"/>
          <p:cNvSpPr/>
          <p:nvPr/>
        </p:nvSpPr>
        <p:spPr>
          <a:xfrm>
            <a:off x="548640" y="3657600"/>
            <a:ext cx="8046720" cy="457200"/>
          </a:xfrm>
          <a:prstGeom prst="roundRect">
            <a:avLst>
              <a:gd fmla="val 16000" name="adj"/>
            </a:avLst>
          </a:prstGeom>
          <a:solidFill>
            <a:srgbClr val="FFB800">
              <a:alpha val="87843"/>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4"/>
          <p:cNvSpPr/>
          <p:nvPr/>
        </p:nvSpPr>
        <p:spPr>
          <a:xfrm>
            <a:off x="685800" y="365760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  Escriban su problema vago. Comparten al terminar el tiempo.</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A"/>
        </a:solidFill>
      </p:bgPr>
    </p:bg>
    <p:spTree>
      <p:nvGrpSpPr>
        <p:cNvPr id="330" name="Shape 330"/>
        <p:cNvGrpSpPr/>
        <p:nvPr/>
      </p:nvGrpSpPr>
      <p:grpSpPr>
        <a:xfrm>
          <a:off x="0" y="0"/>
          <a:ext cx="0" cy="0"/>
          <a:chOff x="0" y="0"/>
          <a:chExt cx="0" cy="0"/>
        </a:xfrm>
      </p:grpSpPr>
      <p:sp>
        <p:nvSpPr>
          <p:cNvPr id="331" name="Google Shape;331;p15"/>
          <p:cNvSpPr/>
          <p:nvPr/>
        </p:nvSpPr>
        <p:spPr>
          <a:xfrm>
            <a:off x="0" y="0"/>
            <a:ext cx="9144000" cy="502920"/>
          </a:xfrm>
          <a:prstGeom prst="rect">
            <a:avLst/>
          </a:prstGeom>
          <a:solidFill>
            <a:srgbClr val="FFB800"/>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5"/>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PANEL SOLAR CON SEGUIDOR DE LUZ  ·  RONDA 2 DE 5</a:t>
            </a:r>
            <a:endParaRPr b="0" i="0" sz="1100" u="none" cap="none" strike="noStrike">
              <a:solidFill>
                <a:schemeClr val="dk1"/>
              </a:solidFill>
              <a:latin typeface="Calibri"/>
              <a:ea typeface="Calibri"/>
              <a:cs typeface="Calibri"/>
              <a:sym typeface="Calibri"/>
            </a:endParaRPr>
          </a:p>
        </p:txBody>
      </p:sp>
      <p:sp>
        <p:nvSpPr>
          <p:cNvPr id="333" name="Google Shape;333;p15"/>
          <p:cNvSpPr/>
          <p:nvPr/>
        </p:nvSpPr>
        <p:spPr>
          <a:xfrm>
            <a:off x="7498080" y="54864"/>
            <a:ext cx="1417320" cy="384048"/>
          </a:xfrm>
          <a:prstGeom prst="roundRect">
            <a:avLst>
              <a:gd fmla="val 19048" name="adj"/>
            </a:avLst>
          </a:prstGeom>
          <a:solidFill>
            <a:srgbClr val="0A0E2A"/>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5"/>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1300"/>
              <a:buFont typeface="Calibri"/>
              <a:buNone/>
            </a:pPr>
            <a:r>
              <a:rPr b="1" i="0" lang="en-US" sz="1300" u="none" cap="none" strike="noStrike">
                <a:solidFill>
                  <a:srgbClr val="00D4FF"/>
                </a:solidFill>
                <a:latin typeface="Calibri"/>
                <a:ea typeface="Calibri"/>
                <a:cs typeface="Calibri"/>
                <a:sym typeface="Calibri"/>
              </a:rPr>
              <a:t>⏱  4 min</a:t>
            </a:r>
            <a:endParaRPr b="0" i="0" sz="1300" u="none" cap="none" strike="noStrike">
              <a:solidFill>
                <a:schemeClr val="dk1"/>
              </a:solidFill>
              <a:latin typeface="Calibri"/>
              <a:ea typeface="Calibri"/>
              <a:cs typeface="Calibri"/>
              <a:sym typeface="Calibri"/>
            </a:endParaRPr>
          </a:p>
        </p:txBody>
      </p:sp>
      <p:sp>
        <p:nvSpPr>
          <p:cNvPr id="335" name="Google Shape;335;p15"/>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RONDA 2</a:t>
            </a:r>
            <a:endParaRPr b="0" i="0" sz="1100" u="none" cap="none" strike="noStrike">
              <a:solidFill>
                <a:schemeClr val="dk1"/>
              </a:solidFill>
              <a:latin typeface="Calibri"/>
              <a:ea typeface="Calibri"/>
              <a:cs typeface="Calibri"/>
              <a:sym typeface="Calibri"/>
            </a:endParaRPr>
          </a:p>
        </p:txBody>
      </p:sp>
      <p:sp>
        <p:nvSpPr>
          <p:cNvPr id="336" name="Google Shape;336;p15"/>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2600"/>
              <a:buFont typeface="Calibri"/>
              <a:buNone/>
            </a:pPr>
            <a:r>
              <a:rPr b="1" i="0" lang="en-US" sz="2600" u="none" cap="none" strike="noStrike">
                <a:solidFill>
                  <a:srgbClr val="0A0E2A"/>
                </a:solidFill>
                <a:latin typeface="Calibri"/>
                <a:ea typeface="Calibri"/>
                <a:cs typeface="Calibri"/>
                <a:sym typeface="Calibri"/>
              </a:rPr>
              <a:t>PREGUNTAS DISPARADORAS</a:t>
            </a:r>
            <a:endParaRPr b="0" i="0" sz="2600" u="none" cap="none" strike="noStrike">
              <a:solidFill>
                <a:schemeClr val="dk1"/>
              </a:solidFill>
              <a:latin typeface="Calibri"/>
              <a:ea typeface="Calibri"/>
              <a:cs typeface="Calibri"/>
              <a:sym typeface="Calibri"/>
            </a:endParaRPr>
          </a:p>
        </p:txBody>
      </p:sp>
      <p:sp>
        <p:nvSpPr>
          <p:cNvPr id="337" name="Google Shape;337;p15"/>
          <p:cNvSpPr/>
          <p:nvPr/>
        </p:nvSpPr>
        <p:spPr>
          <a:xfrm>
            <a:off x="365760" y="1600200"/>
            <a:ext cx="8412480" cy="868680"/>
          </a:xfrm>
          <a:prstGeom prst="roundRect">
            <a:avLst>
              <a:gd fmla="val 12632" name="adj"/>
            </a:avLst>
          </a:prstGeom>
          <a:solidFill>
            <a:srgbClr val="FFFFFF"/>
          </a:solidFill>
          <a:ln cap="flat" cmpd="sng" w="22850">
            <a:solidFill>
              <a:srgbClr val="00D4FF"/>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5"/>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Formulen UNA pregunta disparadora para cada tipo:</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¿Cómo...? · ¿Por qué...? · ¿Para qué...? · ¿Qué harías...?</a:t>
            </a:r>
            <a:endParaRPr b="0" i="0" sz="1300" u="none" cap="none" strike="noStrike">
              <a:solidFill>
                <a:schemeClr val="dk1"/>
              </a:solidFill>
              <a:latin typeface="Calibri"/>
              <a:ea typeface="Calibri"/>
              <a:cs typeface="Calibri"/>
              <a:sym typeface="Calibri"/>
            </a:endParaRPr>
          </a:p>
        </p:txBody>
      </p:sp>
      <p:sp>
        <p:nvSpPr>
          <p:cNvPr id="339" name="Google Shape;339;p15"/>
          <p:cNvSpPr/>
          <p:nvPr/>
        </p:nvSpPr>
        <p:spPr>
          <a:xfrm>
            <a:off x="365760" y="2578608"/>
            <a:ext cx="4160520" cy="1078992"/>
          </a:xfrm>
          <a:prstGeom prst="roundRect">
            <a:avLst>
              <a:gd fmla="val 8475" name="adj"/>
            </a:avLst>
          </a:prstGeom>
          <a:solidFill>
            <a:srgbClr val="FFFFFF"/>
          </a:solidFill>
          <a:ln cap="flat" cmpd="sng" w="19050">
            <a:solidFill>
              <a:srgbClr val="00D4FF"/>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5"/>
          <p:cNvSpPr/>
          <p:nvPr/>
        </p:nvSpPr>
        <p:spPr>
          <a:xfrm>
            <a:off x="457200" y="2670048"/>
            <a:ext cx="1371600" cy="292608"/>
          </a:xfrm>
          <a:prstGeom prst="roundRect">
            <a:avLst>
              <a:gd fmla="val 15625" name="adj"/>
            </a:avLst>
          </a:prstGeom>
          <a:solidFill>
            <a:srgbClr val="00D4FF">
              <a:alpha val="90196"/>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5"/>
          <p:cNvSpPr/>
          <p:nvPr/>
        </p:nvSpPr>
        <p:spPr>
          <a:xfrm>
            <a:off x="457200" y="2670048"/>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¿Cómo...?</a:t>
            </a:r>
            <a:endParaRPr b="0" i="0" sz="1100" u="none" cap="none" strike="noStrike">
              <a:solidFill>
                <a:schemeClr val="dk1"/>
              </a:solidFill>
              <a:latin typeface="Calibri"/>
              <a:ea typeface="Calibri"/>
              <a:cs typeface="Calibri"/>
              <a:sym typeface="Calibri"/>
            </a:endParaRPr>
          </a:p>
        </p:txBody>
      </p:sp>
      <p:sp>
        <p:nvSpPr>
          <p:cNvPr id="342" name="Google Shape;342;p15"/>
          <p:cNvSpPr/>
          <p:nvPr/>
        </p:nvSpPr>
        <p:spPr>
          <a:xfrm>
            <a:off x="1920240" y="2688336"/>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Busca crear un proceso o solución</a:t>
            </a:r>
            <a:endParaRPr b="0" i="0" sz="950" u="none" cap="none" strike="noStrike">
              <a:solidFill>
                <a:schemeClr val="dk1"/>
              </a:solidFill>
              <a:latin typeface="Calibri"/>
              <a:ea typeface="Calibri"/>
              <a:cs typeface="Calibri"/>
              <a:sym typeface="Calibri"/>
            </a:endParaRPr>
          </a:p>
        </p:txBody>
      </p:sp>
      <p:sp>
        <p:nvSpPr>
          <p:cNvPr id="343" name="Google Shape;343;p15"/>
          <p:cNvSpPr/>
          <p:nvPr/>
        </p:nvSpPr>
        <p:spPr>
          <a:xfrm>
            <a:off x="457200" y="3035808"/>
            <a:ext cx="3886200" cy="502920"/>
          </a:xfrm>
          <a:prstGeom prst="roundRect">
            <a:avLst>
              <a:gd fmla="val 10909" name="adj"/>
            </a:avLst>
          </a:prstGeom>
          <a:solidFill>
            <a:srgbClr val="00D4FF">
              <a:alpha val="7843"/>
            </a:srgbClr>
          </a:solidFill>
          <a:ln cap="flat" cmpd="sng" w="12700">
            <a:solidFill>
              <a:srgbClr val="00D4FF">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15"/>
          <p:cNvSpPr/>
          <p:nvPr/>
        </p:nvSpPr>
        <p:spPr>
          <a:xfrm>
            <a:off x="548640" y="3035808"/>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
        <p:nvSpPr>
          <p:cNvPr id="345" name="Google Shape;345;p15"/>
          <p:cNvSpPr/>
          <p:nvPr/>
        </p:nvSpPr>
        <p:spPr>
          <a:xfrm>
            <a:off x="4709160" y="2578608"/>
            <a:ext cx="4160520" cy="1078992"/>
          </a:xfrm>
          <a:prstGeom prst="roundRect">
            <a:avLst>
              <a:gd fmla="val 8475" name="adj"/>
            </a:avLst>
          </a:prstGeom>
          <a:solidFill>
            <a:srgbClr val="FFFFFF"/>
          </a:solidFill>
          <a:ln cap="flat" cmpd="sng" w="19050">
            <a:solidFill>
              <a:srgbClr val="FFB800"/>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p:nvPr/>
        </p:nvSpPr>
        <p:spPr>
          <a:xfrm>
            <a:off x="4800600" y="2670048"/>
            <a:ext cx="1371600" cy="292608"/>
          </a:xfrm>
          <a:prstGeom prst="roundRect">
            <a:avLst>
              <a:gd fmla="val 15625" name="adj"/>
            </a:avLst>
          </a:prstGeom>
          <a:solidFill>
            <a:srgbClr val="FFB800">
              <a:alpha val="90196"/>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5"/>
          <p:cNvSpPr/>
          <p:nvPr/>
        </p:nvSpPr>
        <p:spPr>
          <a:xfrm>
            <a:off x="4800600" y="2670048"/>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¿Por qué...?</a:t>
            </a:r>
            <a:endParaRPr b="0" i="0" sz="1100" u="none" cap="none" strike="noStrike">
              <a:solidFill>
                <a:schemeClr val="dk1"/>
              </a:solidFill>
              <a:latin typeface="Calibri"/>
              <a:ea typeface="Calibri"/>
              <a:cs typeface="Calibri"/>
              <a:sym typeface="Calibri"/>
            </a:endParaRPr>
          </a:p>
        </p:txBody>
      </p:sp>
      <p:sp>
        <p:nvSpPr>
          <p:cNvPr id="348" name="Google Shape;348;p15"/>
          <p:cNvSpPr/>
          <p:nvPr/>
        </p:nvSpPr>
        <p:spPr>
          <a:xfrm>
            <a:off x="6263640" y="2688336"/>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Investiga causas</a:t>
            </a:r>
            <a:endParaRPr b="0" i="0" sz="950" u="none" cap="none" strike="noStrike">
              <a:solidFill>
                <a:schemeClr val="dk1"/>
              </a:solidFill>
              <a:latin typeface="Calibri"/>
              <a:ea typeface="Calibri"/>
              <a:cs typeface="Calibri"/>
              <a:sym typeface="Calibri"/>
            </a:endParaRPr>
          </a:p>
        </p:txBody>
      </p:sp>
      <p:sp>
        <p:nvSpPr>
          <p:cNvPr id="349" name="Google Shape;349;p15"/>
          <p:cNvSpPr/>
          <p:nvPr/>
        </p:nvSpPr>
        <p:spPr>
          <a:xfrm>
            <a:off x="4800600" y="3035808"/>
            <a:ext cx="3886200" cy="502920"/>
          </a:xfrm>
          <a:prstGeom prst="roundRect">
            <a:avLst>
              <a:gd fmla="val 10909" name="adj"/>
            </a:avLst>
          </a:prstGeom>
          <a:solidFill>
            <a:srgbClr val="FFB800">
              <a:alpha val="7843"/>
            </a:srgbClr>
          </a:solidFill>
          <a:ln cap="flat" cmpd="sng" w="12700">
            <a:solidFill>
              <a:srgbClr val="FFB800">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5"/>
          <p:cNvSpPr/>
          <p:nvPr/>
        </p:nvSpPr>
        <p:spPr>
          <a:xfrm>
            <a:off x="4892040" y="3035808"/>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
        <p:nvSpPr>
          <p:cNvPr id="351" name="Google Shape;351;p15"/>
          <p:cNvSpPr/>
          <p:nvPr/>
        </p:nvSpPr>
        <p:spPr>
          <a:xfrm>
            <a:off x="365760" y="3749040"/>
            <a:ext cx="4160520" cy="1078992"/>
          </a:xfrm>
          <a:prstGeom prst="roundRect">
            <a:avLst>
              <a:gd fmla="val 8475" name="adj"/>
            </a:avLst>
          </a:prstGeom>
          <a:solidFill>
            <a:srgbClr val="FFFFFF"/>
          </a:solidFill>
          <a:ln cap="flat" cmpd="sng" w="19050">
            <a:solidFill>
              <a:srgbClr val="00C896"/>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5"/>
          <p:cNvSpPr/>
          <p:nvPr/>
        </p:nvSpPr>
        <p:spPr>
          <a:xfrm>
            <a:off x="457200" y="3840480"/>
            <a:ext cx="1371600" cy="292608"/>
          </a:xfrm>
          <a:prstGeom prst="roundRect">
            <a:avLst>
              <a:gd fmla="val 15625" name="adj"/>
            </a:avLst>
          </a:prstGeom>
          <a:solidFill>
            <a:srgbClr val="00C896">
              <a:alpha val="90196"/>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
          <p:cNvSpPr/>
          <p:nvPr/>
        </p:nvSpPr>
        <p:spPr>
          <a:xfrm>
            <a:off x="457200" y="3840480"/>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¿Para qué...?</a:t>
            </a:r>
            <a:endParaRPr b="0" i="0" sz="1100" u="none" cap="none" strike="noStrike">
              <a:solidFill>
                <a:schemeClr val="dk1"/>
              </a:solidFill>
              <a:latin typeface="Calibri"/>
              <a:ea typeface="Calibri"/>
              <a:cs typeface="Calibri"/>
              <a:sym typeface="Calibri"/>
            </a:endParaRPr>
          </a:p>
        </p:txBody>
      </p:sp>
      <p:sp>
        <p:nvSpPr>
          <p:cNvPr id="354" name="Google Shape;354;p15"/>
          <p:cNvSpPr/>
          <p:nvPr/>
        </p:nvSpPr>
        <p:spPr>
          <a:xfrm>
            <a:off x="1920240" y="3858768"/>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Explora el propósito</a:t>
            </a:r>
            <a:endParaRPr b="0" i="0" sz="950" u="none" cap="none" strike="noStrike">
              <a:solidFill>
                <a:schemeClr val="dk1"/>
              </a:solidFill>
              <a:latin typeface="Calibri"/>
              <a:ea typeface="Calibri"/>
              <a:cs typeface="Calibri"/>
              <a:sym typeface="Calibri"/>
            </a:endParaRPr>
          </a:p>
        </p:txBody>
      </p:sp>
      <p:sp>
        <p:nvSpPr>
          <p:cNvPr id="355" name="Google Shape;355;p15"/>
          <p:cNvSpPr/>
          <p:nvPr/>
        </p:nvSpPr>
        <p:spPr>
          <a:xfrm>
            <a:off x="457200" y="4206240"/>
            <a:ext cx="3886200" cy="502920"/>
          </a:xfrm>
          <a:prstGeom prst="roundRect">
            <a:avLst>
              <a:gd fmla="val 10909" name="adj"/>
            </a:avLst>
          </a:prstGeom>
          <a:solidFill>
            <a:srgbClr val="00C896">
              <a:alpha val="7843"/>
            </a:srgbClr>
          </a:solidFill>
          <a:ln cap="flat" cmpd="sng" w="12700">
            <a:solidFill>
              <a:srgbClr val="00C89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5"/>
          <p:cNvSpPr/>
          <p:nvPr/>
        </p:nvSpPr>
        <p:spPr>
          <a:xfrm>
            <a:off x="548640" y="4206240"/>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
        <p:nvSpPr>
          <p:cNvPr id="357" name="Google Shape;357;p15"/>
          <p:cNvSpPr/>
          <p:nvPr/>
        </p:nvSpPr>
        <p:spPr>
          <a:xfrm>
            <a:off x="4709160" y="3749040"/>
            <a:ext cx="4160520" cy="1078992"/>
          </a:xfrm>
          <a:prstGeom prst="roundRect">
            <a:avLst>
              <a:gd fmla="val 8475" name="adj"/>
            </a:avLst>
          </a:prstGeom>
          <a:solidFill>
            <a:srgbClr val="FFFFFF"/>
          </a:solidFill>
          <a:ln cap="flat" cmpd="sng" w="19050">
            <a:solidFill>
              <a:srgbClr val="9B59B6"/>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5"/>
          <p:cNvSpPr/>
          <p:nvPr/>
        </p:nvSpPr>
        <p:spPr>
          <a:xfrm>
            <a:off x="4800600" y="3840480"/>
            <a:ext cx="1371600" cy="292608"/>
          </a:xfrm>
          <a:prstGeom prst="roundRect">
            <a:avLst>
              <a:gd fmla="val 15625" name="adj"/>
            </a:avLst>
          </a:prstGeom>
          <a:solidFill>
            <a:srgbClr val="9B59B6">
              <a:alpha val="90196"/>
            </a:srgbClr>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5"/>
          <p:cNvSpPr/>
          <p:nvPr/>
        </p:nvSpPr>
        <p:spPr>
          <a:xfrm>
            <a:off x="4800600" y="3840480"/>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¿Qué harías...?</a:t>
            </a:r>
            <a:endParaRPr b="0" i="0" sz="1100" u="none" cap="none" strike="noStrike">
              <a:solidFill>
                <a:schemeClr val="dk1"/>
              </a:solidFill>
              <a:latin typeface="Calibri"/>
              <a:ea typeface="Calibri"/>
              <a:cs typeface="Calibri"/>
              <a:sym typeface="Calibri"/>
            </a:endParaRPr>
          </a:p>
        </p:txBody>
      </p:sp>
      <p:sp>
        <p:nvSpPr>
          <p:cNvPr id="360" name="Google Shape;360;p15"/>
          <p:cNvSpPr/>
          <p:nvPr/>
        </p:nvSpPr>
        <p:spPr>
          <a:xfrm>
            <a:off x="6263640" y="3858768"/>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Imagina soluciones</a:t>
            </a:r>
            <a:endParaRPr b="0" i="0" sz="950" u="none" cap="none" strike="noStrike">
              <a:solidFill>
                <a:schemeClr val="dk1"/>
              </a:solidFill>
              <a:latin typeface="Calibri"/>
              <a:ea typeface="Calibri"/>
              <a:cs typeface="Calibri"/>
              <a:sym typeface="Calibri"/>
            </a:endParaRPr>
          </a:p>
        </p:txBody>
      </p:sp>
      <p:sp>
        <p:nvSpPr>
          <p:cNvPr id="361" name="Google Shape;361;p15"/>
          <p:cNvSpPr/>
          <p:nvPr/>
        </p:nvSpPr>
        <p:spPr>
          <a:xfrm>
            <a:off x="4800600" y="4206240"/>
            <a:ext cx="3886200" cy="502920"/>
          </a:xfrm>
          <a:prstGeom prst="roundRect">
            <a:avLst>
              <a:gd fmla="val 10909" name="adj"/>
            </a:avLst>
          </a:prstGeom>
          <a:solidFill>
            <a:srgbClr val="9B59B6">
              <a:alpha val="7843"/>
            </a:srgbClr>
          </a:solidFill>
          <a:ln cap="flat" cmpd="sng" w="12700">
            <a:solidFill>
              <a:srgbClr val="9B59B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5"/>
          <p:cNvSpPr/>
          <p:nvPr/>
        </p:nvSpPr>
        <p:spPr>
          <a:xfrm>
            <a:off x="4892040" y="4206240"/>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367" name="Shape 367"/>
        <p:cNvGrpSpPr/>
        <p:nvPr/>
      </p:nvGrpSpPr>
      <p:grpSpPr>
        <a:xfrm>
          <a:off x="0" y="0"/>
          <a:ext cx="0" cy="0"/>
          <a:chOff x="0" y="0"/>
          <a:chExt cx="0" cy="0"/>
        </a:xfrm>
      </p:grpSpPr>
      <p:sp>
        <p:nvSpPr>
          <p:cNvPr id="368" name="Google Shape;368;p16"/>
          <p:cNvSpPr/>
          <p:nvPr/>
        </p:nvSpPr>
        <p:spPr>
          <a:xfrm>
            <a:off x="0" y="0"/>
            <a:ext cx="9144000" cy="502920"/>
          </a:xfrm>
          <a:prstGeom prst="rect">
            <a:avLst/>
          </a:prstGeom>
          <a:solidFill>
            <a:srgbClr val="FFB800"/>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6"/>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PANEL SOLAR CON SEGUIDOR DE LUZ  ·  RONDA 3 DE 5</a:t>
            </a:r>
            <a:endParaRPr b="0" i="0" sz="1100" u="none" cap="none" strike="noStrike">
              <a:solidFill>
                <a:schemeClr val="dk1"/>
              </a:solidFill>
              <a:latin typeface="Calibri"/>
              <a:ea typeface="Calibri"/>
              <a:cs typeface="Calibri"/>
              <a:sym typeface="Calibri"/>
            </a:endParaRPr>
          </a:p>
        </p:txBody>
      </p:sp>
      <p:sp>
        <p:nvSpPr>
          <p:cNvPr id="370" name="Google Shape;370;p16"/>
          <p:cNvSpPr/>
          <p:nvPr/>
        </p:nvSpPr>
        <p:spPr>
          <a:xfrm>
            <a:off x="7498080" y="54864"/>
            <a:ext cx="1417320" cy="384048"/>
          </a:xfrm>
          <a:prstGeom prst="roundRect">
            <a:avLst>
              <a:gd fmla="val 19048" name="adj"/>
            </a:avLst>
          </a:prstGeom>
          <a:solidFill>
            <a:srgbClr val="0A0E2A"/>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6"/>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896"/>
              </a:buClr>
              <a:buSzPts val="1300"/>
              <a:buFont typeface="Calibri"/>
              <a:buNone/>
            </a:pPr>
            <a:r>
              <a:rPr b="1" i="0" lang="en-US" sz="1300" u="none" cap="none" strike="noStrike">
                <a:solidFill>
                  <a:srgbClr val="00C896"/>
                </a:solidFill>
                <a:latin typeface="Calibri"/>
                <a:ea typeface="Calibri"/>
                <a:cs typeface="Calibri"/>
                <a:sym typeface="Calibri"/>
              </a:rPr>
              <a:t>⏱  6 min</a:t>
            </a:r>
            <a:endParaRPr b="0" i="0" sz="1300" u="none" cap="none" strike="noStrike">
              <a:solidFill>
                <a:schemeClr val="dk1"/>
              </a:solidFill>
              <a:latin typeface="Calibri"/>
              <a:ea typeface="Calibri"/>
              <a:cs typeface="Calibri"/>
              <a:sym typeface="Calibri"/>
            </a:endParaRPr>
          </a:p>
        </p:txBody>
      </p:sp>
      <p:sp>
        <p:nvSpPr>
          <p:cNvPr id="372" name="Google Shape;372;p16"/>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896"/>
              </a:buClr>
              <a:buSzPts val="1100"/>
              <a:buFont typeface="Calibri"/>
              <a:buNone/>
            </a:pPr>
            <a:r>
              <a:rPr b="1" i="0" lang="en-US" sz="1100" u="none" cap="none" strike="noStrike">
                <a:solidFill>
                  <a:srgbClr val="00C896"/>
                </a:solidFill>
                <a:latin typeface="Calibri"/>
                <a:ea typeface="Calibri"/>
                <a:cs typeface="Calibri"/>
                <a:sym typeface="Calibri"/>
              </a:rPr>
              <a:t>RONDA 3</a:t>
            </a:r>
            <a:endParaRPr b="0" i="0" sz="1100" u="none" cap="none" strike="noStrike">
              <a:solidFill>
                <a:schemeClr val="dk1"/>
              </a:solidFill>
              <a:latin typeface="Calibri"/>
              <a:ea typeface="Calibri"/>
              <a:cs typeface="Calibri"/>
              <a:sym typeface="Calibri"/>
            </a:endParaRPr>
          </a:p>
        </p:txBody>
      </p:sp>
      <p:sp>
        <p:nvSpPr>
          <p:cNvPr id="373" name="Google Shape;373;p16"/>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896"/>
              </a:buClr>
              <a:buSzPts val="2600"/>
              <a:buFont typeface="Calibri"/>
              <a:buNone/>
            </a:pPr>
            <a:r>
              <a:rPr b="1" i="0" lang="en-US" sz="2600" u="none" cap="none" strike="noStrike">
                <a:solidFill>
                  <a:srgbClr val="00C896"/>
                </a:solidFill>
                <a:latin typeface="Calibri"/>
                <a:ea typeface="Calibri"/>
                <a:cs typeface="Calibri"/>
                <a:sym typeface="Calibri"/>
              </a:rPr>
              <a:t>4 COMPONENTES + PROBLEMA TÉCNICO</a:t>
            </a:r>
            <a:endParaRPr b="0" i="0" sz="2600" u="none" cap="none" strike="noStrike">
              <a:solidFill>
                <a:schemeClr val="dk1"/>
              </a:solidFill>
              <a:latin typeface="Calibri"/>
              <a:ea typeface="Calibri"/>
              <a:cs typeface="Calibri"/>
              <a:sym typeface="Calibri"/>
            </a:endParaRPr>
          </a:p>
        </p:txBody>
      </p:sp>
      <p:sp>
        <p:nvSpPr>
          <p:cNvPr id="374" name="Google Shape;374;p16"/>
          <p:cNvSpPr/>
          <p:nvPr/>
        </p:nvSpPr>
        <p:spPr>
          <a:xfrm>
            <a:off x="365760" y="1600200"/>
            <a:ext cx="8412480" cy="868680"/>
          </a:xfrm>
          <a:prstGeom prst="roundRect">
            <a:avLst>
              <a:gd fmla="val 12632" name="adj"/>
            </a:avLst>
          </a:prstGeom>
          <a:solidFill>
            <a:srgbClr val="1A2550"/>
          </a:solidFill>
          <a:ln cap="flat" cmpd="sng" w="22850">
            <a:solidFill>
              <a:srgbClr val="00C896"/>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6"/>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Identifiquen: CONTEXTO · VARIABLE · PUNTO DE QUIEBRE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Luego enuncien el PROBLEMA TÉCNICO en una sola oración sin adjetivos subjetivos.</a:t>
            </a:r>
            <a:endParaRPr b="0" i="0" sz="1300" u="none" cap="none" strike="noStrike">
              <a:solidFill>
                <a:schemeClr val="dk1"/>
              </a:solidFill>
              <a:latin typeface="Calibri"/>
              <a:ea typeface="Calibri"/>
              <a:cs typeface="Calibri"/>
              <a:sym typeface="Calibri"/>
            </a:endParaRPr>
          </a:p>
        </p:txBody>
      </p:sp>
      <p:sp>
        <p:nvSpPr>
          <p:cNvPr id="376" name="Google Shape;376;p16"/>
          <p:cNvSpPr/>
          <p:nvPr/>
        </p:nvSpPr>
        <p:spPr>
          <a:xfrm>
            <a:off x="365760" y="2578608"/>
            <a:ext cx="8412480" cy="530352"/>
          </a:xfrm>
          <a:prstGeom prst="roundRect">
            <a:avLst>
              <a:gd fmla="val 13793" name="adj"/>
            </a:avLst>
          </a:prstGeom>
          <a:solidFill>
            <a:srgbClr val="1A2550"/>
          </a:solidFill>
          <a:ln cap="flat" cmpd="sng" w="19050">
            <a:solidFill>
              <a:srgbClr val="00D4FF"/>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6"/>
          <p:cNvSpPr/>
          <p:nvPr/>
        </p:nvSpPr>
        <p:spPr>
          <a:xfrm>
            <a:off x="457200" y="2651760"/>
            <a:ext cx="1645920" cy="365760"/>
          </a:xfrm>
          <a:prstGeom prst="roundRect">
            <a:avLst>
              <a:gd fmla="val 15000" name="adj"/>
            </a:avLst>
          </a:prstGeom>
          <a:solidFill>
            <a:srgbClr val="00D4FF">
              <a:alpha val="92156"/>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6"/>
          <p:cNvSpPr/>
          <p:nvPr/>
        </p:nvSpPr>
        <p:spPr>
          <a:xfrm>
            <a:off x="457200" y="2651760"/>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CONTEXTO</a:t>
            </a:r>
            <a:endParaRPr b="0" i="0" sz="950" u="none" cap="none" strike="noStrike">
              <a:solidFill>
                <a:schemeClr val="dk1"/>
              </a:solidFill>
              <a:latin typeface="Calibri"/>
              <a:ea typeface="Calibri"/>
              <a:cs typeface="Calibri"/>
              <a:sym typeface="Calibri"/>
            </a:endParaRPr>
          </a:p>
        </p:txBody>
      </p:sp>
      <p:sp>
        <p:nvSpPr>
          <p:cNvPr id="379" name="Google Shape;379;p16"/>
          <p:cNvSpPr/>
          <p:nvPr/>
        </p:nvSpPr>
        <p:spPr>
          <a:xfrm>
            <a:off x="2194560" y="2578608"/>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¿En qué sistema / lugar / momento ocurre?</a:t>
            </a:r>
            <a:endParaRPr b="0" i="0" sz="1050" u="none" cap="none" strike="noStrike">
              <a:solidFill>
                <a:schemeClr val="dk1"/>
              </a:solidFill>
              <a:latin typeface="Calibri"/>
              <a:ea typeface="Calibri"/>
              <a:cs typeface="Calibri"/>
              <a:sym typeface="Calibri"/>
            </a:endParaRPr>
          </a:p>
        </p:txBody>
      </p:sp>
      <p:sp>
        <p:nvSpPr>
          <p:cNvPr id="380" name="Google Shape;380;p16"/>
          <p:cNvSpPr/>
          <p:nvPr/>
        </p:nvSpPr>
        <p:spPr>
          <a:xfrm>
            <a:off x="365760" y="3182112"/>
            <a:ext cx="8412480" cy="530352"/>
          </a:xfrm>
          <a:prstGeom prst="roundRect">
            <a:avLst>
              <a:gd fmla="val 13793" name="adj"/>
            </a:avLst>
          </a:prstGeom>
          <a:solidFill>
            <a:srgbClr val="1A2550"/>
          </a:solidFill>
          <a:ln cap="flat" cmpd="sng" w="19050">
            <a:solidFill>
              <a:srgbClr val="FFB800"/>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6"/>
          <p:cNvSpPr/>
          <p:nvPr/>
        </p:nvSpPr>
        <p:spPr>
          <a:xfrm>
            <a:off x="457200" y="3255264"/>
            <a:ext cx="1645920" cy="365760"/>
          </a:xfrm>
          <a:prstGeom prst="roundRect">
            <a:avLst>
              <a:gd fmla="val 15000" name="adj"/>
            </a:avLst>
          </a:prstGeom>
          <a:solidFill>
            <a:srgbClr val="FFB800">
              <a:alpha val="92156"/>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6"/>
          <p:cNvSpPr/>
          <p:nvPr/>
        </p:nvSpPr>
        <p:spPr>
          <a:xfrm>
            <a:off x="457200" y="3255264"/>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VARIABLE</a:t>
            </a:r>
            <a:endParaRPr b="0" i="0" sz="950" u="none" cap="none" strike="noStrike">
              <a:solidFill>
                <a:schemeClr val="dk1"/>
              </a:solidFill>
              <a:latin typeface="Calibri"/>
              <a:ea typeface="Calibri"/>
              <a:cs typeface="Calibri"/>
              <a:sym typeface="Calibri"/>
            </a:endParaRPr>
          </a:p>
        </p:txBody>
      </p:sp>
      <p:sp>
        <p:nvSpPr>
          <p:cNvPr id="383" name="Google Shape;383;p16"/>
          <p:cNvSpPr/>
          <p:nvPr/>
        </p:nvSpPr>
        <p:spPr>
          <a:xfrm>
            <a:off x="2194560" y="3182112"/>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¿Qué es lo único que, si lo mido, me dice si el problema existe?</a:t>
            </a:r>
            <a:endParaRPr b="0" i="0" sz="1050" u="none" cap="none" strike="noStrike">
              <a:solidFill>
                <a:schemeClr val="dk1"/>
              </a:solidFill>
              <a:latin typeface="Calibri"/>
              <a:ea typeface="Calibri"/>
              <a:cs typeface="Calibri"/>
              <a:sym typeface="Calibri"/>
            </a:endParaRPr>
          </a:p>
        </p:txBody>
      </p:sp>
      <p:sp>
        <p:nvSpPr>
          <p:cNvPr id="384" name="Google Shape;384;p16"/>
          <p:cNvSpPr/>
          <p:nvPr/>
        </p:nvSpPr>
        <p:spPr>
          <a:xfrm>
            <a:off x="365760" y="3785616"/>
            <a:ext cx="8412480" cy="530352"/>
          </a:xfrm>
          <a:prstGeom prst="roundRect">
            <a:avLst>
              <a:gd fmla="val 13793" name="adj"/>
            </a:avLst>
          </a:prstGeom>
          <a:solidFill>
            <a:srgbClr val="1A2550"/>
          </a:solidFill>
          <a:ln cap="flat" cmpd="sng" w="19050">
            <a:solidFill>
              <a:srgbClr val="FF4D6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6"/>
          <p:cNvSpPr/>
          <p:nvPr/>
        </p:nvSpPr>
        <p:spPr>
          <a:xfrm>
            <a:off x="457200" y="3858768"/>
            <a:ext cx="1645920" cy="365760"/>
          </a:xfrm>
          <a:prstGeom prst="roundRect">
            <a:avLst>
              <a:gd fmla="val 15000" name="adj"/>
            </a:avLst>
          </a:prstGeom>
          <a:solidFill>
            <a:srgbClr val="FF4D6A">
              <a:alpha val="92156"/>
            </a:srgbClr>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6"/>
          <p:cNvSpPr/>
          <p:nvPr/>
        </p:nvSpPr>
        <p:spPr>
          <a:xfrm>
            <a:off x="457200" y="3858768"/>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PUNTO DE QUIEBRE</a:t>
            </a:r>
            <a:endParaRPr b="0" i="0" sz="950" u="none" cap="none" strike="noStrike">
              <a:solidFill>
                <a:schemeClr val="dk1"/>
              </a:solidFill>
              <a:latin typeface="Calibri"/>
              <a:ea typeface="Calibri"/>
              <a:cs typeface="Calibri"/>
              <a:sym typeface="Calibri"/>
            </a:endParaRPr>
          </a:p>
        </p:txBody>
      </p:sp>
      <p:sp>
        <p:nvSpPr>
          <p:cNvPr id="387" name="Google Shape;387;p16"/>
          <p:cNvSpPr/>
          <p:nvPr/>
        </p:nvSpPr>
        <p:spPr>
          <a:xfrm>
            <a:off x="2194560" y="3785616"/>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¿A partir de qué valor digo que el problema empieza?</a:t>
            </a:r>
            <a:endParaRPr b="0" i="0" sz="1050" u="none" cap="none" strike="noStrike">
              <a:solidFill>
                <a:schemeClr val="dk1"/>
              </a:solidFill>
              <a:latin typeface="Calibri"/>
              <a:ea typeface="Calibri"/>
              <a:cs typeface="Calibri"/>
              <a:sym typeface="Calibri"/>
            </a:endParaRPr>
          </a:p>
        </p:txBody>
      </p:sp>
      <p:sp>
        <p:nvSpPr>
          <p:cNvPr id="388" name="Google Shape;388;p16"/>
          <p:cNvSpPr/>
          <p:nvPr/>
        </p:nvSpPr>
        <p:spPr>
          <a:xfrm>
            <a:off x="365760" y="4389120"/>
            <a:ext cx="8412480" cy="530352"/>
          </a:xfrm>
          <a:prstGeom prst="roundRect">
            <a:avLst>
              <a:gd fmla="val 13793" name="adj"/>
            </a:avLst>
          </a:prstGeom>
          <a:solidFill>
            <a:srgbClr val="1A2550"/>
          </a:solidFill>
          <a:ln cap="flat" cmpd="sng" w="19050">
            <a:solidFill>
              <a:srgbClr val="00C896"/>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6"/>
          <p:cNvSpPr/>
          <p:nvPr/>
        </p:nvSpPr>
        <p:spPr>
          <a:xfrm>
            <a:off x="457200" y="4462272"/>
            <a:ext cx="1645920" cy="365760"/>
          </a:xfrm>
          <a:prstGeom prst="roundRect">
            <a:avLst>
              <a:gd fmla="val 15000" name="adj"/>
            </a:avLst>
          </a:prstGeom>
          <a:solidFill>
            <a:srgbClr val="00C896">
              <a:alpha val="92156"/>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6"/>
          <p:cNvSpPr/>
          <p:nvPr/>
        </p:nvSpPr>
        <p:spPr>
          <a:xfrm>
            <a:off x="457200" y="4462272"/>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PROBLEMA TÉCNICO</a:t>
            </a:r>
            <a:endParaRPr b="0" i="0" sz="950" u="none" cap="none" strike="noStrike">
              <a:solidFill>
                <a:schemeClr val="dk1"/>
              </a:solidFill>
              <a:latin typeface="Calibri"/>
              <a:ea typeface="Calibri"/>
              <a:cs typeface="Calibri"/>
              <a:sym typeface="Calibri"/>
            </a:endParaRPr>
          </a:p>
        </p:txBody>
      </p:sp>
      <p:sp>
        <p:nvSpPr>
          <p:cNvPr id="391" name="Google Shape;391;p16"/>
          <p:cNvSpPr/>
          <p:nvPr/>
        </p:nvSpPr>
        <p:spPr>
          <a:xfrm>
            <a:off x="2194560" y="4389120"/>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1" lang="en-US" sz="1050" u="none" cap="none" strike="noStrike">
                <a:solidFill>
                  <a:srgbClr val="E8EDF5"/>
                </a:solidFill>
                <a:latin typeface="Calibri"/>
                <a:ea typeface="Calibri"/>
                <a:cs typeface="Calibri"/>
                <a:sym typeface="Calibri"/>
              </a:rPr>
              <a:t>En [contexto] ocurre [problema] cuando [variable] supera [quiebre].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A"/>
        </a:solidFill>
      </p:bgPr>
    </p:bg>
    <p:spTree>
      <p:nvGrpSpPr>
        <p:cNvPr id="396" name="Shape 396"/>
        <p:cNvGrpSpPr/>
        <p:nvPr/>
      </p:nvGrpSpPr>
      <p:grpSpPr>
        <a:xfrm>
          <a:off x="0" y="0"/>
          <a:ext cx="0" cy="0"/>
          <a:chOff x="0" y="0"/>
          <a:chExt cx="0" cy="0"/>
        </a:xfrm>
      </p:grpSpPr>
      <p:sp>
        <p:nvSpPr>
          <p:cNvPr id="397" name="Google Shape;397;p17"/>
          <p:cNvSpPr/>
          <p:nvPr/>
        </p:nvSpPr>
        <p:spPr>
          <a:xfrm>
            <a:off x="0" y="0"/>
            <a:ext cx="9144000" cy="502920"/>
          </a:xfrm>
          <a:prstGeom prst="rect">
            <a:avLst/>
          </a:prstGeom>
          <a:solidFill>
            <a:srgbClr val="FFB800"/>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7"/>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PANEL SOLAR CON SEGUIDOR DE LUZ  ·  RONDA 4 DE 5</a:t>
            </a:r>
            <a:endParaRPr b="0" i="0" sz="1100" u="none" cap="none" strike="noStrike">
              <a:solidFill>
                <a:schemeClr val="dk1"/>
              </a:solidFill>
              <a:latin typeface="Calibri"/>
              <a:ea typeface="Calibri"/>
              <a:cs typeface="Calibri"/>
              <a:sym typeface="Calibri"/>
            </a:endParaRPr>
          </a:p>
        </p:txBody>
      </p:sp>
      <p:sp>
        <p:nvSpPr>
          <p:cNvPr id="399" name="Google Shape;399;p17"/>
          <p:cNvSpPr/>
          <p:nvPr/>
        </p:nvSpPr>
        <p:spPr>
          <a:xfrm>
            <a:off x="7498080" y="54864"/>
            <a:ext cx="1417320" cy="384048"/>
          </a:xfrm>
          <a:prstGeom prst="roundRect">
            <a:avLst>
              <a:gd fmla="val 19048" name="adj"/>
            </a:avLst>
          </a:prstGeom>
          <a:solidFill>
            <a:srgbClr val="0A0E2A"/>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7"/>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B59B6"/>
              </a:buClr>
              <a:buSzPts val="1300"/>
              <a:buFont typeface="Calibri"/>
              <a:buNone/>
            </a:pPr>
            <a:r>
              <a:rPr b="1" i="0" lang="en-US" sz="1300" u="none" cap="none" strike="noStrike">
                <a:solidFill>
                  <a:srgbClr val="9B59B6"/>
                </a:solidFill>
                <a:latin typeface="Calibri"/>
                <a:ea typeface="Calibri"/>
                <a:cs typeface="Calibri"/>
                <a:sym typeface="Calibri"/>
              </a:rPr>
              <a:t>⏱  3 min</a:t>
            </a:r>
            <a:endParaRPr b="0" i="0" sz="1300" u="none" cap="none" strike="noStrike">
              <a:solidFill>
                <a:schemeClr val="dk1"/>
              </a:solidFill>
              <a:latin typeface="Calibri"/>
              <a:ea typeface="Calibri"/>
              <a:cs typeface="Calibri"/>
              <a:sym typeface="Calibri"/>
            </a:endParaRPr>
          </a:p>
        </p:txBody>
      </p:sp>
      <p:sp>
        <p:nvSpPr>
          <p:cNvPr id="401" name="Google Shape;401;p17"/>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1100"/>
              <a:buFont typeface="Calibri"/>
              <a:buNone/>
            </a:pPr>
            <a:r>
              <a:rPr b="1" i="0" lang="en-US" sz="1100" u="none" cap="none" strike="noStrike">
                <a:solidFill>
                  <a:srgbClr val="9B59B6"/>
                </a:solidFill>
                <a:latin typeface="Calibri"/>
                <a:ea typeface="Calibri"/>
                <a:cs typeface="Calibri"/>
                <a:sym typeface="Calibri"/>
              </a:rPr>
              <a:t>RONDA 4</a:t>
            </a:r>
            <a:endParaRPr b="0" i="0" sz="1100" u="none" cap="none" strike="noStrike">
              <a:solidFill>
                <a:schemeClr val="dk1"/>
              </a:solidFill>
              <a:latin typeface="Calibri"/>
              <a:ea typeface="Calibri"/>
              <a:cs typeface="Calibri"/>
              <a:sym typeface="Calibri"/>
            </a:endParaRPr>
          </a:p>
        </p:txBody>
      </p:sp>
      <p:sp>
        <p:nvSpPr>
          <p:cNvPr id="402" name="Google Shape;402;p17"/>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2600"/>
              <a:buFont typeface="Calibri"/>
              <a:buNone/>
            </a:pPr>
            <a:r>
              <a:rPr b="1" i="0" lang="en-US" sz="2600" u="none" cap="none" strike="noStrike">
                <a:solidFill>
                  <a:srgbClr val="0A0E2A"/>
                </a:solidFill>
                <a:latin typeface="Calibri"/>
                <a:ea typeface="Calibri"/>
                <a:cs typeface="Calibri"/>
                <a:sym typeface="Calibri"/>
              </a:rPr>
              <a:t>OBJETIVOS</a:t>
            </a:r>
            <a:endParaRPr b="0" i="0" sz="2600" u="none" cap="none" strike="noStrike">
              <a:solidFill>
                <a:schemeClr val="dk1"/>
              </a:solidFill>
              <a:latin typeface="Calibri"/>
              <a:ea typeface="Calibri"/>
              <a:cs typeface="Calibri"/>
              <a:sym typeface="Calibri"/>
            </a:endParaRPr>
          </a:p>
        </p:txBody>
      </p:sp>
      <p:sp>
        <p:nvSpPr>
          <p:cNvPr id="403" name="Google Shape;403;p17"/>
          <p:cNvSpPr/>
          <p:nvPr/>
        </p:nvSpPr>
        <p:spPr>
          <a:xfrm>
            <a:off x="365760" y="1600200"/>
            <a:ext cx="8412480" cy="868680"/>
          </a:xfrm>
          <a:prstGeom prst="roundRect">
            <a:avLst>
              <a:gd fmla="val 12632" name="adj"/>
            </a:avLst>
          </a:prstGeom>
          <a:solidFill>
            <a:srgbClr val="FFFFFF"/>
          </a:solidFill>
          <a:ln cap="flat" cmpd="sng" w="22850">
            <a:solidFill>
              <a:srgbClr val="9B59B6"/>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7"/>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A partir del problema técnico, enuncien 2 o 3 objetivos concretos y medibles.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Cada objetivo debe poder verificarse.</a:t>
            </a:r>
            <a:endParaRPr b="0" i="0" sz="1300" u="none" cap="none" strike="noStrike">
              <a:solidFill>
                <a:schemeClr val="dk1"/>
              </a:solidFill>
              <a:latin typeface="Calibri"/>
              <a:ea typeface="Calibri"/>
              <a:cs typeface="Calibri"/>
              <a:sym typeface="Calibri"/>
            </a:endParaRPr>
          </a:p>
        </p:txBody>
      </p:sp>
      <p:sp>
        <p:nvSpPr>
          <p:cNvPr id="405" name="Google Shape;405;p17"/>
          <p:cNvSpPr/>
          <p:nvPr/>
        </p:nvSpPr>
        <p:spPr>
          <a:xfrm>
            <a:off x="365760" y="2578608"/>
            <a:ext cx="8412480" cy="2176272"/>
          </a:xfrm>
          <a:prstGeom prst="roundRect">
            <a:avLst>
              <a:gd fmla="val 5042" name="adj"/>
            </a:avLst>
          </a:prstGeom>
          <a:solidFill>
            <a:srgbClr val="FFFFFF"/>
          </a:solidFill>
          <a:ln cap="flat" cmpd="sng" w="19050">
            <a:solidFill>
              <a:srgbClr val="9B59B6"/>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7"/>
          <p:cNvSpPr/>
          <p:nvPr/>
        </p:nvSpPr>
        <p:spPr>
          <a:xfrm>
            <a:off x="548640" y="265176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1050"/>
              <a:buFont typeface="Calibri"/>
              <a:buNone/>
            </a:pPr>
            <a:r>
              <a:rPr b="1" i="0" lang="en-US" sz="1050" u="none" cap="none" strike="noStrike">
                <a:solidFill>
                  <a:srgbClr val="9B59B6"/>
                </a:solidFill>
                <a:latin typeface="Calibri"/>
                <a:ea typeface="Calibri"/>
                <a:cs typeface="Calibri"/>
                <a:sym typeface="Calibri"/>
              </a:rPr>
              <a:t>REGLAS DEL OBJETIVO BIEN PLANTEADO:</a:t>
            </a:r>
            <a:endParaRPr b="0" i="0" sz="1050" u="none" cap="none" strike="noStrike">
              <a:solidFill>
                <a:schemeClr val="dk1"/>
              </a:solidFill>
              <a:latin typeface="Calibri"/>
              <a:ea typeface="Calibri"/>
              <a:cs typeface="Calibri"/>
              <a:sym typeface="Calibri"/>
            </a:endParaRPr>
          </a:p>
        </p:txBody>
      </p:sp>
      <p:sp>
        <p:nvSpPr>
          <p:cNvPr id="407" name="Google Shape;407;p17"/>
          <p:cNvSpPr/>
          <p:nvPr/>
        </p:nvSpPr>
        <p:spPr>
          <a:xfrm>
            <a:off x="548640" y="299923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7"/>
          <p:cNvSpPr/>
          <p:nvPr/>
        </p:nvSpPr>
        <p:spPr>
          <a:xfrm>
            <a:off x="548640" y="299923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409" name="Google Shape;409;p17"/>
          <p:cNvSpPr/>
          <p:nvPr/>
        </p:nvSpPr>
        <p:spPr>
          <a:xfrm>
            <a:off x="914400" y="297180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Comienza con un verbo de acción (detectar, activar, medir, controlar, enviar...)</a:t>
            </a:r>
            <a:endParaRPr b="0" i="0" sz="1100" u="none" cap="none" strike="noStrike">
              <a:solidFill>
                <a:schemeClr val="dk1"/>
              </a:solidFill>
              <a:latin typeface="Calibri"/>
              <a:ea typeface="Calibri"/>
              <a:cs typeface="Calibri"/>
              <a:sym typeface="Calibri"/>
            </a:endParaRPr>
          </a:p>
        </p:txBody>
      </p:sp>
      <p:sp>
        <p:nvSpPr>
          <p:cNvPr id="410" name="Google Shape;410;p17"/>
          <p:cNvSpPr/>
          <p:nvPr/>
        </p:nvSpPr>
        <p:spPr>
          <a:xfrm>
            <a:off x="548640" y="341071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7"/>
          <p:cNvSpPr/>
          <p:nvPr/>
        </p:nvSpPr>
        <p:spPr>
          <a:xfrm>
            <a:off x="548640" y="341071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412" name="Google Shape;412;p17"/>
          <p:cNvSpPr/>
          <p:nvPr/>
        </p:nvSpPr>
        <p:spPr>
          <a:xfrm>
            <a:off x="914400" y="338328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Incluye la variable y el punto de quiebre que ya identificaron</a:t>
            </a:r>
            <a:endParaRPr b="0" i="0" sz="1100" u="none" cap="none" strike="noStrike">
              <a:solidFill>
                <a:schemeClr val="dk1"/>
              </a:solidFill>
              <a:latin typeface="Calibri"/>
              <a:ea typeface="Calibri"/>
              <a:cs typeface="Calibri"/>
              <a:sym typeface="Calibri"/>
            </a:endParaRPr>
          </a:p>
        </p:txBody>
      </p:sp>
      <p:sp>
        <p:nvSpPr>
          <p:cNvPr id="413" name="Google Shape;413;p17"/>
          <p:cNvSpPr/>
          <p:nvPr/>
        </p:nvSpPr>
        <p:spPr>
          <a:xfrm>
            <a:off x="548640" y="382219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7"/>
          <p:cNvSpPr/>
          <p:nvPr/>
        </p:nvSpPr>
        <p:spPr>
          <a:xfrm>
            <a:off x="548640" y="382219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415" name="Google Shape;415;p17"/>
          <p:cNvSpPr/>
          <p:nvPr/>
        </p:nvSpPr>
        <p:spPr>
          <a:xfrm>
            <a:off x="914400" y="379476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Se puede verificar — sabés exactamente cuándo se cumplió</a:t>
            </a:r>
            <a:endParaRPr b="0" i="0" sz="1100" u="none" cap="none" strike="noStrike">
              <a:solidFill>
                <a:schemeClr val="dk1"/>
              </a:solidFill>
              <a:latin typeface="Calibri"/>
              <a:ea typeface="Calibri"/>
              <a:cs typeface="Calibri"/>
              <a:sym typeface="Calibri"/>
            </a:endParaRPr>
          </a:p>
        </p:txBody>
      </p:sp>
      <p:sp>
        <p:nvSpPr>
          <p:cNvPr id="416" name="Google Shape;416;p17"/>
          <p:cNvSpPr/>
          <p:nvPr/>
        </p:nvSpPr>
        <p:spPr>
          <a:xfrm>
            <a:off x="548640" y="423367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7"/>
          <p:cNvSpPr/>
          <p:nvPr/>
        </p:nvSpPr>
        <p:spPr>
          <a:xfrm>
            <a:off x="548640" y="423367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418" name="Google Shape;418;p17"/>
          <p:cNvSpPr/>
          <p:nvPr/>
        </p:nvSpPr>
        <p:spPr>
          <a:xfrm>
            <a:off x="914400" y="420624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Un objetivo por tarea. Sin 'y' que una dos objetivos distintos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423" name="Shape 423"/>
        <p:cNvGrpSpPr/>
        <p:nvPr/>
      </p:nvGrpSpPr>
      <p:grpSpPr>
        <a:xfrm>
          <a:off x="0" y="0"/>
          <a:ext cx="0" cy="0"/>
          <a:chOff x="0" y="0"/>
          <a:chExt cx="0" cy="0"/>
        </a:xfrm>
      </p:grpSpPr>
      <p:sp>
        <p:nvSpPr>
          <p:cNvPr id="424" name="Google Shape;424;p18"/>
          <p:cNvSpPr/>
          <p:nvPr/>
        </p:nvSpPr>
        <p:spPr>
          <a:xfrm>
            <a:off x="0" y="0"/>
            <a:ext cx="9144000" cy="502920"/>
          </a:xfrm>
          <a:prstGeom prst="rect">
            <a:avLst/>
          </a:prstGeom>
          <a:solidFill>
            <a:srgbClr val="FFB800"/>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8"/>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PANEL SOLAR CON SEGUIDOR DE LUZ  ·  RONDA 5 DE 5</a:t>
            </a:r>
            <a:endParaRPr b="0" i="0" sz="1100" u="none" cap="none" strike="noStrike">
              <a:solidFill>
                <a:schemeClr val="dk1"/>
              </a:solidFill>
              <a:latin typeface="Calibri"/>
              <a:ea typeface="Calibri"/>
              <a:cs typeface="Calibri"/>
              <a:sym typeface="Calibri"/>
            </a:endParaRPr>
          </a:p>
        </p:txBody>
      </p:sp>
      <p:sp>
        <p:nvSpPr>
          <p:cNvPr id="426" name="Google Shape;426;p18"/>
          <p:cNvSpPr/>
          <p:nvPr/>
        </p:nvSpPr>
        <p:spPr>
          <a:xfrm>
            <a:off x="7498080" y="54864"/>
            <a:ext cx="1417320" cy="384048"/>
          </a:xfrm>
          <a:prstGeom prst="roundRect">
            <a:avLst>
              <a:gd fmla="val 19048" name="adj"/>
            </a:avLst>
          </a:prstGeom>
          <a:solidFill>
            <a:srgbClr val="0A0E2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8"/>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4D6A"/>
              </a:buClr>
              <a:buSzPts val="1300"/>
              <a:buFont typeface="Calibri"/>
              <a:buNone/>
            </a:pPr>
            <a:r>
              <a:rPr b="1" i="0" lang="en-US" sz="1300" u="none" cap="none" strike="noStrike">
                <a:solidFill>
                  <a:srgbClr val="FF4D6A"/>
                </a:solidFill>
                <a:latin typeface="Calibri"/>
                <a:ea typeface="Calibri"/>
                <a:cs typeface="Calibri"/>
                <a:sym typeface="Calibri"/>
              </a:rPr>
              <a:t>⏱  2 min</a:t>
            </a:r>
            <a:endParaRPr b="0" i="0" sz="1300" u="none" cap="none" strike="noStrike">
              <a:solidFill>
                <a:schemeClr val="dk1"/>
              </a:solidFill>
              <a:latin typeface="Calibri"/>
              <a:ea typeface="Calibri"/>
              <a:cs typeface="Calibri"/>
              <a:sym typeface="Calibri"/>
            </a:endParaRPr>
          </a:p>
        </p:txBody>
      </p:sp>
      <p:sp>
        <p:nvSpPr>
          <p:cNvPr id="428" name="Google Shape;428;p18"/>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1100"/>
              <a:buFont typeface="Calibri"/>
              <a:buNone/>
            </a:pPr>
            <a:r>
              <a:rPr b="1" i="0" lang="en-US" sz="1100" u="none" cap="none" strike="noStrike">
                <a:solidFill>
                  <a:srgbClr val="FF4D6A"/>
                </a:solidFill>
                <a:latin typeface="Calibri"/>
                <a:ea typeface="Calibri"/>
                <a:cs typeface="Calibri"/>
                <a:sym typeface="Calibri"/>
              </a:rPr>
              <a:t>RONDA 5</a:t>
            </a:r>
            <a:endParaRPr b="0" i="0" sz="1100" u="none" cap="none" strike="noStrike">
              <a:solidFill>
                <a:schemeClr val="dk1"/>
              </a:solidFill>
              <a:latin typeface="Calibri"/>
              <a:ea typeface="Calibri"/>
              <a:cs typeface="Calibri"/>
              <a:sym typeface="Calibri"/>
            </a:endParaRPr>
          </a:p>
        </p:txBody>
      </p:sp>
      <p:sp>
        <p:nvSpPr>
          <p:cNvPr id="429" name="Google Shape;429;p18"/>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2600"/>
              <a:buFont typeface="Calibri"/>
              <a:buNone/>
            </a:pPr>
            <a:r>
              <a:rPr b="1" i="0" lang="en-US" sz="2600" u="none" cap="none" strike="noStrike">
                <a:solidFill>
                  <a:srgbClr val="FF4D6A"/>
                </a:solidFill>
                <a:latin typeface="Calibri"/>
                <a:ea typeface="Calibri"/>
                <a:cs typeface="Calibri"/>
                <a:sym typeface="Calibri"/>
              </a:rPr>
              <a:t>¿CUÁL ES LA SOLUCIÓN?</a:t>
            </a:r>
            <a:endParaRPr b="0" i="0" sz="2600" u="none" cap="none" strike="noStrike">
              <a:solidFill>
                <a:schemeClr val="dk1"/>
              </a:solidFill>
              <a:latin typeface="Calibri"/>
              <a:ea typeface="Calibri"/>
              <a:cs typeface="Calibri"/>
              <a:sym typeface="Calibri"/>
            </a:endParaRPr>
          </a:p>
        </p:txBody>
      </p:sp>
      <p:sp>
        <p:nvSpPr>
          <p:cNvPr id="430" name="Google Shape;430;p18"/>
          <p:cNvSpPr/>
          <p:nvPr/>
        </p:nvSpPr>
        <p:spPr>
          <a:xfrm>
            <a:off x="365760" y="1600200"/>
            <a:ext cx="8412480" cy="868680"/>
          </a:xfrm>
          <a:prstGeom prst="roundRect">
            <a:avLst>
              <a:gd fmla="val 12632" name="adj"/>
            </a:avLst>
          </a:prstGeom>
          <a:solidFill>
            <a:srgbClr val="1A2550"/>
          </a:solidFill>
          <a:ln cap="flat" cmpd="sng" w="22850">
            <a:solidFill>
              <a:srgbClr val="FF4D6A"/>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8"/>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Sin mirar nada. ¿Qué dispositivo, sistema o artefacto resuelve exactamente este problema?</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Describir en 2 líneas.</a:t>
            </a:r>
            <a:endParaRPr b="0" i="0" sz="1300" u="none" cap="none" strike="noStrike">
              <a:solidFill>
                <a:schemeClr val="dk1"/>
              </a:solidFill>
              <a:latin typeface="Calibri"/>
              <a:ea typeface="Calibri"/>
              <a:cs typeface="Calibri"/>
              <a:sym typeface="Calibri"/>
            </a:endParaRPr>
          </a:p>
        </p:txBody>
      </p:sp>
      <p:sp>
        <p:nvSpPr>
          <p:cNvPr id="432" name="Google Shape;432;p18"/>
          <p:cNvSpPr/>
          <p:nvPr/>
        </p:nvSpPr>
        <p:spPr>
          <a:xfrm>
            <a:off x="365760" y="2578608"/>
            <a:ext cx="8412480" cy="2176272"/>
          </a:xfrm>
          <a:prstGeom prst="roundRect">
            <a:avLst>
              <a:gd fmla="val 5042" name="adj"/>
            </a:avLst>
          </a:prstGeom>
          <a:solidFill>
            <a:srgbClr val="1A2550"/>
          </a:solidFill>
          <a:ln cap="flat" cmpd="sng" w="19050">
            <a:solidFill>
              <a:srgbClr val="FF4D6A"/>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8"/>
          <p:cNvSpPr/>
          <p:nvPr/>
        </p:nvSpPr>
        <p:spPr>
          <a:xfrm>
            <a:off x="548640" y="265176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1050"/>
              <a:buFont typeface="Calibri"/>
              <a:buNone/>
            </a:pPr>
            <a:r>
              <a:rPr b="1" i="0" lang="en-US" sz="1050" u="none" cap="none" strike="noStrike">
                <a:solidFill>
                  <a:srgbClr val="FF4D6A"/>
                </a:solidFill>
                <a:latin typeface="Calibri"/>
                <a:ea typeface="Calibri"/>
                <a:cs typeface="Calibri"/>
                <a:sym typeface="Calibri"/>
              </a:rPr>
              <a:t>PISTAS PERMITIDAS:</a:t>
            </a:r>
            <a:endParaRPr b="0" i="0" sz="1050" u="none" cap="none" strike="noStrike">
              <a:solidFill>
                <a:schemeClr val="dk1"/>
              </a:solidFill>
              <a:latin typeface="Calibri"/>
              <a:ea typeface="Calibri"/>
              <a:cs typeface="Calibri"/>
              <a:sym typeface="Calibri"/>
            </a:endParaRPr>
          </a:p>
        </p:txBody>
      </p:sp>
      <p:sp>
        <p:nvSpPr>
          <p:cNvPr id="434" name="Google Shape;434;p18"/>
          <p:cNvSpPr/>
          <p:nvPr/>
        </p:nvSpPr>
        <p:spPr>
          <a:xfrm>
            <a:off x="548640" y="2999232"/>
            <a:ext cx="8046720" cy="347472"/>
          </a:xfrm>
          <a:prstGeom prst="roundRect">
            <a:avLst>
              <a:gd fmla="val 13158" name="adj"/>
            </a:avLst>
          </a:prstGeom>
          <a:solidFill>
            <a:srgbClr val="FF4D6A">
              <a:alpha val="12156"/>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8"/>
          <p:cNvSpPr/>
          <p:nvPr/>
        </p:nvSpPr>
        <p:spPr>
          <a:xfrm>
            <a:off x="685800" y="299923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1" i="0" lang="en-US" sz="1100" u="none" cap="none" strike="noStrike">
                <a:solidFill>
                  <a:srgbClr val="E8EDF5"/>
                </a:solidFill>
                <a:latin typeface="Calibri"/>
                <a:ea typeface="Calibri"/>
                <a:cs typeface="Calibri"/>
                <a:sym typeface="Calibri"/>
              </a:rPr>
              <a:t>🔍  La variable principal es: Diferencia de intensidad lumínica entre dos fotorresistencias</a:t>
            </a:r>
            <a:endParaRPr b="0" i="0" sz="1100" u="none" cap="none" strike="noStrike">
              <a:solidFill>
                <a:schemeClr val="dk1"/>
              </a:solidFill>
              <a:latin typeface="Calibri"/>
              <a:ea typeface="Calibri"/>
              <a:cs typeface="Calibri"/>
              <a:sym typeface="Calibri"/>
            </a:endParaRPr>
          </a:p>
        </p:txBody>
      </p:sp>
      <p:sp>
        <p:nvSpPr>
          <p:cNvPr id="436" name="Google Shape;436;p18"/>
          <p:cNvSpPr/>
          <p:nvPr/>
        </p:nvSpPr>
        <p:spPr>
          <a:xfrm>
            <a:off x="548640" y="3410712"/>
            <a:ext cx="8046720" cy="347472"/>
          </a:xfrm>
          <a:prstGeom prst="roundRect">
            <a:avLst>
              <a:gd fmla="val 13158" name="adj"/>
            </a:avLst>
          </a:prstGeom>
          <a:solidFill>
            <a:srgbClr val="FF4D6A">
              <a:alpha val="12156"/>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8"/>
          <p:cNvSpPr/>
          <p:nvPr/>
        </p:nvSpPr>
        <p:spPr>
          <a:xfrm>
            <a:off x="685800" y="341071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1" i="0" lang="en-US" sz="1100" u="none" cap="none" strike="noStrike">
                <a:solidFill>
                  <a:srgbClr val="E8EDF5"/>
                </a:solidFill>
                <a:latin typeface="Calibri"/>
                <a:ea typeface="Calibri"/>
                <a:cs typeface="Calibri"/>
                <a:sym typeface="Calibri"/>
              </a:rPr>
              <a:t>🔍  El punto de quiebre es: Diferencia de lectura entre los dos sensores LDR mayor a 50 unidades (escala 0–1023)</a:t>
            </a:r>
            <a:endParaRPr b="0" i="0" sz="1100" u="none" cap="none" strike="noStrike">
              <a:solidFill>
                <a:schemeClr val="dk1"/>
              </a:solidFill>
              <a:latin typeface="Calibri"/>
              <a:ea typeface="Calibri"/>
              <a:cs typeface="Calibri"/>
              <a:sym typeface="Calibri"/>
            </a:endParaRPr>
          </a:p>
        </p:txBody>
      </p:sp>
      <p:sp>
        <p:nvSpPr>
          <p:cNvPr id="438" name="Google Shape;438;p18"/>
          <p:cNvSpPr/>
          <p:nvPr/>
        </p:nvSpPr>
        <p:spPr>
          <a:xfrm>
            <a:off x="548640" y="3822192"/>
            <a:ext cx="8046720" cy="347472"/>
          </a:xfrm>
          <a:prstGeom prst="roundRect">
            <a:avLst>
              <a:gd fmla="val 13158" name="adj"/>
            </a:avLst>
          </a:prstGeom>
          <a:solidFill>
            <a:srgbClr val="FF4D6A">
              <a:alpha val="5098"/>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8"/>
          <p:cNvSpPr/>
          <p:nvPr/>
        </p:nvSpPr>
        <p:spPr>
          <a:xfrm>
            <a:off x="685800" y="382219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  ¿Qué componente electrónico mide esa variable? ¿Qué actúa cuando se supera el quiebre?</a:t>
            </a:r>
            <a:endParaRPr b="0" i="0" sz="1050" u="none" cap="none" strike="noStrike">
              <a:solidFill>
                <a:schemeClr val="dk1"/>
              </a:solidFill>
              <a:latin typeface="Calibri"/>
              <a:ea typeface="Calibri"/>
              <a:cs typeface="Calibri"/>
              <a:sym typeface="Calibri"/>
            </a:endParaRPr>
          </a:p>
        </p:txBody>
      </p:sp>
      <p:sp>
        <p:nvSpPr>
          <p:cNvPr id="440" name="Google Shape;440;p18"/>
          <p:cNvSpPr/>
          <p:nvPr/>
        </p:nvSpPr>
        <p:spPr>
          <a:xfrm>
            <a:off x="548640" y="4233672"/>
            <a:ext cx="8046720" cy="347472"/>
          </a:xfrm>
          <a:prstGeom prst="roundRect">
            <a:avLst>
              <a:gd fmla="val 13158" name="adj"/>
            </a:avLst>
          </a:prstGeom>
          <a:solidFill>
            <a:srgbClr val="FF4D6A">
              <a:alpha val="5098"/>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8"/>
          <p:cNvSpPr/>
          <p:nvPr/>
        </p:nvSpPr>
        <p:spPr>
          <a:xfrm>
            <a:off x="685800" y="423367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  Pensá en: sensor + controlador + actuador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446" name="Shape 446"/>
        <p:cNvGrpSpPr/>
        <p:nvPr/>
      </p:nvGrpSpPr>
      <p:grpSpPr>
        <a:xfrm>
          <a:off x="0" y="0"/>
          <a:ext cx="0" cy="0"/>
          <a:chOff x="0" y="0"/>
          <a:chExt cx="0" cy="0"/>
        </a:xfrm>
      </p:grpSpPr>
      <p:sp>
        <p:nvSpPr>
          <p:cNvPr id="447" name="Google Shape;447;p19"/>
          <p:cNvSpPr/>
          <p:nvPr/>
        </p:nvSpPr>
        <p:spPr>
          <a:xfrm>
            <a:off x="0" y="0"/>
            <a:ext cx="9144000" cy="640080"/>
          </a:xfrm>
          <a:prstGeom prst="rect">
            <a:avLst/>
          </a:prstGeom>
          <a:solidFill>
            <a:srgbClr val="FFB800"/>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9"/>
          <p:cNvSpPr/>
          <p:nvPr/>
        </p:nvSpPr>
        <p:spPr>
          <a:xfrm>
            <a:off x="320040" y="0"/>
            <a:ext cx="8503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300"/>
              <a:buFont typeface="Calibri"/>
              <a:buNone/>
            </a:pPr>
            <a:r>
              <a:rPr b="1" i="0" lang="en-US" sz="1300" u="none" cap="none" strike="noStrike">
                <a:solidFill>
                  <a:srgbClr val="0A0E2A"/>
                </a:solidFill>
                <a:latin typeface="Calibri"/>
                <a:ea typeface="Calibri"/>
                <a:cs typeface="Calibri"/>
                <a:sym typeface="Calibri"/>
              </a:rPr>
              <a:t>REVEAL · PANEL SOLAR CON SEGUIDOR DE LUZ</a:t>
            </a:r>
            <a:endParaRPr b="0" i="0" sz="1300" u="none" cap="none" strike="noStrike">
              <a:solidFill>
                <a:schemeClr val="dk1"/>
              </a:solidFill>
              <a:latin typeface="Calibri"/>
              <a:ea typeface="Calibri"/>
              <a:cs typeface="Calibri"/>
              <a:sym typeface="Calibri"/>
            </a:endParaRPr>
          </a:p>
        </p:txBody>
      </p:sp>
      <p:sp>
        <p:nvSpPr>
          <p:cNvPr id="449" name="Google Shape;449;p19"/>
          <p:cNvSpPr/>
          <p:nvPr/>
        </p:nvSpPr>
        <p:spPr>
          <a:xfrm>
            <a:off x="274320" y="749808"/>
            <a:ext cx="4389120" cy="475488"/>
          </a:xfrm>
          <a:prstGeom prst="roundRect">
            <a:avLst>
              <a:gd fmla="val 15385" name="adj"/>
            </a:avLst>
          </a:prstGeom>
          <a:solidFill>
            <a:srgbClr val="1A2550"/>
          </a:solidFill>
          <a:ln cap="flat" cmpd="sng" w="15225">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9"/>
          <p:cNvSpPr/>
          <p:nvPr/>
        </p:nvSpPr>
        <p:spPr>
          <a:xfrm>
            <a:off x="347472" y="813816"/>
            <a:ext cx="1417320" cy="256032"/>
          </a:xfrm>
          <a:prstGeom prst="roundRect">
            <a:avLst>
              <a:gd fmla="val 17857" name="adj"/>
            </a:avLst>
          </a:prstGeom>
          <a:solidFill>
            <a:srgbClr val="FFB800">
              <a:alpha val="87843"/>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9"/>
          <p:cNvSpPr/>
          <p:nvPr/>
        </p:nvSpPr>
        <p:spPr>
          <a:xfrm>
            <a:off x="347472" y="813816"/>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PROBLEMA VAGO</a:t>
            </a:r>
            <a:endParaRPr b="0" i="0" sz="700" u="none" cap="none" strike="noStrike">
              <a:solidFill>
                <a:schemeClr val="dk1"/>
              </a:solidFill>
              <a:latin typeface="Calibri"/>
              <a:ea typeface="Calibri"/>
              <a:cs typeface="Calibri"/>
              <a:sym typeface="Calibri"/>
            </a:endParaRPr>
          </a:p>
        </p:txBody>
      </p:sp>
      <p:sp>
        <p:nvSpPr>
          <p:cNvPr id="452" name="Google Shape;452;p19"/>
          <p:cNvSpPr/>
          <p:nvPr/>
        </p:nvSpPr>
        <p:spPr>
          <a:xfrm>
            <a:off x="1847088" y="749808"/>
            <a:ext cx="2724912" cy="47548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Los paneles solares no siempre aprovechan bien la luz del sol.</a:t>
            </a:r>
            <a:endParaRPr b="0" i="0" sz="900" u="none" cap="none" strike="noStrike">
              <a:solidFill>
                <a:schemeClr val="dk1"/>
              </a:solidFill>
              <a:latin typeface="Calibri"/>
              <a:ea typeface="Calibri"/>
              <a:cs typeface="Calibri"/>
              <a:sym typeface="Calibri"/>
            </a:endParaRPr>
          </a:p>
        </p:txBody>
      </p:sp>
      <p:sp>
        <p:nvSpPr>
          <p:cNvPr id="453" name="Google Shape;453;p19"/>
          <p:cNvSpPr/>
          <p:nvPr/>
        </p:nvSpPr>
        <p:spPr>
          <a:xfrm>
            <a:off x="274320" y="1280160"/>
            <a:ext cx="4389120" cy="475488"/>
          </a:xfrm>
          <a:prstGeom prst="roundRect">
            <a:avLst>
              <a:gd fmla="val 15385" name="adj"/>
            </a:avLst>
          </a:prstGeom>
          <a:solidFill>
            <a:srgbClr val="1A2550"/>
          </a:solidFill>
          <a:ln cap="flat" cmpd="sng" w="15225">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9"/>
          <p:cNvSpPr/>
          <p:nvPr/>
        </p:nvSpPr>
        <p:spPr>
          <a:xfrm>
            <a:off x="347472" y="1344168"/>
            <a:ext cx="1417320" cy="256032"/>
          </a:xfrm>
          <a:prstGeom prst="roundRect">
            <a:avLst>
              <a:gd fmla="val 17857" name="adj"/>
            </a:avLst>
          </a:prstGeom>
          <a:solidFill>
            <a:srgbClr val="9B59B6">
              <a:alpha val="87843"/>
            </a:srgbClr>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19"/>
          <p:cNvSpPr/>
          <p:nvPr/>
        </p:nvSpPr>
        <p:spPr>
          <a:xfrm>
            <a:off x="347472" y="1344168"/>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VARIABLE</a:t>
            </a:r>
            <a:endParaRPr b="0" i="0" sz="700" u="none" cap="none" strike="noStrike">
              <a:solidFill>
                <a:schemeClr val="dk1"/>
              </a:solidFill>
              <a:latin typeface="Calibri"/>
              <a:ea typeface="Calibri"/>
              <a:cs typeface="Calibri"/>
              <a:sym typeface="Calibri"/>
            </a:endParaRPr>
          </a:p>
        </p:txBody>
      </p:sp>
      <p:sp>
        <p:nvSpPr>
          <p:cNvPr id="456" name="Google Shape;456;p19"/>
          <p:cNvSpPr/>
          <p:nvPr/>
        </p:nvSpPr>
        <p:spPr>
          <a:xfrm>
            <a:off x="1847088" y="1280160"/>
            <a:ext cx="2724912" cy="47548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Diferencia de intensidad lumínica entre dos fotorresistencias (LDR) ubicadas a cada lado del panel.</a:t>
            </a:r>
            <a:endParaRPr b="0" i="0" sz="900" u="none" cap="none" strike="noStrike">
              <a:solidFill>
                <a:schemeClr val="dk1"/>
              </a:solidFill>
              <a:latin typeface="Calibri"/>
              <a:ea typeface="Calibri"/>
              <a:cs typeface="Calibri"/>
              <a:sym typeface="Calibri"/>
            </a:endParaRPr>
          </a:p>
        </p:txBody>
      </p:sp>
      <p:sp>
        <p:nvSpPr>
          <p:cNvPr id="457" name="Google Shape;457;p19"/>
          <p:cNvSpPr/>
          <p:nvPr/>
        </p:nvSpPr>
        <p:spPr>
          <a:xfrm>
            <a:off x="274320" y="1810512"/>
            <a:ext cx="4389120" cy="475488"/>
          </a:xfrm>
          <a:prstGeom prst="roundRect">
            <a:avLst>
              <a:gd fmla="val 15385" name="adj"/>
            </a:avLst>
          </a:prstGeom>
          <a:solidFill>
            <a:srgbClr val="1A2550"/>
          </a:solidFill>
          <a:ln cap="flat" cmpd="sng" w="15225">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9"/>
          <p:cNvSpPr/>
          <p:nvPr/>
        </p:nvSpPr>
        <p:spPr>
          <a:xfrm>
            <a:off x="347472" y="1874520"/>
            <a:ext cx="1417320" cy="256032"/>
          </a:xfrm>
          <a:prstGeom prst="roundRect">
            <a:avLst>
              <a:gd fmla="val 17857" name="adj"/>
            </a:avLst>
          </a:prstGeom>
          <a:solidFill>
            <a:srgbClr val="FF4D6A">
              <a:alpha val="87843"/>
            </a:srgbClr>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9"/>
          <p:cNvSpPr/>
          <p:nvPr/>
        </p:nvSpPr>
        <p:spPr>
          <a:xfrm>
            <a:off x="347472" y="1874520"/>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PUNTO DE QUIEBRE</a:t>
            </a:r>
            <a:endParaRPr b="0" i="0" sz="700" u="none" cap="none" strike="noStrike">
              <a:solidFill>
                <a:schemeClr val="dk1"/>
              </a:solidFill>
              <a:latin typeface="Calibri"/>
              <a:ea typeface="Calibri"/>
              <a:cs typeface="Calibri"/>
              <a:sym typeface="Calibri"/>
            </a:endParaRPr>
          </a:p>
        </p:txBody>
      </p:sp>
      <p:sp>
        <p:nvSpPr>
          <p:cNvPr id="460" name="Google Shape;460;p19"/>
          <p:cNvSpPr/>
          <p:nvPr/>
        </p:nvSpPr>
        <p:spPr>
          <a:xfrm>
            <a:off x="1847088" y="1810512"/>
            <a:ext cx="2724912" cy="47548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Diferencia de lectura entre los dos sensores LDR mayor a 50 unidades (escala 0–1023).</a:t>
            </a:r>
            <a:endParaRPr b="0" i="0" sz="900" u="none" cap="none" strike="noStrike">
              <a:solidFill>
                <a:schemeClr val="dk1"/>
              </a:solidFill>
              <a:latin typeface="Calibri"/>
              <a:ea typeface="Calibri"/>
              <a:cs typeface="Calibri"/>
              <a:sym typeface="Calibri"/>
            </a:endParaRPr>
          </a:p>
        </p:txBody>
      </p:sp>
      <p:sp>
        <p:nvSpPr>
          <p:cNvPr id="461" name="Google Shape;461;p19"/>
          <p:cNvSpPr/>
          <p:nvPr/>
        </p:nvSpPr>
        <p:spPr>
          <a:xfrm>
            <a:off x="274320" y="2340864"/>
            <a:ext cx="4389120" cy="594360"/>
          </a:xfrm>
          <a:prstGeom prst="roundRect">
            <a:avLst>
              <a:gd fmla="val 12308" name="adj"/>
            </a:avLst>
          </a:prstGeom>
          <a:solidFill>
            <a:srgbClr val="1A2550"/>
          </a:solidFill>
          <a:ln cap="flat" cmpd="sng" w="15225">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9"/>
          <p:cNvSpPr/>
          <p:nvPr/>
        </p:nvSpPr>
        <p:spPr>
          <a:xfrm>
            <a:off x="347472" y="2404872"/>
            <a:ext cx="1417320" cy="256032"/>
          </a:xfrm>
          <a:prstGeom prst="roundRect">
            <a:avLst>
              <a:gd fmla="val 17857" name="adj"/>
            </a:avLst>
          </a:prstGeom>
          <a:solidFill>
            <a:srgbClr val="00C896">
              <a:alpha val="87843"/>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9"/>
          <p:cNvSpPr/>
          <p:nvPr/>
        </p:nvSpPr>
        <p:spPr>
          <a:xfrm>
            <a:off x="347472" y="2404872"/>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PROBLEMA TECNICO</a:t>
            </a:r>
            <a:endParaRPr b="0" i="0" sz="700" u="none" cap="none" strike="noStrike">
              <a:solidFill>
                <a:schemeClr val="dk1"/>
              </a:solidFill>
              <a:latin typeface="Calibri"/>
              <a:ea typeface="Calibri"/>
              <a:cs typeface="Calibri"/>
              <a:sym typeface="Calibri"/>
            </a:endParaRPr>
          </a:p>
        </p:txBody>
      </p:sp>
      <p:sp>
        <p:nvSpPr>
          <p:cNvPr id="464" name="Google Shape;464;p19"/>
          <p:cNvSpPr/>
          <p:nvPr/>
        </p:nvSpPr>
        <p:spPr>
          <a:xfrm>
            <a:off x="1847088" y="2340864"/>
            <a:ext cx="2724912" cy="5943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En un panel solar fijo, la diferencia de irradiación entre ambos lados supera 50 unidades cuando el sol se desplaza, lo que genera una pérdida de captación energética evitable.</a:t>
            </a:r>
            <a:endParaRPr b="0" i="0" sz="900" u="none" cap="none" strike="noStrike">
              <a:solidFill>
                <a:schemeClr val="dk1"/>
              </a:solidFill>
              <a:latin typeface="Calibri"/>
              <a:ea typeface="Calibri"/>
              <a:cs typeface="Calibri"/>
              <a:sym typeface="Calibri"/>
            </a:endParaRPr>
          </a:p>
        </p:txBody>
      </p:sp>
      <p:sp>
        <p:nvSpPr>
          <p:cNvPr id="465" name="Google Shape;465;p19"/>
          <p:cNvSpPr/>
          <p:nvPr/>
        </p:nvSpPr>
        <p:spPr>
          <a:xfrm>
            <a:off x="274320" y="2990088"/>
            <a:ext cx="4389120" cy="841248"/>
          </a:xfrm>
          <a:prstGeom prst="roundRect">
            <a:avLst>
              <a:gd fmla="val 8696" name="adj"/>
            </a:avLst>
          </a:prstGeom>
          <a:solidFill>
            <a:srgbClr val="1A2550"/>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9"/>
          <p:cNvSpPr/>
          <p:nvPr/>
        </p:nvSpPr>
        <p:spPr>
          <a:xfrm>
            <a:off x="347472" y="3054096"/>
            <a:ext cx="1417320" cy="256032"/>
          </a:xfrm>
          <a:prstGeom prst="roundRect">
            <a:avLst>
              <a:gd fmla="val 17857" name="adj"/>
            </a:avLst>
          </a:prstGeom>
          <a:solidFill>
            <a:srgbClr val="00D4FF">
              <a:alpha val="87843"/>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9"/>
          <p:cNvSpPr/>
          <p:nvPr/>
        </p:nvSpPr>
        <p:spPr>
          <a:xfrm>
            <a:off x="347472" y="3054096"/>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OBJETIVOS</a:t>
            </a:r>
            <a:endParaRPr b="0" i="0" sz="700" u="none" cap="none" strike="noStrike">
              <a:solidFill>
                <a:schemeClr val="dk1"/>
              </a:solidFill>
              <a:latin typeface="Calibri"/>
              <a:ea typeface="Calibri"/>
              <a:cs typeface="Calibri"/>
              <a:sym typeface="Calibri"/>
            </a:endParaRPr>
          </a:p>
        </p:txBody>
      </p:sp>
      <p:sp>
        <p:nvSpPr>
          <p:cNvPr id="468" name="Google Shape;468;p19"/>
          <p:cNvSpPr/>
          <p:nvPr/>
        </p:nvSpPr>
        <p:spPr>
          <a:xfrm>
            <a:off x="1847088" y="2990088"/>
            <a:ext cx="2724912" cy="84124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850"/>
              <a:buFont typeface="Calibri"/>
              <a:buNone/>
            </a:pPr>
            <a:r>
              <a:rPr b="0" i="0" lang="en-US" sz="850" u="none" cap="none" strike="noStrike">
                <a:solidFill>
                  <a:srgbClr val="E8EDF5"/>
                </a:solidFill>
                <a:latin typeface="Calibri"/>
                <a:ea typeface="Calibri"/>
                <a:cs typeface="Calibri"/>
                <a:sym typeface="Calibri"/>
              </a:rPr>
              <a:t>1. Medir continuamente la diferencia de intensidad lumínica en ambos lados del panel.  2. Activar un servomotor para rotar el panel hacia la fuente de mayor luz cuando la diferencia supere 50 unidades.  3. Maximizar la captación energética durante todas las horas de luz disponibles.</a:t>
            </a:r>
            <a:endParaRPr b="0" i="0" sz="850" u="none" cap="none" strike="noStrike">
              <a:solidFill>
                <a:schemeClr val="dk1"/>
              </a:solidFill>
              <a:latin typeface="Calibri"/>
              <a:ea typeface="Calibri"/>
              <a:cs typeface="Calibri"/>
              <a:sym typeface="Calibri"/>
            </a:endParaRPr>
          </a:p>
        </p:txBody>
      </p:sp>
      <p:sp>
        <p:nvSpPr>
          <p:cNvPr id="469" name="Google Shape;469;p19"/>
          <p:cNvSpPr/>
          <p:nvPr/>
        </p:nvSpPr>
        <p:spPr>
          <a:xfrm>
            <a:off x="4937760" y="749808"/>
            <a:ext cx="3977640" cy="2971800"/>
          </a:xfrm>
          <a:prstGeom prst="roundRect">
            <a:avLst>
              <a:gd fmla="val 4615" name="adj"/>
            </a:avLst>
          </a:prstGeom>
          <a:solidFill>
            <a:srgbClr val="FFB800">
              <a:alpha val="92156"/>
            </a:srgbClr>
          </a:solidFill>
          <a:ln cap="flat" cmpd="sng" w="25400">
            <a:solidFill>
              <a:srgbClr val="FFB800"/>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9"/>
          <p:cNvSpPr/>
          <p:nvPr/>
        </p:nvSpPr>
        <p:spPr>
          <a:xfrm>
            <a:off x="5074920" y="822960"/>
            <a:ext cx="37033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SOLUCIÓN</a:t>
            </a:r>
            <a:endParaRPr b="0" i="0" sz="1200" u="none" cap="none" strike="noStrike">
              <a:solidFill>
                <a:schemeClr val="dk1"/>
              </a:solidFill>
              <a:latin typeface="Calibri"/>
              <a:ea typeface="Calibri"/>
              <a:cs typeface="Calibri"/>
              <a:sym typeface="Calibri"/>
            </a:endParaRPr>
          </a:p>
        </p:txBody>
      </p:sp>
      <p:sp>
        <p:nvSpPr>
          <p:cNvPr id="471" name="Google Shape;471;p19"/>
          <p:cNvSpPr/>
          <p:nvPr/>
        </p:nvSpPr>
        <p:spPr>
          <a:xfrm>
            <a:off x="5074920" y="1188720"/>
            <a:ext cx="3703320" cy="182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Sistema con dos sensores LDR + Arduino + servomotor que rota el panel hacia la mayor fuente de luz. El panel se actualiza cada 30 segundos comparando ambas lecturas.</a:t>
            </a:r>
            <a:endParaRPr b="0" i="0" sz="1100" u="none" cap="none" strike="noStrike">
              <a:solidFill>
                <a:schemeClr val="dk1"/>
              </a:solidFill>
              <a:latin typeface="Calibri"/>
              <a:ea typeface="Calibri"/>
              <a:cs typeface="Calibri"/>
              <a:sym typeface="Calibri"/>
            </a:endParaRPr>
          </a:p>
        </p:txBody>
      </p:sp>
      <p:sp>
        <p:nvSpPr>
          <p:cNvPr id="472" name="Google Shape;472;p19"/>
          <p:cNvSpPr/>
          <p:nvPr/>
        </p:nvSpPr>
        <p:spPr>
          <a:xfrm>
            <a:off x="5074920" y="3017520"/>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950"/>
              <a:buFont typeface="Calibri"/>
              <a:buNone/>
            </a:pPr>
            <a:r>
              <a:rPr b="0" i="1" lang="en-US" sz="950" u="none" cap="none" strike="noStrike">
                <a:solidFill>
                  <a:srgbClr val="0A0E2A"/>
                </a:solidFill>
                <a:latin typeface="Calibri"/>
                <a:ea typeface="Calibri"/>
                <a:cs typeface="Calibri"/>
                <a:sym typeface="Calibri"/>
              </a:rPr>
              <a:t>📷  Panel solar sobre servomotor con dos LDR laterales conectados a Arduino</a:t>
            </a:r>
            <a:endParaRPr b="0" i="0" sz="950" u="none" cap="none" strike="noStrike">
              <a:solidFill>
                <a:schemeClr val="dk1"/>
              </a:solidFill>
              <a:latin typeface="Calibri"/>
              <a:ea typeface="Calibri"/>
              <a:cs typeface="Calibri"/>
              <a:sym typeface="Calibri"/>
            </a:endParaRPr>
          </a:p>
        </p:txBody>
      </p:sp>
      <p:sp>
        <p:nvSpPr>
          <p:cNvPr id="473" name="Google Shape;473;p19"/>
          <p:cNvSpPr/>
          <p:nvPr/>
        </p:nvSpPr>
        <p:spPr>
          <a:xfrm>
            <a:off x="274320" y="3858768"/>
            <a:ext cx="8549640" cy="841248"/>
          </a:xfrm>
          <a:prstGeom prst="roundRect">
            <a:avLst>
              <a:gd fmla="val 13043" name="adj"/>
            </a:avLst>
          </a:prstGeom>
          <a:solidFill>
            <a:srgbClr val="1A2550"/>
          </a:solidFill>
          <a:ln cap="flat" cmpd="sng" w="15225">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9"/>
          <p:cNvSpPr/>
          <p:nvPr/>
        </p:nvSpPr>
        <p:spPr>
          <a:xfrm>
            <a:off x="457200" y="3858768"/>
            <a:ext cx="822960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DF5"/>
              </a:buClr>
              <a:buSzPts val="1200"/>
              <a:buFont typeface="Calibri"/>
              <a:buNone/>
            </a:pPr>
            <a:r>
              <a:rPr b="0" i="0" lang="en-US" sz="1200" u="none" cap="none" strike="noStrike">
                <a:solidFill>
                  <a:srgbClr val="E8EDF5"/>
                </a:solidFill>
                <a:latin typeface="Calibri"/>
                <a:ea typeface="Calibri"/>
                <a:cs typeface="Calibri"/>
                <a:sym typeface="Calibri"/>
              </a:rPr>
              <a:t>¿Qué equipo formuló mejor cada componente?  ·  ¿Cuál se acercó más a la solución real?  ·  ¿Qué mejorarían?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479" name="Shape 479"/>
        <p:cNvGrpSpPr/>
        <p:nvPr/>
      </p:nvGrpSpPr>
      <p:grpSpPr>
        <a:xfrm>
          <a:off x="0" y="0"/>
          <a:ext cx="0" cy="0"/>
          <a:chOff x="0" y="0"/>
          <a:chExt cx="0" cy="0"/>
        </a:xfrm>
      </p:grpSpPr>
      <p:sp>
        <p:nvSpPr>
          <p:cNvPr id="480" name="Google Shape;480;p20"/>
          <p:cNvSpPr/>
          <p:nvPr/>
        </p:nvSpPr>
        <p:spPr>
          <a:xfrm>
            <a:off x="0" y="0"/>
            <a:ext cx="3474720" cy="5143500"/>
          </a:xfrm>
          <a:prstGeom prst="rect">
            <a:avLst/>
          </a:prstGeom>
          <a:solidFill>
            <a:srgbClr val="FF4D6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20"/>
          <p:cNvSpPr/>
          <p:nvPr/>
        </p:nvSpPr>
        <p:spPr>
          <a:xfrm>
            <a:off x="0" y="365760"/>
            <a:ext cx="3474720" cy="228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6000"/>
              <a:buFont typeface="Calibri"/>
              <a:buNone/>
            </a:pPr>
            <a:r>
              <a:rPr b="1" i="0" lang="en-US" sz="16000" u="none" cap="none" strike="noStrike">
                <a:solidFill>
                  <a:srgbClr val="0A0E2A"/>
                </a:solidFill>
                <a:latin typeface="Calibri"/>
                <a:ea typeface="Calibri"/>
                <a:cs typeface="Calibri"/>
                <a:sym typeface="Calibri"/>
              </a:rPr>
              <a:t>3</a:t>
            </a:r>
            <a:endParaRPr b="0" i="0" sz="16000" u="none" cap="none" strike="noStrike">
              <a:solidFill>
                <a:schemeClr val="dk1"/>
              </a:solidFill>
              <a:latin typeface="Calibri"/>
              <a:ea typeface="Calibri"/>
              <a:cs typeface="Calibri"/>
              <a:sym typeface="Calibri"/>
            </a:endParaRPr>
          </a:p>
        </p:txBody>
      </p:sp>
      <p:sp>
        <p:nvSpPr>
          <p:cNvPr id="482" name="Google Shape;482;p20"/>
          <p:cNvSpPr/>
          <p:nvPr/>
        </p:nvSpPr>
        <p:spPr>
          <a:xfrm>
            <a:off x="0" y="2926080"/>
            <a:ext cx="34747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800"/>
              <a:buFont typeface="Calibri"/>
              <a:buNone/>
            </a:pPr>
            <a:r>
              <a:rPr b="1" i="0" lang="en-US" sz="1800" u="none" cap="none" strike="noStrike">
                <a:solidFill>
                  <a:srgbClr val="0A0E2A"/>
                </a:solidFill>
                <a:latin typeface="Calibri"/>
                <a:ea typeface="Calibri"/>
                <a:cs typeface="Calibri"/>
                <a:sym typeface="Calibri"/>
              </a:rPr>
              <a:t>P3</a:t>
            </a:r>
            <a:endParaRPr b="0" i="0" sz="1800" u="none" cap="none" strike="noStrike">
              <a:solidFill>
                <a:schemeClr val="dk1"/>
              </a:solidFill>
              <a:latin typeface="Calibri"/>
              <a:ea typeface="Calibri"/>
              <a:cs typeface="Calibri"/>
              <a:sym typeface="Calibri"/>
            </a:endParaRPr>
          </a:p>
        </p:txBody>
      </p:sp>
      <p:sp>
        <p:nvSpPr>
          <p:cNvPr id="483" name="Google Shape;483;p20"/>
          <p:cNvSpPr/>
          <p:nvPr/>
        </p:nvSpPr>
        <p:spPr>
          <a:xfrm>
            <a:off x="91440" y="3429000"/>
            <a:ext cx="32918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000"/>
              <a:buFont typeface="Calibri"/>
              <a:buNone/>
            </a:pPr>
            <a:r>
              <a:rPr b="0" i="1" lang="en-US" sz="1000" u="none" cap="none" strike="noStrike">
                <a:solidFill>
                  <a:srgbClr val="0A0E2A"/>
                </a:solidFill>
                <a:latin typeface="Calibri"/>
                <a:ea typeface="Calibri"/>
                <a:cs typeface="Calibri"/>
                <a:sym typeface="Calibri"/>
              </a:rPr>
              <a:t>Robótica · Inclusión Social · IA</a:t>
            </a:r>
            <a:endParaRPr b="0" i="0" sz="1000" u="none" cap="none" strike="noStrike">
              <a:solidFill>
                <a:schemeClr val="dk1"/>
              </a:solidFill>
              <a:latin typeface="Calibri"/>
              <a:ea typeface="Calibri"/>
              <a:cs typeface="Calibri"/>
              <a:sym typeface="Calibri"/>
            </a:endParaRPr>
          </a:p>
        </p:txBody>
      </p:sp>
      <p:sp>
        <p:nvSpPr>
          <p:cNvPr id="484" name="Google Shape;484;p20"/>
          <p:cNvSpPr/>
          <p:nvPr/>
        </p:nvSpPr>
        <p:spPr>
          <a:xfrm>
            <a:off x="3840480" y="411480"/>
            <a:ext cx="502920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4D6A"/>
              </a:buClr>
              <a:buSzPts val="2800"/>
              <a:buFont typeface="Calibri"/>
              <a:buNone/>
            </a:pPr>
            <a:r>
              <a:rPr b="1" i="0" lang="en-US" sz="2800" u="none" cap="none" strike="noStrike">
                <a:solidFill>
                  <a:srgbClr val="FF4D6A"/>
                </a:solidFill>
                <a:latin typeface="Calibri"/>
                <a:ea typeface="Calibri"/>
                <a:cs typeface="Calibri"/>
                <a:sym typeface="Calibri"/>
              </a:rPr>
              <a:t>Silla de Ruedas Autónoma</a:t>
            </a:r>
            <a:endParaRPr b="0" i="0" sz="2800" u="none" cap="none" strike="noStrike">
              <a:solidFill>
                <a:schemeClr val="dk1"/>
              </a:solidFill>
              <a:latin typeface="Calibri"/>
              <a:ea typeface="Calibri"/>
              <a:cs typeface="Calibri"/>
              <a:sym typeface="Calibri"/>
            </a:endParaRPr>
          </a:p>
        </p:txBody>
      </p:sp>
      <p:sp>
        <p:nvSpPr>
          <p:cNvPr id="485" name="Google Shape;485;p20"/>
          <p:cNvSpPr/>
          <p:nvPr/>
        </p:nvSpPr>
        <p:spPr>
          <a:xfrm>
            <a:off x="3840480" y="1691640"/>
            <a:ext cx="5029200" cy="2011680"/>
          </a:xfrm>
          <a:prstGeom prst="roundRect">
            <a:avLst>
              <a:gd fmla="val 5455" name="adj"/>
            </a:avLst>
          </a:prstGeom>
          <a:solidFill>
            <a:srgbClr val="1A2550"/>
          </a:solidFill>
          <a:ln cap="flat" cmpd="sng" w="19050">
            <a:solidFill>
              <a:srgbClr val="FF4D6A"/>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20"/>
          <p:cNvSpPr/>
          <p:nvPr/>
        </p:nvSpPr>
        <p:spPr>
          <a:xfrm>
            <a:off x="3977640" y="1755648"/>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950"/>
              <a:buFont typeface="Calibri"/>
              <a:buNone/>
            </a:pPr>
            <a:r>
              <a:rPr b="1" i="0" lang="en-US" sz="950" u="none" cap="none" strike="noStrike">
                <a:solidFill>
                  <a:srgbClr val="FF4D6A"/>
                </a:solidFill>
                <a:latin typeface="Calibri"/>
                <a:ea typeface="Calibri"/>
                <a:cs typeface="Calibri"/>
                <a:sym typeface="Calibri"/>
              </a:rPr>
              <a:t>CONTEXTO DEL PROYECTO</a:t>
            </a:r>
            <a:endParaRPr b="0" i="0" sz="950" u="none" cap="none" strike="noStrike">
              <a:solidFill>
                <a:schemeClr val="dk1"/>
              </a:solidFill>
              <a:latin typeface="Calibri"/>
              <a:ea typeface="Calibri"/>
              <a:cs typeface="Calibri"/>
              <a:sym typeface="Calibri"/>
            </a:endParaRPr>
          </a:p>
        </p:txBody>
      </p:sp>
      <p:sp>
        <p:nvSpPr>
          <p:cNvPr id="487" name="Google Shape;487;p20"/>
          <p:cNvSpPr/>
          <p:nvPr/>
        </p:nvSpPr>
        <p:spPr>
          <a:xfrm>
            <a:off x="3977640" y="2057400"/>
            <a:ext cx="475488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250"/>
              <a:buFont typeface="Calibri"/>
              <a:buNone/>
            </a:pPr>
            <a:r>
              <a:rPr b="0" i="0" lang="en-US" sz="1250" u="none" cap="none" strike="noStrike">
                <a:solidFill>
                  <a:srgbClr val="E8EDF5"/>
                </a:solidFill>
                <a:latin typeface="Calibri"/>
                <a:ea typeface="Calibri"/>
                <a:cs typeface="Calibri"/>
                <a:sym typeface="Calibri"/>
              </a:rPr>
              <a:t>Personas con movilidad reducida que utilizan sillas de ruedas en espacios con obstáculos y que no pueden maniobrar de forma segura sin asistencia.</a:t>
            </a:r>
            <a:endParaRPr b="0" i="0" sz="1250" u="none" cap="none" strike="noStrike">
              <a:solidFill>
                <a:schemeClr val="dk1"/>
              </a:solidFill>
              <a:latin typeface="Calibri"/>
              <a:ea typeface="Calibri"/>
              <a:cs typeface="Calibri"/>
              <a:sym typeface="Calibri"/>
            </a:endParaRPr>
          </a:p>
        </p:txBody>
      </p:sp>
      <p:sp>
        <p:nvSpPr>
          <p:cNvPr id="488" name="Google Shape;488;p20"/>
          <p:cNvSpPr/>
          <p:nvPr/>
        </p:nvSpPr>
        <p:spPr>
          <a:xfrm>
            <a:off x="3840480" y="3840480"/>
            <a:ext cx="5029200" cy="868680"/>
          </a:xfrm>
          <a:prstGeom prst="roundRect">
            <a:avLst>
              <a:gd fmla="val 10526" name="adj"/>
            </a:avLst>
          </a:prstGeom>
          <a:solidFill>
            <a:srgbClr val="1A2550"/>
          </a:solidFill>
          <a:ln cap="flat" cmpd="sng" w="12700">
            <a:solidFill>
              <a:srgbClr val="FF4D6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20"/>
          <p:cNvSpPr/>
          <p:nvPr/>
        </p:nvSpPr>
        <p:spPr>
          <a:xfrm>
            <a:off x="3977640" y="388620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900"/>
              <a:buFont typeface="Calibri"/>
              <a:buNone/>
            </a:pPr>
            <a:r>
              <a:rPr b="1" i="0" lang="en-US" sz="900" u="none" cap="none" strike="noStrike">
                <a:solidFill>
                  <a:srgbClr val="FF4D6A"/>
                </a:solidFill>
                <a:latin typeface="Calibri"/>
                <a:ea typeface="Calibri"/>
                <a:cs typeface="Calibri"/>
                <a:sym typeface="Calibri"/>
              </a:rPr>
              <a:t>5 RONDAS:</a:t>
            </a:r>
            <a:endParaRPr b="0" i="0" sz="900" u="none" cap="none" strike="noStrike">
              <a:solidFill>
                <a:schemeClr val="dk1"/>
              </a:solidFill>
              <a:latin typeface="Calibri"/>
              <a:ea typeface="Calibri"/>
              <a:cs typeface="Calibri"/>
              <a:sym typeface="Calibri"/>
            </a:endParaRPr>
          </a:p>
        </p:txBody>
      </p:sp>
      <p:sp>
        <p:nvSpPr>
          <p:cNvPr id="490" name="Google Shape;490;p20"/>
          <p:cNvSpPr/>
          <p:nvPr/>
        </p:nvSpPr>
        <p:spPr>
          <a:xfrm>
            <a:off x="3977640" y="4187952"/>
            <a:ext cx="868680" cy="411480"/>
          </a:xfrm>
          <a:prstGeom prst="roundRect">
            <a:avLst>
              <a:gd fmla="val 15556" name="adj"/>
            </a:avLst>
          </a:prstGeom>
          <a:solidFill>
            <a:srgbClr val="FFB800">
              <a:alpha val="85098"/>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0"/>
          <p:cNvSpPr/>
          <p:nvPr/>
        </p:nvSpPr>
        <p:spPr>
          <a:xfrm>
            <a:off x="397764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Prob.</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Vago</a:t>
            </a:r>
            <a:endParaRPr b="0" i="0" sz="750" u="none" cap="none" strike="noStrike">
              <a:solidFill>
                <a:schemeClr val="dk1"/>
              </a:solidFill>
              <a:latin typeface="Calibri"/>
              <a:ea typeface="Calibri"/>
              <a:cs typeface="Calibri"/>
              <a:sym typeface="Calibri"/>
            </a:endParaRPr>
          </a:p>
        </p:txBody>
      </p:sp>
      <p:sp>
        <p:nvSpPr>
          <p:cNvPr id="492" name="Google Shape;492;p20"/>
          <p:cNvSpPr/>
          <p:nvPr/>
        </p:nvSpPr>
        <p:spPr>
          <a:xfrm>
            <a:off x="4937760" y="4187952"/>
            <a:ext cx="868680" cy="411480"/>
          </a:xfrm>
          <a:prstGeom prst="roundRect">
            <a:avLst>
              <a:gd fmla="val 15556" name="adj"/>
            </a:avLst>
          </a:prstGeom>
          <a:solidFill>
            <a:srgbClr val="00D4FF">
              <a:alpha val="85098"/>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20"/>
          <p:cNvSpPr/>
          <p:nvPr/>
        </p:nvSpPr>
        <p:spPr>
          <a:xfrm>
            <a:off x="493776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Dispa-</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radoras</a:t>
            </a:r>
            <a:endParaRPr b="0" i="0" sz="750" u="none" cap="none" strike="noStrike">
              <a:solidFill>
                <a:schemeClr val="dk1"/>
              </a:solidFill>
              <a:latin typeface="Calibri"/>
              <a:ea typeface="Calibri"/>
              <a:cs typeface="Calibri"/>
              <a:sym typeface="Calibri"/>
            </a:endParaRPr>
          </a:p>
        </p:txBody>
      </p:sp>
      <p:sp>
        <p:nvSpPr>
          <p:cNvPr id="494" name="Google Shape;494;p20"/>
          <p:cNvSpPr/>
          <p:nvPr/>
        </p:nvSpPr>
        <p:spPr>
          <a:xfrm>
            <a:off x="5897880" y="4187952"/>
            <a:ext cx="868680" cy="411480"/>
          </a:xfrm>
          <a:prstGeom prst="roundRect">
            <a:avLst>
              <a:gd fmla="val 15556" name="adj"/>
            </a:avLst>
          </a:prstGeom>
          <a:solidFill>
            <a:srgbClr val="00C896">
              <a:alpha val="85098"/>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20"/>
          <p:cNvSpPr/>
          <p:nvPr/>
        </p:nvSpPr>
        <p:spPr>
          <a:xfrm>
            <a:off x="589788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4 Comp.</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 Técnico</a:t>
            </a:r>
            <a:endParaRPr b="0" i="0" sz="750" u="none" cap="none" strike="noStrike">
              <a:solidFill>
                <a:schemeClr val="dk1"/>
              </a:solidFill>
              <a:latin typeface="Calibri"/>
              <a:ea typeface="Calibri"/>
              <a:cs typeface="Calibri"/>
              <a:sym typeface="Calibri"/>
            </a:endParaRPr>
          </a:p>
        </p:txBody>
      </p:sp>
      <p:sp>
        <p:nvSpPr>
          <p:cNvPr id="496" name="Google Shape;496;p20"/>
          <p:cNvSpPr/>
          <p:nvPr/>
        </p:nvSpPr>
        <p:spPr>
          <a:xfrm>
            <a:off x="6858000" y="4187952"/>
            <a:ext cx="868680" cy="411480"/>
          </a:xfrm>
          <a:prstGeom prst="roundRect">
            <a:avLst>
              <a:gd fmla="val 15556" name="adj"/>
            </a:avLst>
          </a:prstGeom>
          <a:solidFill>
            <a:srgbClr val="9B59B6">
              <a:alpha val="85098"/>
            </a:srgbClr>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0"/>
          <p:cNvSpPr/>
          <p:nvPr/>
        </p:nvSpPr>
        <p:spPr>
          <a:xfrm>
            <a:off x="685800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Obje-</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tivos</a:t>
            </a:r>
            <a:endParaRPr b="0" i="0" sz="750" u="none" cap="none" strike="noStrike">
              <a:solidFill>
                <a:schemeClr val="dk1"/>
              </a:solidFill>
              <a:latin typeface="Calibri"/>
              <a:ea typeface="Calibri"/>
              <a:cs typeface="Calibri"/>
              <a:sym typeface="Calibri"/>
            </a:endParaRPr>
          </a:p>
        </p:txBody>
      </p:sp>
      <p:sp>
        <p:nvSpPr>
          <p:cNvPr id="498" name="Google Shape;498;p20"/>
          <p:cNvSpPr/>
          <p:nvPr/>
        </p:nvSpPr>
        <p:spPr>
          <a:xfrm>
            <a:off x="7818120" y="4187952"/>
            <a:ext cx="868680" cy="411480"/>
          </a:xfrm>
          <a:prstGeom prst="roundRect">
            <a:avLst>
              <a:gd fmla="val 15556" name="adj"/>
            </a:avLst>
          </a:prstGeom>
          <a:solidFill>
            <a:srgbClr val="FF4D6A">
              <a:alpha val="85098"/>
            </a:srgbClr>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20"/>
          <p:cNvSpPr/>
          <p:nvPr/>
        </p:nvSpPr>
        <p:spPr>
          <a:xfrm>
            <a:off x="781812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Solu-</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ción</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A"/>
        </a:solidFill>
      </p:bgPr>
    </p:bg>
    <p:spTree>
      <p:nvGrpSpPr>
        <p:cNvPr id="504" name="Shape 504"/>
        <p:cNvGrpSpPr/>
        <p:nvPr/>
      </p:nvGrpSpPr>
      <p:grpSpPr>
        <a:xfrm>
          <a:off x="0" y="0"/>
          <a:ext cx="0" cy="0"/>
          <a:chOff x="0" y="0"/>
          <a:chExt cx="0" cy="0"/>
        </a:xfrm>
      </p:grpSpPr>
      <p:sp>
        <p:nvSpPr>
          <p:cNvPr id="505" name="Google Shape;505;p21"/>
          <p:cNvSpPr/>
          <p:nvPr/>
        </p:nvSpPr>
        <p:spPr>
          <a:xfrm>
            <a:off x="0" y="0"/>
            <a:ext cx="9144000" cy="502920"/>
          </a:xfrm>
          <a:prstGeom prst="rect">
            <a:avLst/>
          </a:prstGeom>
          <a:solidFill>
            <a:srgbClr val="FF4D6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1"/>
          <p:cNvSpPr/>
          <p:nvPr/>
        </p:nvSpPr>
        <p:spPr>
          <a:xfrm>
            <a:off x="274320" y="0"/>
            <a:ext cx="6858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SILLA DE RUEDAS AUTÓNOMA  ·  LEÉ ANTES DE LA RONDA 1</a:t>
            </a:r>
            <a:endParaRPr b="0" i="0" sz="1100" u="none" cap="none" strike="noStrike">
              <a:solidFill>
                <a:schemeClr val="dk1"/>
              </a:solidFill>
              <a:latin typeface="Calibri"/>
              <a:ea typeface="Calibri"/>
              <a:cs typeface="Calibri"/>
              <a:sym typeface="Calibri"/>
            </a:endParaRPr>
          </a:p>
        </p:txBody>
      </p:sp>
      <p:sp>
        <p:nvSpPr>
          <p:cNvPr id="507" name="Google Shape;507;p21"/>
          <p:cNvSpPr/>
          <p:nvPr/>
        </p:nvSpPr>
        <p:spPr>
          <a:xfrm>
            <a:off x="7863840" y="54864"/>
            <a:ext cx="384048" cy="384048"/>
          </a:xfrm>
          <a:prstGeom prst="ellipse">
            <a:avLst/>
          </a:prstGeom>
          <a:solidFill>
            <a:srgbClr val="0A0E2A"/>
          </a:solidFill>
          <a:ln cap="flat" cmpd="sng" w="12700">
            <a:solidFill>
              <a:srgbClr val="0A0E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21"/>
          <p:cNvSpPr/>
          <p:nvPr/>
        </p:nvSpPr>
        <p:spPr>
          <a:xfrm>
            <a:off x="7863840" y="548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4D6A"/>
              </a:buClr>
              <a:buSzPts val="1300"/>
              <a:buFont typeface="Calibri"/>
              <a:buNone/>
            </a:pPr>
            <a:r>
              <a:rPr b="1" i="0" lang="en-US" sz="1300" u="none" cap="none" strike="noStrike">
                <a:solidFill>
                  <a:srgbClr val="FF4D6A"/>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509" name="Google Shape;509;p21"/>
          <p:cNvSpPr/>
          <p:nvPr/>
        </p:nvSpPr>
        <p:spPr>
          <a:xfrm>
            <a:off x="0" y="502920"/>
            <a:ext cx="2560320" cy="4640580"/>
          </a:xfrm>
          <a:prstGeom prst="rect">
            <a:avLst/>
          </a:prstGeom>
          <a:solidFill>
            <a:srgbClr val="FF4D6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1"/>
          <p:cNvSpPr/>
          <p:nvPr/>
        </p:nvSpPr>
        <p:spPr>
          <a:xfrm>
            <a:off x="0" y="548640"/>
            <a:ext cx="2560320" cy="228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4000"/>
              <a:buFont typeface="Calibri"/>
              <a:buNone/>
            </a:pPr>
            <a:r>
              <a:rPr b="1" i="0" lang="en-US" sz="14000" u="none" cap="none" strike="noStrike">
                <a:solidFill>
                  <a:srgbClr val="0A0E2A"/>
                </a:solidFill>
                <a:latin typeface="Calibri"/>
                <a:ea typeface="Calibri"/>
                <a:cs typeface="Calibri"/>
                <a:sym typeface="Calibri"/>
              </a:rPr>
              <a:t>3</a:t>
            </a:r>
            <a:endParaRPr b="0" i="0" sz="14000" u="none" cap="none" strike="noStrike">
              <a:solidFill>
                <a:schemeClr val="dk1"/>
              </a:solidFill>
              <a:latin typeface="Calibri"/>
              <a:ea typeface="Calibri"/>
              <a:cs typeface="Calibri"/>
              <a:sym typeface="Calibri"/>
            </a:endParaRPr>
          </a:p>
        </p:txBody>
      </p:sp>
      <p:sp>
        <p:nvSpPr>
          <p:cNvPr id="511" name="Google Shape;511;p21"/>
          <p:cNvSpPr/>
          <p:nvPr/>
        </p:nvSpPr>
        <p:spPr>
          <a:xfrm>
            <a:off x="91440" y="3108960"/>
            <a:ext cx="237744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Robótica</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Inclusión Social</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IA</a:t>
            </a:r>
            <a:endParaRPr b="0" i="0" sz="1100" u="none" cap="none" strike="noStrike">
              <a:solidFill>
                <a:schemeClr val="dk1"/>
              </a:solidFill>
              <a:latin typeface="Calibri"/>
              <a:ea typeface="Calibri"/>
              <a:cs typeface="Calibri"/>
              <a:sym typeface="Calibri"/>
            </a:endParaRPr>
          </a:p>
        </p:txBody>
      </p:sp>
      <p:sp>
        <p:nvSpPr>
          <p:cNvPr id="512" name="Google Shape;512;p21"/>
          <p:cNvSpPr/>
          <p:nvPr/>
        </p:nvSpPr>
        <p:spPr>
          <a:xfrm>
            <a:off x="2926080" y="594360"/>
            <a:ext cx="594360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4D6A"/>
              </a:buClr>
              <a:buSzPts val="2400"/>
              <a:buFont typeface="Calibri"/>
              <a:buNone/>
            </a:pPr>
            <a:r>
              <a:rPr b="1" i="0" lang="en-US" sz="2400" u="none" cap="none" strike="noStrike">
                <a:solidFill>
                  <a:srgbClr val="FF4D6A"/>
                </a:solidFill>
                <a:latin typeface="Calibri"/>
                <a:ea typeface="Calibri"/>
                <a:cs typeface="Calibri"/>
                <a:sym typeface="Calibri"/>
              </a:rPr>
              <a:t>Silla de Ruedas Autónoma</a:t>
            </a:r>
            <a:endParaRPr b="0" i="0" sz="2400" u="none" cap="none" strike="noStrike">
              <a:solidFill>
                <a:schemeClr val="dk1"/>
              </a:solidFill>
              <a:latin typeface="Calibri"/>
              <a:ea typeface="Calibri"/>
              <a:cs typeface="Calibri"/>
              <a:sym typeface="Calibri"/>
            </a:endParaRPr>
          </a:p>
        </p:txBody>
      </p:sp>
      <p:sp>
        <p:nvSpPr>
          <p:cNvPr id="513" name="Google Shape;513;p21"/>
          <p:cNvSpPr/>
          <p:nvPr/>
        </p:nvSpPr>
        <p:spPr>
          <a:xfrm>
            <a:off x="2834640" y="1572768"/>
            <a:ext cx="6035040" cy="1920240"/>
          </a:xfrm>
          <a:prstGeom prst="roundRect">
            <a:avLst>
              <a:gd fmla="val 5714" name="adj"/>
            </a:avLst>
          </a:prstGeom>
          <a:solidFill>
            <a:srgbClr val="0A0E2A"/>
          </a:solidFill>
          <a:ln cap="flat" cmpd="sng" w="19050">
            <a:solidFill>
              <a:srgbClr val="FF4D6A"/>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21"/>
          <p:cNvSpPr/>
          <p:nvPr/>
        </p:nvSpPr>
        <p:spPr>
          <a:xfrm>
            <a:off x="3017520" y="1645920"/>
            <a:ext cx="5669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950"/>
              <a:buFont typeface="Calibri"/>
              <a:buNone/>
            </a:pPr>
            <a:r>
              <a:rPr b="1" i="0" lang="en-US" sz="950" u="none" cap="none" strike="noStrike">
                <a:solidFill>
                  <a:srgbClr val="FF4D6A"/>
                </a:solidFill>
                <a:latin typeface="Calibri"/>
                <a:ea typeface="Calibri"/>
                <a:cs typeface="Calibri"/>
                <a:sym typeface="Calibri"/>
              </a:rPr>
              <a:t>LA SITUACIÓN</a:t>
            </a:r>
            <a:endParaRPr b="0" i="0" sz="950" u="none" cap="none" strike="noStrike">
              <a:solidFill>
                <a:schemeClr val="dk1"/>
              </a:solidFill>
              <a:latin typeface="Calibri"/>
              <a:ea typeface="Calibri"/>
              <a:cs typeface="Calibri"/>
              <a:sym typeface="Calibri"/>
            </a:endParaRPr>
          </a:p>
        </p:txBody>
      </p:sp>
      <p:sp>
        <p:nvSpPr>
          <p:cNvPr id="515" name="Google Shape;515;p21"/>
          <p:cNvSpPr/>
          <p:nvPr/>
        </p:nvSpPr>
        <p:spPr>
          <a:xfrm>
            <a:off x="3017520" y="1938528"/>
            <a:ext cx="5669280" cy="14630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DF5"/>
              </a:buClr>
              <a:buSzPts val="1250"/>
              <a:buFont typeface="Calibri"/>
              <a:buNone/>
            </a:pPr>
            <a:r>
              <a:rPr b="0" i="0" lang="en-US" sz="1250" u="none" cap="none" strike="noStrike">
                <a:solidFill>
                  <a:srgbClr val="E8EDF5"/>
                </a:solidFill>
                <a:latin typeface="Calibri"/>
                <a:ea typeface="Calibri"/>
                <a:cs typeface="Calibri"/>
                <a:sym typeface="Calibri"/>
              </a:rPr>
              <a:t>Una persona con movilidad reducida usa una silla de ruedas motorizada para moverse en su casa o en un pasillo. Los pasillos tienen muebles, puertas entornadas, personas caminando. Cuando la silla se mueve sola o el usuario se distrae, no hay nada que la frene antes de un choque. El riesgo es concreto y frecuente.</a:t>
            </a:r>
            <a:endParaRPr b="0" i="0" sz="1250" u="none" cap="none" strike="noStrike">
              <a:solidFill>
                <a:schemeClr val="dk1"/>
              </a:solidFill>
              <a:latin typeface="Calibri"/>
              <a:ea typeface="Calibri"/>
              <a:cs typeface="Calibri"/>
              <a:sym typeface="Calibri"/>
            </a:endParaRPr>
          </a:p>
        </p:txBody>
      </p:sp>
      <p:sp>
        <p:nvSpPr>
          <p:cNvPr id="516" name="Google Shape;516;p21"/>
          <p:cNvSpPr/>
          <p:nvPr/>
        </p:nvSpPr>
        <p:spPr>
          <a:xfrm>
            <a:off x="2834640" y="3611880"/>
            <a:ext cx="6035040" cy="594360"/>
          </a:xfrm>
          <a:prstGeom prst="roundRect">
            <a:avLst>
              <a:gd fmla="val 15385" name="adj"/>
            </a:avLst>
          </a:prstGeom>
          <a:solidFill>
            <a:srgbClr val="FFFFFF"/>
          </a:solidFill>
          <a:ln cap="flat" cmpd="sng" w="12700">
            <a:solidFill>
              <a:srgbClr val="FF4D6A">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21"/>
          <p:cNvSpPr/>
          <p:nvPr/>
        </p:nvSpPr>
        <p:spPr>
          <a:xfrm>
            <a:off x="2999232" y="3611880"/>
            <a:ext cx="10058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950"/>
              <a:buFont typeface="Calibri"/>
              <a:buNone/>
            </a:pPr>
            <a:r>
              <a:rPr b="1" i="0" lang="en-US" sz="950" u="none" cap="none" strike="noStrike">
                <a:solidFill>
                  <a:srgbClr val="FF4D6A"/>
                </a:solidFill>
                <a:latin typeface="Calibri"/>
                <a:ea typeface="Calibri"/>
                <a:cs typeface="Calibri"/>
                <a:sym typeface="Calibri"/>
              </a:rPr>
              <a:t>CONTEXTO:</a:t>
            </a:r>
            <a:endParaRPr b="0" i="0" sz="950" u="none" cap="none" strike="noStrike">
              <a:solidFill>
                <a:schemeClr val="dk1"/>
              </a:solidFill>
              <a:latin typeface="Calibri"/>
              <a:ea typeface="Calibri"/>
              <a:cs typeface="Calibri"/>
              <a:sym typeface="Calibri"/>
            </a:endParaRPr>
          </a:p>
        </p:txBody>
      </p:sp>
      <p:sp>
        <p:nvSpPr>
          <p:cNvPr id="518" name="Google Shape;518;p21"/>
          <p:cNvSpPr/>
          <p:nvPr/>
        </p:nvSpPr>
        <p:spPr>
          <a:xfrm>
            <a:off x="4041648" y="3611880"/>
            <a:ext cx="47365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A5C"/>
              </a:buClr>
              <a:buSzPts val="1100"/>
              <a:buFont typeface="Calibri"/>
              <a:buNone/>
            </a:pPr>
            <a:r>
              <a:rPr b="0" i="0" lang="en-US" sz="1100" u="none" cap="none" strike="noStrike">
                <a:solidFill>
                  <a:srgbClr val="2E3A5C"/>
                </a:solidFill>
                <a:latin typeface="Calibri"/>
                <a:ea typeface="Calibri"/>
                <a:cs typeface="Calibri"/>
                <a:sym typeface="Calibri"/>
              </a:rPr>
              <a:t>Personas con movilidad reducida que utilizan sillas de ruedas en espacios con obstáculos y que no pueden maniobrar de forma segura sin asistencia.</a:t>
            </a:r>
            <a:endParaRPr b="0" i="0" sz="1100" u="none" cap="none" strike="noStrike">
              <a:solidFill>
                <a:schemeClr val="dk1"/>
              </a:solidFill>
              <a:latin typeface="Calibri"/>
              <a:ea typeface="Calibri"/>
              <a:cs typeface="Calibri"/>
              <a:sym typeface="Calibri"/>
            </a:endParaRPr>
          </a:p>
        </p:txBody>
      </p:sp>
      <p:sp>
        <p:nvSpPr>
          <p:cNvPr id="519" name="Google Shape;519;p21"/>
          <p:cNvSpPr/>
          <p:nvPr/>
        </p:nvSpPr>
        <p:spPr>
          <a:xfrm>
            <a:off x="2834640" y="4325112"/>
            <a:ext cx="6035040" cy="594360"/>
          </a:xfrm>
          <a:prstGeom prst="roundRect">
            <a:avLst>
              <a:gd fmla="val 15385" name="adj"/>
            </a:avLst>
          </a:prstGeom>
          <a:solidFill>
            <a:srgbClr val="FF4D6A">
              <a:alpha val="92156"/>
            </a:srgbClr>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1"/>
          <p:cNvSpPr/>
          <p:nvPr/>
        </p:nvSpPr>
        <p:spPr>
          <a:xfrm>
            <a:off x="2971800" y="4325112"/>
            <a:ext cx="58064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  ¿Qué problema hay acá? — Escriban su respuesta en Ronda 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525" name="Shape 525"/>
        <p:cNvGrpSpPr/>
        <p:nvPr/>
      </p:nvGrpSpPr>
      <p:grpSpPr>
        <a:xfrm>
          <a:off x="0" y="0"/>
          <a:ext cx="0" cy="0"/>
          <a:chOff x="0" y="0"/>
          <a:chExt cx="0" cy="0"/>
        </a:xfrm>
      </p:grpSpPr>
      <p:sp>
        <p:nvSpPr>
          <p:cNvPr id="526" name="Google Shape;526;p22"/>
          <p:cNvSpPr/>
          <p:nvPr/>
        </p:nvSpPr>
        <p:spPr>
          <a:xfrm>
            <a:off x="0" y="0"/>
            <a:ext cx="9144000" cy="502920"/>
          </a:xfrm>
          <a:prstGeom prst="rect">
            <a:avLst/>
          </a:prstGeom>
          <a:solidFill>
            <a:srgbClr val="FF4D6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22"/>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SILLA DE RUEDAS AUTÓNOMA  ·  RONDA 1 DE 5</a:t>
            </a:r>
            <a:endParaRPr b="0" i="0" sz="1100" u="none" cap="none" strike="noStrike">
              <a:solidFill>
                <a:schemeClr val="dk1"/>
              </a:solidFill>
              <a:latin typeface="Calibri"/>
              <a:ea typeface="Calibri"/>
              <a:cs typeface="Calibri"/>
              <a:sym typeface="Calibri"/>
            </a:endParaRPr>
          </a:p>
        </p:txBody>
      </p:sp>
      <p:sp>
        <p:nvSpPr>
          <p:cNvPr id="528" name="Google Shape;528;p22"/>
          <p:cNvSpPr/>
          <p:nvPr/>
        </p:nvSpPr>
        <p:spPr>
          <a:xfrm>
            <a:off x="7498080" y="54864"/>
            <a:ext cx="1417320" cy="384048"/>
          </a:xfrm>
          <a:prstGeom prst="roundRect">
            <a:avLst>
              <a:gd fmla="val 19048" name="adj"/>
            </a:avLst>
          </a:prstGeom>
          <a:solidFill>
            <a:srgbClr val="0A0E2A"/>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2"/>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B800"/>
              </a:buClr>
              <a:buSzPts val="1300"/>
              <a:buFont typeface="Calibri"/>
              <a:buNone/>
            </a:pPr>
            <a:r>
              <a:rPr b="1" i="0" lang="en-US" sz="1300" u="none" cap="none" strike="noStrike">
                <a:solidFill>
                  <a:srgbClr val="FFB800"/>
                </a:solidFill>
                <a:latin typeface="Calibri"/>
                <a:ea typeface="Calibri"/>
                <a:cs typeface="Calibri"/>
                <a:sym typeface="Calibri"/>
              </a:rPr>
              <a:t>⏱  2 min</a:t>
            </a:r>
            <a:endParaRPr b="0" i="0" sz="1300" u="none" cap="none" strike="noStrike">
              <a:solidFill>
                <a:schemeClr val="dk1"/>
              </a:solidFill>
              <a:latin typeface="Calibri"/>
              <a:ea typeface="Calibri"/>
              <a:cs typeface="Calibri"/>
              <a:sym typeface="Calibri"/>
            </a:endParaRPr>
          </a:p>
        </p:txBody>
      </p:sp>
      <p:sp>
        <p:nvSpPr>
          <p:cNvPr id="530" name="Google Shape;530;p22"/>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1100"/>
              <a:buFont typeface="Calibri"/>
              <a:buNone/>
            </a:pPr>
            <a:r>
              <a:rPr b="1" i="0" lang="en-US" sz="1100" u="none" cap="none" strike="noStrike">
                <a:solidFill>
                  <a:srgbClr val="FFB800"/>
                </a:solidFill>
                <a:latin typeface="Calibri"/>
                <a:ea typeface="Calibri"/>
                <a:cs typeface="Calibri"/>
                <a:sym typeface="Calibri"/>
              </a:rPr>
              <a:t>RONDA 1</a:t>
            </a:r>
            <a:endParaRPr b="0" i="0" sz="1100" u="none" cap="none" strike="noStrike">
              <a:solidFill>
                <a:schemeClr val="dk1"/>
              </a:solidFill>
              <a:latin typeface="Calibri"/>
              <a:ea typeface="Calibri"/>
              <a:cs typeface="Calibri"/>
              <a:sym typeface="Calibri"/>
            </a:endParaRPr>
          </a:p>
        </p:txBody>
      </p:sp>
      <p:sp>
        <p:nvSpPr>
          <p:cNvPr id="531" name="Google Shape;531;p22"/>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2600"/>
              <a:buFont typeface="Calibri"/>
              <a:buNone/>
            </a:pPr>
            <a:r>
              <a:rPr b="1" i="0" lang="en-US" sz="2600" u="none" cap="none" strike="noStrike">
                <a:solidFill>
                  <a:srgbClr val="FFB800"/>
                </a:solidFill>
                <a:latin typeface="Calibri"/>
                <a:ea typeface="Calibri"/>
                <a:cs typeface="Calibri"/>
                <a:sym typeface="Calibri"/>
              </a:rPr>
              <a:t>PROBLEMA VAGO</a:t>
            </a:r>
            <a:endParaRPr b="0" i="0" sz="2600" u="none" cap="none" strike="noStrike">
              <a:solidFill>
                <a:schemeClr val="dk1"/>
              </a:solidFill>
              <a:latin typeface="Calibri"/>
              <a:ea typeface="Calibri"/>
              <a:cs typeface="Calibri"/>
              <a:sym typeface="Calibri"/>
            </a:endParaRPr>
          </a:p>
        </p:txBody>
      </p:sp>
      <p:sp>
        <p:nvSpPr>
          <p:cNvPr id="532" name="Google Shape;532;p22"/>
          <p:cNvSpPr/>
          <p:nvPr/>
        </p:nvSpPr>
        <p:spPr>
          <a:xfrm>
            <a:off x="365760" y="1600200"/>
            <a:ext cx="8412480" cy="868680"/>
          </a:xfrm>
          <a:prstGeom prst="roundRect">
            <a:avLst>
              <a:gd fmla="val 12632" name="adj"/>
            </a:avLst>
          </a:prstGeom>
          <a:solidFill>
            <a:srgbClr val="1A2550"/>
          </a:solidFill>
          <a:ln cap="flat" cmpd="sng" w="22850">
            <a:solidFill>
              <a:srgbClr val="FFB800"/>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22"/>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Lean la slide anterior. Escriban en UNA oración el problema vago que da origen a esta solución.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No técnico. Como lo diría alguien en la calle.</a:t>
            </a:r>
            <a:endParaRPr b="0" i="0" sz="1300" u="none" cap="none" strike="noStrike">
              <a:solidFill>
                <a:schemeClr val="dk1"/>
              </a:solidFill>
              <a:latin typeface="Calibri"/>
              <a:ea typeface="Calibri"/>
              <a:cs typeface="Calibri"/>
              <a:sym typeface="Calibri"/>
            </a:endParaRPr>
          </a:p>
        </p:txBody>
      </p:sp>
      <p:sp>
        <p:nvSpPr>
          <p:cNvPr id="534" name="Google Shape;534;p22"/>
          <p:cNvSpPr/>
          <p:nvPr/>
        </p:nvSpPr>
        <p:spPr>
          <a:xfrm>
            <a:off x="365760" y="2606040"/>
            <a:ext cx="8412480" cy="2194560"/>
          </a:xfrm>
          <a:prstGeom prst="roundRect">
            <a:avLst>
              <a:gd fmla="val 5000" name="adj"/>
            </a:avLst>
          </a:prstGeom>
          <a:solidFill>
            <a:srgbClr val="1A2550"/>
          </a:solidFill>
          <a:ln cap="flat" cmpd="sng" w="19050">
            <a:solidFill>
              <a:srgbClr val="FFB800"/>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22"/>
          <p:cNvSpPr/>
          <p:nvPr/>
        </p:nvSpPr>
        <p:spPr>
          <a:xfrm>
            <a:off x="548640" y="267004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1000"/>
              <a:buFont typeface="Calibri"/>
              <a:buNone/>
            </a:pPr>
            <a:r>
              <a:rPr b="1" i="0" lang="en-US" sz="1000" u="none" cap="none" strike="noStrike">
                <a:solidFill>
                  <a:srgbClr val="FFB800"/>
                </a:solidFill>
                <a:latin typeface="Calibri"/>
                <a:ea typeface="Calibri"/>
                <a:cs typeface="Calibri"/>
                <a:sym typeface="Calibri"/>
              </a:rPr>
              <a:t>PISTA — ¿Cómo lo diría alguien sin conocimiento técnico?</a:t>
            </a:r>
            <a:endParaRPr b="0" i="0" sz="1000" u="none" cap="none" strike="noStrike">
              <a:solidFill>
                <a:schemeClr val="dk1"/>
              </a:solidFill>
              <a:latin typeface="Calibri"/>
              <a:ea typeface="Calibri"/>
              <a:cs typeface="Calibri"/>
              <a:sym typeface="Calibri"/>
            </a:endParaRPr>
          </a:p>
        </p:txBody>
      </p:sp>
      <p:sp>
        <p:nvSpPr>
          <p:cNvPr id="536" name="Google Shape;536;p22"/>
          <p:cNvSpPr/>
          <p:nvPr/>
        </p:nvSpPr>
        <p:spPr>
          <a:xfrm>
            <a:off x="548640" y="2999232"/>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0" i="1" lang="en-US" sz="1100" u="none" cap="none" strike="noStrike">
                <a:solidFill>
                  <a:srgbClr val="E8EDF5"/>
                </a:solidFill>
                <a:latin typeface="Calibri"/>
                <a:ea typeface="Calibri"/>
                <a:cs typeface="Calibri"/>
                <a:sym typeface="Calibri"/>
              </a:rPr>
              <a:t>✗  NO: 'La distancia al obstáculo es menor a 30 cm' — eso es técnico, no vago.</a:t>
            </a:r>
            <a:endParaRPr b="0" i="0" sz="1100" u="none" cap="none" strike="noStrike">
              <a:solidFill>
                <a:schemeClr val="dk1"/>
              </a:solidFill>
              <a:latin typeface="Calibri"/>
              <a:ea typeface="Calibri"/>
              <a:cs typeface="Calibri"/>
              <a:sym typeface="Calibri"/>
            </a:endParaRPr>
          </a:p>
        </p:txBody>
      </p:sp>
      <p:sp>
        <p:nvSpPr>
          <p:cNvPr id="537" name="Google Shape;537;p22"/>
          <p:cNvSpPr/>
          <p:nvPr/>
        </p:nvSpPr>
        <p:spPr>
          <a:xfrm>
            <a:off x="548640" y="3291840"/>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0" i="1" lang="en-US" sz="1100" u="none" cap="none" strike="noStrike">
                <a:solidFill>
                  <a:srgbClr val="E8EDF5"/>
                </a:solidFill>
                <a:latin typeface="Calibri"/>
                <a:ea typeface="Calibri"/>
                <a:cs typeface="Calibri"/>
                <a:sym typeface="Calibri"/>
              </a:rPr>
              <a:t>✓  SÍ: 'Las personas en silla de ruedas se chocan con cosas cuando se mueven solas en la casa.'</a:t>
            </a:r>
            <a:endParaRPr b="0" i="0" sz="1100" u="none" cap="none" strike="noStrike">
              <a:solidFill>
                <a:schemeClr val="dk1"/>
              </a:solidFill>
              <a:latin typeface="Calibri"/>
              <a:ea typeface="Calibri"/>
              <a:cs typeface="Calibri"/>
              <a:sym typeface="Calibri"/>
            </a:endParaRPr>
          </a:p>
        </p:txBody>
      </p:sp>
      <p:sp>
        <p:nvSpPr>
          <p:cNvPr id="538" name="Google Shape;538;p22"/>
          <p:cNvSpPr/>
          <p:nvPr/>
        </p:nvSpPr>
        <p:spPr>
          <a:xfrm>
            <a:off x="548640" y="3657600"/>
            <a:ext cx="8046720" cy="457200"/>
          </a:xfrm>
          <a:prstGeom prst="roundRect">
            <a:avLst>
              <a:gd fmla="val 16000" name="adj"/>
            </a:avLst>
          </a:prstGeom>
          <a:solidFill>
            <a:srgbClr val="FFB800">
              <a:alpha val="87843"/>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22"/>
          <p:cNvSpPr/>
          <p:nvPr/>
        </p:nvSpPr>
        <p:spPr>
          <a:xfrm>
            <a:off x="685800" y="365760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  Escriban su problema vago. Comparten al terminar el tiempo.</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A"/>
        </a:solidFill>
      </p:bgPr>
    </p:bg>
    <p:spTree>
      <p:nvGrpSpPr>
        <p:cNvPr id="544" name="Shape 544"/>
        <p:cNvGrpSpPr/>
        <p:nvPr/>
      </p:nvGrpSpPr>
      <p:grpSpPr>
        <a:xfrm>
          <a:off x="0" y="0"/>
          <a:ext cx="0" cy="0"/>
          <a:chOff x="0" y="0"/>
          <a:chExt cx="0" cy="0"/>
        </a:xfrm>
      </p:grpSpPr>
      <p:sp>
        <p:nvSpPr>
          <p:cNvPr id="545" name="Google Shape;545;p23"/>
          <p:cNvSpPr/>
          <p:nvPr/>
        </p:nvSpPr>
        <p:spPr>
          <a:xfrm>
            <a:off x="0" y="0"/>
            <a:ext cx="9144000" cy="502920"/>
          </a:xfrm>
          <a:prstGeom prst="rect">
            <a:avLst/>
          </a:prstGeom>
          <a:solidFill>
            <a:srgbClr val="FF4D6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23"/>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SILLA DE RUEDAS AUTÓNOMA  ·  RONDA 2 DE 5</a:t>
            </a:r>
            <a:endParaRPr b="0" i="0" sz="1100" u="none" cap="none" strike="noStrike">
              <a:solidFill>
                <a:schemeClr val="dk1"/>
              </a:solidFill>
              <a:latin typeface="Calibri"/>
              <a:ea typeface="Calibri"/>
              <a:cs typeface="Calibri"/>
              <a:sym typeface="Calibri"/>
            </a:endParaRPr>
          </a:p>
        </p:txBody>
      </p:sp>
      <p:sp>
        <p:nvSpPr>
          <p:cNvPr id="547" name="Google Shape;547;p23"/>
          <p:cNvSpPr/>
          <p:nvPr/>
        </p:nvSpPr>
        <p:spPr>
          <a:xfrm>
            <a:off x="7498080" y="54864"/>
            <a:ext cx="1417320" cy="384048"/>
          </a:xfrm>
          <a:prstGeom prst="roundRect">
            <a:avLst>
              <a:gd fmla="val 19048" name="adj"/>
            </a:avLst>
          </a:prstGeom>
          <a:solidFill>
            <a:srgbClr val="0A0E2A"/>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23"/>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1300"/>
              <a:buFont typeface="Calibri"/>
              <a:buNone/>
            </a:pPr>
            <a:r>
              <a:rPr b="1" i="0" lang="en-US" sz="1300" u="none" cap="none" strike="noStrike">
                <a:solidFill>
                  <a:srgbClr val="00D4FF"/>
                </a:solidFill>
                <a:latin typeface="Calibri"/>
                <a:ea typeface="Calibri"/>
                <a:cs typeface="Calibri"/>
                <a:sym typeface="Calibri"/>
              </a:rPr>
              <a:t>⏱  4 min</a:t>
            </a:r>
            <a:endParaRPr b="0" i="0" sz="1300" u="none" cap="none" strike="noStrike">
              <a:solidFill>
                <a:schemeClr val="dk1"/>
              </a:solidFill>
              <a:latin typeface="Calibri"/>
              <a:ea typeface="Calibri"/>
              <a:cs typeface="Calibri"/>
              <a:sym typeface="Calibri"/>
            </a:endParaRPr>
          </a:p>
        </p:txBody>
      </p:sp>
      <p:sp>
        <p:nvSpPr>
          <p:cNvPr id="549" name="Google Shape;549;p23"/>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RONDA 2</a:t>
            </a:r>
            <a:endParaRPr b="0" i="0" sz="1100" u="none" cap="none" strike="noStrike">
              <a:solidFill>
                <a:schemeClr val="dk1"/>
              </a:solidFill>
              <a:latin typeface="Calibri"/>
              <a:ea typeface="Calibri"/>
              <a:cs typeface="Calibri"/>
              <a:sym typeface="Calibri"/>
            </a:endParaRPr>
          </a:p>
        </p:txBody>
      </p:sp>
      <p:sp>
        <p:nvSpPr>
          <p:cNvPr id="550" name="Google Shape;550;p23"/>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2600"/>
              <a:buFont typeface="Calibri"/>
              <a:buNone/>
            </a:pPr>
            <a:r>
              <a:rPr b="1" i="0" lang="en-US" sz="2600" u="none" cap="none" strike="noStrike">
                <a:solidFill>
                  <a:srgbClr val="0A0E2A"/>
                </a:solidFill>
                <a:latin typeface="Calibri"/>
                <a:ea typeface="Calibri"/>
                <a:cs typeface="Calibri"/>
                <a:sym typeface="Calibri"/>
              </a:rPr>
              <a:t>PREGUNTAS DISPARADORAS</a:t>
            </a:r>
            <a:endParaRPr b="0" i="0" sz="2600" u="none" cap="none" strike="noStrike">
              <a:solidFill>
                <a:schemeClr val="dk1"/>
              </a:solidFill>
              <a:latin typeface="Calibri"/>
              <a:ea typeface="Calibri"/>
              <a:cs typeface="Calibri"/>
              <a:sym typeface="Calibri"/>
            </a:endParaRPr>
          </a:p>
        </p:txBody>
      </p:sp>
      <p:sp>
        <p:nvSpPr>
          <p:cNvPr id="551" name="Google Shape;551;p23"/>
          <p:cNvSpPr/>
          <p:nvPr/>
        </p:nvSpPr>
        <p:spPr>
          <a:xfrm>
            <a:off x="365760" y="1600200"/>
            <a:ext cx="8412480" cy="868680"/>
          </a:xfrm>
          <a:prstGeom prst="roundRect">
            <a:avLst>
              <a:gd fmla="val 12632" name="adj"/>
            </a:avLst>
          </a:prstGeom>
          <a:solidFill>
            <a:srgbClr val="FFFFFF"/>
          </a:solidFill>
          <a:ln cap="flat" cmpd="sng" w="22850">
            <a:solidFill>
              <a:srgbClr val="00D4FF"/>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23"/>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Formulen UNA pregunta disparadora para cada tipo:</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¿Cómo...? · ¿Por qué...? · ¿Para qué...? · ¿Qué harías...?</a:t>
            </a:r>
            <a:endParaRPr b="0" i="0" sz="1300" u="none" cap="none" strike="noStrike">
              <a:solidFill>
                <a:schemeClr val="dk1"/>
              </a:solidFill>
              <a:latin typeface="Calibri"/>
              <a:ea typeface="Calibri"/>
              <a:cs typeface="Calibri"/>
              <a:sym typeface="Calibri"/>
            </a:endParaRPr>
          </a:p>
        </p:txBody>
      </p:sp>
      <p:sp>
        <p:nvSpPr>
          <p:cNvPr id="553" name="Google Shape;553;p23"/>
          <p:cNvSpPr/>
          <p:nvPr/>
        </p:nvSpPr>
        <p:spPr>
          <a:xfrm>
            <a:off x="365760" y="2578608"/>
            <a:ext cx="4160520" cy="1078992"/>
          </a:xfrm>
          <a:prstGeom prst="roundRect">
            <a:avLst>
              <a:gd fmla="val 8475" name="adj"/>
            </a:avLst>
          </a:prstGeom>
          <a:solidFill>
            <a:srgbClr val="FFFFFF"/>
          </a:solidFill>
          <a:ln cap="flat" cmpd="sng" w="19050">
            <a:solidFill>
              <a:srgbClr val="00D4FF"/>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23"/>
          <p:cNvSpPr/>
          <p:nvPr/>
        </p:nvSpPr>
        <p:spPr>
          <a:xfrm>
            <a:off x="457200" y="2670048"/>
            <a:ext cx="1371600" cy="292608"/>
          </a:xfrm>
          <a:prstGeom prst="roundRect">
            <a:avLst>
              <a:gd fmla="val 15625" name="adj"/>
            </a:avLst>
          </a:prstGeom>
          <a:solidFill>
            <a:srgbClr val="00D4FF">
              <a:alpha val="90196"/>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23"/>
          <p:cNvSpPr/>
          <p:nvPr/>
        </p:nvSpPr>
        <p:spPr>
          <a:xfrm>
            <a:off x="457200" y="2670048"/>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¿Cómo...?</a:t>
            </a:r>
            <a:endParaRPr b="0" i="0" sz="1100" u="none" cap="none" strike="noStrike">
              <a:solidFill>
                <a:schemeClr val="dk1"/>
              </a:solidFill>
              <a:latin typeface="Calibri"/>
              <a:ea typeface="Calibri"/>
              <a:cs typeface="Calibri"/>
              <a:sym typeface="Calibri"/>
            </a:endParaRPr>
          </a:p>
        </p:txBody>
      </p:sp>
      <p:sp>
        <p:nvSpPr>
          <p:cNvPr id="556" name="Google Shape;556;p23"/>
          <p:cNvSpPr/>
          <p:nvPr/>
        </p:nvSpPr>
        <p:spPr>
          <a:xfrm>
            <a:off x="1920240" y="2688336"/>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Busca crear un proceso o solución</a:t>
            </a:r>
            <a:endParaRPr b="0" i="0" sz="950" u="none" cap="none" strike="noStrike">
              <a:solidFill>
                <a:schemeClr val="dk1"/>
              </a:solidFill>
              <a:latin typeface="Calibri"/>
              <a:ea typeface="Calibri"/>
              <a:cs typeface="Calibri"/>
              <a:sym typeface="Calibri"/>
            </a:endParaRPr>
          </a:p>
        </p:txBody>
      </p:sp>
      <p:sp>
        <p:nvSpPr>
          <p:cNvPr id="557" name="Google Shape;557;p23"/>
          <p:cNvSpPr/>
          <p:nvPr/>
        </p:nvSpPr>
        <p:spPr>
          <a:xfrm>
            <a:off x="457200" y="3035808"/>
            <a:ext cx="3886200" cy="502920"/>
          </a:xfrm>
          <a:prstGeom prst="roundRect">
            <a:avLst>
              <a:gd fmla="val 10909" name="adj"/>
            </a:avLst>
          </a:prstGeom>
          <a:solidFill>
            <a:srgbClr val="00D4FF">
              <a:alpha val="7843"/>
            </a:srgbClr>
          </a:solidFill>
          <a:ln cap="flat" cmpd="sng" w="12700">
            <a:solidFill>
              <a:srgbClr val="00D4FF">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23"/>
          <p:cNvSpPr/>
          <p:nvPr/>
        </p:nvSpPr>
        <p:spPr>
          <a:xfrm>
            <a:off x="548640" y="3035808"/>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
        <p:nvSpPr>
          <p:cNvPr id="559" name="Google Shape;559;p23"/>
          <p:cNvSpPr/>
          <p:nvPr/>
        </p:nvSpPr>
        <p:spPr>
          <a:xfrm>
            <a:off x="4709160" y="2578608"/>
            <a:ext cx="4160520" cy="1078992"/>
          </a:xfrm>
          <a:prstGeom prst="roundRect">
            <a:avLst>
              <a:gd fmla="val 8475" name="adj"/>
            </a:avLst>
          </a:prstGeom>
          <a:solidFill>
            <a:srgbClr val="FFFFFF"/>
          </a:solidFill>
          <a:ln cap="flat" cmpd="sng" w="19050">
            <a:solidFill>
              <a:srgbClr val="FFB800"/>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23"/>
          <p:cNvSpPr/>
          <p:nvPr/>
        </p:nvSpPr>
        <p:spPr>
          <a:xfrm>
            <a:off x="4800600" y="2670048"/>
            <a:ext cx="1371600" cy="292608"/>
          </a:xfrm>
          <a:prstGeom prst="roundRect">
            <a:avLst>
              <a:gd fmla="val 15625" name="adj"/>
            </a:avLst>
          </a:prstGeom>
          <a:solidFill>
            <a:srgbClr val="FFB800">
              <a:alpha val="90196"/>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23"/>
          <p:cNvSpPr/>
          <p:nvPr/>
        </p:nvSpPr>
        <p:spPr>
          <a:xfrm>
            <a:off x="4800600" y="2670048"/>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¿Por qué...?</a:t>
            </a:r>
            <a:endParaRPr b="0" i="0" sz="1100" u="none" cap="none" strike="noStrike">
              <a:solidFill>
                <a:schemeClr val="dk1"/>
              </a:solidFill>
              <a:latin typeface="Calibri"/>
              <a:ea typeface="Calibri"/>
              <a:cs typeface="Calibri"/>
              <a:sym typeface="Calibri"/>
            </a:endParaRPr>
          </a:p>
        </p:txBody>
      </p:sp>
      <p:sp>
        <p:nvSpPr>
          <p:cNvPr id="562" name="Google Shape;562;p23"/>
          <p:cNvSpPr/>
          <p:nvPr/>
        </p:nvSpPr>
        <p:spPr>
          <a:xfrm>
            <a:off x="6263640" y="2688336"/>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Investiga causas</a:t>
            </a:r>
            <a:endParaRPr b="0" i="0" sz="950" u="none" cap="none" strike="noStrike">
              <a:solidFill>
                <a:schemeClr val="dk1"/>
              </a:solidFill>
              <a:latin typeface="Calibri"/>
              <a:ea typeface="Calibri"/>
              <a:cs typeface="Calibri"/>
              <a:sym typeface="Calibri"/>
            </a:endParaRPr>
          </a:p>
        </p:txBody>
      </p:sp>
      <p:sp>
        <p:nvSpPr>
          <p:cNvPr id="563" name="Google Shape;563;p23"/>
          <p:cNvSpPr/>
          <p:nvPr/>
        </p:nvSpPr>
        <p:spPr>
          <a:xfrm>
            <a:off x="4800600" y="3035808"/>
            <a:ext cx="3886200" cy="502920"/>
          </a:xfrm>
          <a:prstGeom prst="roundRect">
            <a:avLst>
              <a:gd fmla="val 10909" name="adj"/>
            </a:avLst>
          </a:prstGeom>
          <a:solidFill>
            <a:srgbClr val="FFB800">
              <a:alpha val="7843"/>
            </a:srgbClr>
          </a:solidFill>
          <a:ln cap="flat" cmpd="sng" w="12700">
            <a:solidFill>
              <a:srgbClr val="FFB800">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23"/>
          <p:cNvSpPr/>
          <p:nvPr/>
        </p:nvSpPr>
        <p:spPr>
          <a:xfrm>
            <a:off x="4892040" y="3035808"/>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
        <p:nvSpPr>
          <p:cNvPr id="565" name="Google Shape;565;p23"/>
          <p:cNvSpPr/>
          <p:nvPr/>
        </p:nvSpPr>
        <p:spPr>
          <a:xfrm>
            <a:off x="365760" y="3749040"/>
            <a:ext cx="4160520" cy="1078992"/>
          </a:xfrm>
          <a:prstGeom prst="roundRect">
            <a:avLst>
              <a:gd fmla="val 8475" name="adj"/>
            </a:avLst>
          </a:prstGeom>
          <a:solidFill>
            <a:srgbClr val="FFFFFF"/>
          </a:solidFill>
          <a:ln cap="flat" cmpd="sng" w="19050">
            <a:solidFill>
              <a:srgbClr val="00C896"/>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23"/>
          <p:cNvSpPr/>
          <p:nvPr/>
        </p:nvSpPr>
        <p:spPr>
          <a:xfrm>
            <a:off x="457200" y="3840480"/>
            <a:ext cx="1371600" cy="292608"/>
          </a:xfrm>
          <a:prstGeom prst="roundRect">
            <a:avLst>
              <a:gd fmla="val 15625" name="adj"/>
            </a:avLst>
          </a:prstGeom>
          <a:solidFill>
            <a:srgbClr val="00C896">
              <a:alpha val="90196"/>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23"/>
          <p:cNvSpPr/>
          <p:nvPr/>
        </p:nvSpPr>
        <p:spPr>
          <a:xfrm>
            <a:off x="457200" y="3840480"/>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¿Para qué...?</a:t>
            </a:r>
            <a:endParaRPr b="0" i="0" sz="1100" u="none" cap="none" strike="noStrike">
              <a:solidFill>
                <a:schemeClr val="dk1"/>
              </a:solidFill>
              <a:latin typeface="Calibri"/>
              <a:ea typeface="Calibri"/>
              <a:cs typeface="Calibri"/>
              <a:sym typeface="Calibri"/>
            </a:endParaRPr>
          </a:p>
        </p:txBody>
      </p:sp>
      <p:sp>
        <p:nvSpPr>
          <p:cNvPr id="568" name="Google Shape;568;p23"/>
          <p:cNvSpPr/>
          <p:nvPr/>
        </p:nvSpPr>
        <p:spPr>
          <a:xfrm>
            <a:off x="1920240" y="3858768"/>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Explora el propósito</a:t>
            </a:r>
            <a:endParaRPr b="0" i="0" sz="950" u="none" cap="none" strike="noStrike">
              <a:solidFill>
                <a:schemeClr val="dk1"/>
              </a:solidFill>
              <a:latin typeface="Calibri"/>
              <a:ea typeface="Calibri"/>
              <a:cs typeface="Calibri"/>
              <a:sym typeface="Calibri"/>
            </a:endParaRPr>
          </a:p>
        </p:txBody>
      </p:sp>
      <p:sp>
        <p:nvSpPr>
          <p:cNvPr id="569" name="Google Shape;569;p23"/>
          <p:cNvSpPr/>
          <p:nvPr/>
        </p:nvSpPr>
        <p:spPr>
          <a:xfrm>
            <a:off x="457200" y="4206240"/>
            <a:ext cx="3886200" cy="502920"/>
          </a:xfrm>
          <a:prstGeom prst="roundRect">
            <a:avLst>
              <a:gd fmla="val 10909" name="adj"/>
            </a:avLst>
          </a:prstGeom>
          <a:solidFill>
            <a:srgbClr val="00C896">
              <a:alpha val="7843"/>
            </a:srgbClr>
          </a:solidFill>
          <a:ln cap="flat" cmpd="sng" w="12700">
            <a:solidFill>
              <a:srgbClr val="00C89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23"/>
          <p:cNvSpPr/>
          <p:nvPr/>
        </p:nvSpPr>
        <p:spPr>
          <a:xfrm>
            <a:off x="548640" y="4206240"/>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
        <p:nvSpPr>
          <p:cNvPr id="571" name="Google Shape;571;p23"/>
          <p:cNvSpPr/>
          <p:nvPr/>
        </p:nvSpPr>
        <p:spPr>
          <a:xfrm>
            <a:off x="4709160" y="3749040"/>
            <a:ext cx="4160520" cy="1078992"/>
          </a:xfrm>
          <a:prstGeom prst="roundRect">
            <a:avLst>
              <a:gd fmla="val 8475" name="adj"/>
            </a:avLst>
          </a:prstGeom>
          <a:solidFill>
            <a:srgbClr val="FFFFFF"/>
          </a:solidFill>
          <a:ln cap="flat" cmpd="sng" w="19050">
            <a:solidFill>
              <a:srgbClr val="9B59B6"/>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23"/>
          <p:cNvSpPr/>
          <p:nvPr/>
        </p:nvSpPr>
        <p:spPr>
          <a:xfrm>
            <a:off x="4800600" y="3840480"/>
            <a:ext cx="1371600" cy="292608"/>
          </a:xfrm>
          <a:prstGeom prst="roundRect">
            <a:avLst>
              <a:gd fmla="val 15625" name="adj"/>
            </a:avLst>
          </a:prstGeom>
          <a:solidFill>
            <a:srgbClr val="9B59B6">
              <a:alpha val="90196"/>
            </a:srgbClr>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23"/>
          <p:cNvSpPr/>
          <p:nvPr/>
        </p:nvSpPr>
        <p:spPr>
          <a:xfrm>
            <a:off x="4800600" y="3840480"/>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¿Qué harías...?</a:t>
            </a:r>
            <a:endParaRPr b="0" i="0" sz="1100" u="none" cap="none" strike="noStrike">
              <a:solidFill>
                <a:schemeClr val="dk1"/>
              </a:solidFill>
              <a:latin typeface="Calibri"/>
              <a:ea typeface="Calibri"/>
              <a:cs typeface="Calibri"/>
              <a:sym typeface="Calibri"/>
            </a:endParaRPr>
          </a:p>
        </p:txBody>
      </p:sp>
      <p:sp>
        <p:nvSpPr>
          <p:cNvPr id="574" name="Google Shape;574;p23"/>
          <p:cNvSpPr/>
          <p:nvPr/>
        </p:nvSpPr>
        <p:spPr>
          <a:xfrm>
            <a:off x="6263640" y="3858768"/>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Imagina soluciones</a:t>
            </a:r>
            <a:endParaRPr b="0" i="0" sz="950" u="none" cap="none" strike="noStrike">
              <a:solidFill>
                <a:schemeClr val="dk1"/>
              </a:solidFill>
              <a:latin typeface="Calibri"/>
              <a:ea typeface="Calibri"/>
              <a:cs typeface="Calibri"/>
              <a:sym typeface="Calibri"/>
            </a:endParaRPr>
          </a:p>
        </p:txBody>
      </p:sp>
      <p:sp>
        <p:nvSpPr>
          <p:cNvPr id="575" name="Google Shape;575;p23"/>
          <p:cNvSpPr/>
          <p:nvPr/>
        </p:nvSpPr>
        <p:spPr>
          <a:xfrm>
            <a:off x="4800600" y="4206240"/>
            <a:ext cx="3886200" cy="502920"/>
          </a:xfrm>
          <a:prstGeom prst="roundRect">
            <a:avLst>
              <a:gd fmla="val 10909" name="adj"/>
            </a:avLst>
          </a:prstGeom>
          <a:solidFill>
            <a:srgbClr val="9B59B6">
              <a:alpha val="7843"/>
            </a:srgbClr>
          </a:solidFill>
          <a:ln cap="flat" cmpd="sng" w="12700">
            <a:solidFill>
              <a:srgbClr val="9B59B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23"/>
          <p:cNvSpPr/>
          <p:nvPr/>
        </p:nvSpPr>
        <p:spPr>
          <a:xfrm>
            <a:off x="4892040" y="4206240"/>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581" name="Shape 581"/>
        <p:cNvGrpSpPr/>
        <p:nvPr/>
      </p:nvGrpSpPr>
      <p:grpSpPr>
        <a:xfrm>
          <a:off x="0" y="0"/>
          <a:ext cx="0" cy="0"/>
          <a:chOff x="0" y="0"/>
          <a:chExt cx="0" cy="0"/>
        </a:xfrm>
      </p:grpSpPr>
      <p:sp>
        <p:nvSpPr>
          <p:cNvPr id="582" name="Google Shape;582;p24"/>
          <p:cNvSpPr/>
          <p:nvPr/>
        </p:nvSpPr>
        <p:spPr>
          <a:xfrm>
            <a:off x="0" y="0"/>
            <a:ext cx="9144000" cy="502920"/>
          </a:xfrm>
          <a:prstGeom prst="rect">
            <a:avLst/>
          </a:prstGeom>
          <a:solidFill>
            <a:srgbClr val="FF4D6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24"/>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SILLA DE RUEDAS AUTÓNOMA  ·  RONDA 3 DE 5</a:t>
            </a:r>
            <a:endParaRPr b="0" i="0" sz="1100" u="none" cap="none" strike="noStrike">
              <a:solidFill>
                <a:schemeClr val="dk1"/>
              </a:solidFill>
              <a:latin typeface="Calibri"/>
              <a:ea typeface="Calibri"/>
              <a:cs typeface="Calibri"/>
              <a:sym typeface="Calibri"/>
            </a:endParaRPr>
          </a:p>
        </p:txBody>
      </p:sp>
      <p:sp>
        <p:nvSpPr>
          <p:cNvPr id="584" name="Google Shape;584;p24"/>
          <p:cNvSpPr/>
          <p:nvPr/>
        </p:nvSpPr>
        <p:spPr>
          <a:xfrm>
            <a:off x="7498080" y="54864"/>
            <a:ext cx="1417320" cy="384048"/>
          </a:xfrm>
          <a:prstGeom prst="roundRect">
            <a:avLst>
              <a:gd fmla="val 19048" name="adj"/>
            </a:avLst>
          </a:prstGeom>
          <a:solidFill>
            <a:srgbClr val="0A0E2A"/>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24"/>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896"/>
              </a:buClr>
              <a:buSzPts val="1300"/>
              <a:buFont typeface="Calibri"/>
              <a:buNone/>
            </a:pPr>
            <a:r>
              <a:rPr b="1" i="0" lang="en-US" sz="1300" u="none" cap="none" strike="noStrike">
                <a:solidFill>
                  <a:srgbClr val="00C896"/>
                </a:solidFill>
                <a:latin typeface="Calibri"/>
                <a:ea typeface="Calibri"/>
                <a:cs typeface="Calibri"/>
                <a:sym typeface="Calibri"/>
              </a:rPr>
              <a:t>⏱  6 min</a:t>
            </a:r>
            <a:endParaRPr b="0" i="0" sz="1300" u="none" cap="none" strike="noStrike">
              <a:solidFill>
                <a:schemeClr val="dk1"/>
              </a:solidFill>
              <a:latin typeface="Calibri"/>
              <a:ea typeface="Calibri"/>
              <a:cs typeface="Calibri"/>
              <a:sym typeface="Calibri"/>
            </a:endParaRPr>
          </a:p>
        </p:txBody>
      </p:sp>
      <p:sp>
        <p:nvSpPr>
          <p:cNvPr id="586" name="Google Shape;586;p24"/>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896"/>
              </a:buClr>
              <a:buSzPts val="1100"/>
              <a:buFont typeface="Calibri"/>
              <a:buNone/>
            </a:pPr>
            <a:r>
              <a:rPr b="1" i="0" lang="en-US" sz="1100" u="none" cap="none" strike="noStrike">
                <a:solidFill>
                  <a:srgbClr val="00C896"/>
                </a:solidFill>
                <a:latin typeface="Calibri"/>
                <a:ea typeface="Calibri"/>
                <a:cs typeface="Calibri"/>
                <a:sym typeface="Calibri"/>
              </a:rPr>
              <a:t>RONDA 3</a:t>
            </a:r>
            <a:endParaRPr b="0" i="0" sz="1100" u="none" cap="none" strike="noStrike">
              <a:solidFill>
                <a:schemeClr val="dk1"/>
              </a:solidFill>
              <a:latin typeface="Calibri"/>
              <a:ea typeface="Calibri"/>
              <a:cs typeface="Calibri"/>
              <a:sym typeface="Calibri"/>
            </a:endParaRPr>
          </a:p>
        </p:txBody>
      </p:sp>
      <p:sp>
        <p:nvSpPr>
          <p:cNvPr id="587" name="Google Shape;587;p24"/>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896"/>
              </a:buClr>
              <a:buSzPts val="2600"/>
              <a:buFont typeface="Calibri"/>
              <a:buNone/>
            </a:pPr>
            <a:r>
              <a:rPr b="1" i="0" lang="en-US" sz="2600" u="none" cap="none" strike="noStrike">
                <a:solidFill>
                  <a:srgbClr val="00C896"/>
                </a:solidFill>
                <a:latin typeface="Calibri"/>
                <a:ea typeface="Calibri"/>
                <a:cs typeface="Calibri"/>
                <a:sym typeface="Calibri"/>
              </a:rPr>
              <a:t>4 COMPONENTES + PROBLEMA TÉCNICO</a:t>
            </a:r>
            <a:endParaRPr b="0" i="0" sz="2600" u="none" cap="none" strike="noStrike">
              <a:solidFill>
                <a:schemeClr val="dk1"/>
              </a:solidFill>
              <a:latin typeface="Calibri"/>
              <a:ea typeface="Calibri"/>
              <a:cs typeface="Calibri"/>
              <a:sym typeface="Calibri"/>
            </a:endParaRPr>
          </a:p>
        </p:txBody>
      </p:sp>
      <p:sp>
        <p:nvSpPr>
          <p:cNvPr id="588" name="Google Shape;588;p24"/>
          <p:cNvSpPr/>
          <p:nvPr/>
        </p:nvSpPr>
        <p:spPr>
          <a:xfrm>
            <a:off x="365760" y="1600200"/>
            <a:ext cx="8412480" cy="868680"/>
          </a:xfrm>
          <a:prstGeom prst="roundRect">
            <a:avLst>
              <a:gd fmla="val 12632" name="adj"/>
            </a:avLst>
          </a:prstGeom>
          <a:solidFill>
            <a:srgbClr val="1A2550"/>
          </a:solidFill>
          <a:ln cap="flat" cmpd="sng" w="22850">
            <a:solidFill>
              <a:srgbClr val="00C896"/>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24"/>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Identifiquen: CONTEXTO · VARIABLE · PUNTO DE QUIEBRE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Luego enuncien el PROBLEMA TÉCNICO en una sola oración sin adjetivos subjetivos.</a:t>
            </a:r>
            <a:endParaRPr b="0" i="0" sz="1300" u="none" cap="none" strike="noStrike">
              <a:solidFill>
                <a:schemeClr val="dk1"/>
              </a:solidFill>
              <a:latin typeface="Calibri"/>
              <a:ea typeface="Calibri"/>
              <a:cs typeface="Calibri"/>
              <a:sym typeface="Calibri"/>
            </a:endParaRPr>
          </a:p>
        </p:txBody>
      </p:sp>
      <p:sp>
        <p:nvSpPr>
          <p:cNvPr id="590" name="Google Shape;590;p24"/>
          <p:cNvSpPr/>
          <p:nvPr/>
        </p:nvSpPr>
        <p:spPr>
          <a:xfrm>
            <a:off x="365760" y="2578608"/>
            <a:ext cx="8412480" cy="530352"/>
          </a:xfrm>
          <a:prstGeom prst="roundRect">
            <a:avLst>
              <a:gd fmla="val 13793" name="adj"/>
            </a:avLst>
          </a:prstGeom>
          <a:solidFill>
            <a:srgbClr val="1A2550"/>
          </a:solidFill>
          <a:ln cap="flat" cmpd="sng" w="19050">
            <a:solidFill>
              <a:srgbClr val="00D4FF"/>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24"/>
          <p:cNvSpPr/>
          <p:nvPr/>
        </p:nvSpPr>
        <p:spPr>
          <a:xfrm>
            <a:off x="457200" y="2651760"/>
            <a:ext cx="1645920" cy="365760"/>
          </a:xfrm>
          <a:prstGeom prst="roundRect">
            <a:avLst>
              <a:gd fmla="val 15000" name="adj"/>
            </a:avLst>
          </a:prstGeom>
          <a:solidFill>
            <a:srgbClr val="00D4FF">
              <a:alpha val="92156"/>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24"/>
          <p:cNvSpPr/>
          <p:nvPr/>
        </p:nvSpPr>
        <p:spPr>
          <a:xfrm>
            <a:off x="457200" y="2651760"/>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CONTEXTO</a:t>
            </a:r>
            <a:endParaRPr b="0" i="0" sz="950" u="none" cap="none" strike="noStrike">
              <a:solidFill>
                <a:schemeClr val="dk1"/>
              </a:solidFill>
              <a:latin typeface="Calibri"/>
              <a:ea typeface="Calibri"/>
              <a:cs typeface="Calibri"/>
              <a:sym typeface="Calibri"/>
            </a:endParaRPr>
          </a:p>
        </p:txBody>
      </p:sp>
      <p:sp>
        <p:nvSpPr>
          <p:cNvPr id="593" name="Google Shape;593;p24"/>
          <p:cNvSpPr/>
          <p:nvPr/>
        </p:nvSpPr>
        <p:spPr>
          <a:xfrm>
            <a:off x="2194560" y="2578608"/>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¿En qué sistema / lugar / momento ocurre?</a:t>
            </a:r>
            <a:endParaRPr b="0" i="0" sz="1050" u="none" cap="none" strike="noStrike">
              <a:solidFill>
                <a:schemeClr val="dk1"/>
              </a:solidFill>
              <a:latin typeface="Calibri"/>
              <a:ea typeface="Calibri"/>
              <a:cs typeface="Calibri"/>
              <a:sym typeface="Calibri"/>
            </a:endParaRPr>
          </a:p>
        </p:txBody>
      </p:sp>
      <p:sp>
        <p:nvSpPr>
          <p:cNvPr id="594" name="Google Shape;594;p24"/>
          <p:cNvSpPr/>
          <p:nvPr/>
        </p:nvSpPr>
        <p:spPr>
          <a:xfrm>
            <a:off x="365760" y="3182112"/>
            <a:ext cx="8412480" cy="530352"/>
          </a:xfrm>
          <a:prstGeom prst="roundRect">
            <a:avLst>
              <a:gd fmla="val 13793" name="adj"/>
            </a:avLst>
          </a:prstGeom>
          <a:solidFill>
            <a:srgbClr val="1A2550"/>
          </a:solidFill>
          <a:ln cap="flat" cmpd="sng" w="19050">
            <a:solidFill>
              <a:srgbClr val="FFB800"/>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24"/>
          <p:cNvSpPr/>
          <p:nvPr/>
        </p:nvSpPr>
        <p:spPr>
          <a:xfrm>
            <a:off x="457200" y="3255264"/>
            <a:ext cx="1645920" cy="365760"/>
          </a:xfrm>
          <a:prstGeom prst="roundRect">
            <a:avLst>
              <a:gd fmla="val 15000" name="adj"/>
            </a:avLst>
          </a:prstGeom>
          <a:solidFill>
            <a:srgbClr val="FFB800">
              <a:alpha val="92156"/>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24"/>
          <p:cNvSpPr/>
          <p:nvPr/>
        </p:nvSpPr>
        <p:spPr>
          <a:xfrm>
            <a:off x="457200" y="3255264"/>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VARIABLE</a:t>
            </a:r>
            <a:endParaRPr b="0" i="0" sz="950" u="none" cap="none" strike="noStrike">
              <a:solidFill>
                <a:schemeClr val="dk1"/>
              </a:solidFill>
              <a:latin typeface="Calibri"/>
              <a:ea typeface="Calibri"/>
              <a:cs typeface="Calibri"/>
              <a:sym typeface="Calibri"/>
            </a:endParaRPr>
          </a:p>
        </p:txBody>
      </p:sp>
      <p:sp>
        <p:nvSpPr>
          <p:cNvPr id="597" name="Google Shape;597;p24"/>
          <p:cNvSpPr/>
          <p:nvPr/>
        </p:nvSpPr>
        <p:spPr>
          <a:xfrm>
            <a:off x="2194560" y="3182112"/>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¿Qué es lo único que, si lo mido, me dice si el problema existe?</a:t>
            </a:r>
            <a:endParaRPr b="0" i="0" sz="1050" u="none" cap="none" strike="noStrike">
              <a:solidFill>
                <a:schemeClr val="dk1"/>
              </a:solidFill>
              <a:latin typeface="Calibri"/>
              <a:ea typeface="Calibri"/>
              <a:cs typeface="Calibri"/>
              <a:sym typeface="Calibri"/>
            </a:endParaRPr>
          </a:p>
        </p:txBody>
      </p:sp>
      <p:sp>
        <p:nvSpPr>
          <p:cNvPr id="598" name="Google Shape;598;p24"/>
          <p:cNvSpPr/>
          <p:nvPr/>
        </p:nvSpPr>
        <p:spPr>
          <a:xfrm>
            <a:off x="365760" y="3785616"/>
            <a:ext cx="8412480" cy="530352"/>
          </a:xfrm>
          <a:prstGeom prst="roundRect">
            <a:avLst>
              <a:gd fmla="val 13793" name="adj"/>
            </a:avLst>
          </a:prstGeom>
          <a:solidFill>
            <a:srgbClr val="1A2550"/>
          </a:solidFill>
          <a:ln cap="flat" cmpd="sng" w="19050">
            <a:solidFill>
              <a:srgbClr val="FF4D6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24"/>
          <p:cNvSpPr/>
          <p:nvPr/>
        </p:nvSpPr>
        <p:spPr>
          <a:xfrm>
            <a:off x="457200" y="3858768"/>
            <a:ext cx="1645920" cy="365760"/>
          </a:xfrm>
          <a:prstGeom prst="roundRect">
            <a:avLst>
              <a:gd fmla="val 15000" name="adj"/>
            </a:avLst>
          </a:prstGeom>
          <a:solidFill>
            <a:srgbClr val="FF4D6A">
              <a:alpha val="92156"/>
            </a:srgbClr>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24"/>
          <p:cNvSpPr/>
          <p:nvPr/>
        </p:nvSpPr>
        <p:spPr>
          <a:xfrm>
            <a:off x="457200" y="3858768"/>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PUNTO DE QUIEBRE</a:t>
            </a:r>
            <a:endParaRPr b="0" i="0" sz="950" u="none" cap="none" strike="noStrike">
              <a:solidFill>
                <a:schemeClr val="dk1"/>
              </a:solidFill>
              <a:latin typeface="Calibri"/>
              <a:ea typeface="Calibri"/>
              <a:cs typeface="Calibri"/>
              <a:sym typeface="Calibri"/>
            </a:endParaRPr>
          </a:p>
        </p:txBody>
      </p:sp>
      <p:sp>
        <p:nvSpPr>
          <p:cNvPr id="601" name="Google Shape;601;p24"/>
          <p:cNvSpPr/>
          <p:nvPr/>
        </p:nvSpPr>
        <p:spPr>
          <a:xfrm>
            <a:off x="2194560" y="3785616"/>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¿A partir de qué valor digo que el problema empieza?</a:t>
            </a:r>
            <a:endParaRPr b="0" i="0" sz="1050" u="none" cap="none" strike="noStrike">
              <a:solidFill>
                <a:schemeClr val="dk1"/>
              </a:solidFill>
              <a:latin typeface="Calibri"/>
              <a:ea typeface="Calibri"/>
              <a:cs typeface="Calibri"/>
              <a:sym typeface="Calibri"/>
            </a:endParaRPr>
          </a:p>
        </p:txBody>
      </p:sp>
      <p:sp>
        <p:nvSpPr>
          <p:cNvPr id="602" name="Google Shape;602;p24"/>
          <p:cNvSpPr/>
          <p:nvPr/>
        </p:nvSpPr>
        <p:spPr>
          <a:xfrm>
            <a:off x="365760" y="4389120"/>
            <a:ext cx="8412480" cy="530352"/>
          </a:xfrm>
          <a:prstGeom prst="roundRect">
            <a:avLst>
              <a:gd fmla="val 13793" name="adj"/>
            </a:avLst>
          </a:prstGeom>
          <a:solidFill>
            <a:srgbClr val="1A2550"/>
          </a:solidFill>
          <a:ln cap="flat" cmpd="sng" w="19050">
            <a:solidFill>
              <a:srgbClr val="00C896"/>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24"/>
          <p:cNvSpPr/>
          <p:nvPr/>
        </p:nvSpPr>
        <p:spPr>
          <a:xfrm>
            <a:off x="457200" y="4462272"/>
            <a:ext cx="1645920" cy="365760"/>
          </a:xfrm>
          <a:prstGeom prst="roundRect">
            <a:avLst>
              <a:gd fmla="val 15000" name="adj"/>
            </a:avLst>
          </a:prstGeom>
          <a:solidFill>
            <a:srgbClr val="00C896">
              <a:alpha val="92156"/>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24"/>
          <p:cNvSpPr/>
          <p:nvPr/>
        </p:nvSpPr>
        <p:spPr>
          <a:xfrm>
            <a:off x="457200" y="4462272"/>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PROBLEMA TÉCNICO</a:t>
            </a:r>
            <a:endParaRPr b="0" i="0" sz="950" u="none" cap="none" strike="noStrike">
              <a:solidFill>
                <a:schemeClr val="dk1"/>
              </a:solidFill>
              <a:latin typeface="Calibri"/>
              <a:ea typeface="Calibri"/>
              <a:cs typeface="Calibri"/>
              <a:sym typeface="Calibri"/>
            </a:endParaRPr>
          </a:p>
        </p:txBody>
      </p:sp>
      <p:sp>
        <p:nvSpPr>
          <p:cNvPr id="605" name="Google Shape;605;p24"/>
          <p:cNvSpPr/>
          <p:nvPr/>
        </p:nvSpPr>
        <p:spPr>
          <a:xfrm>
            <a:off x="2194560" y="4389120"/>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1" lang="en-US" sz="1050" u="none" cap="none" strike="noStrike">
                <a:solidFill>
                  <a:srgbClr val="E8EDF5"/>
                </a:solidFill>
                <a:latin typeface="Calibri"/>
                <a:ea typeface="Calibri"/>
                <a:cs typeface="Calibri"/>
                <a:sym typeface="Calibri"/>
              </a:rPr>
              <a:t>En [contexto] ocurre [problema] cuando [variable] supera [quiebre].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A"/>
        </a:solidFill>
      </p:bgPr>
    </p:bg>
    <p:spTree>
      <p:nvGrpSpPr>
        <p:cNvPr id="610" name="Shape 610"/>
        <p:cNvGrpSpPr/>
        <p:nvPr/>
      </p:nvGrpSpPr>
      <p:grpSpPr>
        <a:xfrm>
          <a:off x="0" y="0"/>
          <a:ext cx="0" cy="0"/>
          <a:chOff x="0" y="0"/>
          <a:chExt cx="0" cy="0"/>
        </a:xfrm>
      </p:grpSpPr>
      <p:sp>
        <p:nvSpPr>
          <p:cNvPr id="611" name="Google Shape;611;p25"/>
          <p:cNvSpPr/>
          <p:nvPr/>
        </p:nvSpPr>
        <p:spPr>
          <a:xfrm>
            <a:off x="0" y="0"/>
            <a:ext cx="9144000" cy="502920"/>
          </a:xfrm>
          <a:prstGeom prst="rect">
            <a:avLst/>
          </a:prstGeom>
          <a:solidFill>
            <a:srgbClr val="FF4D6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25"/>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SILLA DE RUEDAS AUTÓNOMA  ·  RONDA 4 DE 5</a:t>
            </a:r>
            <a:endParaRPr b="0" i="0" sz="1100" u="none" cap="none" strike="noStrike">
              <a:solidFill>
                <a:schemeClr val="dk1"/>
              </a:solidFill>
              <a:latin typeface="Calibri"/>
              <a:ea typeface="Calibri"/>
              <a:cs typeface="Calibri"/>
              <a:sym typeface="Calibri"/>
            </a:endParaRPr>
          </a:p>
        </p:txBody>
      </p:sp>
      <p:sp>
        <p:nvSpPr>
          <p:cNvPr id="613" name="Google Shape;613;p25"/>
          <p:cNvSpPr/>
          <p:nvPr/>
        </p:nvSpPr>
        <p:spPr>
          <a:xfrm>
            <a:off x="7498080" y="54864"/>
            <a:ext cx="1417320" cy="384048"/>
          </a:xfrm>
          <a:prstGeom prst="roundRect">
            <a:avLst>
              <a:gd fmla="val 19048" name="adj"/>
            </a:avLst>
          </a:prstGeom>
          <a:solidFill>
            <a:srgbClr val="0A0E2A"/>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25"/>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B59B6"/>
              </a:buClr>
              <a:buSzPts val="1300"/>
              <a:buFont typeface="Calibri"/>
              <a:buNone/>
            </a:pPr>
            <a:r>
              <a:rPr b="1" i="0" lang="en-US" sz="1300" u="none" cap="none" strike="noStrike">
                <a:solidFill>
                  <a:srgbClr val="9B59B6"/>
                </a:solidFill>
                <a:latin typeface="Calibri"/>
                <a:ea typeface="Calibri"/>
                <a:cs typeface="Calibri"/>
                <a:sym typeface="Calibri"/>
              </a:rPr>
              <a:t>⏱  3 min</a:t>
            </a:r>
            <a:endParaRPr b="0" i="0" sz="1300" u="none" cap="none" strike="noStrike">
              <a:solidFill>
                <a:schemeClr val="dk1"/>
              </a:solidFill>
              <a:latin typeface="Calibri"/>
              <a:ea typeface="Calibri"/>
              <a:cs typeface="Calibri"/>
              <a:sym typeface="Calibri"/>
            </a:endParaRPr>
          </a:p>
        </p:txBody>
      </p:sp>
      <p:sp>
        <p:nvSpPr>
          <p:cNvPr id="615" name="Google Shape;615;p25"/>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1100"/>
              <a:buFont typeface="Calibri"/>
              <a:buNone/>
            </a:pPr>
            <a:r>
              <a:rPr b="1" i="0" lang="en-US" sz="1100" u="none" cap="none" strike="noStrike">
                <a:solidFill>
                  <a:srgbClr val="9B59B6"/>
                </a:solidFill>
                <a:latin typeface="Calibri"/>
                <a:ea typeface="Calibri"/>
                <a:cs typeface="Calibri"/>
                <a:sym typeface="Calibri"/>
              </a:rPr>
              <a:t>RONDA 4</a:t>
            </a:r>
            <a:endParaRPr b="0" i="0" sz="1100" u="none" cap="none" strike="noStrike">
              <a:solidFill>
                <a:schemeClr val="dk1"/>
              </a:solidFill>
              <a:latin typeface="Calibri"/>
              <a:ea typeface="Calibri"/>
              <a:cs typeface="Calibri"/>
              <a:sym typeface="Calibri"/>
            </a:endParaRPr>
          </a:p>
        </p:txBody>
      </p:sp>
      <p:sp>
        <p:nvSpPr>
          <p:cNvPr id="616" name="Google Shape;616;p25"/>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2600"/>
              <a:buFont typeface="Calibri"/>
              <a:buNone/>
            </a:pPr>
            <a:r>
              <a:rPr b="1" i="0" lang="en-US" sz="2600" u="none" cap="none" strike="noStrike">
                <a:solidFill>
                  <a:srgbClr val="0A0E2A"/>
                </a:solidFill>
                <a:latin typeface="Calibri"/>
                <a:ea typeface="Calibri"/>
                <a:cs typeface="Calibri"/>
                <a:sym typeface="Calibri"/>
              </a:rPr>
              <a:t>OBJETIVOS</a:t>
            </a:r>
            <a:endParaRPr b="0" i="0" sz="2600" u="none" cap="none" strike="noStrike">
              <a:solidFill>
                <a:schemeClr val="dk1"/>
              </a:solidFill>
              <a:latin typeface="Calibri"/>
              <a:ea typeface="Calibri"/>
              <a:cs typeface="Calibri"/>
              <a:sym typeface="Calibri"/>
            </a:endParaRPr>
          </a:p>
        </p:txBody>
      </p:sp>
      <p:sp>
        <p:nvSpPr>
          <p:cNvPr id="617" name="Google Shape;617;p25"/>
          <p:cNvSpPr/>
          <p:nvPr/>
        </p:nvSpPr>
        <p:spPr>
          <a:xfrm>
            <a:off x="365760" y="1600200"/>
            <a:ext cx="8412480" cy="868680"/>
          </a:xfrm>
          <a:prstGeom prst="roundRect">
            <a:avLst>
              <a:gd fmla="val 12632" name="adj"/>
            </a:avLst>
          </a:prstGeom>
          <a:solidFill>
            <a:srgbClr val="FFFFFF"/>
          </a:solidFill>
          <a:ln cap="flat" cmpd="sng" w="22850">
            <a:solidFill>
              <a:srgbClr val="9B59B6"/>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25"/>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A partir del problema técnico, enuncien 2 o 3 objetivos concretos y medibles.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Cada objetivo debe poder verificarse.</a:t>
            </a:r>
            <a:endParaRPr b="0" i="0" sz="1300" u="none" cap="none" strike="noStrike">
              <a:solidFill>
                <a:schemeClr val="dk1"/>
              </a:solidFill>
              <a:latin typeface="Calibri"/>
              <a:ea typeface="Calibri"/>
              <a:cs typeface="Calibri"/>
              <a:sym typeface="Calibri"/>
            </a:endParaRPr>
          </a:p>
        </p:txBody>
      </p:sp>
      <p:sp>
        <p:nvSpPr>
          <p:cNvPr id="619" name="Google Shape;619;p25"/>
          <p:cNvSpPr/>
          <p:nvPr/>
        </p:nvSpPr>
        <p:spPr>
          <a:xfrm>
            <a:off x="365760" y="2578608"/>
            <a:ext cx="8412480" cy="2176272"/>
          </a:xfrm>
          <a:prstGeom prst="roundRect">
            <a:avLst>
              <a:gd fmla="val 5042" name="adj"/>
            </a:avLst>
          </a:prstGeom>
          <a:solidFill>
            <a:srgbClr val="FFFFFF"/>
          </a:solidFill>
          <a:ln cap="flat" cmpd="sng" w="19050">
            <a:solidFill>
              <a:srgbClr val="9B59B6"/>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25"/>
          <p:cNvSpPr/>
          <p:nvPr/>
        </p:nvSpPr>
        <p:spPr>
          <a:xfrm>
            <a:off x="548640" y="265176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1050"/>
              <a:buFont typeface="Calibri"/>
              <a:buNone/>
            </a:pPr>
            <a:r>
              <a:rPr b="1" i="0" lang="en-US" sz="1050" u="none" cap="none" strike="noStrike">
                <a:solidFill>
                  <a:srgbClr val="9B59B6"/>
                </a:solidFill>
                <a:latin typeface="Calibri"/>
                <a:ea typeface="Calibri"/>
                <a:cs typeface="Calibri"/>
                <a:sym typeface="Calibri"/>
              </a:rPr>
              <a:t>REGLAS DEL OBJETIVO BIEN PLANTEADO:</a:t>
            </a:r>
            <a:endParaRPr b="0" i="0" sz="1050" u="none" cap="none" strike="noStrike">
              <a:solidFill>
                <a:schemeClr val="dk1"/>
              </a:solidFill>
              <a:latin typeface="Calibri"/>
              <a:ea typeface="Calibri"/>
              <a:cs typeface="Calibri"/>
              <a:sym typeface="Calibri"/>
            </a:endParaRPr>
          </a:p>
        </p:txBody>
      </p:sp>
      <p:sp>
        <p:nvSpPr>
          <p:cNvPr id="621" name="Google Shape;621;p25"/>
          <p:cNvSpPr/>
          <p:nvPr/>
        </p:nvSpPr>
        <p:spPr>
          <a:xfrm>
            <a:off x="548640" y="299923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25"/>
          <p:cNvSpPr/>
          <p:nvPr/>
        </p:nvSpPr>
        <p:spPr>
          <a:xfrm>
            <a:off x="548640" y="299923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623" name="Google Shape;623;p25"/>
          <p:cNvSpPr/>
          <p:nvPr/>
        </p:nvSpPr>
        <p:spPr>
          <a:xfrm>
            <a:off x="914400" y="297180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Comienza con un verbo de acción (detectar, activar, medir, controlar, enviar...)</a:t>
            </a:r>
            <a:endParaRPr b="0" i="0" sz="1100" u="none" cap="none" strike="noStrike">
              <a:solidFill>
                <a:schemeClr val="dk1"/>
              </a:solidFill>
              <a:latin typeface="Calibri"/>
              <a:ea typeface="Calibri"/>
              <a:cs typeface="Calibri"/>
              <a:sym typeface="Calibri"/>
            </a:endParaRPr>
          </a:p>
        </p:txBody>
      </p:sp>
      <p:sp>
        <p:nvSpPr>
          <p:cNvPr id="624" name="Google Shape;624;p25"/>
          <p:cNvSpPr/>
          <p:nvPr/>
        </p:nvSpPr>
        <p:spPr>
          <a:xfrm>
            <a:off x="548640" y="341071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25"/>
          <p:cNvSpPr/>
          <p:nvPr/>
        </p:nvSpPr>
        <p:spPr>
          <a:xfrm>
            <a:off x="548640" y="341071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626" name="Google Shape;626;p25"/>
          <p:cNvSpPr/>
          <p:nvPr/>
        </p:nvSpPr>
        <p:spPr>
          <a:xfrm>
            <a:off x="914400" y="338328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Incluye la variable y el punto de quiebre que ya identificaron</a:t>
            </a:r>
            <a:endParaRPr b="0" i="0" sz="1100" u="none" cap="none" strike="noStrike">
              <a:solidFill>
                <a:schemeClr val="dk1"/>
              </a:solidFill>
              <a:latin typeface="Calibri"/>
              <a:ea typeface="Calibri"/>
              <a:cs typeface="Calibri"/>
              <a:sym typeface="Calibri"/>
            </a:endParaRPr>
          </a:p>
        </p:txBody>
      </p:sp>
      <p:sp>
        <p:nvSpPr>
          <p:cNvPr id="627" name="Google Shape;627;p25"/>
          <p:cNvSpPr/>
          <p:nvPr/>
        </p:nvSpPr>
        <p:spPr>
          <a:xfrm>
            <a:off x="548640" y="382219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25"/>
          <p:cNvSpPr/>
          <p:nvPr/>
        </p:nvSpPr>
        <p:spPr>
          <a:xfrm>
            <a:off x="548640" y="382219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629" name="Google Shape;629;p25"/>
          <p:cNvSpPr/>
          <p:nvPr/>
        </p:nvSpPr>
        <p:spPr>
          <a:xfrm>
            <a:off x="914400" y="379476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Se puede verificar — sabés exactamente cuándo se cumplió</a:t>
            </a:r>
            <a:endParaRPr b="0" i="0" sz="1100" u="none" cap="none" strike="noStrike">
              <a:solidFill>
                <a:schemeClr val="dk1"/>
              </a:solidFill>
              <a:latin typeface="Calibri"/>
              <a:ea typeface="Calibri"/>
              <a:cs typeface="Calibri"/>
              <a:sym typeface="Calibri"/>
            </a:endParaRPr>
          </a:p>
        </p:txBody>
      </p:sp>
      <p:sp>
        <p:nvSpPr>
          <p:cNvPr id="630" name="Google Shape;630;p25"/>
          <p:cNvSpPr/>
          <p:nvPr/>
        </p:nvSpPr>
        <p:spPr>
          <a:xfrm>
            <a:off x="548640" y="423367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25"/>
          <p:cNvSpPr/>
          <p:nvPr/>
        </p:nvSpPr>
        <p:spPr>
          <a:xfrm>
            <a:off x="548640" y="423367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632" name="Google Shape;632;p25"/>
          <p:cNvSpPr/>
          <p:nvPr/>
        </p:nvSpPr>
        <p:spPr>
          <a:xfrm>
            <a:off x="914400" y="420624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Un objetivo por tarea. Sin 'y' que una dos objetivos distintos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637" name="Shape 637"/>
        <p:cNvGrpSpPr/>
        <p:nvPr/>
      </p:nvGrpSpPr>
      <p:grpSpPr>
        <a:xfrm>
          <a:off x="0" y="0"/>
          <a:ext cx="0" cy="0"/>
          <a:chOff x="0" y="0"/>
          <a:chExt cx="0" cy="0"/>
        </a:xfrm>
      </p:grpSpPr>
      <p:sp>
        <p:nvSpPr>
          <p:cNvPr id="638" name="Google Shape;638;p26"/>
          <p:cNvSpPr/>
          <p:nvPr/>
        </p:nvSpPr>
        <p:spPr>
          <a:xfrm>
            <a:off x="0" y="0"/>
            <a:ext cx="9144000" cy="502920"/>
          </a:xfrm>
          <a:prstGeom prst="rect">
            <a:avLst/>
          </a:prstGeom>
          <a:solidFill>
            <a:srgbClr val="FF4D6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26"/>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SILLA DE RUEDAS AUTÓNOMA  ·  RONDA 5 DE 5</a:t>
            </a:r>
            <a:endParaRPr b="0" i="0" sz="1100" u="none" cap="none" strike="noStrike">
              <a:solidFill>
                <a:schemeClr val="dk1"/>
              </a:solidFill>
              <a:latin typeface="Calibri"/>
              <a:ea typeface="Calibri"/>
              <a:cs typeface="Calibri"/>
              <a:sym typeface="Calibri"/>
            </a:endParaRPr>
          </a:p>
        </p:txBody>
      </p:sp>
      <p:sp>
        <p:nvSpPr>
          <p:cNvPr id="640" name="Google Shape;640;p26"/>
          <p:cNvSpPr/>
          <p:nvPr/>
        </p:nvSpPr>
        <p:spPr>
          <a:xfrm>
            <a:off x="7498080" y="54864"/>
            <a:ext cx="1417320" cy="384048"/>
          </a:xfrm>
          <a:prstGeom prst="roundRect">
            <a:avLst>
              <a:gd fmla="val 19048" name="adj"/>
            </a:avLst>
          </a:prstGeom>
          <a:solidFill>
            <a:srgbClr val="0A0E2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26"/>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4D6A"/>
              </a:buClr>
              <a:buSzPts val="1300"/>
              <a:buFont typeface="Calibri"/>
              <a:buNone/>
            </a:pPr>
            <a:r>
              <a:rPr b="1" i="0" lang="en-US" sz="1300" u="none" cap="none" strike="noStrike">
                <a:solidFill>
                  <a:srgbClr val="FF4D6A"/>
                </a:solidFill>
                <a:latin typeface="Calibri"/>
                <a:ea typeface="Calibri"/>
                <a:cs typeface="Calibri"/>
                <a:sym typeface="Calibri"/>
              </a:rPr>
              <a:t>⏱  2 min</a:t>
            </a:r>
            <a:endParaRPr b="0" i="0" sz="1300" u="none" cap="none" strike="noStrike">
              <a:solidFill>
                <a:schemeClr val="dk1"/>
              </a:solidFill>
              <a:latin typeface="Calibri"/>
              <a:ea typeface="Calibri"/>
              <a:cs typeface="Calibri"/>
              <a:sym typeface="Calibri"/>
            </a:endParaRPr>
          </a:p>
        </p:txBody>
      </p:sp>
      <p:sp>
        <p:nvSpPr>
          <p:cNvPr id="642" name="Google Shape;642;p26"/>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1100"/>
              <a:buFont typeface="Calibri"/>
              <a:buNone/>
            </a:pPr>
            <a:r>
              <a:rPr b="1" i="0" lang="en-US" sz="1100" u="none" cap="none" strike="noStrike">
                <a:solidFill>
                  <a:srgbClr val="FF4D6A"/>
                </a:solidFill>
                <a:latin typeface="Calibri"/>
                <a:ea typeface="Calibri"/>
                <a:cs typeface="Calibri"/>
                <a:sym typeface="Calibri"/>
              </a:rPr>
              <a:t>RONDA 5</a:t>
            </a:r>
            <a:endParaRPr b="0" i="0" sz="1100" u="none" cap="none" strike="noStrike">
              <a:solidFill>
                <a:schemeClr val="dk1"/>
              </a:solidFill>
              <a:latin typeface="Calibri"/>
              <a:ea typeface="Calibri"/>
              <a:cs typeface="Calibri"/>
              <a:sym typeface="Calibri"/>
            </a:endParaRPr>
          </a:p>
        </p:txBody>
      </p:sp>
      <p:sp>
        <p:nvSpPr>
          <p:cNvPr id="643" name="Google Shape;643;p26"/>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2600"/>
              <a:buFont typeface="Calibri"/>
              <a:buNone/>
            </a:pPr>
            <a:r>
              <a:rPr b="1" i="0" lang="en-US" sz="2600" u="none" cap="none" strike="noStrike">
                <a:solidFill>
                  <a:srgbClr val="FF4D6A"/>
                </a:solidFill>
                <a:latin typeface="Calibri"/>
                <a:ea typeface="Calibri"/>
                <a:cs typeface="Calibri"/>
                <a:sym typeface="Calibri"/>
              </a:rPr>
              <a:t>¿CUÁL ES LA SOLUCIÓN?</a:t>
            </a:r>
            <a:endParaRPr b="0" i="0" sz="2600" u="none" cap="none" strike="noStrike">
              <a:solidFill>
                <a:schemeClr val="dk1"/>
              </a:solidFill>
              <a:latin typeface="Calibri"/>
              <a:ea typeface="Calibri"/>
              <a:cs typeface="Calibri"/>
              <a:sym typeface="Calibri"/>
            </a:endParaRPr>
          </a:p>
        </p:txBody>
      </p:sp>
      <p:sp>
        <p:nvSpPr>
          <p:cNvPr id="644" name="Google Shape;644;p26"/>
          <p:cNvSpPr/>
          <p:nvPr/>
        </p:nvSpPr>
        <p:spPr>
          <a:xfrm>
            <a:off x="365760" y="1600200"/>
            <a:ext cx="8412480" cy="868680"/>
          </a:xfrm>
          <a:prstGeom prst="roundRect">
            <a:avLst>
              <a:gd fmla="val 12632" name="adj"/>
            </a:avLst>
          </a:prstGeom>
          <a:solidFill>
            <a:srgbClr val="1A2550"/>
          </a:solidFill>
          <a:ln cap="flat" cmpd="sng" w="22850">
            <a:solidFill>
              <a:srgbClr val="FF4D6A"/>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26"/>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Sin mirar nada. ¿Qué dispositivo, sistema o artefacto resuelve exactamente este problema?</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Describir en 2 líneas.</a:t>
            </a:r>
            <a:endParaRPr b="0" i="0" sz="1300" u="none" cap="none" strike="noStrike">
              <a:solidFill>
                <a:schemeClr val="dk1"/>
              </a:solidFill>
              <a:latin typeface="Calibri"/>
              <a:ea typeface="Calibri"/>
              <a:cs typeface="Calibri"/>
              <a:sym typeface="Calibri"/>
            </a:endParaRPr>
          </a:p>
        </p:txBody>
      </p:sp>
      <p:sp>
        <p:nvSpPr>
          <p:cNvPr id="646" name="Google Shape;646;p26"/>
          <p:cNvSpPr/>
          <p:nvPr/>
        </p:nvSpPr>
        <p:spPr>
          <a:xfrm>
            <a:off x="365760" y="2578608"/>
            <a:ext cx="8412480" cy="2176272"/>
          </a:xfrm>
          <a:prstGeom prst="roundRect">
            <a:avLst>
              <a:gd fmla="val 5042" name="adj"/>
            </a:avLst>
          </a:prstGeom>
          <a:solidFill>
            <a:srgbClr val="1A2550"/>
          </a:solidFill>
          <a:ln cap="flat" cmpd="sng" w="19050">
            <a:solidFill>
              <a:srgbClr val="FF4D6A"/>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26"/>
          <p:cNvSpPr/>
          <p:nvPr/>
        </p:nvSpPr>
        <p:spPr>
          <a:xfrm>
            <a:off x="548640" y="265176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1050"/>
              <a:buFont typeface="Calibri"/>
              <a:buNone/>
            </a:pPr>
            <a:r>
              <a:rPr b="1" i="0" lang="en-US" sz="1050" u="none" cap="none" strike="noStrike">
                <a:solidFill>
                  <a:srgbClr val="FF4D6A"/>
                </a:solidFill>
                <a:latin typeface="Calibri"/>
                <a:ea typeface="Calibri"/>
                <a:cs typeface="Calibri"/>
                <a:sym typeface="Calibri"/>
              </a:rPr>
              <a:t>PISTAS PERMITIDAS:</a:t>
            </a:r>
            <a:endParaRPr b="0" i="0" sz="1050" u="none" cap="none" strike="noStrike">
              <a:solidFill>
                <a:schemeClr val="dk1"/>
              </a:solidFill>
              <a:latin typeface="Calibri"/>
              <a:ea typeface="Calibri"/>
              <a:cs typeface="Calibri"/>
              <a:sym typeface="Calibri"/>
            </a:endParaRPr>
          </a:p>
        </p:txBody>
      </p:sp>
      <p:sp>
        <p:nvSpPr>
          <p:cNvPr id="648" name="Google Shape;648;p26"/>
          <p:cNvSpPr/>
          <p:nvPr/>
        </p:nvSpPr>
        <p:spPr>
          <a:xfrm>
            <a:off x="548640" y="2999232"/>
            <a:ext cx="8046720" cy="347472"/>
          </a:xfrm>
          <a:prstGeom prst="roundRect">
            <a:avLst>
              <a:gd fmla="val 13158" name="adj"/>
            </a:avLst>
          </a:prstGeom>
          <a:solidFill>
            <a:srgbClr val="FF4D6A">
              <a:alpha val="12156"/>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26"/>
          <p:cNvSpPr/>
          <p:nvPr/>
        </p:nvSpPr>
        <p:spPr>
          <a:xfrm>
            <a:off x="685800" y="299923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1" i="0" lang="en-US" sz="1100" u="none" cap="none" strike="noStrike">
                <a:solidFill>
                  <a:srgbClr val="E8EDF5"/>
                </a:solidFill>
                <a:latin typeface="Calibri"/>
                <a:ea typeface="Calibri"/>
                <a:cs typeface="Calibri"/>
                <a:sym typeface="Calibri"/>
              </a:rPr>
              <a:t>🔍  La variable principal es: Distancia al obstáculo más próximo en la dirección de movimiento</a:t>
            </a:r>
            <a:endParaRPr b="0" i="0" sz="1100" u="none" cap="none" strike="noStrike">
              <a:solidFill>
                <a:schemeClr val="dk1"/>
              </a:solidFill>
              <a:latin typeface="Calibri"/>
              <a:ea typeface="Calibri"/>
              <a:cs typeface="Calibri"/>
              <a:sym typeface="Calibri"/>
            </a:endParaRPr>
          </a:p>
        </p:txBody>
      </p:sp>
      <p:sp>
        <p:nvSpPr>
          <p:cNvPr id="650" name="Google Shape;650;p26"/>
          <p:cNvSpPr/>
          <p:nvPr/>
        </p:nvSpPr>
        <p:spPr>
          <a:xfrm>
            <a:off x="548640" y="3410712"/>
            <a:ext cx="8046720" cy="347472"/>
          </a:xfrm>
          <a:prstGeom prst="roundRect">
            <a:avLst>
              <a:gd fmla="val 13158" name="adj"/>
            </a:avLst>
          </a:prstGeom>
          <a:solidFill>
            <a:srgbClr val="FF4D6A">
              <a:alpha val="12156"/>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26"/>
          <p:cNvSpPr/>
          <p:nvPr/>
        </p:nvSpPr>
        <p:spPr>
          <a:xfrm>
            <a:off x="685800" y="341071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1" i="0" lang="en-US" sz="1100" u="none" cap="none" strike="noStrike">
                <a:solidFill>
                  <a:srgbClr val="E8EDF5"/>
                </a:solidFill>
                <a:latin typeface="Calibri"/>
                <a:ea typeface="Calibri"/>
                <a:cs typeface="Calibri"/>
                <a:sym typeface="Calibri"/>
              </a:rPr>
              <a:t>🔍  El punto de quiebre es: Distancia al obstáculo menor a 30 cm con la silla en movimiento</a:t>
            </a:r>
            <a:endParaRPr b="0" i="0" sz="1100" u="none" cap="none" strike="noStrike">
              <a:solidFill>
                <a:schemeClr val="dk1"/>
              </a:solidFill>
              <a:latin typeface="Calibri"/>
              <a:ea typeface="Calibri"/>
              <a:cs typeface="Calibri"/>
              <a:sym typeface="Calibri"/>
            </a:endParaRPr>
          </a:p>
        </p:txBody>
      </p:sp>
      <p:sp>
        <p:nvSpPr>
          <p:cNvPr id="652" name="Google Shape;652;p26"/>
          <p:cNvSpPr/>
          <p:nvPr/>
        </p:nvSpPr>
        <p:spPr>
          <a:xfrm>
            <a:off x="548640" y="3822192"/>
            <a:ext cx="8046720" cy="347472"/>
          </a:xfrm>
          <a:prstGeom prst="roundRect">
            <a:avLst>
              <a:gd fmla="val 13158" name="adj"/>
            </a:avLst>
          </a:prstGeom>
          <a:solidFill>
            <a:srgbClr val="FF4D6A">
              <a:alpha val="5098"/>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26"/>
          <p:cNvSpPr/>
          <p:nvPr/>
        </p:nvSpPr>
        <p:spPr>
          <a:xfrm>
            <a:off x="685800" y="382219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  ¿Qué componente electrónico mide esa variable? ¿Qué actúa cuando se supera el quiebre?</a:t>
            </a:r>
            <a:endParaRPr b="0" i="0" sz="1050" u="none" cap="none" strike="noStrike">
              <a:solidFill>
                <a:schemeClr val="dk1"/>
              </a:solidFill>
              <a:latin typeface="Calibri"/>
              <a:ea typeface="Calibri"/>
              <a:cs typeface="Calibri"/>
              <a:sym typeface="Calibri"/>
            </a:endParaRPr>
          </a:p>
        </p:txBody>
      </p:sp>
      <p:sp>
        <p:nvSpPr>
          <p:cNvPr id="654" name="Google Shape;654;p26"/>
          <p:cNvSpPr/>
          <p:nvPr/>
        </p:nvSpPr>
        <p:spPr>
          <a:xfrm>
            <a:off x="548640" y="4233672"/>
            <a:ext cx="8046720" cy="347472"/>
          </a:xfrm>
          <a:prstGeom prst="roundRect">
            <a:avLst>
              <a:gd fmla="val 13158" name="adj"/>
            </a:avLst>
          </a:prstGeom>
          <a:solidFill>
            <a:srgbClr val="FF4D6A">
              <a:alpha val="5098"/>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26"/>
          <p:cNvSpPr/>
          <p:nvPr/>
        </p:nvSpPr>
        <p:spPr>
          <a:xfrm>
            <a:off x="685800" y="423367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  Pensá en: sensor + controlador + actuador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660" name="Shape 660"/>
        <p:cNvGrpSpPr/>
        <p:nvPr/>
      </p:nvGrpSpPr>
      <p:grpSpPr>
        <a:xfrm>
          <a:off x="0" y="0"/>
          <a:ext cx="0" cy="0"/>
          <a:chOff x="0" y="0"/>
          <a:chExt cx="0" cy="0"/>
        </a:xfrm>
      </p:grpSpPr>
      <p:sp>
        <p:nvSpPr>
          <p:cNvPr id="661" name="Google Shape;661;p27"/>
          <p:cNvSpPr/>
          <p:nvPr/>
        </p:nvSpPr>
        <p:spPr>
          <a:xfrm>
            <a:off x="0" y="0"/>
            <a:ext cx="9144000" cy="640080"/>
          </a:xfrm>
          <a:prstGeom prst="rect">
            <a:avLst/>
          </a:prstGeom>
          <a:solidFill>
            <a:srgbClr val="FF4D6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27"/>
          <p:cNvSpPr/>
          <p:nvPr/>
        </p:nvSpPr>
        <p:spPr>
          <a:xfrm>
            <a:off x="320040" y="0"/>
            <a:ext cx="8503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300"/>
              <a:buFont typeface="Calibri"/>
              <a:buNone/>
            </a:pPr>
            <a:r>
              <a:rPr b="1" i="0" lang="en-US" sz="1300" u="none" cap="none" strike="noStrike">
                <a:solidFill>
                  <a:srgbClr val="0A0E2A"/>
                </a:solidFill>
                <a:latin typeface="Calibri"/>
                <a:ea typeface="Calibri"/>
                <a:cs typeface="Calibri"/>
                <a:sym typeface="Calibri"/>
              </a:rPr>
              <a:t>REVEAL · SILLA DE RUEDAS AUTÓNOMA</a:t>
            </a:r>
            <a:endParaRPr b="0" i="0" sz="1300" u="none" cap="none" strike="noStrike">
              <a:solidFill>
                <a:schemeClr val="dk1"/>
              </a:solidFill>
              <a:latin typeface="Calibri"/>
              <a:ea typeface="Calibri"/>
              <a:cs typeface="Calibri"/>
              <a:sym typeface="Calibri"/>
            </a:endParaRPr>
          </a:p>
        </p:txBody>
      </p:sp>
      <p:sp>
        <p:nvSpPr>
          <p:cNvPr id="663" name="Google Shape;663;p27"/>
          <p:cNvSpPr/>
          <p:nvPr/>
        </p:nvSpPr>
        <p:spPr>
          <a:xfrm>
            <a:off x="274320" y="749808"/>
            <a:ext cx="4389120" cy="475488"/>
          </a:xfrm>
          <a:prstGeom prst="roundRect">
            <a:avLst>
              <a:gd fmla="val 15385" name="adj"/>
            </a:avLst>
          </a:prstGeom>
          <a:solidFill>
            <a:srgbClr val="1A2550"/>
          </a:solidFill>
          <a:ln cap="flat" cmpd="sng" w="15225">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27"/>
          <p:cNvSpPr/>
          <p:nvPr/>
        </p:nvSpPr>
        <p:spPr>
          <a:xfrm>
            <a:off x="347472" y="813816"/>
            <a:ext cx="1417320" cy="256032"/>
          </a:xfrm>
          <a:prstGeom prst="roundRect">
            <a:avLst>
              <a:gd fmla="val 17857" name="adj"/>
            </a:avLst>
          </a:prstGeom>
          <a:solidFill>
            <a:srgbClr val="FFB800">
              <a:alpha val="87843"/>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27"/>
          <p:cNvSpPr/>
          <p:nvPr/>
        </p:nvSpPr>
        <p:spPr>
          <a:xfrm>
            <a:off x="347472" y="813816"/>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PROBLEMA VAGO</a:t>
            </a:r>
            <a:endParaRPr b="0" i="0" sz="700" u="none" cap="none" strike="noStrike">
              <a:solidFill>
                <a:schemeClr val="dk1"/>
              </a:solidFill>
              <a:latin typeface="Calibri"/>
              <a:ea typeface="Calibri"/>
              <a:cs typeface="Calibri"/>
              <a:sym typeface="Calibri"/>
            </a:endParaRPr>
          </a:p>
        </p:txBody>
      </p:sp>
      <p:sp>
        <p:nvSpPr>
          <p:cNvPr id="666" name="Google Shape;666;p27"/>
          <p:cNvSpPr/>
          <p:nvPr/>
        </p:nvSpPr>
        <p:spPr>
          <a:xfrm>
            <a:off x="1847088" y="749808"/>
            <a:ext cx="2724912" cy="47548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Las personas en silla de ruedas a veces se chocan con cosas.</a:t>
            </a:r>
            <a:endParaRPr b="0" i="0" sz="900" u="none" cap="none" strike="noStrike">
              <a:solidFill>
                <a:schemeClr val="dk1"/>
              </a:solidFill>
              <a:latin typeface="Calibri"/>
              <a:ea typeface="Calibri"/>
              <a:cs typeface="Calibri"/>
              <a:sym typeface="Calibri"/>
            </a:endParaRPr>
          </a:p>
        </p:txBody>
      </p:sp>
      <p:sp>
        <p:nvSpPr>
          <p:cNvPr id="667" name="Google Shape;667;p27"/>
          <p:cNvSpPr/>
          <p:nvPr/>
        </p:nvSpPr>
        <p:spPr>
          <a:xfrm>
            <a:off x="274320" y="1280160"/>
            <a:ext cx="4389120" cy="475488"/>
          </a:xfrm>
          <a:prstGeom prst="roundRect">
            <a:avLst>
              <a:gd fmla="val 15385" name="adj"/>
            </a:avLst>
          </a:prstGeom>
          <a:solidFill>
            <a:srgbClr val="1A2550"/>
          </a:solidFill>
          <a:ln cap="flat" cmpd="sng" w="15225">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27"/>
          <p:cNvSpPr/>
          <p:nvPr/>
        </p:nvSpPr>
        <p:spPr>
          <a:xfrm>
            <a:off x="347472" y="1344168"/>
            <a:ext cx="1417320" cy="256032"/>
          </a:xfrm>
          <a:prstGeom prst="roundRect">
            <a:avLst>
              <a:gd fmla="val 17857" name="adj"/>
            </a:avLst>
          </a:prstGeom>
          <a:solidFill>
            <a:srgbClr val="9B59B6">
              <a:alpha val="87843"/>
            </a:srgbClr>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27"/>
          <p:cNvSpPr/>
          <p:nvPr/>
        </p:nvSpPr>
        <p:spPr>
          <a:xfrm>
            <a:off x="347472" y="1344168"/>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VARIABLE</a:t>
            </a:r>
            <a:endParaRPr b="0" i="0" sz="700" u="none" cap="none" strike="noStrike">
              <a:solidFill>
                <a:schemeClr val="dk1"/>
              </a:solidFill>
              <a:latin typeface="Calibri"/>
              <a:ea typeface="Calibri"/>
              <a:cs typeface="Calibri"/>
              <a:sym typeface="Calibri"/>
            </a:endParaRPr>
          </a:p>
        </p:txBody>
      </p:sp>
      <p:sp>
        <p:nvSpPr>
          <p:cNvPr id="670" name="Google Shape;670;p27"/>
          <p:cNvSpPr/>
          <p:nvPr/>
        </p:nvSpPr>
        <p:spPr>
          <a:xfrm>
            <a:off x="1847088" y="1280160"/>
            <a:ext cx="2724912" cy="47548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Distancia al obstáculo más próximo en la dirección de movimiento (sensor ultrasónico, en centímetros).</a:t>
            </a:r>
            <a:endParaRPr b="0" i="0" sz="900" u="none" cap="none" strike="noStrike">
              <a:solidFill>
                <a:schemeClr val="dk1"/>
              </a:solidFill>
              <a:latin typeface="Calibri"/>
              <a:ea typeface="Calibri"/>
              <a:cs typeface="Calibri"/>
              <a:sym typeface="Calibri"/>
            </a:endParaRPr>
          </a:p>
        </p:txBody>
      </p:sp>
      <p:sp>
        <p:nvSpPr>
          <p:cNvPr id="671" name="Google Shape;671;p27"/>
          <p:cNvSpPr/>
          <p:nvPr/>
        </p:nvSpPr>
        <p:spPr>
          <a:xfrm>
            <a:off x="274320" y="1810512"/>
            <a:ext cx="4389120" cy="475488"/>
          </a:xfrm>
          <a:prstGeom prst="roundRect">
            <a:avLst>
              <a:gd fmla="val 15385" name="adj"/>
            </a:avLst>
          </a:prstGeom>
          <a:solidFill>
            <a:srgbClr val="1A2550"/>
          </a:solidFill>
          <a:ln cap="flat" cmpd="sng" w="15225">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27"/>
          <p:cNvSpPr/>
          <p:nvPr/>
        </p:nvSpPr>
        <p:spPr>
          <a:xfrm>
            <a:off x="347472" y="1874520"/>
            <a:ext cx="1417320" cy="256032"/>
          </a:xfrm>
          <a:prstGeom prst="roundRect">
            <a:avLst>
              <a:gd fmla="val 17857" name="adj"/>
            </a:avLst>
          </a:prstGeom>
          <a:solidFill>
            <a:srgbClr val="FF4D6A">
              <a:alpha val="87843"/>
            </a:srgbClr>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27"/>
          <p:cNvSpPr/>
          <p:nvPr/>
        </p:nvSpPr>
        <p:spPr>
          <a:xfrm>
            <a:off x="347472" y="1874520"/>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PUNTO DE QUIEBRE</a:t>
            </a:r>
            <a:endParaRPr b="0" i="0" sz="700" u="none" cap="none" strike="noStrike">
              <a:solidFill>
                <a:schemeClr val="dk1"/>
              </a:solidFill>
              <a:latin typeface="Calibri"/>
              <a:ea typeface="Calibri"/>
              <a:cs typeface="Calibri"/>
              <a:sym typeface="Calibri"/>
            </a:endParaRPr>
          </a:p>
        </p:txBody>
      </p:sp>
      <p:sp>
        <p:nvSpPr>
          <p:cNvPr id="674" name="Google Shape;674;p27"/>
          <p:cNvSpPr/>
          <p:nvPr/>
        </p:nvSpPr>
        <p:spPr>
          <a:xfrm>
            <a:off x="1847088" y="1810512"/>
            <a:ext cx="2724912" cy="47548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Distancia al obstáculo menor a 30 cm con la silla en movimiento.</a:t>
            </a:r>
            <a:endParaRPr b="0" i="0" sz="900" u="none" cap="none" strike="noStrike">
              <a:solidFill>
                <a:schemeClr val="dk1"/>
              </a:solidFill>
              <a:latin typeface="Calibri"/>
              <a:ea typeface="Calibri"/>
              <a:cs typeface="Calibri"/>
              <a:sym typeface="Calibri"/>
            </a:endParaRPr>
          </a:p>
        </p:txBody>
      </p:sp>
      <p:sp>
        <p:nvSpPr>
          <p:cNvPr id="675" name="Google Shape;675;p27"/>
          <p:cNvSpPr/>
          <p:nvPr/>
        </p:nvSpPr>
        <p:spPr>
          <a:xfrm>
            <a:off x="274320" y="2340864"/>
            <a:ext cx="4389120" cy="594360"/>
          </a:xfrm>
          <a:prstGeom prst="roundRect">
            <a:avLst>
              <a:gd fmla="val 12308" name="adj"/>
            </a:avLst>
          </a:prstGeom>
          <a:solidFill>
            <a:srgbClr val="1A2550"/>
          </a:solidFill>
          <a:ln cap="flat" cmpd="sng" w="15225">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27"/>
          <p:cNvSpPr/>
          <p:nvPr/>
        </p:nvSpPr>
        <p:spPr>
          <a:xfrm>
            <a:off x="347472" y="2404872"/>
            <a:ext cx="1417320" cy="256032"/>
          </a:xfrm>
          <a:prstGeom prst="roundRect">
            <a:avLst>
              <a:gd fmla="val 17857" name="adj"/>
            </a:avLst>
          </a:prstGeom>
          <a:solidFill>
            <a:srgbClr val="00C896">
              <a:alpha val="87843"/>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27"/>
          <p:cNvSpPr/>
          <p:nvPr/>
        </p:nvSpPr>
        <p:spPr>
          <a:xfrm>
            <a:off x="347472" y="2404872"/>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PROBLEMA TECNICO</a:t>
            </a:r>
            <a:endParaRPr b="0" i="0" sz="700" u="none" cap="none" strike="noStrike">
              <a:solidFill>
                <a:schemeClr val="dk1"/>
              </a:solidFill>
              <a:latin typeface="Calibri"/>
              <a:ea typeface="Calibri"/>
              <a:cs typeface="Calibri"/>
              <a:sym typeface="Calibri"/>
            </a:endParaRPr>
          </a:p>
        </p:txBody>
      </p:sp>
      <p:sp>
        <p:nvSpPr>
          <p:cNvPr id="678" name="Google Shape;678;p27"/>
          <p:cNvSpPr/>
          <p:nvPr/>
        </p:nvSpPr>
        <p:spPr>
          <a:xfrm>
            <a:off x="1847088" y="2340864"/>
            <a:ext cx="2724912" cy="5943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En un interior, la silla de ruedas en movimiento detecta un obstáculo a menos de 30 cm en su trayectoria, lo que genera riesgo de colisión con consecuencias físicas para el usuario.</a:t>
            </a:r>
            <a:endParaRPr b="0" i="0" sz="900" u="none" cap="none" strike="noStrike">
              <a:solidFill>
                <a:schemeClr val="dk1"/>
              </a:solidFill>
              <a:latin typeface="Calibri"/>
              <a:ea typeface="Calibri"/>
              <a:cs typeface="Calibri"/>
              <a:sym typeface="Calibri"/>
            </a:endParaRPr>
          </a:p>
        </p:txBody>
      </p:sp>
      <p:sp>
        <p:nvSpPr>
          <p:cNvPr id="679" name="Google Shape;679;p27"/>
          <p:cNvSpPr/>
          <p:nvPr/>
        </p:nvSpPr>
        <p:spPr>
          <a:xfrm>
            <a:off x="274320" y="2990088"/>
            <a:ext cx="4389120" cy="841248"/>
          </a:xfrm>
          <a:prstGeom prst="roundRect">
            <a:avLst>
              <a:gd fmla="val 8696" name="adj"/>
            </a:avLst>
          </a:prstGeom>
          <a:solidFill>
            <a:srgbClr val="1A2550"/>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27"/>
          <p:cNvSpPr/>
          <p:nvPr/>
        </p:nvSpPr>
        <p:spPr>
          <a:xfrm>
            <a:off x="347472" y="3054096"/>
            <a:ext cx="1417320" cy="256032"/>
          </a:xfrm>
          <a:prstGeom prst="roundRect">
            <a:avLst>
              <a:gd fmla="val 17857" name="adj"/>
            </a:avLst>
          </a:prstGeom>
          <a:solidFill>
            <a:srgbClr val="00D4FF">
              <a:alpha val="87843"/>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27"/>
          <p:cNvSpPr/>
          <p:nvPr/>
        </p:nvSpPr>
        <p:spPr>
          <a:xfrm>
            <a:off x="347472" y="3054096"/>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OBJETIVOS</a:t>
            </a:r>
            <a:endParaRPr b="0" i="0" sz="700" u="none" cap="none" strike="noStrike">
              <a:solidFill>
                <a:schemeClr val="dk1"/>
              </a:solidFill>
              <a:latin typeface="Calibri"/>
              <a:ea typeface="Calibri"/>
              <a:cs typeface="Calibri"/>
              <a:sym typeface="Calibri"/>
            </a:endParaRPr>
          </a:p>
        </p:txBody>
      </p:sp>
      <p:sp>
        <p:nvSpPr>
          <p:cNvPr id="682" name="Google Shape;682;p27"/>
          <p:cNvSpPr/>
          <p:nvPr/>
        </p:nvSpPr>
        <p:spPr>
          <a:xfrm>
            <a:off x="1847088" y="2990088"/>
            <a:ext cx="2724912" cy="84124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850"/>
              <a:buFont typeface="Calibri"/>
              <a:buNone/>
            </a:pPr>
            <a:r>
              <a:rPr b="0" i="0" lang="en-US" sz="850" u="none" cap="none" strike="noStrike">
                <a:solidFill>
                  <a:srgbClr val="E8EDF5"/>
                </a:solidFill>
                <a:latin typeface="Calibri"/>
                <a:ea typeface="Calibri"/>
                <a:cs typeface="Calibri"/>
                <a:sym typeface="Calibri"/>
              </a:rPr>
              <a:t>1. Medir continuamente la distancia a obstáculos en la dirección de avance.  2. Detener automáticamente los motores de la silla cuando la distancia sea menor a 30 cm.  3. Emitir una alerta sonora y visual antes de la detención para informar al usuario.</a:t>
            </a:r>
            <a:endParaRPr b="0" i="0" sz="850" u="none" cap="none" strike="noStrike">
              <a:solidFill>
                <a:schemeClr val="dk1"/>
              </a:solidFill>
              <a:latin typeface="Calibri"/>
              <a:ea typeface="Calibri"/>
              <a:cs typeface="Calibri"/>
              <a:sym typeface="Calibri"/>
            </a:endParaRPr>
          </a:p>
        </p:txBody>
      </p:sp>
      <p:sp>
        <p:nvSpPr>
          <p:cNvPr id="683" name="Google Shape;683;p27"/>
          <p:cNvSpPr/>
          <p:nvPr/>
        </p:nvSpPr>
        <p:spPr>
          <a:xfrm>
            <a:off x="4937760" y="749808"/>
            <a:ext cx="3977640" cy="2971800"/>
          </a:xfrm>
          <a:prstGeom prst="roundRect">
            <a:avLst>
              <a:gd fmla="val 4615" name="adj"/>
            </a:avLst>
          </a:prstGeom>
          <a:solidFill>
            <a:srgbClr val="FF4D6A">
              <a:alpha val="92156"/>
            </a:srgbClr>
          </a:solidFill>
          <a:ln cap="flat" cmpd="sng" w="25400">
            <a:solidFill>
              <a:srgbClr val="FF4D6A"/>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27"/>
          <p:cNvSpPr/>
          <p:nvPr/>
        </p:nvSpPr>
        <p:spPr>
          <a:xfrm>
            <a:off x="5074920" y="822960"/>
            <a:ext cx="37033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SOLUCIÓN</a:t>
            </a:r>
            <a:endParaRPr b="0" i="0" sz="1200" u="none" cap="none" strike="noStrike">
              <a:solidFill>
                <a:schemeClr val="dk1"/>
              </a:solidFill>
              <a:latin typeface="Calibri"/>
              <a:ea typeface="Calibri"/>
              <a:cs typeface="Calibri"/>
              <a:sym typeface="Calibri"/>
            </a:endParaRPr>
          </a:p>
        </p:txBody>
      </p:sp>
      <p:sp>
        <p:nvSpPr>
          <p:cNvPr id="685" name="Google Shape;685;p27"/>
          <p:cNvSpPr/>
          <p:nvPr/>
        </p:nvSpPr>
        <p:spPr>
          <a:xfrm>
            <a:off x="5074920" y="1188720"/>
            <a:ext cx="3703320" cy="182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Sistema con sensor ultrasónico HC-SR04 + Arduino + controlador de motores L298N. A menos de 30 cm activa freno y buzzer. A menos de 50 cm reduce velocidad como pre-alerta.</a:t>
            </a:r>
            <a:endParaRPr b="0" i="0" sz="1100" u="none" cap="none" strike="noStrike">
              <a:solidFill>
                <a:schemeClr val="dk1"/>
              </a:solidFill>
              <a:latin typeface="Calibri"/>
              <a:ea typeface="Calibri"/>
              <a:cs typeface="Calibri"/>
              <a:sym typeface="Calibri"/>
            </a:endParaRPr>
          </a:p>
        </p:txBody>
      </p:sp>
      <p:sp>
        <p:nvSpPr>
          <p:cNvPr id="686" name="Google Shape;686;p27"/>
          <p:cNvSpPr/>
          <p:nvPr/>
        </p:nvSpPr>
        <p:spPr>
          <a:xfrm>
            <a:off x="5074920" y="3017520"/>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950"/>
              <a:buFont typeface="Calibri"/>
              <a:buNone/>
            </a:pPr>
            <a:r>
              <a:rPr b="0" i="1" lang="en-US" sz="950" u="none" cap="none" strike="noStrike">
                <a:solidFill>
                  <a:srgbClr val="0A0E2A"/>
                </a:solidFill>
                <a:latin typeface="Calibri"/>
                <a:ea typeface="Calibri"/>
                <a:cs typeface="Calibri"/>
                <a:sym typeface="Calibri"/>
              </a:rPr>
              <a:t>📷  Silla de ruedas con sensor HC-SR04 frontal, Arduino y controlador de motores</a:t>
            </a:r>
            <a:endParaRPr b="0" i="0" sz="950" u="none" cap="none" strike="noStrike">
              <a:solidFill>
                <a:schemeClr val="dk1"/>
              </a:solidFill>
              <a:latin typeface="Calibri"/>
              <a:ea typeface="Calibri"/>
              <a:cs typeface="Calibri"/>
              <a:sym typeface="Calibri"/>
            </a:endParaRPr>
          </a:p>
        </p:txBody>
      </p:sp>
      <p:sp>
        <p:nvSpPr>
          <p:cNvPr id="687" name="Google Shape;687;p27"/>
          <p:cNvSpPr/>
          <p:nvPr/>
        </p:nvSpPr>
        <p:spPr>
          <a:xfrm>
            <a:off x="274320" y="3858768"/>
            <a:ext cx="8549640" cy="841248"/>
          </a:xfrm>
          <a:prstGeom prst="roundRect">
            <a:avLst>
              <a:gd fmla="val 13043" name="adj"/>
            </a:avLst>
          </a:prstGeom>
          <a:solidFill>
            <a:srgbClr val="1A2550"/>
          </a:solidFill>
          <a:ln cap="flat" cmpd="sng" w="15225">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27"/>
          <p:cNvSpPr/>
          <p:nvPr/>
        </p:nvSpPr>
        <p:spPr>
          <a:xfrm>
            <a:off x="457200" y="3858768"/>
            <a:ext cx="822960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DF5"/>
              </a:buClr>
              <a:buSzPts val="1200"/>
              <a:buFont typeface="Calibri"/>
              <a:buNone/>
            </a:pPr>
            <a:r>
              <a:rPr b="0" i="0" lang="en-US" sz="1200" u="none" cap="none" strike="noStrike">
                <a:solidFill>
                  <a:srgbClr val="E8EDF5"/>
                </a:solidFill>
                <a:latin typeface="Calibri"/>
                <a:ea typeface="Calibri"/>
                <a:cs typeface="Calibri"/>
                <a:sym typeface="Calibri"/>
              </a:rPr>
              <a:t>¿Qué equipo formuló mejor cada componente?  ·  ¿Cuál se acercó más a la solución real?  ·  ¿Qué mejorarían?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693" name="Shape 693"/>
        <p:cNvGrpSpPr/>
        <p:nvPr/>
      </p:nvGrpSpPr>
      <p:grpSpPr>
        <a:xfrm>
          <a:off x="0" y="0"/>
          <a:ext cx="0" cy="0"/>
          <a:chOff x="0" y="0"/>
          <a:chExt cx="0" cy="0"/>
        </a:xfrm>
      </p:grpSpPr>
      <p:sp>
        <p:nvSpPr>
          <p:cNvPr id="694" name="Google Shape;694;p28"/>
          <p:cNvSpPr/>
          <p:nvPr/>
        </p:nvSpPr>
        <p:spPr>
          <a:xfrm>
            <a:off x="0" y="0"/>
            <a:ext cx="3474720" cy="514350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28"/>
          <p:cNvSpPr/>
          <p:nvPr/>
        </p:nvSpPr>
        <p:spPr>
          <a:xfrm>
            <a:off x="0" y="365760"/>
            <a:ext cx="3474720" cy="228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6000"/>
              <a:buFont typeface="Calibri"/>
              <a:buNone/>
            </a:pPr>
            <a:r>
              <a:rPr b="1" i="0" lang="en-US" sz="16000" u="none" cap="none" strike="noStrike">
                <a:solidFill>
                  <a:srgbClr val="0A0E2A"/>
                </a:solidFill>
                <a:latin typeface="Calibri"/>
                <a:ea typeface="Calibri"/>
                <a:cs typeface="Calibri"/>
                <a:sym typeface="Calibri"/>
              </a:rPr>
              <a:t>4</a:t>
            </a:r>
            <a:endParaRPr b="0" i="0" sz="16000" u="none" cap="none" strike="noStrike">
              <a:solidFill>
                <a:schemeClr val="dk1"/>
              </a:solidFill>
              <a:latin typeface="Calibri"/>
              <a:ea typeface="Calibri"/>
              <a:cs typeface="Calibri"/>
              <a:sym typeface="Calibri"/>
            </a:endParaRPr>
          </a:p>
        </p:txBody>
      </p:sp>
      <p:sp>
        <p:nvSpPr>
          <p:cNvPr id="696" name="Google Shape;696;p28"/>
          <p:cNvSpPr/>
          <p:nvPr/>
        </p:nvSpPr>
        <p:spPr>
          <a:xfrm>
            <a:off x="0" y="2926080"/>
            <a:ext cx="34747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800"/>
              <a:buFont typeface="Calibri"/>
              <a:buNone/>
            </a:pPr>
            <a:r>
              <a:rPr b="1" i="0" lang="en-US" sz="1800" u="none" cap="none" strike="noStrike">
                <a:solidFill>
                  <a:srgbClr val="0A0E2A"/>
                </a:solidFill>
                <a:latin typeface="Calibri"/>
                <a:ea typeface="Calibri"/>
                <a:cs typeface="Calibri"/>
                <a:sym typeface="Calibri"/>
              </a:rPr>
              <a:t>P4</a:t>
            </a:r>
            <a:endParaRPr b="0" i="0" sz="1800" u="none" cap="none" strike="noStrike">
              <a:solidFill>
                <a:schemeClr val="dk1"/>
              </a:solidFill>
              <a:latin typeface="Calibri"/>
              <a:ea typeface="Calibri"/>
              <a:cs typeface="Calibri"/>
              <a:sym typeface="Calibri"/>
            </a:endParaRPr>
          </a:p>
        </p:txBody>
      </p:sp>
      <p:sp>
        <p:nvSpPr>
          <p:cNvPr id="697" name="Google Shape;697;p28"/>
          <p:cNvSpPr/>
          <p:nvPr/>
        </p:nvSpPr>
        <p:spPr>
          <a:xfrm>
            <a:off x="91440" y="3429000"/>
            <a:ext cx="329184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000"/>
              <a:buFont typeface="Calibri"/>
              <a:buNone/>
            </a:pPr>
            <a:r>
              <a:rPr b="0" i="1" lang="en-US" sz="1000" u="none" cap="none" strike="noStrike">
                <a:solidFill>
                  <a:srgbClr val="0A0E2A"/>
                </a:solidFill>
                <a:latin typeface="Calibri"/>
                <a:ea typeface="Calibri"/>
                <a:cs typeface="Calibri"/>
                <a:sym typeface="Calibri"/>
              </a:rPr>
              <a:t>Robótica · IA · Sustentabilidad</a:t>
            </a:r>
            <a:endParaRPr b="0" i="0" sz="1000" u="none" cap="none" strike="noStrike">
              <a:solidFill>
                <a:schemeClr val="dk1"/>
              </a:solidFill>
              <a:latin typeface="Calibri"/>
              <a:ea typeface="Calibri"/>
              <a:cs typeface="Calibri"/>
              <a:sym typeface="Calibri"/>
            </a:endParaRPr>
          </a:p>
        </p:txBody>
      </p:sp>
      <p:sp>
        <p:nvSpPr>
          <p:cNvPr id="698" name="Google Shape;698;p28"/>
          <p:cNvSpPr/>
          <p:nvPr/>
        </p:nvSpPr>
        <p:spPr>
          <a:xfrm>
            <a:off x="3840480" y="411480"/>
            <a:ext cx="502920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D4FF"/>
              </a:buClr>
              <a:buSzPts val="2800"/>
              <a:buFont typeface="Calibri"/>
              <a:buNone/>
            </a:pPr>
            <a:r>
              <a:rPr b="1" i="0" lang="en-US" sz="2800" u="none" cap="none" strike="noStrike">
                <a:solidFill>
                  <a:srgbClr val="00D4FF"/>
                </a:solidFill>
                <a:latin typeface="Calibri"/>
                <a:ea typeface="Calibri"/>
                <a:cs typeface="Calibri"/>
                <a:sym typeface="Calibri"/>
              </a:rPr>
              <a:t>Brazo Robótico Clasificador</a:t>
            </a:r>
            <a:endParaRPr b="0" i="0" sz="2800" u="none" cap="none" strike="noStrike">
              <a:solidFill>
                <a:schemeClr val="dk1"/>
              </a:solidFill>
              <a:latin typeface="Calibri"/>
              <a:ea typeface="Calibri"/>
              <a:cs typeface="Calibri"/>
              <a:sym typeface="Calibri"/>
            </a:endParaRPr>
          </a:p>
        </p:txBody>
      </p:sp>
      <p:sp>
        <p:nvSpPr>
          <p:cNvPr id="699" name="Google Shape;699;p28"/>
          <p:cNvSpPr/>
          <p:nvPr/>
        </p:nvSpPr>
        <p:spPr>
          <a:xfrm>
            <a:off x="3840480" y="1691640"/>
            <a:ext cx="5029200" cy="2011680"/>
          </a:xfrm>
          <a:prstGeom prst="roundRect">
            <a:avLst>
              <a:gd fmla="val 5455" name="adj"/>
            </a:avLst>
          </a:prstGeom>
          <a:solidFill>
            <a:srgbClr val="1A2550"/>
          </a:solidFill>
          <a:ln cap="flat" cmpd="sng" w="19050">
            <a:solidFill>
              <a:srgbClr val="00D4FF"/>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28"/>
          <p:cNvSpPr/>
          <p:nvPr/>
        </p:nvSpPr>
        <p:spPr>
          <a:xfrm>
            <a:off x="3977640" y="1755648"/>
            <a:ext cx="47548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950"/>
              <a:buFont typeface="Calibri"/>
              <a:buNone/>
            </a:pPr>
            <a:r>
              <a:rPr b="1" i="0" lang="en-US" sz="950" u="none" cap="none" strike="noStrike">
                <a:solidFill>
                  <a:srgbClr val="00D4FF"/>
                </a:solidFill>
                <a:latin typeface="Calibri"/>
                <a:ea typeface="Calibri"/>
                <a:cs typeface="Calibri"/>
                <a:sym typeface="Calibri"/>
              </a:rPr>
              <a:t>CONTEXTO DEL PROYECTO</a:t>
            </a:r>
            <a:endParaRPr b="0" i="0" sz="950" u="none" cap="none" strike="noStrike">
              <a:solidFill>
                <a:schemeClr val="dk1"/>
              </a:solidFill>
              <a:latin typeface="Calibri"/>
              <a:ea typeface="Calibri"/>
              <a:cs typeface="Calibri"/>
              <a:sym typeface="Calibri"/>
            </a:endParaRPr>
          </a:p>
        </p:txBody>
      </p:sp>
      <p:sp>
        <p:nvSpPr>
          <p:cNvPr id="701" name="Google Shape;701;p28"/>
          <p:cNvSpPr/>
          <p:nvPr/>
        </p:nvSpPr>
        <p:spPr>
          <a:xfrm>
            <a:off x="3977640" y="2057400"/>
            <a:ext cx="4754880" cy="1554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250"/>
              <a:buFont typeface="Calibri"/>
              <a:buNone/>
            </a:pPr>
            <a:r>
              <a:rPr b="0" i="0" lang="en-US" sz="1250" u="none" cap="none" strike="noStrike">
                <a:solidFill>
                  <a:srgbClr val="E8EDF5"/>
                </a:solidFill>
                <a:latin typeface="Calibri"/>
                <a:ea typeface="Calibri"/>
                <a:cs typeface="Calibri"/>
                <a:sym typeface="Calibri"/>
              </a:rPr>
              <a:t>Puntos de reciclaje donde los usuarios depositan residuos mezclados sin clasificar, generando contaminación de material reciclable.</a:t>
            </a:r>
            <a:endParaRPr b="0" i="0" sz="1250" u="none" cap="none" strike="noStrike">
              <a:solidFill>
                <a:schemeClr val="dk1"/>
              </a:solidFill>
              <a:latin typeface="Calibri"/>
              <a:ea typeface="Calibri"/>
              <a:cs typeface="Calibri"/>
              <a:sym typeface="Calibri"/>
            </a:endParaRPr>
          </a:p>
        </p:txBody>
      </p:sp>
      <p:sp>
        <p:nvSpPr>
          <p:cNvPr id="702" name="Google Shape;702;p28"/>
          <p:cNvSpPr/>
          <p:nvPr/>
        </p:nvSpPr>
        <p:spPr>
          <a:xfrm>
            <a:off x="3840480" y="3840480"/>
            <a:ext cx="5029200" cy="868680"/>
          </a:xfrm>
          <a:prstGeom prst="roundRect">
            <a:avLst>
              <a:gd fmla="val 10526" name="adj"/>
            </a:avLst>
          </a:prstGeom>
          <a:solidFill>
            <a:srgbClr val="1A2550"/>
          </a:solidFill>
          <a:ln cap="flat" cmpd="sng" w="12700">
            <a:solidFill>
              <a:srgbClr val="00D4FF">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28"/>
          <p:cNvSpPr/>
          <p:nvPr/>
        </p:nvSpPr>
        <p:spPr>
          <a:xfrm>
            <a:off x="3977640" y="3886200"/>
            <a:ext cx="10972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900"/>
              <a:buFont typeface="Calibri"/>
              <a:buNone/>
            </a:pPr>
            <a:r>
              <a:rPr b="1" i="0" lang="en-US" sz="900" u="none" cap="none" strike="noStrike">
                <a:solidFill>
                  <a:srgbClr val="00D4FF"/>
                </a:solidFill>
                <a:latin typeface="Calibri"/>
                <a:ea typeface="Calibri"/>
                <a:cs typeface="Calibri"/>
                <a:sym typeface="Calibri"/>
              </a:rPr>
              <a:t>5 RONDAS:</a:t>
            </a:r>
            <a:endParaRPr b="0" i="0" sz="900" u="none" cap="none" strike="noStrike">
              <a:solidFill>
                <a:schemeClr val="dk1"/>
              </a:solidFill>
              <a:latin typeface="Calibri"/>
              <a:ea typeface="Calibri"/>
              <a:cs typeface="Calibri"/>
              <a:sym typeface="Calibri"/>
            </a:endParaRPr>
          </a:p>
        </p:txBody>
      </p:sp>
      <p:sp>
        <p:nvSpPr>
          <p:cNvPr id="704" name="Google Shape;704;p28"/>
          <p:cNvSpPr/>
          <p:nvPr/>
        </p:nvSpPr>
        <p:spPr>
          <a:xfrm>
            <a:off x="3977640" y="4187952"/>
            <a:ext cx="868680" cy="411480"/>
          </a:xfrm>
          <a:prstGeom prst="roundRect">
            <a:avLst>
              <a:gd fmla="val 15556" name="adj"/>
            </a:avLst>
          </a:prstGeom>
          <a:solidFill>
            <a:srgbClr val="FFB800">
              <a:alpha val="85098"/>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28"/>
          <p:cNvSpPr/>
          <p:nvPr/>
        </p:nvSpPr>
        <p:spPr>
          <a:xfrm>
            <a:off x="397764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Prob.</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Vago</a:t>
            </a:r>
            <a:endParaRPr b="0" i="0" sz="750" u="none" cap="none" strike="noStrike">
              <a:solidFill>
                <a:schemeClr val="dk1"/>
              </a:solidFill>
              <a:latin typeface="Calibri"/>
              <a:ea typeface="Calibri"/>
              <a:cs typeface="Calibri"/>
              <a:sym typeface="Calibri"/>
            </a:endParaRPr>
          </a:p>
        </p:txBody>
      </p:sp>
      <p:sp>
        <p:nvSpPr>
          <p:cNvPr id="706" name="Google Shape;706;p28"/>
          <p:cNvSpPr/>
          <p:nvPr/>
        </p:nvSpPr>
        <p:spPr>
          <a:xfrm>
            <a:off x="4937760" y="4187952"/>
            <a:ext cx="868680" cy="411480"/>
          </a:xfrm>
          <a:prstGeom prst="roundRect">
            <a:avLst>
              <a:gd fmla="val 15556" name="adj"/>
            </a:avLst>
          </a:prstGeom>
          <a:solidFill>
            <a:srgbClr val="00D4FF">
              <a:alpha val="85098"/>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28"/>
          <p:cNvSpPr/>
          <p:nvPr/>
        </p:nvSpPr>
        <p:spPr>
          <a:xfrm>
            <a:off x="493776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Dispa-</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radoras</a:t>
            </a:r>
            <a:endParaRPr b="0" i="0" sz="750" u="none" cap="none" strike="noStrike">
              <a:solidFill>
                <a:schemeClr val="dk1"/>
              </a:solidFill>
              <a:latin typeface="Calibri"/>
              <a:ea typeface="Calibri"/>
              <a:cs typeface="Calibri"/>
              <a:sym typeface="Calibri"/>
            </a:endParaRPr>
          </a:p>
        </p:txBody>
      </p:sp>
      <p:sp>
        <p:nvSpPr>
          <p:cNvPr id="708" name="Google Shape;708;p28"/>
          <p:cNvSpPr/>
          <p:nvPr/>
        </p:nvSpPr>
        <p:spPr>
          <a:xfrm>
            <a:off x="5897880" y="4187952"/>
            <a:ext cx="868680" cy="411480"/>
          </a:xfrm>
          <a:prstGeom prst="roundRect">
            <a:avLst>
              <a:gd fmla="val 15556" name="adj"/>
            </a:avLst>
          </a:prstGeom>
          <a:solidFill>
            <a:srgbClr val="00C896">
              <a:alpha val="85098"/>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28"/>
          <p:cNvSpPr/>
          <p:nvPr/>
        </p:nvSpPr>
        <p:spPr>
          <a:xfrm>
            <a:off x="589788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4 Comp.</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 Técnico</a:t>
            </a:r>
            <a:endParaRPr b="0" i="0" sz="750" u="none" cap="none" strike="noStrike">
              <a:solidFill>
                <a:schemeClr val="dk1"/>
              </a:solidFill>
              <a:latin typeface="Calibri"/>
              <a:ea typeface="Calibri"/>
              <a:cs typeface="Calibri"/>
              <a:sym typeface="Calibri"/>
            </a:endParaRPr>
          </a:p>
        </p:txBody>
      </p:sp>
      <p:sp>
        <p:nvSpPr>
          <p:cNvPr id="710" name="Google Shape;710;p28"/>
          <p:cNvSpPr/>
          <p:nvPr/>
        </p:nvSpPr>
        <p:spPr>
          <a:xfrm>
            <a:off x="6858000" y="4187952"/>
            <a:ext cx="868680" cy="411480"/>
          </a:xfrm>
          <a:prstGeom prst="roundRect">
            <a:avLst>
              <a:gd fmla="val 15556" name="adj"/>
            </a:avLst>
          </a:prstGeom>
          <a:solidFill>
            <a:srgbClr val="9B59B6">
              <a:alpha val="85098"/>
            </a:srgbClr>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28"/>
          <p:cNvSpPr/>
          <p:nvPr/>
        </p:nvSpPr>
        <p:spPr>
          <a:xfrm>
            <a:off x="685800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Obje-</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tivos</a:t>
            </a:r>
            <a:endParaRPr b="0" i="0" sz="750" u="none" cap="none" strike="noStrike">
              <a:solidFill>
                <a:schemeClr val="dk1"/>
              </a:solidFill>
              <a:latin typeface="Calibri"/>
              <a:ea typeface="Calibri"/>
              <a:cs typeface="Calibri"/>
              <a:sym typeface="Calibri"/>
            </a:endParaRPr>
          </a:p>
        </p:txBody>
      </p:sp>
      <p:sp>
        <p:nvSpPr>
          <p:cNvPr id="712" name="Google Shape;712;p28"/>
          <p:cNvSpPr/>
          <p:nvPr/>
        </p:nvSpPr>
        <p:spPr>
          <a:xfrm>
            <a:off x="7818120" y="4187952"/>
            <a:ext cx="868680" cy="411480"/>
          </a:xfrm>
          <a:prstGeom prst="roundRect">
            <a:avLst>
              <a:gd fmla="val 15556" name="adj"/>
            </a:avLst>
          </a:prstGeom>
          <a:solidFill>
            <a:srgbClr val="FF4D6A">
              <a:alpha val="85098"/>
            </a:srgbClr>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28"/>
          <p:cNvSpPr/>
          <p:nvPr/>
        </p:nvSpPr>
        <p:spPr>
          <a:xfrm>
            <a:off x="7818120" y="4187952"/>
            <a:ext cx="868680" cy="4114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Solu-</a:t>
            </a:r>
            <a:endParaRPr b="0" i="0" sz="75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750"/>
              <a:buFont typeface="Calibri"/>
              <a:buNone/>
            </a:pPr>
            <a:r>
              <a:rPr b="1" i="0" lang="en-US" sz="750" u="none" cap="none" strike="noStrike">
                <a:solidFill>
                  <a:srgbClr val="0A0E2A"/>
                </a:solidFill>
                <a:latin typeface="Calibri"/>
                <a:ea typeface="Calibri"/>
                <a:cs typeface="Calibri"/>
                <a:sym typeface="Calibri"/>
              </a:rPr>
              <a:t>ción</a:t>
            </a:r>
            <a:endParaRPr b="0" i="0" sz="75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A"/>
        </a:solidFill>
      </p:bgPr>
    </p:bg>
    <p:spTree>
      <p:nvGrpSpPr>
        <p:cNvPr id="718" name="Shape 718"/>
        <p:cNvGrpSpPr/>
        <p:nvPr/>
      </p:nvGrpSpPr>
      <p:grpSpPr>
        <a:xfrm>
          <a:off x="0" y="0"/>
          <a:ext cx="0" cy="0"/>
          <a:chOff x="0" y="0"/>
          <a:chExt cx="0" cy="0"/>
        </a:xfrm>
      </p:grpSpPr>
      <p:sp>
        <p:nvSpPr>
          <p:cNvPr id="719" name="Google Shape;719;p29"/>
          <p:cNvSpPr/>
          <p:nvPr/>
        </p:nvSpPr>
        <p:spPr>
          <a:xfrm>
            <a:off x="0" y="0"/>
            <a:ext cx="9144000" cy="50292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29"/>
          <p:cNvSpPr/>
          <p:nvPr/>
        </p:nvSpPr>
        <p:spPr>
          <a:xfrm>
            <a:off x="274320" y="0"/>
            <a:ext cx="6858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BRAZO ROBÓTICO CLASIFICADOR  ·  LEÉ ANTES DE LA RONDA 1</a:t>
            </a:r>
            <a:endParaRPr b="0" i="0" sz="1100" u="none" cap="none" strike="noStrike">
              <a:solidFill>
                <a:schemeClr val="dk1"/>
              </a:solidFill>
              <a:latin typeface="Calibri"/>
              <a:ea typeface="Calibri"/>
              <a:cs typeface="Calibri"/>
              <a:sym typeface="Calibri"/>
            </a:endParaRPr>
          </a:p>
        </p:txBody>
      </p:sp>
      <p:sp>
        <p:nvSpPr>
          <p:cNvPr id="721" name="Google Shape;721;p29"/>
          <p:cNvSpPr/>
          <p:nvPr/>
        </p:nvSpPr>
        <p:spPr>
          <a:xfrm>
            <a:off x="7863840" y="54864"/>
            <a:ext cx="384048" cy="384048"/>
          </a:xfrm>
          <a:prstGeom prst="ellipse">
            <a:avLst/>
          </a:prstGeom>
          <a:solidFill>
            <a:srgbClr val="0A0E2A"/>
          </a:solidFill>
          <a:ln cap="flat" cmpd="sng" w="12700">
            <a:solidFill>
              <a:srgbClr val="0A0E2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29"/>
          <p:cNvSpPr/>
          <p:nvPr/>
        </p:nvSpPr>
        <p:spPr>
          <a:xfrm>
            <a:off x="7863840" y="548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1300"/>
              <a:buFont typeface="Calibri"/>
              <a:buNone/>
            </a:pPr>
            <a:r>
              <a:rPr b="1" i="0" lang="en-US" sz="1300" u="none" cap="none" strike="noStrike">
                <a:solidFill>
                  <a:srgbClr val="00D4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723" name="Google Shape;723;p29"/>
          <p:cNvSpPr/>
          <p:nvPr/>
        </p:nvSpPr>
        <p:spPr>
          <a:xfrm>
            <a:off x="0" y="502920"/>
            <a:ext cx="2560320" cy="464058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29"/>
          <p:cNvSpPr/>
          <p:nvPr/>
        </p:nvSpPr>
        <p:spPr>
          <a:xfrm>
            <a:off x="0" y="548640"/>
            <a:ext cx="2560320" cy="2286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4000"/>
              <a:buFont typeface="Calibri"/>
              <a:buNone/>
            </a:pPr>
            <a:r>
              <a:rPr b="1" i="0" lang="en-US" sz="14000" u="none" cap="none" strike="noStrike">
                <a:solidFill>
                  <a:srgbClr val="0A0E2A"/>
                </a:solidFill>
                <a:latin typeface="Calibri"/>
                <a:ea typeface="Calibri"/>
                <a:cs typeface="Calibri"/>
                <a:sym typeface="Calibri"/>
              </a:rPr>
              <a:t>4</a:t>
            </a:r>
            <a:endParaRPr b="0" i="0" sz="14000" u="none" cap="none" strike="noStrike">
              <a:solidFill>
                <a:schemeClr val="dk1"/>
              </a:solidFill>
              <a:latin typeface="Calibri"/>
              <a:ea typeface="Calibri"/>
              <a:cs typeface="Calibri"/>
              <a:sym typeface="Calibri"/>
            </a:endParaRPr>
          </a:p>
        </p:txBody>
      </p:sp>
      <p:sp>
        <p:nvSpPr>
          <p:cNvPr id="725" name="Google Shape;725;p29"/>
          <p:cNvSpPr/>
          <p:nvPr/>
        </p:nvSpPr>
        <p:spPr>
          <a:xfrm>
            <a:off x="91440" y="3108960"/>
            <a:ext cx="2377440" cy="13716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Robótica</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IA</a:t>
            </a:r>
            <a:endParaRPr b="0" i="0" sz="11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Sustentabilidad</a:t>
            </a:r>
            <a:endParaRPr b="0" i="0" sz="1100" u="none" cap="none" strike="noStrike">
              <a:solidFill>
                <a:schemeClr val="dk1"/>
              </a:solidFill>
              <a:latin typeface="Calibri"/>
              <a:ea typeface="Calibri"/>
              <a:cs typeface="Calibri"/>
              <a:sym typeface="Calibri"/>
            </a:endParaRPr>
          </a:p>
        </p:txBody>
      </p:sp>
      <p:sp>
        <p:nvSpPr>
          <p:cNvPr id="726" name="Google Shape;726;p29"/>
          <p:cNvSpPr/>
          <p:nvPr/>
        </p:nvSpPr>
        <p:spPr>
          <a:xfrm>
            <a:off x="2926080" y="594360"/>
            <a:ext cx="594360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D4FF"/>
              </a:buClr>
              <a:buSzPts val="2400"/>
              <a:buFont typeface="Calibri"/>
              <a:buNone/>
            </a:pPr>
            <a:r>
              <a:rPr b="1" i="0" lang="en-US" sz="2400" u="none" cap="none" strike="noStrike">
                <a:solidFill>
                  <a:srgbClr val="00D4FF"/>
                </a:solidFill>
                <a:latin typeface="Calibri"/>
                <a:ea typeface="Calibri"/>
                <a:cs typeface="Calibri"/>
                <a:sym typeface="Calibri"/>
              </a:rPr>
              <a:t>Brazo Robótico Clasificador</a:t>
            </a:r>
            <a:endParaRPr b="0" i="0" sz="2400" u="none" cap="none" strike="noStrike">
              <a:solidFill>
                <a:schemeClr val="dk1"/>
              </a:solidFill>
              <a:latin typeface="Calibri"/>
              <a:ea typeface="Calibri"/>
              <a:cs typeface="Calibri"/>
              <a:sym typeface="Calibri"/>
            </a:endParaRPr>
          </a:p>
        </p:txBody>
      </p:sp>
      <p:sp>
        <p:nvSpPr>
          <p:cNvPr id="727" name="Google Shape;727;p29"/>
          <p:cNvSpPr/>
          <p:nvPr/>
        </p:nvSpPr>
        <p:spPr>
          <a:xfrm>
            <a:off x="2834640" y="1572768"/>
            <a:ext cx="6035040" cy="1920240"/>
          </a:xfrm>
          <a:prstGeom prst="roundRect">
            <a:avLst>
              <a:gd fmla="val 5714" name="adj"/>
            </a:avLst>
          </a:prstGeom>
          <a:solidFill>
            <a:srgbClr val="0A0E2A"/>
          </a:solidFill>
          <a:ln cap="flat" cmpd="sng" w="19050">
            <a:solidFill>
              <a:srgbClr val="00D4FF"/>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29"/>
          <p:cNvSpPr/>
          <p:nvPr/>
        </p:nvSpPr>
        <p:spPr>
          <a:xfrm>
            <a:off x="3017520" y="1645920"/>
            <a:ext cx="56692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950"/>
              <a:buFont typeface="Calibri"/>
              <a:buNone/>
            </a:pPr>
            <a:r>
              <a:rPr b="1" i="0" lang="en-US" sz="950" u="none" cap="none" strike="noStrike">
                <a:solidFill>
                  <a:srgbClr val="00D4FF"/>
                </a:solidFill>
                <a:latin typeface="Calibri"/>
                <a:ea typeface="Calibri"/>
                <a:cs typeface="Calibri"/>
                <a:sym typeface="Calibri"/>
              </a:rPr>
              <a:t>LA SITUACIÓN</a:t>
            </a:r>
            <a:endParaRPr b="0" i="0" sz="950" u="none" cap="none" strike="noStrike">
              <a:solidFill>
                <a:schemeClr val="dk1"/>
              </a:solidFill>
              <a:latin typeface="Calibri"/>
              <a:ea typeface="Calibri"/>
              <a:cs typeface="Calibri"/>
              <a:sym typeface="Calibri"/>
            </a:endParaRPr>
          </a:p>
        </p:txBody>
      </p:sp>
      <p:sp>
        <p:nvSpPr>
          <p:cNvPr id="729" name="Google Shape;729;p29"/>
          <p:cNvSpPr/>
          <p:nvPr/>
        </p:nvSpPr>
        <p:spPr>
          <a:xfrm>
            <a:off x="3017520" y="1938528"/>
            <a:ext cx="5669280" cy="146304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E8EDF5"/>
              </a:buClr>
              <a:buSzPts val="1250"/>
              <a:buFont typeface="Calibri"/>
              <a:buNone/>
            </a:pPr>
            <a:r>
              <a:rPr b="0" i="0" lang="en-US" sz="1250" u="none" cap="none" strike="noStrike">
                <a:solidFill>
                  <a:srgbClr val="E8EDF5"/>
                </a:solidFill>
                <a:latin typeface="Calibri"/>
                <a:ea typeface="Calibri"/>
                <a:cs typeface="Calibri"/>
                <a:sym typeface="Calibri"/>
              </a:rPr>
              <a:t>En un punto de reciclaje escolar o doméstico, las personas depositan residuos de todo tipo en el mismo lugar: plástico, papel, metal, restos de comida. Aunque hay contenedores separados, casi nadie los usa bien. Cuando un residuo contaminante cae en el contenedor de reciclables, todo ese material ya no puede procesarse.</a:t>
            </a:r>
            <a:endParaRPr b="0" i="0" sz="1250" u="none" cap="none" strike="noStrike">
              <a:solidFill>
                <a:schemeClr val="dk1"/>
              </a:solidFill>
              <a:latin typeface="Calibri"/>
              <a:ea typeface="Calibri"/>
              <a:cs typeface="Calibri"/>
              <a:sym typeface="Calibri"/>
            </a:endParaRPr>
          </a:p>
        </p:txBody>
      </p:sp>
      <p:sp>
        <p:nvSpPr>
          <p:cNvPr id="730" name="Google Shape;730;p29"/>
          <p:cNvSpPr/>
          <p:nvPr/>
        </p:nvSpPr>
        <p:spPr>
          <a:xfrm>
            <a:off x="2834640" y="3611880"/>
            <a:ext cx="6035040" cy="594360"/>
          </a:xfrm>
          <a:prstGeom prst="roundRect">
            <a:avLst>
              <a:gd fmla="val 15385" name="adj"/>
            </a:avLst>
          </a:prstGeom>
          <a:solidFill>
            <a:srgbClr val="FFFFFF"/>
          </a:solidFill>
          <a:ln cap="flat" cmpd="sng" w="12700">
            <a:solidFill>
              <a:srgbClr val="00D4FF">
                <a:alpha val="50196"/>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1" name="Google Shape;731;p29"/>
          <p:cNvSpPr/>
          <p:nvPr/>
        </p:nvSpPr>
        <p:spPr>
          <a:xfrm>
            <a:off x="2999232" y="3611880"/>
            <a:ext cx="10058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950"/>
              <a:buFont typeface="Calibri"/>
              <a:buNone/>
            </a:pPr>
            <a:r>
              <a:rPr b="1" i="0" lang="en-US" sz="950" u="none" cap="none" strike="noStrike">
                <a:solidFill>
                  <a:srgbClr val="00D4FF"/>
                </a:solidFill>
                <a:latin typeface="Calibri"/>
                <a:ea typeface="Calibri"/>
                <a:cs typeface="Calibri"/>
                <a:sym typeface="Calibri"/>
              </a:rPr>
              <a:t>CONTEXTO:</a:t>
            </a:r>
            <a:endParaRPr b="0" i="0" sz="950" u="none" cap="none" strike="noStrike">
              <a:solidFill>
                <a:schemeClr val="dk1"/>
              </a:solidFill>
              <a:latin typeface="Calibri"/>
              <a:ea typeface="Calibri"/>
              <a:cs typeface="Calibri"/>
              <a:sym typeface="Calibri"/>
            </a:endParaRPr>
          </a:p>
        </p:txBody>
      </p:sp>
      <p:sp>
        <p:nvSpPr>
          <p:cNvPr id="732" name="Google Shape;732;p29"/>
          <p:cNvSpPr/>
          <p:nvPr/>
        </p:nvSpPr>
        <p:spPr>
          <a:xfrm>
            <a:off x="4041648" y="3611880"/>
            <a:ext cx="4736592"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3A5C"/>
              </a:buClr>
              <a:buSzPts val="1100"/>
              <a:buFont typeface="Calibri"/>
              <a:buNone/>
            </a:pPr>
            <a:r>
              <a:rPr b="0" i="0" lang="en-US" sz="1100" u="none" cap="none" strike="noStrike">
                <a:solidFill>
                  <a:srgbClr val="2E3A5C"/>
                </a:solidFill>
                <a:latin typeface="Calibri"/>
                <a:ea typeface="Calibri"/>
                <a:cs typeface="Calibri"/>
                <a:sym typeface="Calibri"/>
              </a:rPr>
              <a:t>Puntos de reciclaje donde los usuarios depositan residuos mezclados sin clasificar, generando contaminación de material reciclable.</a:t>
            </a:r>
            <a:endParaRPr b="0" i="0" sz="1100" u="none" cap="none" strike="noStrike">
              <a:solidFill>
                <a:schemeClr val="dk1"/>
              </a:solidFill>
              <a:latin typeface="Calibri"/>
              <a:ea typeface="Calibri"/>
              <a:cs typeface="Calibri"/>
              <a:sym typeface="Calibri"/>
            </a:endParaRPr>
          </a:p>
        </p:txBody>
      </p:sp>
      <p:sp>
        <p:nvSpPr>
          <p:cNvPr id="733" name="Google Shape;733;p29"/>
          <p:cNvSpPr/>
          <p:nvPr/>
        </p:nvSpPr>
        <p:spPr>
          <a:xfrm>
            <a:off x="2834640" y="4325112"/>
            <a:ext cx="6035040" cy="594360"/>
          </a:xfrm>
          <a:prstGeom prst="roundRect">
            <a:avLst>
              <a:gd fmla="val 15385" name="adj"/>
            </a:avLst>
          </a:prstGeom>
          <a:solidFill>
            <a:srgbClr val="00D4FF">
              <a:alpha val="92156"/>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4" name="Google Shape;734;p29"/>
          <p:cNvSpPr/>
          <p:nvPr/>
        </p:nvSpPr>
        <p:spPr>
          <a:xfrm>
            <a:off x="2971800" y="4325112"/>
            <a:ext cx="580644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  ¿Qué problema hay acá? — Escriban su respuesta en Ronda 1</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739" name="Shape 739"/>
        <p:cNvGrpSpPr/>
        <p:nvPr/>
      </p:nvGrpSpPr>
      <p:grpSpPr>
        <a:xfrm>
          <a:off x="0" y="0"/>
          <a:ext cx="0" cy="0"/>
          <a:chOff x="0" y="0"/>
          <a:chExt cx="0" cy="0"/>
        </a:xfrm>
      </p:grpSpPr>
      <p:sp>
        <p:nvSpPr>
          <p:cNvPr id="740" name="Google Shape;740;p30"/>
          <p:cNvSpPr/>
          <p:nvPr/>
        </p:nvSpPr>
        <p:spPr>
          <a:xfrm>
            <a:off x="0" y="0"/>
            <a:ext cx="9144000" cy="50292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1" name="Google Shape;741;p30"/>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BRAZO ROBÓTICO CLASIFICADOR  ·  RONDA 1 DE 5</a:t>
            </a:r>
            <a:endParaRPr b="0" i="0" sz="1100" u="none" cap="none" strike="noStrike">
              <a:solidFill>
                <a:schemeClr val="dk1"/>
              </a:solidFill>
              <a:latin typeface="Calibri"/>
              <a:ea typeface="Calibri"/>
              <a:cs typeface="Calibri"/>
              <a:sym typeface="Calibri"/>
            </a:endParaRPr>
          </a:p>
        </p:txBody>
      </p:sp>
      <p:sp>
        <p:nvSpPr>
          <p:cNvPr id="742" name="Google Shape;742;p30"/>
          <p:cNvSpPr/>
          <p:nvPr/>
        </p:nvSpPr>
        <p:spPr>
          <a:xfrm>
            <a:off x="7498080" y="54864"/>
            <a:ext cx="1417320" cy="384048"/>
          </a:xfrm>
          <a:prstGeom prst="roundRect">
            <a:avLst>
              <a:gd fmla="val 19048" name="adj"/>
            </a:avLst>
          </a:prstGeom>
          <a:solidFill>
            <a:srgbClr val="0A0E2A"/>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30"/>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B800"/>
              </a:buClr>
              <a:buSzPts val="1300"/>
              <a:buFont typeface="Calibri"/>
              <a:buNone/>
            </a:pPr>
            <a:r>
              <a:rPr b="1" i="0" lang="en-US" sz="1300" u="none" cap="none" strike="noStrike">
                <a:solidFill>
                  <a:srgbClr val="FFB800"/>
                </a:solidFill>
                <a:latin typeface="Calibri"/>
                <a:ea typeface="Calibri"/>
                <a:cs typeface="Calibri"/>
                <a:sym typeface="Calibri"/>
              </a:rPr>
              <a:t>⏱  2 min</a:t>
            </a:r>
            <a:endParaRPr b="0" i="0" sz="1300" u="none" cap="none" strike="noStrike">
              <a:solidFill>
                <a:schemeClr val="dk1"/>
              </a:solidFill>
              <a:latin typeface="Calibri"/>
              <a:ea typeface="Calibri"/>
              <a:cs typeface="Calibri"/>
              <a:sym typeface="Calibri"/>
            </a:endParaRPr>
          </a:p>
        </p:txBody>
      </p:sp>
      <p:sp>
        <p:nvSpPr>
          <p:cNvPr id="744" name="Google Shape;744;p30"/>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1100"/>
              <a:buFont typeface="Calibri"/>
              <a:buNone/>
            </a:pPr>
            <a:r>
              <a:rPr b="1" i="0" lang="en-US" sz="1100" u="none" cap="none" strike="noStrike">
                <a:solidFill>
                  <a:srgbClr val="FFB800"/>
                </a:solidFill>
                <a:latin typeface="Calibri"/>
                <a:ea typeface="Calibri"/>
                <a:cs typeface="Calibri"/>
                <a:sym typeface="Calibri"/>
              </a:rPr>
              <a:t>RONDA 1</a:t>
            </a:r>
            <a:endParaRPr b="0" i="0" sz="1100" u="none" cap="none" strike="noStrike">
              <a:solidFill>
                <a:schemeClr val="dk1"/>
              </a:solidFill>
              <a:latin typeface="Calibri"/>
              <a:ea typeface="Calibri"/>
              <a:cs typeface="Calibri"/>
              <a:sym typeface="Calibri"/>
            </a:endParaRPr>
          </a:p>
        </p:txBody>
      </p:sp>
      <p:sp>
        <p:nvSpPr>
          <p:cNvPr id="745" name="Google Shape;745;p30"/>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2600"/>
              <a:buFont typeface="Calibri"/>
              <a:buNone/>
            </a:pPr>
            <a:r>
              <a:rPr b="1" i="0" lang="en-US" sz="2600" u="none" cap="none" strike="noStrike">
                <a:solidFill>
                  <a:srgbClr val="FFB800"/>
                </a:solidFill>
                <a:latin typeface="Calibri"/>
                <a:ea typeface="Calibri"/>
                <a:cs typeface="Calibri"/>
                <a:sym typeface="Calibri"/>
              </a:rPr>
              <a:t>PROBLEMA VAGO</a:t>
            </a:r>
            <a:endParaRPr b="0" i="0" sz="2600" u="none" cap="none" strike="noStrike">
              <a:solidFill>
                <a:schemeClr val="dk1"/>
              </a:solidFill>
              <a:latin typeface="Calibri"/>
              <a:ea typeface="Calibri"/>
              <a:cs typeface="Calibri"/>
              <a:sym typeface="Calibri"/>
            </a:endParaRPr>
          </a:p>
        </p:txBody>
      </p:sp>
      <p:sp>
        <p:nvSpPr>
          <p:cNvPr id="746" name="Google Shape;746;p30"/>
          <p:cNvSpPr/>
          <p:nvPr/>
        </p:nvSpPr>
        <p:spPr>
          <a:xfrm>
            <a:off x="365760" y="1600200"/>
            <a:ext cx="8412480" cy="868680"/>
          </a:xfrm>
          <a:prstGeom prst="roundRect">
            <a:avLst>
              <a:gd fmla="val 12632" name="adj"/>
            </a:avLst>
          </a:prstGeom>
          <a:solidFill>
            <a:srgbClr val="1A2550"/>
          </a:solidFill>
          <a:ln cap="flat" cmpd="sng" w="22850">
            <a:solidFill>
              <a:srgbClr val="FFB800"/>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30"/>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Lean la slide anterior. Escriban en UNA oración el problema vago que da origen a esta solución.</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No técnico. Como lo diría alguien en la calle.</a:t>
            </a:r>
            <a:endParaRPr b="0" i="0" sz="1300" u="none" cap="none" strike="noStrike">
              <a:solidFill>
                <a:schemeClr val="dk1"/>
              </a:solidFill>
              <a:latin typeface="Calibri"/>
              <a:ea typeface="Calibri"/>
              <a:cs typeface="Calibri"/>
              <a:sym typeface="Calibri"/>
            </a:endParaRPr>
          </a:p>
        </p:txBody>
      </p:sp>
      <p:sp>
        <p:nvSpPr>
          <p:cNvPr id="748" name="Google Shape;748;p30"/>
          <p:cNvSpPr/>
          <p:nvPr/>
        </p:nvSpPr>
        <p:spPr>
          <a:xfrm>
            <a:off x="365760" y="2606040"/>
            <a:ext cx="8412480" cy="2194560"/>
          </a:xfrm>
          <a:prstGeom prst="roundRect">
            <a:avLst>
              <a:gd fmla="val 5000" name="adj"/>
            </a:avLst>
          </a:prstGeom>
          <a:solidFill>
            <a:srgbClr val="1A2550"/>
          </a:solidFill>
          <a:ln cap="flat" cmpd="sng" w="19050">
            <a:solidFill>
              <a:srgbClr val="FFB800"/>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30"/>
          <p:cNvSpPr/>
          <p:nvPr/>
        </p:nvSpPr>
        <p:spPr>
          <a:xfrm>
            <a:off x="548640" y="2670048"/>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B800"/>
              </a:buClr>
              <a:buSzPts val="1000"/>
              <a:buFont typeface="Calibri"/>
              <a:buNone/>
            </a:pPr>
            <a:r>
              <a:rPr b="1" i="0" lang="en-US" sz="1000" u="none" cap="none" strike="noStrike">
                <a:solidFill>
                  <a:srgbClr val="FFB800"/>
                </a:solidFill>
                <a:latin typeface="Calibri"/>
                <a:ea typeface="Calibri"/>
                <a:cs typeface="Calibri"/>
                <a:sym typeface="Calibri"/>
              </a:rPr>
              <a:t>PISTA — ¿Cómo lo diría alguien sin conocimiento técnico?</a:t>
            </a:r>
            <a:endParaRPr b="0" i="0" sz="1000" u="none" cap="none" strike="noStrike">
              <a:solidFill>
                <a:schemeClr val="dk1"/>
              </a:solidFill>
              <a:latin typeface="Calibri"/>
              <a:ea typeface="Calibri"/>
              <a:cs typeface="Calibri"/>
              <a:sym typeface="Calibri"/>
            </a:endParaRPr>
          </a:p>
        </p:txBody>
      </p:sp>
      <p:sp>
        <p:nvSpPr>
          <p:cNvPr id="750" name="Google Shape;750;p30"/>
          <p:cNvSpPr/>
          <p:nvPr/>
        </p:nvSpPr>
        <p:spPr>
          <a:xfrm>
            <a:off x="548640" y="2999232"/>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0" i="1" lang="en-US" sz="1100" u="none" cap="none" strike="noStrike">
                <a:solidFill>
                  <a:srgbClr val="E8EDF5"/>
                </a:solidFill>
                <a:latin typeface="Calibri"/>
                <a:ea typeface="Calibri"/>
                <a:cs typeface="Calibri"/>
                <a:sym typeface="Calibri"/>
              </a:rPr>
              <a:t>✗  NO: 'El sensor TCS3200 detecta material no ferroso' — eso es técnico, no vago.</a:t>
            </a:r>
            <a:endParaRPr b="0" i="0" sz="1100" u="none" cap="none" strike="noStrike">
              <a:solidFill>
                <a:schemeClr val="dk1"/>
              </a:solidFill>
              <a:latin typeface="Calibri"/>
              <a:ea typeface="Calibri"/>
              <a:cs typeface="Calibri"/>
              <a:sym typeface="Calibri"/>
            </a:endParaRPr>
          </a:p>
        </p:txBody>
      </p:sp>
      <p:sp>
        <p:nvSpPr>
          <p:cNvPr id="751" name="Google Shape;751;p30"/>
          <p:cNvSpPr/>
          <p:nvPr/>
        </p:nvSpPr>
        <p:spPr>
          <a:xfrm>
            <a:off x="548640" y="3291840"/>
            <a:ext cx="804672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0" i="1" lang="en-US" sz="1100" u="none" cap="none" strike="noStrike">
                <a:solidFill>
                  <a:srgbClr val="E8EDF5"/>
                </a:solidFill>
                <a:latin typeface="Calibri"/>
                <a:ea typeface="Calibri"/>
                <a:cs typeface="Calibri"/>
                <a:sym typeface="Calibri"/>
              </a:rPr>
              <a:t>✓  SÍ: 'La gente tira todo junto en el mismo tacho y los reciclables terminan contaminados y no se pueden usar.'</a:t>
            </a:r>
            <a:endParaRPr b="0" i="0" sz="1100" u="none" cap="none" strike="noStrike">
              <a:solidFill>
                <a:schemeClr val="dk1"/>
              </a:solidFill>
              <a:latin typeface="Calibri"/>
              <a:ea typeface="Calibri"/>
              <a:cs typeface="Calibri"/>
              <a:sym typeface="Calibri"/>
            </a:endParaRPr>
          </a:p>
        </p:txBody>
      </p:sp>
      <p:sp>
        <p:nvSpPr>
          <p:cNvPr id="752" name="Google Shape;752;p30"/>
          <p:cNvSpPr/>
          <p:nvPr/>
        </p:nvSpPr>
        <p:spPr>
          <a:xfrm>
            <a:off x="548640" y="3657600"/>
            <a:ext cx="8046720" cy="457200"/>
          </a:xfrm>
          <a:prstGeom prst="roundRect">
            <a:avLst>
              <a:gd fmla="val 16000" name="adj"/>
            </a:avLst>
          </a:prstGeom>
          <a:solidFill>
            <a:srgbClr val="FFB800">
              <a:alpha val="87843"/>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30"/>
          <p:cNvSpPr/>
          <p:nvPr/>
        </p:nvSpPr>
        <p:spPr>
          <a:xfrm>
            <a:off x="685800" y="3657600"/>
            <a:ext cx="7772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  Escriban su problema vago. Comparten al terminar el tiempo.</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A"/>
        </a:solidFill>
      </p:bgPr>
    </p:bg>
    <p:spTree>
      <p:nvGrpSpPr>
        <p:cNvPr id="758" name="Shape 758"/>
        <p:cNvGrpSpPr/>
        <p:nvPr/>
      </p:nvGrpSpPr>
      <p:grpSpPr>
        <a:xfrm>
          <a:off x="0" y="0"/>
          <a:ext cx="0" cy="0"/>
          <a:chOff x="0" y="0"/>
          <a:chExt cx="0" cy="0"/>
        </a:xfrm>
      </p:grpSpPr>
      <p:sp>
        <p:nvSpPr>
          <p:cNvPr id="759" name="Google Shape;759;p31"/>
          <p:cNvSpPr/>
          <p:nvPr/>
        </p:nvSpPr>
        <p:spPr>
          <a:xfrm>
            <a:off x="0" y="0"/>
            <a:ext cx="9144000" cy="50292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31"/>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BRAZO ROBÓTICO CLASIFICADOR  ·  RONDA 2 DE 5</a:t>
            </a:r>
            <a:endParaRPr b="0" i="0" sz="1100" u="none" cap="none" strike="noStrike">
              <a:solidFill>
                <a:schemeClr val="dk1"/>
              </a:solidFill>
              <a:latin typeface="Calibri"/>
              <a:ea typeface="Calibri"/>
              <a:cs typeface="Calibri"/>
              <a:sym typeface="Calibri"/>
            </a:endParaRPr>
          </a:p>
        </p:txBody>
      </p:sp>
      <p:sp>
        <p:nvSpPr>
          <p:cNvPr id="761" name="Google Shape;761;p31"/>
          <p:cNvSpPr/>
          <p:nvPr/>
        </p:nvSpPr>
        <p:spPr>
          <a:xfrm>
            <a:off x="7498080" y="54864"/>
            <a:ext cx="1417320" cy="384048"/>
          </a:xfrm>
          <a:prstGeom prst="roundRect">
            <a:avLst>
              <a:gd fmla="val 19048" name="adj"/>
            </a:avLst>
          </a:prstGeom>
          <a:solidFill>
            <a:srgbClr val="0A0E2A"/>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31"/>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D4FF"/>
              </a:buClr>
              <a:buSzPts val="1300"/>
              <a:buFont typeface="Calibri"/>
              <a:buNone/>
            </a:pPr>
            <a:r>
              <a:rPr b="1" i="0" lang="en-US" sz="1300" u="none" cap="none" strike="noStrike">
                <a:solidFill>
                  <a:srgbClr val="00D4FF"/>
                </a:solidFill>
                <a:latin typeface="Calibri"/>
                <a:ea typeface="Calibri"/>
                <a:cs typeface="Calibri"/>
                <a:sym typeface="Calibri"/>
              </a:rPr>
              <a:t>⏱  4 min</a:t>
            </a:r>
            <a:endParaRPr b="0" i="0" sz="1300" u="none" cap="none" strike="noStrike">
              <a:solidFill>
                <a:schemeClr val="dk1"/>
              </a:solidFill>
              <a:latin typeface="Calibri"/>
              <a:ea typeface="Calibri"/>
              <a:cs typeface="Calibri"/>
              <a:sym typeface="Calibri"/>
            </a:endParaRPr>
          </a:p>
        </p:txBody>
      </p:sp>
      <p:sp>
        <p:nvSpPr>
          <p:cNvPr id="763" name="Google Shape;763;p31"/>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D4FF"/>
              </a:buClr>
              <a:buSzPts val="1100"/>
              <a:buFont typeface="Calibri"/>
              <a:buNone/>
            </a:pPr>
            <a:r>
              <a:rPr b="1" i="0" lang="en-US" sz="1100" u="none" cap="none" strike="noStrike">
                <a:solidFill>
                  <a:srgbClr val="00D4FF"/>
                </a:solidFill>
                <a:latin typeface="Calibri"/>
                <a:ea typeface="Calibri"/>
                <a:cs typeface="Calibri"/>
                <a:sym typeface="Calibri"/>
              </a:rPr>
              <a:t>RONDA 2</a:t>
            </a:r>
            <a:endParaRPr b="0" i="0" sz="1100" u="none" cap="none" strike="noStrike">
              <a:solidFill>
                <a:schemeClr val="dk1"/>
              </a:solidFill>
              <a:latin typeface="Calibri"/>
              <a:ea typeface="Calibri"/>
              <a:cs typeface="Calibri"/>
              <a:sym typeface="Calibri"/>
            </a:endParaRPr>
          </a:p>
        </p:txBody>
      </p:sp>
      <p:sp>
        <p:nvSpPr>
          <p:cNvPr id="764" name="Google Shape;764;p31"/>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2600"/>
              <a:buFont typeface="Calibri"/>
              <a:buNone/>
            </a:pPr>
            <a:r>
              <a:rPr b="1" i="0" lang="en-US" sz="2600" u="none" cap="none" strike="noStrike">
                <a:solidFill>
                  <a:srgbClr val="0A0E2A"/>
                </a:solidFill>
                <a:latin typeface="Calibri"/>
                <a:ea typeface="Calibri"/>
                <a:cs typeface="Calibri"/>
                <a:sym typeface="Calibri"/>
              </a:rPr>
              <a:t>PREGUNTAS DISPARADORAS</a:t>
            </a:r>
            <a:endParaRPr b="0" i="0" sz="2600" u="none" cap="none" strike="noStrike">
              <a:solidFill>
                <a:schemeClr val="dk1"/>
              </a:solidFill>
              <a:latin typeface="Calibri"/>
              <a:ea typeface="Calibri"/>
              <a:cs typeface="Calibri"/>
              <a:sym typeface="Calibri"/>
            </a:endParaRPr>
          </a:p>
        </p:txBody>
      </p:sp>
      <p:sp>
        <p:nvSpPr>
          <p:cNvPr id="765" name="Google Shape;765;p31"/>
          <p:cNvSpPr/>
          <p:nvPr/>
        </p:nvSpPr>
        <p:spPr>
          <a:xfrm>
            <a:off x="365760" y="1600200"/>
            <a:ext cx="8412480" cy="868680"/>
          </a:xfrm>
          <a:prstGeom prst="roundRect">
            <a:avLst>
              <a:gd fmla="val 12632" name="adj"/>
            </a:avLst>
          </a:prstGeom>
          <a:solidFill>
            <a:srgbClr val="FFFFFF"/>
          </a:solidFill>
          <a:ln cap="flat" cmpd="sng" w="22850">
            <a:solidFill>
              <a:srgbClr val="00D4FF"/>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31"/>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Formulen UNA pregunta disparadora para cada tipo:</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¿Cómo...? · ¿Por qué...? · ¿Para qué...? · ¿Qué harías...?</a:t>
            </a:r>
            <a:endParaRPr b="0" i="0" sz="1300" u="none" cap="none" strike="noStrike">
              <a:solidFill>
                <a:schemeClr val="dk1"/>
              </a:solidFill>
              <a:latin typeface="Calibri"/>
              <a:ea typeface="Calibri"/>
              <a:cs typeface="Calibri"/>
              <a:sym typeface="Calibri"/>
            </a:endParaRPr>
          </a:p>
        </p:txBody>
      </p:sp>
      <p:sp>
        <p:nvSpPr>
          <p:cNvPr id="767" name="Google Shape;767;p31"/>
          <p:cNvSpPr/>
          <p:nvPr/>
        </p:nvSpPr>
        <p:spPr>
          <a:xfrm>
            <a:off x="365760" y="2578608"/>
            <a:ext cx="4160520" cy="1078992"/>
          </a:xfrm>
          <a:prstGeom prst="roundRect">
            <a:avLst>
              <a:gd fmla="val 8475" name="adj"/>
            </a:avLst>
          </a:prstGeom>
          <a:solidFill>
            <a:srgbClr val="FFFFFF"/>
          </a:solidFill>
          <a:ln cap="flat" cmpd="sng" w="19050">
            <a:solidFill>
              <a:srgbClr val="00D4FF"/>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31"/>
          <p:cNvSpPr/>
          <p:nvPr/>
        </p:nvSpPr>
        <p:spPr>
          <a:xfrm>
            <a:off x="457200" y="2670048"/>
            <a:ext cx="1371600" cy="292608"/>
          </a:xfrm>
          <a:prstGeom prst="roundRect">
            <a:avLst>
              <a:gd fmla="val 15625" name="adj"/>
            </a:avLst>
          </a:prstGeom>
          <a:solidFill>
            <a:srgbClr val="00D4FF">
              <a:alpha val="90196"/>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31"/>
          <p:cNvSpPr/>
          <p:nvPr/>
        </p:nvSpPr>
        <p:spPr>
          <a:xfrm>
            <a:off x="457200" y="2670048"/>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¿Cómo...?</a:t>
            </a:r>
            <a:endParaRPr b="0" i="0" sz="1100" u="none" cap="none" strike="noStrike">
              <a:solidFill>
                <a:schemeClr val="dk1"/>
              </a:solidFill>
              <a:latin typeface="Calibri"/>
              <a:ea typeface="Calibri"/>
              <a:cs typeface="Calibri"/>
              <a:sym typeface="Calibri"/>
            </a:endParaRPr>
          </a:p>
        </p:txBody>
      </p:sp>
      <p:sp>
        <p:nvSpPr>
          <p:cNvPr id="770" name="Google Shape;770;p31"/>
          <p:cNvSpPr/>
          <p:nvPr/>
        </p:nvSpPr>
        <p:spPr>
          <a:xfrm>
            <a:off x="1920240" y="2688336"/>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Busca crear un proceso o solución</a:t>
            </a:r>
            <a:endParaRPr b="0" i="0" sz="950" u="none" cap="none" strike="noStrike">
              <a:solidFill>
                <a:schemeClr val="dk1"/>
              </a:solidFill>
              <a:latin typeface="Calibri"/>
              <a:ea typeface="Calibri"/>
              <a:cs typeface="Calibri"/>
              <a:sym typeface="Calibri"/>
            </a:endParaRPr>
          </a:p>
        </p:txBody>
      </p:sp>
      <p:sp>
        <p:nvSpPr>
          <p:cNvPr id="771" name="Google Shape;771;p31"/>
          <p:cNvSpPr/>
          <p:nvPr/>
        </p:nvSpPr>
        <p:spPr>
          <a:xfrm>
            <a:off x="457200" y="3035808"/>
            <a:ext cx="3886200" cy="502920"/>
          </a:xfrm>
          <a:prstGeom prst="roundRect">
            <a:avLst>
              <a:gd fmla="val 10909" name="adj"/>
            </a:avLst>
          </a:prstGeom>
          <a:solidFill>
            <a:srgbClr val="00D4FF">
              <a:alpha val="7843"/>
            </a:srgbClr>
          </a:solidFill>
          <a:ln cap="flat" cmpd="sng" w="12700">
            <a:solidFill>
              <a:srgbClr val="00D4FF">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31"/>
          <p:cNvSpPr/>
          <p:nvPr/>
        </p:nvSpPr>
        <p:spPr>
          <a:xfrm>
            <a:off x="548640" y="3035808"/>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
        <p:nvSpPr>
          <p:cNvPr id="773" name="Google Shape;773;p31"/>
          <p:cNvSpPr/>
          <p:nvPr/>
        </p:nvSpPr>
        <p:spPr>
          <a:xfrm>
            <a:off x="4709160" y="2578608"/>
            <a:ext cx="4160520" cy="1078992"/>
          </a:xfrm>
          <a:prstGeom prst="roundRect">
            <a:avLst>
              <a:gd fmla="val 8475" name="adj"/>
            </a:avLst>
          </a:prstGeom>
          <a:solidFill>
            <a:srgbClr val="FFFFFF"/>
          </a:solidFill>
          <a:ln cap="flat" cmpd="sng" w="19050">
            <a:solidFill>
              <a:srgbClr val="FFB800"/>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31"/>
          <p:cNvSpPr/>
          <p:nvPr/>
        </p:nvSpPr>
        <p:spPr>
          <a:xfrm>
            <a:off x="4800600" y="2670048"/>
            <a:ext cx="1371600" cy="292608"/>
          </a:xfrm>
          <a:prstGeom prst="roundRect">
            <a:avLst>
              <a:gd fmla="val 15625" name="adj"/>
            </a:avLst>
          </a:prstGeom>
          <a:solidFill>
            <a:srgbClr val="FFB800">
              <a:alpha val="90196"/>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31"/>
          <p:cNvSpPr/>
          <p:nvPr/>
        </p:nvSpPr>
        <p:spPr>
          <a:xfrm>
            <a:off x="4800600" y="2670048"/>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¿Por qué...?</a:t>
            </a:r>
            <a:endParaRPr b="0" i="0" sz="1100" u="none" cap="none" strike="noStrike">
              <a:solidFill>
                <a:schemeClr val="dk1"/>
              </a:solidFill>
              <a:latin typeface="Calibri"/>
              <a:ea typeface="Calibri"/>
              <a:cs typeface="Calibri"/>
              <a:sym typeface="Calibri"/>
            </a:endParaRPr>
          </a:p>
        </p:txBody>
      </p:sp>
      <p:sp>
        <p:nvSpPr>
          <p:cNvPr id="776" name="Google Shape;776;p31"/>
          <p:cNvSpPr/>
          <p:nvPr/>
        </p:nvSpPr>
        <p:spPr>
          <a:xfrm>
            <a:off x="6263640" y="2688336"/>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Investiga causas</a:t>
            </a:r>
            <a:endParaRPr b="0" i="0" sz="950" u="none" cap="none" strike="noStrike">
              <a:solidFill>
                <a:schemeClr val="dk1"/>
              </a:solidFill>
              <a:latin typeface="Calibri"/>
              <a:ea typeface="Calibri"/>
              <a:cs typeface="Calibri"/>
              <a:sym typeface="Calibri"/>
            </a:endParaRPr>
          </a:p>
        </p:txBody>
      </p:sp>
      <p:sp>
        <p:nvSpPr>
          <p:cNvPr id="777" name="Google Shape;777;p31"/>
          <p:cNvSpPr/>
          <p:nvPr/>
        </p:nvSpPr>
        <p:spPr>
          <a:xfrm>
            <a:off x="4800600" y="3035808"/>
            <a:ext cx="3886200" cy="502920"/>
          </a:xfrm>
          <a:prstGeom prst="roundRect">
            <a:avLst>
              <a:gd fmla="val 10909" name="adj"/>
            </a:avLst>
          </a:prstGeom>
          <a:solidFill>
            <a:srgbClr val="FFB800">
              <a:alpha val="7843"/>
            </a:srgbClr>
          </a:solidFill>
          <a:ln cap="flat" cmpd="sng" w="12700">
            <a:solidFill>
              <a:srgbClr val="FFB800">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31"/>
          <p:cNvSpPr/>
          <p:nvPr/>
        </p:nvSpPr>
        <p:spPr>
          <a:xfrm>
            <a:off x="4892040" y="3035808"/>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
        <p:nvSpPr>
          <p:cNvPr id="779" name="Google Shape;779;p31"/>
          <p:cNvSpPr/>
          <p:nvPr/>
        </p:nvSpPr>
        <p:spPr>
          <a:xfrm>
            <a:off x="365760" y="3749040"/>
            <a:ext cx="4160520" cy="1078992"/>
          </a:xfrm>
          <a:prstGeom prst="roundRect">
            <a:avLst>
              <a:gd fmla="val 8475" name="adj"/>
            </a:avLst>
          </a:prstGeom>
          <a:solidFill>
            <a:srgbClr val="FFFFFF"/>
          </a:solidFill>
          <a:ln cap="flat" cmpd="sng" w="19050">
            <a:solidFill>
              <a:srgbClr val="00C896"/>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0" name="Google Shape;780;p31"/>
          <p:cNvSpPr/>
          <p:nvPr/>
        </p:nvSpPr>
        <p:spPr>
          <a:xfrm>
            <a:off x="457200" y="3840480"/>
            <a:ext cx="1371600" cy="292608"/>
          </a:xfrm>
          <a:prstGeom prst="roundRect">
            <a:avLst>
              <a:gd fmla="val 15625" name="adj"/>
            </a:avLst>
          </a:prstGeom>
          <a:solidFill>
            <a:srgbClr val="00C896">
              <a:alpha val="90196"/>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31"/>
          <p:cNvSpPr/>
          <p:nvPr/>
        </p:nvSpPr>
        <p:spPr>
          <a:xfrm>
            <a:off x="457200" y="3840480"/>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¿Para qué...?</a:t>
            </a:r>
            <a:endParaRPr b="0" i="0" sz="1100" u="none" cap="none" strike="noStrike">
              <a:solidFill>
                <a:schemeClr val="dk1"/>
              </a:solidFill>
              <a:latin typeface="Calibri"/>
              <a:ea typeface="Calibri"/>
              <a:cs typeface="Calibri"/>
              <a:sym typeface="Calibri"/>
            </a:endParaRPr>
          </a:p>
        </p:txBody>
      </p:sp>
      <p:sp>
        <p:nvSpPr>
          <p:cNvPr id="782" name="Google Shape;782;p31"/>
          <p:cNvSpPr/>
          <p:nvPr/>
        </p:nvSpPr>
        <p:spPr>
          <a:xfrm>
            <a:off x="1920240" y="3858768"/>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Explora el propósito</a:t>
            </a:r>
            <a:endParaRPr b="0" i="0" sz="950" u="none" cap="none" strike="noStrike">
              <a:solidFill>
                <a:schemeClr val="dk1"/>
              </a:solidFill>
              <a:latin typeface="Calibri"/>
              <a:ea typeface="Calibri"/>
              <a:cs typeface="Calibri"/>
              <a:sym typeface="Calibri"/>
            </a:endParaRPr>
          </a:p>
        </p:txBody>
      </p:sp>
      <p:sp>
        <p:nvSpPr>
          <p:cNvPr id="783" name="Google Shape;783;p31"/>
          <p:cNvSpPr/>
          <p:nvPr/>
        </p:nvSpPr>
        <p:spPr>
          <a:xfrm>
            <a:off x="457200" y="4206240"/>
            <a:ext cx="3886200" cy="502920"/>
          </a:xfrm>
          <a:prstGeom prst="roundRect">
            <a:avLst>
              <a:gd fmla="val 10909" name="adj"/>
            </a:avLst>
          </a:prstGeom>
          <a:solidFill>
            <a:srgbClr val="00C896">
              <a:alpha val="7843"/>
            </a:srgbClr>
          </a:solidFill>
          <a:ln cap="flat" cmpd="sng" w="12700">
            <a:solidFill>
              <a:srgbClr val="00C89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31"/>
          <p:cNvSpPr/>
          <p:nvPr/>
        </p:nvSpPr>
        <p:spPr>
          <a:xfrm>
            <a:off x="548640" y="4206240"/>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
        <p:nvSpPr>
          <p:cNvPr id="785" name="Google Shape;785;p31"/>
          <p:cNvSpPr/>
          <p:nvPr/>
        </p:nvSpPr>
        <p:spPr>
          <a:xfrm>
            <a:off x="4709160" y="3749040"/>
            <a:ext cx="4160520" cy="1078992"/>
          </a:xfrm>
          <a:prstGeom prst="roundRect">
            <a:avLst>
              <a:gd fmla="val 8475" name="adj"/>
            </a:avLst>
          </a:prstGeom>
          <a:solidFill>
            <a:srgbClr val="FFFFFF"/>
          </a:solidFill>
          <a:ln cap="flat" cmpd="sng" w="19050">
            <a:solidFill>
              <a:srgbClr val="9B59B6"/>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31"/>
          <p:cNvSpPr/>
          <p:nvPr/>
        </p:nvSpPr>
        <p:spPr>
          <a:xfrm>
            <a:off x="4800600" y="3840480"/>
            <a:ext cx="1371600" cy="292608"/>
          </a:xfrm>
          <a:prstGeom prst="roundRect">
            <a:avLst>
              <a:gd fmla="val 15625" name="adj"/>
            </a:avLst>
          </a:prstGeom>
          <a:solidFill>
            <a:srgbClr val="9B59B6">
              <a:alpha val="90196"/>
            </a:srgbClr>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31"/>
          <p:cNvSpPr/>
          <p:nvPr/>
        </p:nvSpPr>
        <p:spPr>
          <a:xfrm>
            <a:off x="4800600" y="3840480"/>
            <a:ext cx="137160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¿Qué harías...?</a:t>
            </a:r>
            <a:endParaRPr b="0" i="0" sz="1100" u="none" cap="none" strike="noStrike">
              <a:solidFill>
                <a:schemeClr val="dk1"/>
              </a:solidFill>
              <a:latin typeface="Calibri"/>
              <a:ea typeface="Calibri"/>
              <a:cs typeface="Calibri"/>
              <a:sym typeface="Calibri"/>
            </a:endParaRPr>
          </a:p>
        </p:txBody>
      </p:sp>
      <p:sp>
        <p:nvSpPr>
          <p:cNvPr id="788" name="Google Shape;788;p31"/>
          <p:cNvSpPr/>
          <p:nvPr/>
        </p:nvSpPr>
        <p:spPr>
          <a:xfrm>
            <a:off x="6263640" y="3858768"/>
            <a:ext cx="2514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950"/>
              <a:buFont typeface="Calibri"/>
              <a:buNone/>
            </a:pPr>
            <a:r>
              <a:rPr b="0" i="1" lang="en-US" sz="950" u="none" cap="none" strike="noStrike">
                <a:solidFill>
                  <a:srgbClr val="5A6A8A"/>
                </a:solidFill>
                <a:latin typeface="Calibri"/>
                <a:ea typeface="Calibri"/>
                <a:cs typeface="Calibri"/>
                <a:sym typeface="Calibri"/>
              </a:rPr>
              <a:t>Imagina soluciones</a:t>
            </a:r>
            <a:endParaRPr b="0" i="0" sz="950" u="none" cap="none" strike="noStrike">
              <a:solidFill>
                <a:schemeClr val="dk1"/>
              </a:solidFill>
              <a:latin typeface="Calibri"/>
              <a:ea typeface="Calibri"/>
              <a:cs typeface="Calibri"/>
              <a:sym typeface="Calibri"/>
            </a:endParaRPr>
          </a:p>
        </p:txBody>
      </p:sp>
      <p:sp>
        <p:nvSpPr>
          <p:cNvPr id="789" name="Google Shape;789;p31"/>
          <p:cNvSpPr/>
          <p:nvPr/>
        </p:nvSpPr>
        <p:spPr>
          <a:xfrm>
            <a:off x="4800600" y="4206240"/>
            <a:ext cx="3886200" cy="502920"/>
          </a:xfrm>
          <a:prstGeom prst="roundRect">
            <a:avLst>
              <a:gd fmla="val 10909" name="adj"/>
            </a:avLst>
          </a:prstGeom>
          <a:solidFill>
            <a:srgbClr val="9B59B6">
              <a:alpha val="7843"/>
            </a:srgbClr>
          </a:solidFill>
          <a:ln cap="flat" cmpd="sng" w="12700">
            <a:solidFill>
              <a:srgbClr val="9B59B6">
                <a:alpha val="4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31"/>
          <p:cNvSpPr/>
          <p:nvPr/>
        </p:nvSpPr>
        <p:spPr>
          <a:xfrm>
            <a:off x="4892040" y="4206240"/>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8A"/>
              </a:buClr>
              <a:buSzPts val="1000"/>
              <a:buFont typeface="Calibri"/>
              <a:buNone/>
            </a:pPr>
            <a:r>
              <a:rPr b="0" i="1" lang="en-US" sz="1000" u="none" cap="none" strike="noStrike">
                <a:solidFill>
                  <a:srgbClr val="5A6A8A"/>
                </a:solidFill>
                <a:latin typeface="Calibri"/>
                <a:ea typeface="Calibri"/>
                <a:cs typeface="Calibri"/>
                <a:sym typeface="Calibri"/>
              </a:rPr>
              <a:t>Su pregunta aquí...</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795" name="Shape 795"/>
        <p:cNvGrpSpPr/>
        <p:nvPr/>
      </p:nvGrpSpPr>
      <p:grpSpPr>
        <a:xfrm>
          <a:off x="0" y="0"/>
          <a:ext cx="0" cy="0"/>
          <a:chOff x="0" y="0"/>
          <a:chExt cx="0" cy="0"/>
        </a:xfrm>
      </p:grpSpPr>
      <p:sp>
        <p:nvSpPr>
          <p:cNvPr id="796" name="Google Shape;796;p32"/>
          <p:cNvSpPr/>
          <p:nvPr/>
        </p:nvSpPr>
        <p:spPr>
          <a:xfrm>
            <a:off x="0" y="0"/>
            <a:ext cx="9144000" cy="50292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32"/>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BRAZO ROBÓTICO CLASIFICADOR  ·  RONDA 3 DE 5</a:t>
            </a:r>
            <a:endParaRPr b="0" i="0" sz="1100" u="none" cap="none" strike="noStrike">
              <a:solidFill>
                <a:schemeClr val="dk1"/>
              </a:solidFill>
              <a:latin typeface="Calibri"/>
              <a:ea typeface="Calibri"/>
              <a:cs typeface="Calibri"/>
              <a:sym typeface="Calibri"/>
            </a:endParaRPr>
          </a:p>
        </p:txBody>
      </p:sp>
      <p:sp>
        <p:nvSpPr>
          <p:cNvPr id="798" name="Google Shape;798;p32"/>
          <p:cNvSpPr/>
          <p:nvPr/>
        </p:nvSpPr>
        <p:spPr>
          <a:xfrm>
            <a:off x="7498080" y="54864"/>
            <a:ext cx="1417320" cy="384048"/>
          </a:xfrm>
          <a:prstGeom prst="roundRect">
            <a:avLst>
              <a:gd fmla="val 19048" name="adj"/>
            </a:avLst>
          </a:prstGeom>
          <a:solidFill>
            <a:srgbClr val="0A0E2A"/>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32"/>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C896"/>
              </a:buClr>
              <a:buSzPts val="1300"/>
              <a:buFont typeface="Calibri"/>
              <a:buNone/>
            </a:pPr>
            <a:r>
              <a:rPr b="1" i="0" lang="en-US" sz="1300" u="none" cap="none" strike="noStrike">
                <a:solidFill>
                  <a:srgbClr val="00C896"/>
                </a:solidFill>
                <a:latin typeface="Calibri"/>
                <a:ea typeface="Calibri"/>
                <a:cs typeface="Calibri"/>
                <a:sym typeface="Calibri"/>
              </a:rPr>
              <a:t>⏱  6 min</a:t>
            </a:r>
            <a:endParaRPr b="0" i="0" sz="1300" u="none" cap="none" strike="noStrike">
              <a:solidFill>
                <a:schemeClr val="dk1"/>
              </a:solidFill>
              <a:latin typeface="Calibri"/>
              <a:ea typeface="Calibri"/>
              <a:cs typeface="Calibri"/>
              <a:sym typeface="Calibri"/>
            </a:endParaRPr>
          </a:p>
        </p:txBody>
      </p:sp>
      <p:sp>
        <p:nvSpPr>
          <p:cNvPr id="800" name="Google Shape;800;p32"/>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896"/>
              </a:buClr>
              <a:buSzPts val="1100"/>
              <a:buFont typeface="Calibri"/>
              <a:buNone/>
            </a:pPr>
            <a:r>
              <a:rPr b="1" i="0" lang="en-US" sz="1100" u="none" cap="none" strike="noStrike">
                <a:solidFill>
                  <a:srgbClr val="00C896"/>
                </a:solidFill>
                <a:latin typeface="Calibri"/>
                <a:ea typeface="Calibri"/>
                <a:cs typeface="Calibri"/>
                <a:sym typeface="Calibri"/>
              </a:rPr>
              <a:t>RONDA 3</a:t>
            </a:r>
            <a:endParaRPr b="0" i="0" sz="1100" u="none" cap="none" strike="noStrike">
              <a:solidFill>
                <a:schemeClr val="dk1"/>
              </a:solidFill>
              <a:latin typeface="Calibri"/>
              <a:ea typeface="Calibri"/>
              <a:cs typeface="Calibri"/>
              <a:sym typeface="Calibri"/>
            </a:endParaRPr>
          </a:p>
        </p:txBody>
      </p:sp>
      <p:sp>
        <p:nvSpPr>
          <p:cNvPr id="801" name="Google Shape;801;p32"/>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C896"/>
              </a:buClr>
              <a:buSzPts val="2600"/>
              <a:buFont typeface="Calibri"/>
              <a:buNone/>
            </a:pPr>
            <a:r>
              <a:rPr b="1" i="0" lang="en-US" sz="2600" u="none" cap="none" strike="noStrike">
                <a:solidFill>
                  <a:srgbClr val="00C896"/>
                </a:solidFill>
                <a:latin typeface="Calibri"/>
                <a:ea typeface="Calibri"/>
                <a:cs typeface="Calibri"/>
                <a:sym typeface="Calibri"/>
              </a:rPr>
              <a:t>4 COMPONENTES + PROBLEMA TÉCNICO</a:t>
            </a:r>
            <a:endParaRPr b="0" i="0" sz="2600" u="none" cap="none" strike="noStrike">
              <a:solidFill>
                <a:schemeClr val="dk1"/>
              </a:solidFill>
              <a:latin typeface="Calibri"/>
              <a:ea typeface="Calibri"/>
              <a:cs typeface="Calibri"/>
              <a:sym typeface="Calibri"/>
            </a:endParaRPr>
          </a:p>
        </p:txBody>
      </p:sp>
      <p:sp>
        <p:nvSpPr>
          <p:cNvPr id="802" name="Google Shape;802;p32"/>
          <p:cNvSpPr/>
          <p:nvPr/>
        </p:nvSpPr>
        <p:spPr>
          <a:xfrm>
            <a:off x="365760" y="1600200"/>
            <a:ext cx="8412480" cy="868680"/>
          </a:xfrm>
          <a:prstGeom prst="roundRect">
            <a:avLst>
              <a:gd fmla="val 12632" name="adj"/>
            </a:avLst>
          </a:prstGeom>
          <a:solidFill>
            <a:srgbClr val="1A2550"/>
          </a:solidFill>
          <a:ln cap="flat" cmpd="sng" w="22850">
            <a:solidFill>
              <a:srgbClr val="00C896"/>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32"/>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Identifiquen: CONTEXTO · VARIABLE · PUNTO DE QUIEBRE</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Luego enuncien el PROBLEMA TÉCNICO en una sola oración sin adjetivos subjetivos.</a:t>
            </a:r>
            <a:endParaRPr b="0" i="0" sz="1300" u="none" cap="none" strike="noStrike">
              <a:solidFill>
                <a:schemeClr val="dk1"/>
              </a:solidFill>
              <a:latin typeface="Calibri"/>
              <a:ea typeface="Calibri"/>
              <a:cs typeface="Calibri"/>
              <a:sym typeface="Calibri"/>
            </a:endParaRPr>
          </a:p>
        </p:txBody>
      </p:sp>
      <p:sp>
        <p:nvSpPr>
          <p:cNvPr id="804" name="Google Shape;804;p32"/>
          <p:cNvSpPr/>
          <p:nvPr/>
        </p:nvSpPr>
        <p:spPr>
          <a:xfrm>
            <a:off x="365760" y="2578608"/>
            <a:ext cx="8412480" cy="530352"/>
          </a:xfrm>
          <a:prstGeom prst="roundRect">
            <a:avLst>
              <a:gd fmla="val 13793" name="adj"/>
            </a:avLst>
          </a:prstGeom>
          <a:solidFill>
            <a:srgbClr val="1A2550"/>
          </a:solidFill>
          <a:ln cap="flat" cmpd="sng" w="19050">
            <a:solidFill>
              <a:srgbClr val="00D4FF"/>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32"/>
          <p:cNvSpPr/>
          <p:nvPr/>
        </p:nvSpPr>
        <p:spPr>
          <a:xfrm>
            <a:off x="457200" y="2651760"/>
            <a:ext cx="1645920" cy="365760"/>
          </a:xfrm>
          <a:prstGeom prst="roundRect">
            <a:avLst>
              <a:gd fmla="val 15000" name="adj"/>
            </a:avLst>
          </a:prstGeom>
          <a:solidFill>
            <a:srgbClr val="00D4FF">
              <a:alpha val="92156"/>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32"/>
          <p:cNvSpPr/>
          <p:nvPr/>
        </p:nvSpPr>
        <p:spPr>
          <a:xfrm>
            <a:off x="457200" y="2651760"/>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CONTEXTO</a:t>
            </a:r>
            <a:endParaRPr b="0" i="0" sz="950" u="none" cap="none" strike="noStrike">
              <a:solidFill>
                <a:schemeClr val="dk1"/>
              </a:solidFill>
              <a:latin typeface="Calibri"/>
              <a:ea typeface="Calibri"/>
              <a:cs typeface="Calibri"/>
              <a:sym typeface="Calibri"/>
            </a:endParaRPr>
          </a:p>
        </p:txBody>
      </p:sp>
      <p:sp>
        <p:nvSpPr>
          <p:cNvPr id="807" name="Google Shape;807;p32"/>
          <p:cNvSpPr/>
          <p:nvPr/>
        </p:nvSpPr>
        <p:spPr>
          <a:xfrm>
            <a:off x="2194560" y="2578608"/>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¿En qué sistema / lugar / momento ocurre?</a:t>
            </a:r>
            <a:endParaRPr b="0" i="0" sz="1050" u="none" cap="none" strike="noStrike">
              <a:solidFill>
                <a:schemeClr val="dk1"/>
              </a:solidFill>
              <a:latin typeface="Calibri"/>
              <a:ea typeface="Calibri"/>
              <a:cs typeface="Calibri"/>
              <a:sym typeface="Calibri"/>
            </a:endParaRPr>
          </a:p>
        </p:txBody>
      </p:sp>
      <p:sp>
        <p:nvSpPr>
          <p:cNvPr id="808" name="Google Shape;808;p32"/>
          <p:cNvSpPr/>
          <p:nvPr/>
        </p:nvSpPr>
        <p:spPr>
          <a:xfrm>
            <a:off x="365760" y="3182112"/>
            <a:ext cx="8412480" cy="530352"/>
          </a:xfrm>
          <a:prstGeom prst="roundRect">
            <a:avLst>
              <a:gd fmla="val 13793" name="adj"/>
            </a:avLst>
          </a:prstGeom>
          <a:solidFill>
            <a:srgbClr val="1A2550"/>
          </a:solidFill>
          <a:ln cap="flat" cmpd="sng" w="19050">
            <a:solidFill>
              <a:srgbClr val="FFB800"/>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32"/>
          <p:cNvSpPr/>
          <p:nvPr/>
        </p:nvSpPr>
        <p:spPr>
          <a:xfrm>
            <a:off x="457200" y="3255264"/>
            <a:ext cx="1645920" cy="365760"/>
          </a:xfrm>
          <a:prstGeom prst="roundRect">
            <a:avLst>
              <a:gd fmla="val 15000" name="adj"/>
            </a:avLst>
          </a:prstGeom>
          <a:solidFill>
            <a:srgbClr val="FFB800">
              <a:alpha val="92156"/>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32"/>
          <p:cNvSpPr/>
          <p:nvPr/>
        </p:nvSpPr>
        <p:spPr>
          <a:xfrm>
            <a:off x="457200" y="3255264"/>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VARIABLE</a:t>
            </a:r>
            <a:endParaRPr b="0" i="0" sz="950" u="none" cap="none" strike="noStrike">
              <a:solidFill>
                <a:schemeClr val="dk1"/>
              </a:solidFill>
              <a:latin typeface="Calibri"/>
              <a:ea typeface="Calibri"/>
              <a:cs typeface="Calibri"/>
              <a:sym typeface="Calibri"/>
            </a:endParaRPr>
          </a:p>
        </p:txBody>
      </p:sp>
      <p:sp>
        <p:nvSpPr>
          <p:cNvPr id="811" name="Google Shape;811;p32"/>
          <p:cNvSpPr/>
          <p:nvPr/>
        </p:nvSpPr>
        <p:spPr>
          <a:xfrm>
            <a:off x="2194560" y="3182112"/>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¿Qué es lo único que, si lo mido, me dice si el problema existe?</a:t>
            </a:r>
            <a:endParaRPr b="0" i="0" sz="1050" u="none" cap="none" strike="noStrike">
              <a:solidFill>
                <a:schemeClr val="dk1"/>
              </a:solidFill>
              <a:latin typeface="Calibri"/>
              <a:ea typeface="Calibri"/>
              <a:cs typeface="Calibri"/>
              <a:sym typeface="Calibri"/>
            </a:endParaRPr>
          </a:p>
        </p:txBody>
      </p:sp>
      <p:sp>
        <p:nvSpPr>
          <p:cNvPr id="812" name="Google Shape;812;p32"/>
          <p:cNvSpPr/>
          <p:nvPr/>
        </p:nvSpPr>
        <p:spPr>
          <a:xfrm>
            <a:off x="365760" y="3785616"/>
            <a:ext cx="8412480" cy="530352"/>
          </a:xfrm>
          <a:prstGeom prst="roundRect">
            <a:avLst>
              <a:gd fmla="val 13793" name="adj"/>
            </a:avLst>
          </a:prstGeom>
          <a:solidFill>
            <a:srgbClr val="1A2550"/>
          </a:solidFill>
          <a:ln cap="flat" cmpd="sng" w="19050">
            <a:solidFill>
              <a:srgbClr val="FF4D6A"/>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3" name="Google Shape;813;p32"/>
          <p:cNvSpPr/>
          <p:nvPr/>
        </p:nvSpPr>
        <p:spPr>
          <a:xfrm>
            <a:off x="457200" y="3858768"/>
            <a:ext cx="1645920" cy="365760"/>
          </a:xfrm>
          <a:prstGeom prst="roundRect">
            <a:avLst>
              <a:gd fmla="val 15000" name="adj"/>
            </a:avLst>
          </a:prstGeom>
          <a:solidFill>
            <a:srgbClr val="FF4D6A">
              <a:alpha val="92156"/>
            </a:srgbClr>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32"/>
          <p:cNvSpPr/>
          <p:nvPr/>
        </p:nvSpPr>
        <p:spPr>
          <a:xfrm>
            <a:off x="457200" y="3858768"/>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PUNTO DE QUIEBRE</a:t>
            </a:r>
            <a:endParaRPr b="0" i="0" sz="950" u="none" cap="none" strike="noStrike">
              <a:solidFill>
                <a:schemeClr val="dk1"/>
              </a:solidFill>
              <a:latin typeface="Calibri"/>
              <a:ea typeface="Calibri"/>
              <a:cs typeface="Calibri"/>
              <a:sym typeface="Calibri"/>
            </a:endParaRPr>
          </a:p>
        </p:txBody>
      </p:sp>
      <p:sp>
        <p:nvSpPr>
          <p:cNvPr id="815" name="Google Shape;815;p32"/>
          <p:cNvSpPr/>
          <p:nvPr/>
        </p:nvSpPr>
        <p:spPr>
          <a:xfrm>
            <a:off x="2194560" y="3785616"/>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¿A partir de qué valor digo que el problema empieza?</a:t>
            </a:r>
            <a:endParaRPr b="0" i="0" sz="1050" u="none" cap="none" strike="noStrike">
              <a:solidFill>
                <a:schemeClr val="dk1"/>
              </a:solidFill>
              <a:latin typeface="Calibri"/>
              <a:ea typeface="Calibri"/>
              <a:cs typeface="Calibri"/>
              <a:sym typeface="Calibri"/>
            </a:endParaRPr>
          </a:p>
        </p:txBody>
      </p:sp>
      <p:sp>
        <p:nvSpPr>
          <p:cNvPr id="816" name="Google Shape;816;p32"/>
          <p:cNvSpPr/>
          <p:nvPr/>
        </p:nvSpPr>
        <p:spPr>
          <a:xfrm>
            <a:off x="365760" y="4389120"/>
            <a:ext cx="8412480" cy="530352"/>
          </a:xfrm>
          <a:prstGeom prst="roundRect">
            <a:avLst>
              <a:gd fmla="val 13793" name="adj"/>
            </a:avLst>
          </a:prstGeom>
          <a:solidFill>
            <a:srgbClr val="1A2550"/>
          </a:solidFill>
          <a:ln cap="flat" cmpd="sng" w="19050">
            <a:solidFill>
              <a:srgbClr val="00C896"/>
            </a:solidFill>
            <a:prstDash val="solid"/>
            <a:round/>
            <a:headEnd len="sm" w="sm" type="none"/>
            <a:tailEnd len="sm" w="sm" type="none"/>
          </a:ln>
          <a:effectLst>
            <a:outerShdw blurRad="50800" rotWithShape="0" algn="bl" dir="2700000" dist="12700">
              <a:srgbClr val="000000">
                <a:alpha val="784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32"/>
          <p:cNvSpPr/>
          <p:nvPr/>
        </p:nvSpPr>
        <p:spPr>
          <a:xfrm>
            <a:off x="457200" y="4462272"/>
            <a:ext cx="1645920" cy="365760"/>
          </a:xfrm>
          <a:prstGeom prst="roundRect">
            <a:avLst>
              <a:gd fmla="val 15000" name="adj"/>
            </a:avLst>
          </a:prstGeom>
          <a:solidFill>
            <a:srgbClr val="00C896">
              <a:alpha val="92156"/>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32"/>
          <p:cNvSpPr/>
          <p:nvPr/>
        </p:nvSpPr>
        <p:spPr>
          <a:xfrm>
            <a:off x="457200" y="4462272"/>
            <a:ext cx="164592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950"/>
              <a:buFont typeface="Calibri"/>
              <a:buNone/>
            </a:pPr>
            <a:r>
              <a:rPr b="1" i="0" lang="en-US" sz="950" u="none" cap="none" strike="noStrike">
                <a:solidFill>
                  <a:srgbClr val="0A0E2A"/>
                </a:solidFill>
                <a:latin typeface="Calibri"/>
                <a:ea typeface="Calibri"/>
                <a:cs typeface="Calibri"/>
                <a:sym typeface="Calibri"/>
              </a:rPr>
              <a:t>PROBLEMA TÉCNICO</a:t>
            </a:r>
            <a:endParaRPr b="0" i="0" sz="950" u="none" cap="none" strike="noStrike">
              <a:solidFill>
                <a:schemeClr val="dk1"/>
              </a:solidFill>
              <a:latin typeface="Calibri"/>
              <a:ea typeface="Calibri"/>
              <a:cs typeface="Calibri"/>
              <a:sym typeface="Calibri"/>
            </a:endParaRPr>
          </a:p>
        </p:txBody>
      </p:sp>
      <p:sp>
        <p:nvSpPr>
          <p:cNvPr id="819" name="Google Shape;819;p32"/>
          <p:cNvSpPr/>
          <p:nvPr/>
        </p:nvSpPr>
        <p:spPr>
          <a:xfrm>
            <a:off x="2194560" y="4389120"/>
            <a:ext cx="64922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1" lang="en-US" sz="1050" u="none" cap="none" strike="noStrike">
                <a:solidFill>
                  <a:srgbClr val="E8EDF5"/>
                </a:solidFill>
                <a:latin typeface="Calibri"/>
                <a:ea typeface="Calibri"/>
                <a:cs typeface="Calibri"/>
                <a:sym typeface="Calibri"/>
              </a:rPr>
              <a:t>En [contexto] ocurre [problema] cuando [variable] supera [quiebre].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0F4FA"/>
        </a:solidFill>
      </p:bgPr>
    </p:bg>
    <p:spTree>
      <p:nvGrpSpPr>
        <p:cNvPr id="824" name="Shape 824"/>
        <p:cNvGrpSpPr/>
        <p:nvPr/>
      </p:nvGrpSpPr>
      <p:grpSpPr>
        <a:xfrm>
          <a:off x="0" y="0"/>
          <a:ext cx="0" cy="0"/>
          <a:chOff x="0" y="0"/>
          <a:chExt cx="0" cy="0"/>
        </a:xfrm>
      </p:grpSpPr>
      <p:sp>
        <p:nvSpPr>
          <p:cNvPr id="825" name="Google Shape;825;p33"/>
          <p:cNvSpPr/>
          <p:nvPr/>
        </p:nvSpPr>
        <p:spPr>
          <a:xfrm>
            <a:off x="0" y="0"/>
            <a:ext cx="9144000" cy="50292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33"/>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BRAZO ROBÓTICO CLASIFICADOR  ·  RONDA 4 DE 5</a:t>
            </a:r>
            <a:endParaRPr b="0" i="0" sz="1100" u="none" cap="none" strike="noStrike">
              <a:solidFill>
                <a:schemeClr val="dk1"/>
              </a:solidFill>
              <a:latin typeface="Calibri"/>
              <a:ea typeface="Calibri"/>
              <a:cs typeface="Calibri"/>
              <a:sym typeface="Calibri"/>
            </a:endParaRPr>
          </a:p>
        </p:txBody>
      </p:sp>
      <p:sp>
        <p:nvSpPr>
          <p:cNvPr id="827" name="Google Shape;827;p33"/>
          <p:cNvSpPr/>
          <p:nvPr/>
        </p:nvSpPr>
        <p:spPr>
          <a:xfrm>
            <a:off x="7498080" y="54864"/>
            <a:ext cx="1417320" cy="384048"/>
          </a:xfrm>
          <a:prstGeom prst="roundRect">
            <a:avLst>
              <a:gd fmla="val 19048" name="adj"/>
            </a:avLst>
          </a:prstGeom>
          <a:solidFill>
            <a:srgbClr val="0A0E2A"/>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33"/>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9B59B6"/>
              </a:buClr>
              <a:buSzPts val="1300"/>
              <a:buFont typeface="Calibri"/>
              <a:buNone/>
            </a:pPr>
            <a:r>
              <a:rPr b="1" i="0" lang="en-US" sz="1300" u="none" cap="none" strike="noStrike">
                <a:solidFill>
                  <a:srgbClr val="9B59B6"/>
                </a:solidFill>
                <a:latin typeface="Calibri"/>
                <a:ea typeface="Calibri"/>
                <a:cs typeface="Calibri"/>
                <a:sym typeface="Calibri"/>
              </a:rPr>
              <a:t>⏱  3 min</a:t>
            </a:r>
            <a:endParaRPr b="0" i="0" sz="1300" u="none" cap="none" strike="noStrike">
              <a:solidFill>
                <a:schemeClr val="dk1"/>
              </a:solidFill>
              <a:latin typeface="Calibri"/>
              <a:ea typeface="Calibri"/>
              <a:cs typeface="Calibri"/>
              <a:sym typeface="Calibri"/>
            </a:endParaRPr>
          </a:p>
        </p:txBody>
      </p:sp>
      <p:sp>
        <p:nvSpPr>
          <p:cNvPr id="829" name="Google Shape;829;p33"/>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1100"/>
              <a:buFont typeface="Calibri"/>
              <a:buNone/>
            </a:pPr>
            <a:r>
              <a:rPr b="1" i="0" lang="en-US" sz="1100" u="none" cap="none" strike="noStrike">
                <a:solidFill>
                  <a:srgbClr val="9B59B6"/>
                </a:solidFill>
                <a:latin typeface="Calibri"/>
                <a:ea typeface="Calibri"/>
                <a:cs typeface="Calibri"/>
                <a:sym typeface="Calibri"/>
              </a:rPr>
              <a:t>RONDA 4</a:t>
            </a:r>
            <a:endParaRPr b="0" i="0" sz="1100" u="none" cap="none" strike="noStrike">
              <a:solidFill>
                <a:schemeClr val="dk1"/>
              </a:solidFill>
              <a:latin typeface="Calibri"/>
              <a:ea typeface="Calibri"/>
              <a:cs typeface="Calibri"/>
              <a:sym typeface="Calibri"/>
            </a:endParaRPr>
          </a:p>
        </p:txBody>
      </p:sp>
      <p:sp>
        <p:nvSpPr>
          <p:cNvPr id="830" name="Google Shape;830;p33"/>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2600"/>
              <a:buFont typeface="Calibri"/>
              <a:buNone/>
            </a:pPr>
            <a:r>
              <a:rPr b="1" i="0" lang="en-US" sz="2600" u="none" cap="none" strike="noStrike">
                <a:solidFill>
                  <a:srgbClr val="0A0E2A"/>
                </a:solidFill>
                <a:latin typeface="Calibri"/>
                <a:ea typeface="Calibri"/>
                <a:cs typeface="Calibri"/>
                <a:sym typeface="Calibri"/>
              </a:rPr>
              <a:t>OBJETIVOS</a:t>
            </a:r>
            <a:endParaRPr b="0" i="0" sz="2600" u="none" cap="none" strike="noStrike">
              <a:solidFill>
                <a:schemeClr val="dk1"/>
              </a:solidFill>
              <a:latin typeface="Calibri"/>
              <a:ea typeface="Calibri"/>
              <a:cs typeface="Calibri"/>
              <a:sym typeface="Calibri"/>
            </a:endParaRPr>
          </a:p>
        </p:txBody>
      </p:sp>
      <p:sp>
        <p:nvSpPr>
          <p:cNvPr id="831" name="Google Shape;831;p33"/>
          <p:cNvSpPr/>
          <p:nvPr/>
        </p:nvSpPr>
        <p:spPr>
          <a:xfrm>
            <a:off x="365760" y="1600200"/>
            <a:ext cx="8412480" cy="868680"/>
          </a:xfrm>
          <a:prstGeom prst="roundRect">
            <a:avLst>
              <a:gd fmla="val 12632" name="adj"/>
            </a:avLst>
          </a:prstGeom>
          <a:solidFill>
            <a:srgbClr val="FFFFFF"/>
          </a:solidFill>
          <a:ln cap="flat" cmpd="sng" w="22850">
            <a:solidFill>
              <a:srgbClr val="9B59B6"/>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33"/>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A partir del problema técnico, enuncien 2 o 3 objetivos concretos y medibles.</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0A0E2A"/>
              </a:buClr>
              <a:buSzPts val="1300"/>
              <a:buFont typeface="Calibri"/>
              <a:buNone/>
            </a:pPr>
            <a:r>
              <a:rPr b="0" i="0" lang="en-US" sz="1300" u="none" cap="none" strike="noStrike">
                <a:solidFill>
                  <a:srgbClr val="0A0E2A"/>
                </a:solidFill>
                <a:latin typeface="Calibri"/>
                <a:ea typeface="Calibri"/>
                <a:cs typeface="Calibri"/>
                <a:sym typeface="Calibri"/>
              </a:rPr>
              <a:t>Cada objetivo debe poder verificarse.</a:t>
            </a:r>
            <a:endParaRPr b="0" i="0" sz="1300" u="none" cap="none" strike="noStrike">
              <a:solidFill>
                <a:schemeClr val="dk1"/>
              </a:solidFill>
              <a:latin typeface="Calibri"/>
              <a:ea typeface="Calibri"/>
              <a:cs typeface="Calibri"/>
              <a:sym typeface="Calibri"/>
            </a:endParaRPr>
          </a:p>
        </p:txBody>
      </p:sp>
      <p:sp>
        <p:nvSpPr>
          <p:cNvPr id="833" name="Google Shape;833;p33"/>
          <p:cNvSpPr/>
          <p:nvPr/>
        </p:nvSpPr>
        <p:spPr>
          <a:xfrm>
            <a:off x="365760" y="2578608"/>
            <a:ext cx="8412480" cy="2176272"/>
          </a:xfrm>
          <a:prstGeom prst="roundRect">
            <a:avLst>
              <a:gd fmla="val 5042" name="adj"/>
            </a:avLst>
          </a:prstGeom>
          <a:solidFill>
            <a:srgbClr val="FFFFFF"/>
          </a:solidFill>
          <a:ln cap="flat" cmpd="sng" w="19050">
            <a:solidFill>
              <a:srgbClr val="9B59B6"/>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33"/>
          <p:cNvSpPr/>
          <p:nvPr/>
        </p:nvSpPr>
        <p:spPr>
          <a:xfrm>
            <a:off x="548640" y="265176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9B59B6"/>
              </a:buClr>
              <a:buSzPts val="1050"/>
              <a:buFont typeface="Calibri"/>
              <a:buNone/>
            </a:pPr>
            <a:r>
              <a:rPr b="1" i="0" lang="en-US" sz="1050" u="none" cap="none" strike="noStrike">
                <a:solidFill>
                  <a:srgbClr val="9B59B6"/>
                </a:solidFill>
                <a:latin typeface="Calibri"/>
                <a:ea typeface="Calibri"/>
                <a:cs typeface="Calibri"/>
                <a:sym typeface="Calibri"/>
              </a:rPr>
              <a:t>REGLAS DEL OBJETIVO BIEN PLANTEADO:</a:t>
            </a:r>
            <a:endParaRPr b="0" i="0" sz="1050" u="none" cap="none" strike="noStrike">
              <a:solidFill>
                <a:schemeClr val="dk1"/>
              </a:solidFill>
              <a:latin typeface="Calibri"/>
              <a:ea typeface="Calibri"/>
              <a:cs typeface="Calibri"/>
              <a:sym typeface="Calibri"/>
            </a:endParaRPr>
          </a:p>
        </p:txBody>
      </p:sp>
      <p:sp>
        <p:nvSpPr>
          <p:cNvPr id="835" name="Google Shape;835;p33"/>
          <p:cNvSpPr/>
          <p:nvPr/>
        </p:nvSpPr>
        <p:spPr>
          <a:xfrm>
            <a:off x="548640" y="299923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33"/>
          <p:cNvSpPr/>
          <p:nvPr/>
        </p:nvSpPr>
        <p:spPr>
          <a:xfrm>
            <a:off x="548640" y="299923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
        <p:nvSpPr>
          <p:cNvPr id="837" name="Google Shape;837;p33"/>
          <p:cNvSpPr/>
          <p:nvPr/>
        </p:nvSpPr>
        <p:spPr>
          <a:xfrm>
            <a:off x="914400" y="297180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Comienza con un verbo de acción (detectar, activar, medir, controlar, enviar...)</a:t>
            </a:r>
            <a:endParaRPr b="0" i="0" sz="1100" u="none" cap="none" strike="noStrike">
              <a:solidFill>
                <a:schemeClr val="dk1"/>
              </a:solidFill>
              <a:latin typeface="Calibri"/>
              <a:ea typeface="Calibri"/>
              <a:cs typeface="Calibri"/>
              <a:sym typeface="Calibri"/>
            </a:endParaRPr>
          </a:p>
        </p:txBody>
      </p:sp>
      <p:sp>
        <p:nvSpPr>
          <p:cNvPr id="838" name="Google Shape;838;p33"/>
          <p:cNvSpPr/>
          <p:nvPr/>
        </p:nvSpPr>
        <p:spPr>
          <a:xfrm>
            <a:off x="548640" y="341071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33"/>
          <p:cNvSpPr/>
          <p:nvPr/>
        </p:nvSpPr>
        <p:spPr>
          <a:xfrm>
            <a:off x="548640" y="341071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
        <p:nvSpPr>
          <p:cNvPr id="840" name="Google Shape;840;p33"/>
          <p:cNvSpPr/>
          <p:nvPr/>
        </p:nvSpPr>
        <p:spPr>
          <a:xfrm>
            <a:off x="914400" y="338328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Incluye la variable y el punto de quiebre que ya identificaron</a:t>
            </a:r>
            <a:endParaRPr b="0" i="0" sz="1100" u="none" cap="none" strike="noStrike">
              <a:solidFill>
                <a:schemeClr val="dk1"/>
              </a:solidFill>
              <a:latin typeface="Calibri"/>
              <a:ea typeface="Calibri"/>
              <a:cs typeface="Calibri"/>
              <a:sym typeface="Calibri"/>
            </a:endParaRPr>
          </a:p>
        </p:txBody>
      </p:sp>
      <p:sp>
        <p:nvSpPr>
          <p:cNvPr id="841" name="Google Shape;841;p33"/>
          <p:cNvSpPr/>
          <p:nvPr/>
        </p:nvSpPr>
        <p:spPr>
          <a:xfrm>
            <a:off x="548640" y="382219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33"/>
          <p:cNvSpPr/>
          <p:nvPr/>
        </p:nvSpPr>
        <p:spPr>
          <a:xfrm>
            <a:off x="548640" y="382219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
        <p:nvSpPr>
          <p:cNvPr id="843" name="Google Shape;843;p33"/>
          <p:cNvSpPr/>
          <p:nvPr/>
        </p:nvSpPr>
        <p:spPr>
          <a:xfrm>
            <a:off x="914400" y="379476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Se puede verificar — sabés exactamente cuándo se cumplió</a:t>
            </a:r>
            <a:endParaRPr b="0" i="0" sz="1100" u="none" cap="none" strike="noStrike">
              <a:solidFill>
                <a:schemeClr val="dk1"/>
              </a:solidFill>
              <a:latin typeface="Calibri"/>
              <a:ea typeface="Calibri"/>
              <a:cs typeface="Calibri"/>
              <a:sym typeface="Calibri"/>
            </a:endParaRPr>
          </a:p>
        </p:txBody>
      </p:sp>
      <p:sp>
        <p:nvSpPr>
          <p:cNvPr id="844" name="Google Shape;844;p33"/>
          <p:cNvSpPr/>
          <p:nvPr/>
        </p:nvSpPr>
        <p:spPr>
          <a:xfrm>
            <a:off x="548640" y="4233672"/>
            <a:ext cx="256032" cy="256032"/>
          </a:xfrm>
          <a:prstGeom prst="ellipse">
            <a:avLst/>
          </a:prstGeom>
          <a:solidFill>
            <a:srgbClr val="9B59B6"/>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33"/>
          <p:cNvSpPr/>
          <p:nvPr/>
        </p:nvSpPr>
        <p:spPr>
          <a:xfrm>
            <a:off x="548640" y="4233672"/>
            <a:ext cx="256032"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900"/>
              <a:buFont typeface="Calibri"/>
              <a:buNone/>
            </a:pPr>
            <a:r>
              <a:rPr b="1" i="0" lang="en-US" sz="900" u="none" cap="none" strike="noStrike">
                <a:solidFill>
                  <a:srgbClr val="FFFFFF"/>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
        <p:nvSpPr>
          <p:cNvPr id="846" name="Google Shape;846;p33"/>
          <p:cNvSpPr/>
          <p:nvPr/>
        </p:nvSpPr>
        <p:spPr>
          <a:xfrm>
            <a:off x="914400" y="4206240"/>
            <a:ext cx="768096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Un objetivo por tarea. Sin 'y' que una dos objetivos distintos</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851" name="Shape 851"/>
        <p:cNvGrpSpPr/>
        <p:nvPr/>
      </p:nvGrpSpPr>
      <p:grpSpPr>
        <a:xfrm>
          <a:off x="0" y="0"/>
          <a:ext cx="0" cy="0"/>
          <a:chOff x="0" y="0"/>
          <a:chExt cx="0" cy="0"/>
        </a:xfrm>
      </p:grpSpPr>
      <p:sp>
        <p:nvSpPr>
          <p:cNvPr id="852" name="Google Shape;852;p34"/>
          <p:cNvSpPr/>
          <p:nvPr/>
        </p:nvSpPr>
        <p:spPr>
          <a:xfrm>
            <a:off x="0" y="0"/>
            <a:ext cx="9144000" cy="50292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34"/>
          <p:cNvSpPr/>
          <p:nvPr/>
        </p:nvSpPr>
        <p:spPr>
          <a:xfrm>
            <a:off x="274320" y="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1" i="0" lang="en-US" sz="1100" u="none" cap="none" strike="noStrike">
                <a:solidFill>
                  <a:srgbClr val="0A0E2A"/>
                </a:solidFill>
                <a:latin typeface="Calibri"/>
                <a:ea typeface="Calibri"/>
                <a:cs typeface="Calibri"/>
                <a:sym typeface="Calibri"/>
              </a:rPr>
              <a:t>BRAZO ROBÓTICO CLASIFICADOR  ·  RONDA 5 DE 5</a:t>
            </a:r>
            <a:endParaRPr b="0" i="0" sz="1100" u="none" cap="none" strike="noStrike">
              <a:solidFill>
                <a:schemeClr val="dk1"/>
              </a:solidFill>
              <a:latin typeface="Calibri"/>
              <a:ea typeface="Calibri"/>
              <a:cs typeface="Calibri"/>
              <a:sym typeface="Calibri"/>
            </a:endParaRPr>
          </a:p>
        </p:txBody>
      </p:sp>
      <p:sp>
        <p:nvSpPr>
          <p:cNvPr id="854" name="Google Shape;854;p34"/>
          <p:cNvSpPr/>
          <p:nvPr/>
        </p:nvSpPr>
        <p:spPr>
          <a:xfrm>
            <a:off x="7498080" y="54864"/>
            <a:ext cx="1417320" cy="384048"/>
          </a:xfrm>
          <a:prstGeom prst="roundRect">
            <a:avLst>
              <a:gd fmla="val 19048" name="adj"/>
            </a:avLst>
          </a:prstGeom>
          <a:solidFill>
            <a:srgbClr val="0A0E2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34"/>
          <p:cNvSpPr/>
          <p:nvPr/>
        </p:nvSpPr>
        <p:spPr>
          <a:xfrm>
            <a:off x="7498080" y="54864"/>
            <a:ext cx="14173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4D6A"/>
              </a:buClr>
              <a:buSzPts val="1300"/>
              <a:buFont typeface="Calibri"/>
              <a:buNone/>
            </a:pPr>
            <a:r>
              <a:rPr b="1" i="0" lang="en-US" sz="1300" u="none" cap="none" strike="noStrike">
                <a:solidFill>
                  <a:srgbClr val="FF4D6A"/>
                </a:solidFill>
                <a:latin typeface="Calibri"/>
                <a:ea typeface="Calibri"/>
                <a:cs typeface="Calibri"/>
                <a:sym typeface="Calibri"/>
              </a:rPr>
              <a:t>⏱  2 min</a:t>
            </a:r>
            <a:endParaRPr b="0" i="0" sz="1300" u="none" cap="none" strike="noStrike">
              <a:solidFill>
                <a:schemeClr val="dk1"/>
              </a:solidFill>
              <a:latin typeface="Calibri"/>
              <a:ea typeface="Calibri"/>
              <a:cs typeface="Calibri"/>
              <a:sym typeface="Calibri"/>
            </a:endParaRPr>
          </a:p>
        </p:txBody>
      </p:sp>
      <p:sp>
        <p:nvSpPr>
          <p:cNvPr id="856" name="Google Shape;856;p34"/>
          <p:cNvSpPr/>
          <p:nvPr/>
        </p:nvSpPr>
        <p:spPr>
          <a:xfrm>
            <a:off x="457200" y="621792"/>
            <a:ext cx="22860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1100"/>
              <a:buFont typeface="Calibri"/>
              <a:buNone/>
            </a:pPr>
            <a:r>
              <a:rPr b="1" i="0" lang="en-US" sz="1100" u="none" cap="none" strike="noStrike">
                <a:solidFill>
                  <a:srgbClr val="FF4D6A"/>
                </a:solidFill>
                <a:latin typeface="Calibri"/>
                <a:ea typeface="Calibri"/>
                <a:cs typeface="Calibri"/>
                <a:sym typeface="Calibri"/>
              </a:rPr>
              <a:t>RONDA 5</a:t>
            </a:r>
            <a:endParaRPr b="0" i="0" sz="1100" u="none" cap="none" strike="noStrike">
              <a:solidFill>
                <a:schemeClr val="dk1"/>
              </a:solidFill>
              <a:latin typeface="Calibri"/>
              <a:ea typeface="Calibri"/>
              <a:cs typeface="Calibri"/>
              <a:sym typeface="Calibri"/>
            </a:endParaRPr>
          </a:p>
        </p:txBody>
      </p:sp>
      <p:sp>
        <p:nvSpPr>
          <p:cNvPr id="857" name="Google Shape;857;p34"/>
          <p:cNvSpPr/>
          <p:nvPr/>
        </p:nvSpPr>
        <p:spPr>
          <a:xfrm>
            <a:off x="457200" y="896112"/>
            <a:ext cx="82296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2600"/>
              <a:buFont typeface="Calibri"/>
              <a:buNone/>
            </a:pPr>
            <a:r>
              <a:rPr b="1" i="0" lang="en-US" sz="2600" u="none" cap="none" strike="noStrike">
                <a:solidFill>
                  <a:srgbClr val="FF4D6A"/>
                </a:solidFill>
                <a:latin typeface="Calibri"/>
                <a:ea typeface="Calibri"/>
                <a:cs typeface="Calibri"/>
                <a:sym typeface="Calibri"/>
              </a:rPr>
              <a:t>¿CUÁL ES LA SOLUCIÓN?</a:t>
            </a:r>
            <a:endParaRPr b="0" i="0" sz="2600" u="none" cap="none" strike="noStrike">
              <a:solidFill>
                <a:schemeClr val="dk1"/>
              </a:solidFill>
              <a:latin typeface="Calibri"/>
              <a:ea typeface="Calibri"/>
              <a:cs typeface="Calibri"/>
              <a:sym typeface="Calibri"/>
            </a:endParaRPr>
          </a:p>
        </p:txBody>
      </p:sp>
      <p:sp>
        <p:nvSpPr>
          <p:cNvPr id="858" name="Google Shape;858;p34"/>
          <p:cNvSpPr/>
          <p:nvPr/>
        </p:nvSpPr>
        <p:spPr>
          <a:xfrm>
            <a:off x="365760" y="1600200"/>
            <a:ext cx="8412480" cy="868680"/>
          </a:xfrm>
          <a:prstGeom prst="roundRect">
            <a:avLst>
              <a:gd fmla="val 12632" name="adj"/>
            </a:avLst>
          </a:prstGeom>
          <a:solidFill>
            <a:srgbClr val="1A2550"/>
          </a:solidFill>
          <a:ln cap="flat" cmpd="sng" w="22850">
            <a:solidFill>
              <a:srgbClr val="FF4D6A"/>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34"/>
          <p:cNvSpPr/>
          <p:nvPr/>
        </p:nvSpPr>
        <p:spPr>
          <a:xfrm>
            <a:off x="548640" y="1600200"/>
            <a:ext cx="81381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Sin mirar nada. ¿Qué dispositivo, sistema o artefacto resuelve exactamente este problema?</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8EDF5"/>
              </a:buClr>
              <a:buSzPts val="1300"/>
              <a:buFont typeface="Calibri"/>
              <a:buNone/>
            </a:pPr>
            <a:r>
              <a:rPr b="0" i="0" lang="en-US" sz="1300" u="none" cap="none" strike="noStrike">
                <a:solidFill>
                  <a:srgbClr val="E8EDF5"/>
                </a:solidFill>
                <a:latin typeface="Calibri"/>
                <a:ea typeface="Calibri"/>
                <a:cs typeface="Calibri"/>
                <a:sym typeface="Calibri"/>
              </a:rPr>
              <a:t>Describir en 2 líneas.</a:t>
            </a:r>
            <a:endParaRPr b="0" i="0" sz="1300" u="none" cap="none" strike="noStrike">
              <a:solidFill>
                <a:schemeClr val="dk1"/>
              </a:solidFill>
              <a:latin typeface="Calibri"/>
              <a:ea typeface="Calibri"/>
              <a:cs typeface="Calibri"/>
              <a:sym typeface="Calibri"/>
            </a:endParaRPr>
          </a:p>
        </p:txBody>
      </p:sp>
      <p:sp>
        <p:nvSpPr>
          <p:cNvPr id="860" name="Google Shape;860;p34"/>
          <p:cNvSpPr/>
          <p:nvPr/>
        </p:nvSpPr>
        <p:spPr>
          <a:xfrm>
            <a:off x="365760" y="2578608"/>
            <a:ext cx="8412480" cy="2176272"/>
          </a:xfrm>
          <a:prstGeom prst="roundRect">
            <a:avLst>
              <a:gd fmla="val 5042" name="adj"/>
            </a:avLst>
          </a:prstGeom>
          <a:solidFill>
            <a:srgbClr val="1A2550"/>
          </a:solidFill>
          <a:ln cap="flat" cmpd="sng" w="19050">
            <a:solidFill>
              <a:srgbClr val="FF4D6A"/>
            </a:solidFill>
            <a:prstDash val="solid"/>
            <a:round/>
            <a:headEnd len="sm" w="sm" type="none"/>
            <a:tailEnd len="sm" w="sm" type="none"/>
          </a:ln>
          <a:effectLst>
            <a:outerShdw blurRad="177800" rotWithShape="0" algn="bl" dir="2700000" dist="50800">
              <a:srgbClr val="000000">
                <a:alpha val="1294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34"/>
          <p:cNvSpPr/>
          <p:nvPr/>
        </p:nvSpPr>
        <p:spPr>
          <a:xfrm>
            <a:off x="548640" y="2651760"/>
            <a:ext cx="80467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4D6A"/>
              </a:buClr>
              <a:buSzPts val="1050"/>
              <a:buFont typeface="Calibri"/>
              <a:buNone/>
            </a:pPr>
            <a:r>
              <a:rPr b="1" i="0" lang="en-US" sz="1050" u="none" cap="none" strike="noStrike">
                <a:solidFill>
                  <a:srgbClr val="FF4D6A"/>
                </a:solidFill>
                <a:latin typeface="Calibri"/>
                <a:ea typeface="Calibri"/>
                <a:cs typeface="Calibri"/>
                <a:sym typeface="Calibri"/>
              </a:rPr>
              <a:t>PISTAS PERMITIDAS:</a:t>
            </a:r>
            <a:endParaRPr b="0" i="0" sz="1050" u="none" cap="none" strike="noStrike">
              <a:solidFill>
                <a:schemeClr val="dk1"/>
              </a:solidFill>
              <a:latin typeface="Calibri"/>
              <a:ea typeface="Calibri"/>
              <a:cs typeface="Calibri"/>
              <a:sym typeface="Calibri"/>
            </a:endParaRPr>
          </a:p>
        </p:txBody>
      </p:sp>
      <p:sp>
        <p:nvSpPr>
          <p:cNvPr id="862" name="Google Shape;862;p34"/>
          <p:cNvSpPr/>
          <p:nvPr/>
        </p:nvSpPr>
        <p:spPr>
          <a:xfrm>
            <a:off x="548640" y="2999232"/>
            <a:ext cx="8046720" cy="347472"/>
          </a:xfrm>
          <a:prstGeom prst="roundRect">
            <a:avLst>
              <a:gd fmla="val 13158" name="adj"/>
            </a:avLst>
          </a:prstGeom>
          <a:solidFill>
            <a:srgbClr val="FF4D6A">
              <a:alpha val="12156"/>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34"/>
          <p:cNvSpPr/>
          <p:nvPr/>
        </p:nvSpPr>
        <p:spPr>
          <a:xfrm>
            <a:off x="685800" y="299923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1" i="0" lang="en-US" sz="1100" u="none" cap="none" strike="noStrike">
                <a:solidFill>
                  <a:srgbClr val="E8EDF5"/>
                </a:solidFill>
                <a:latin typeface="Calibri"/>
                <a:ea typeface="Calibri"/>
                <a:cs typeface="Calibri"/>
                <a:sym typeface="Calibri"/>
              </a:rPr>
              <a:t>🔍  La variable principal es: Tipo de material detectado por sensor de color o inductivo</a:t>
            </a:r>
            <a:endParaRPr b="0" i="0" sz="1100" u="none" cap="none" strike="noStrike">
              <a:solidFill>
                <a:schemeClr val="dk1"/>
              </a:solidFill>
              <a:latin typeface="Calibri"/>
              <a:ea typeface="Calibri"/>
              <a:cs typeface="Calibri"/>
              <a:sym typeface="Calibri"/>
            </a:endParaRPr>
          </a:p>
        </p:txBody>
      </p:sp>
      <p:sp>
        <p:nvSpPr>
          <p:cNvPr id="864" name="Google Shape;864;p34"/>
          <p:cNvSpPr/>
          <p:nvPr/>
        </p:nvSpPr>
        <p:spPr>
          <a:xfrm>
            <a:off x="548640" y="3410712"/>
            <a:ext cx="8046720" cy="347472"/>
          </a:xfrm>
          <a:prstGeom prst="roundRect">
            <a:avLst>
              <a:gd fmla="val 13158" name="adj"/>
            </a:avLst>
          </a:prstGeom>
          <a:solidFill>
            <a:srgbClr val="FF4D6A">
              <a:alpha val="12156"/>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34"/>
          <p:cNvSpPr/>
          <p:nvPr/>
        </p:nvSpPr>
        <p:spPr>
          <a:xfrm>
            <a:off x="685800" y="341071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100"/>
              <a:buFont typeface="Calibri"/>
              <a:buNone/>
            </a:pPr>
            <a:r>
              <a:rPr b="1" i="0" lang="en-US" sz="1100" u="none" cap="none" strike="noStrike">
                <a:solidFill>
                  <a:srgbClr val="E8EDF5"/>
                </a:solidFill>
                <a:latin typeface="Calibri"/>
                <a:ea typeface="Calibri"/>
                <a:cs typeface="Calibri"/>
                <a:sym typeface="Calibri"/>
              </a:rPr>
              <a:t>🔍  El punto de quiebre es: Detección de material metálico (sensor inductivo activo) o clasificación de color por sensor TCS3200</a:t>
            </a:r>
            <a:endParaRPr b="0" i="0" sz="1100" u="none" cap="none" strike="noStrike">
              <a:solidFill>
                <a:schemeClr val="dk1"/>
              </a:solidFill>
              <a:latin typeface="Calibri"/>
              <a:ea typeface="Calibri"/>
              <a:cs typeface="Calibri"/>
              <a:sym typeface="Calibri"/>
            </a:endParaRPr>
          </a:p>
        </p:txBody>
      </p:sp>
      <p:sp>
        <p:nvSpPr>
          <p:cNvPr id="866" name="Google Shape;866;p34"/>
          <p:cNvSpPr/>
          <p:nvPr/>
        </p:nvSpPr>
        <p:spPr>
          <a:xfrm>
            <a:off x="548640" y="3822192"/>
            <a:ext cx="8046720" cy="347472"/>
          </a:xfrm>
          <a:prstGeom prst="roundRect">
            <a:avLst>
              <a:gd fmla="val 13158" name="adj"/>
            </a:avLst>
          </a:prstGeom>
          <a:solidFill>
            <a:srgbClr val="FF4D6A">
              <a:alpha val="5098"/>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34"/>
          <p:cNvSpPr/>
          <p:nvPr/>
        </p:nvSpPr>
        <p:spPr>
          <a:xfrm>
            <a:off x="685800" y="382219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  ¿Qué componente electrónico mide esa variable? ¿Qué actúa cuando se supera el quiebre?</a:t>
            </a:r>
            <a:endParaRPr b="0" i="0" sz="1050" u="none" cap="none" strike="noStrike">
              <a:solidFill>
                <a:schemeClr val="dk1"/>
              </a:solidFill>
              <a:latin typeface="Calibri"/>
              <a:ea typeface="Calibri"/>
              <a:cs typeface="Calibri"/>
              <a:sym typeface="Calibri"/>
            </a:endParaRPr>
          </a:p>
        </p:txBody>
      </p:sp>
      <p:sp>
        <p:nvSpPr>
          <p:cNvPr id="868" name="Google Shape;868;p34"/>
          <p:cNvSpPr/>
          <p:nvPr/>
        </p:nvSpPr>
        <p:spPr>
          <a:xfrm>
            <a:off x="548640" y="4233672"/>
            <a:ext cx="8046720" cy="347472"/>
          </a:xfrm>
          <a:prstGeom prst="roundRect">
            <a:avLst>
              <a:gd fmla="val 13158" name="adj"/>
            </a:avLst>
          </a:prstGeom>
          <a:solidFill>
            <a:srgbClr val="FF4D6A">
              <a:alpha val="5098"/>
            </a:srgbClr>
          </a:solidFill>
          <a:ln cap="flat" cmpd="sng" w="12700">
            <a:solidFill>
              <a:srgbClr val="FF4D6A">
                <a:alpha val="34901"/>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34"/>
          <p:cNvSpPr/>
          <p:nvPr/>
        </p:nvSpPr>
        <p:spPr>
          <a:xfrm>
            <a:off x="685800" y="4233672"/>
            <a:ext cx="777240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050"/>
              <a:buFont typeface="Calibri"/>
              <a:buNone/>
            </a:pPr>
            <a:r>
              <a:rPr b="0" i="0" lang="en-US" sz="1050" u="none" cap="none" strike="noStrike">
                <a:solidFill>
                  <a:srgbClr val="E8EDF5"/>
                </a:solidFill>
                <a:latin typeface="Calibri"/>
                <a:ea typeface="Calibri"/>
                <a:cs typeface="Calibri"/>
                <a:sym typeface="Calibri"/>
              </a:rPr>
              <a:t>💡  Pensá en: sensor + controlador + actuador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874" name="Shape 874"/>
        <p:cNvGrpSpPr/>
        <p:nvPr/>
      </p:nvGrpSpPr>
      <p:grpSpPr>
        <a:xfrm>
          <a:off x="0" y="0"/>
          <a:ext cx="0" cy="0"/>
          <a:chOff x="0" y="0"/>
          <a:chExt cx="0" cy="0"/>
        </a:xfrm>
      </p:grpSpPr>
      <p:sp>
        <p:nvSpPr>
          <p:cNvPr id="875" name="Google Shape;875;p35"/>
          <p:cNvSpPr/>
          <p:nvPr/>
        </p:nvSpPr>
        <p:spPr>
          <a:xfrm>
            <a:off x="0" y="0"/>
            <a:ext cx="9144000" cy="640080"/>
          </a:xfrm>
          <a:prstGeom prst="rect">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35"/>
          <p:cNvSpPr/>
          <p:nvPr/>
        </p:nvSpPr>
        <p:spPr>
          <a:xfrm>
            <a:off x="320040" y="0"/>
            <a:ext cx="850392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300"/>
              <a:buFont typeface="Calibri"/>
              <a:buNone/>
            </a:pPr>
            <a:r>
              <a:rPr b="1" i="0" lang="en-US" sz="1300" u="none" cap="none" strike="noStrike">
                <a:solidFill>
                  <a:srgbClr val="0A0E2A"/>
                </a:solidFill>
                <a:latin typeface="Calibri"/>
                <a:ea typeface="Calibri"/>
                <a:cs typeface="Calibri"/>
                <a:sym typeface="Calibri"/>
              </a:rPr>
              <a:t>REVEAL · BRAZO ROBÓTICO CLASIFICADOR</a:t>
            </a:r>
            <a:endParaRPr b="0" i="0" sz="1300" u="none" cap="none" strike="noStrike">
              <a:solidFill>
                <a:schemeClr val="dk1"/>
              </a:solidFill>
              <a:latin typeface="Calibri"/>
              <a:ea typeface="Calibri"/>
              <a:cs typeface="Calibri"/>
              <a:sym typeface="Calibri"/>
            </a:endParaRPr>
          </a:p>
        </p:txBody>
      </p:sp>
      <p:sp>
        <p:nvSpPr>
          <p:cNvPr id="877" name="Google Shape;877;p35"/>
          <p:cNvSpPr/>
          <p:nvPr/>
        </p:nvSpPr>
        <p:spPr>
          <a:xfrm>
            <a:off x="274320" y="749808"/>
            <a:ext cx="4389120" cy="475488"/>
          </a:xfrm>
          <a:prstGeom prst="roundRect">
            <a:avLst>
              <a:gd fmla="val 15385" name="adj"/>
            </a:avLst>
          </a:prstGeom>
          <a:solidFill>
            <a:srgbClr val="1A2550"/>
          </a:solidFill>
          <a:ln cap="flat" cmpd="sng" w="15225">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35"/>
          <p:cNvSpPr/>
          <p:nvPr/>
        </p:nvSpPr>
        <p:spPr>
          <a:xfrm>
            <a:off x="347472" y="813816"/>
            <a:ext cx="1417320" cy="256032"/>
          </a:xfrm>
          <a:prstGeom prst="roundRect">
            <a:avLst>
              <a:gd fmla="val 17857" name="adj"/>
            </a:avLst>
          </a:prstGeom>
          <a:solidFill>
            <a:srgbClr val="FFB800">
              <a:alpha val="87843"/>
            </a:srgbClr>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35"/>
          <p:cNvSpPr/>
          <p:nvPr/>
        </p:nvSpPr>
        <p:spPr>
          <a:xfrm>
            <a:off x="347472" y="813816"/>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PROBLEMA VAGO</a:t>
            </a:r>
            <a:endParaRPr b="0" i="0" sz="700" u="none" cap="none" strike="noStrike">
              <a:solidFill>
                <a:schemeClr val="dk1"/>
              </a:solidFill>
              <a:latin typeface="Calibri"/>
              <a:ea typeface="Calibri"/>
              <a:cs typeface="Calibri"/>
              <a:sym typeface="Calibri"/>
            </a:endParaRPr>
          </a:p>
        </p:txBody>
      </p:sp>
      <p:sp>
        <p:nvSpPr>
          <p:cNvPr id="880" name="Google Shape;880;p35"/>
          <p:cNvSpPr/>
          <p:nvPr/>
        </p:nvSpPr>
        <p:spPr>
          <a:xfrm>
            <a:off x="1847088" y="749808"/>
            <a:ext cx="2724912" cy="47548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La gente no separa bien la basura y los reciclables se contaminan.</a:t>
            </a:r>
            <a:endParaRPr b="0" i="0" sz="900" u="none" cap="none" strike="noStrike">
              <a:solidFill>
                <a:schemeClr val="dk1"/>
              </a:solidFill>
              <a:latin typeface="Calibri"/>
              <a:ea typeface="Calibri"/>
              <a:cs typeface="Calibri"/>
              <a:sym typeface="Calibri"/>
            </a:endParaRPr>
          </a:p>
        </p:txBody>
      </p:sp>
      <p:sp>
        <p:nvSpPr>
          <p:cNvPr id="881" name="Google Shape;881;p35"/>
          <p:cNvSpPr/>
          <p:nvPr/>
        </p:nvSpPr>
        <p:spPr>
          <a:xfrm>
            <a:off x="274320" y="1280160"/>
            <a:ext cx="4389120" cy="475488"/>
          </a:xfrm>
          <a:prstGeom prst="roundRect">
            <a:avLst>
              <a:gd fmla="val 15385" name="adj"/>
            </a:avLst>
          </a:prstGeom>
          <a:solidFill>
            <a:srgbClr val="1A2550"/>
          </a:solidFill>
          <a:ln cap="flat" cmpd="sng" w="15225">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35"/>
          <p:cNvSpPr/>
          <p:nvPr/>
        </p:nvSpPr>
        <p:spPr>
          <a:xfrm>
            <a:off x="347472" y="1344168"/>
            <a:ext cx="1417320" cy="256032"/>
          </a:xfrm>
          <a:prstGeom prst="roundRect">
            <a:avLst>
              <a:gd fmla="val 17857" name="adj"/>
            </a:avLst>
          </a:prstGeom>
          <a:solidFill>
            <a:srgbClr val="9B59B6">
              <a:alpha val="87843"/>
            </a:srgbClr>
          </a:solidFill>
          <a:ln cap="flat" cmpd="sng" w="12700">
            <a:solidFill>
              <a:srgbClr val="9B59B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35"/>
          <p:cNvSpPr/>
          <p:nvPr/>
        </p:nvSpPr>
        <p:spPr>
          <a:xfrm>
            <a:off x="347472" y="1344168"/>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VARIABLE</a:t>
            </a:r>
            <a:endParaRPr b="0" i="0" sz="700" u="none" cap="none" strike="noStrike">
              <a:solidFill>
                <a:schemeClr val="dk1"/>
              </a:solidFill>
              <a:latin typeface="Calibri"/>
              <a:ea typeface="Calibri"/>
              <a:cs typeface="Calibri"/>
              <a:sym typeface="Calibri"/>
            </a:endParaRPr>
          </a:p>
        </p:txBody>
      </p:sp>
      <p:sp>
        <p:nvSpPr>
          <p:cNvPr id="884" name="Google Shape;884;p35"/>
          <p:cNvSpPr/>
          <p:nvPr/>
        </p:nvSpPr>
        <p:spPr>
          <a:xfrm>
            <a:off x="1847088" y="1280160"/>
            <a:ext cx="2724912" cy="47548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Tipo de material detectado por sensor de color o inductivo (metálico / no metálico / transparente).</a:t>
            </a:r>
            <a:endParaRPr b="0" i="0" sz="900" u="none" cap="none" strike="noStrike">
              <a:solidFill>
                <a:schemeClr val="dk1"/>
              </a:solidFill>
              <a:latin typeface="Calibri"/>
              <a:ea typeface="Calibri"/>
              <a:cs typeface="Calibri"/>
              <a:sym typeface="Calibri"/>
            </a:endParaRPr>
          </a:p>
        </p:txBody>
      </p:sp>
      <p:sp>
        <p:nvSpPr>
          <p:cNvPr id="885" name="Google Shape;885;p35"/>
          <p:cNvSpPr/>
          <p:nvPr/>
        </p:nvSpPr>
        <p:spPr>
          <a:xfrm>
            <a:off x="274320" y="1810512"/>
            <a:ext cx="4389120" cy="475488"/>
          </a:xfrm>
          <a:prstGeom prst="roundRect">
            <a:avLst>
              <a:gd fmla="val 15385" name="adj"/>
            </a:avLst>
          </a:prstGeom>
          <a:solidFill>
            <a:srgbClr val="1A2550"/>
          </a:solidFill>
          <a:ln cap="flat" cmpd="sng" w="15225">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35"/>
          <p:cNvSpPr/>
          <p:nvPr/>
        </p:nvSpPr>
        <p:spPr>
          <a:xfrm>
            <a:off x="347472" y="1874520"/>
            <a:ext cx="1417320" cy="256032"/>
          </a:xfrm>
          <a:prstGeom prst="roundRect">
            <a:avLst>
              <a:gd fmla="val 17857" name="adj"/>
            </a:avLst>
          </a:prstGeom>
          <a:solidFill>
            <a:srgbClr val="FF4D6A">
              <a:alpha val="87843"/>
            </a:srgbClr>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7" name="Google Shape;887;p35"/>
          <p:cNvSpPr/>
          <p:nvPr/>
        </p:nvSpPr>
        <p:spPr>
          <a:xfrm>
            <a:off x="347472" y="1874520"/>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PUNTO DE QUIEBRE</a:t>
            </a:r>
            <a:endParaRPr b="0" i="0" sz="700" u="none" cap="none" strike="noStrike">
              <a:solidFill>
                <a:schemeClr val="dk1"/>
              </a:solidFill>
              <a:latin typeface="Calibri"/>
              <a:ea typeface="Calibri"/>
              <a:cs typeface="Calibri"/>
              <a:sym typeface="Calibri"/>
            </a:endParaRPr>
          </a:p>
        </p:txBody>
      </p:sp>
      <p:sp>
        <p:nvSpPr>
          <p:cNvPr id="888" name="Google Shape;888;p35"/>
          <p:cNvSpPr/>
          <p:nvPr/>
        </p:nvSpPr>
        <p:spPr>
          <a:xfrm>
            <a:off x="1847088" y="1810512"/>
            <a:ext cx="2724912" cy="47548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Detección de material metálico (sensor inductivo activo) o clasificación de color por sensor TCS3200.</a:t>
            </a:r>
            <a:endParaRPr b="0" i="0" sz="900" u="none" cap="none" strike="noStrike">
              <a:solidFill>
                <a:schemeClr val="dk1"/>
              </a:solidFill>
              <a:latin typeface="Calibri"/>
              <a:ea typeface="Calibri"/>
              <a:cs typeface="Calibri"/>
              <a:sym typeface="Calibri"/>
            </a:endParaRPr>
          </a:p>
        </p:txBody>
      </p:sp>
      <p:sp>
        <p:nvSpPr>
          <p:cNvPr id="889" name="Google Shape;889;p35"/>
          <p:cNvSpPr/>
          <p:nvPr/>
        </p:nvSpPr>
        <p:spPr>
          <a:xfrm>
            <a:off x="274320" y="2340864"/>
            <a:ext cx="4389120" cy="594360"/>
          </a:xfrm>
          <a:prstGeom prst="roundRect">
            <a:avLst>
              <a:gd fmla="val 12308" name="adj"/>
            </a:avLst>
          </a:prstGeom>
          <a:solidFill>
            <a:srgbClr val="1A2550"/>
          </a:solidFill>
          <a:ln cap="flat" cmpd="sng" w="15225">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35"/>
          <p:cNvSpPr/>
          <p:nvPr/>
        </p:nvSpPr>
        <p:spPr>
          <a:xfrm>
            <a:off x="347472" y="2404872"/>
            <a:ext cx="1417320" cy="256032"/>
          </a:xfrm>
          <a:prstGeom prst="roundRect">
            <a:avLst>
              <a:gd fmla="val 17857" name="adj"/>
            </a:avLst>
          </a:prstGeom>
          <a:solidFill>
            <a:srgbClr val="00C896">
              <a:alpha val="87843"/>
            </a:srgbClr>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35"/>
          <p:cNvSpPr/>
          <p:nvPr/>
        </p:nvSpPr>
        <p:spPr>
          <a:xfrm>
            <a:off x="347472" y="2404872"/>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PROBLEMA TECNICO</a:t>
            </a:r>
            <a:endParaRPr b="0" i="0" sz="700" u="none" cap="none" strike="noStrike">
              <a:solidFill>
                <a:schemeClr val="dk1"/>
              </a:solidFill>
              <a:latin typeface="Calibri"/>
              <a:ea typeface="Calibri"/>
              <a:cs typeface="Calibri"/>
              <a:sym typeface="Calibri"/>
            </a:endParaRPr>
          </a:p>
        </p:txBody>
      </p:sp>
      <p:sp>
        <p:nvSpPr>
          <p:cNvPr id="892" name="Google Shape;892;p35"/>
          <p:cNvSpPr/>
          <p:nvPr/>
        </p:nvSpPr>
        <p:spPr>
          <a:xfrm>
            <a:off x="1847088" y="2340864"/>
            <a:ext cx="2724912" cy="594360"/>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900"/>
              <a:buFont typeface="Calibri"/>
              <a:buNone/>
            </a:pPr>
            <a:r>
              <a:rPr b="0" i="0" lang="en-US" sz="900" u="none" cap="none" strike="noStrike">
                <a:solidFill>
                  <a:srgbClr val="E8EDF5"/>
                </a:solidFill>
                <a:latin typeface="Calibri"/>
                <a:ea typeface="Calibri"/>
                <a:cs typeface="Calibri"/>
                <a:sym typeface="Calibri"/>
              </a:rPr>
              <a:t>En el punto de reciclaje, un objeto depositado sin clasificar activa el sensor antes de caer en el contenedor general, lo que genera pérdida de material reciclable recuperable.</a:t>
            </a:r>
            <a:endParaRPr b="0" i="0" sz="900" u="none" cap="none" strike="noStrike">
              <a:solidFill>
                <a:schemeClr val="dk1"/>
              </a:solidFill>
              <a:latin typeface="Calibri"/>
              <a:ea typeface="Calibri"/>
              <a:cs typeface="Calibri"/>
              <a:sym typeface="Calibri"/>
            </a:endParaRPr>
          </a:p>
        </p:txBody>
      </p:sp>
      <p:sp>
        <p:nvSpPr>
          <p:cNvPr id="893" name="Google Shape;893;p35"/>
          <p:cNvSpPr/>
          <p:nvPr/>
        </p:nvSpPr>
        <p:spPr>
          <a:xfrm>
            <a:off x="274320" y="2990088"/>
            <a:ext cx="4389120" cy="841248"/>
          </a:xfrm>
          <a:prstGeom prst="roundRect">
            <a:avLst>
              <a:gd fmla="val 8696" name="adj"/>
            </a:avLst>
          </a:prstGeom>
          <a:solidFill>
            <a:srgbClr val="1A2550"/>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35"/>
          <p:cNvSpPr/>
          <p:nvPr/>
        </p:nvSpPr>
        <p:spPr>
          <a:xfrm>
            <a:off x="347472" y="3054096"/>
            <a:ext cx="1417320" cy="256032"/>
          </a:xfrm>
          <a:prstGeom prst="roundRect">
            <a:avLst>
              <a:gd fmla="val 17857" name="adj"/>
            </a:avLst>
          </a:prstGeom>
          <a:solidFill>
            <a:srgbClr val="00D4FF">
              <a:alpha val="87843"/>
            </a:srgbClr>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35"/>
          <p:cNvSpPr/>
          <p:nvPr/>
        </p:nvSpPr>
        <p:spPr>
          <a:xfrm>
            <a:off x="347472" y="3054096"/>
            <a:ext cx="141732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700"/>
              <a:buFont typeface="Calibri"/>
              <a:buNone/>
            </a:pPr>
            <a:r>
              <a:rPr b="1" i="0" lang="en-US" sz="700" u="none" cap="none" strike="noStrike">
                <a:solidFill>
                  <a:srgbClr val="0A0E2A"/>
                </a:solidFill>
                <a:latin typeface="Calibri"/>
                <a:ea typeface="Calibri"/>
                <a:cs typeface="Calibri"/>
                <a:sym typeface="Calibri"/>
              </a:rPr>
              <a:t>OBJETIVOS</a:t>
            </a:r>
            <a:endParaRPr b="0" i="0" sz="700" u="none" cap="none" strike="noStrike">
              <a:solidFill>
                <a:schemeClr val="dk1"/>
              </a:solidFill>
              <a:latin typeface="Calibri"/>
              <a:ea typeface="Calibri"/>
              <a:cs typeface="Calibri"/>
              <a:sym typeface="Calibri"/>
            </a:endParaRPr>
          </a:p>
        </p:txBody>
      </p:sp>
      <p:sp>
        <p:nvSpPr>
          <p:cNvPr id="896" name="Google Shape;896;p35"/>
          <p:cNvSpPr/>
          <p:nvPr/>
        </p:nvSpPr>
        <p:spPr>
          <a:xfrm>
            <a:off x="1847088" y="2990088"/>
            <a:ext cx="2724912" cy="841248"/>
          </a:xfrm>
          <a:prstGeom prst="rect">
            <a:avLst/>
          </a:prstGeom>
          <a:noFill/>
          <a:ln>
            <a:noFill/>
          </a:ln>
        </p:spPr>
        <p:txBody>
          <a:bodyPr anchorCtr="0" anchor="ctr" bIns="625" lIns="625" spcFirstLastPara="1" rIns="625" wrap="square" tIns="625">
            <a:noAutofit/>
          </a:bodyPr>
          <a:lstStyle/>
          <a:p>
            <a:pPr indent="0" lvl="0" marL="0" marR="0" rtl="0" algn="l">
              <a:spcBef>
                <a:spcPts val="0"/>
              </a:spcBef>
              <a:spcAft>
                <a:spcPts val="0"/>
              </a:spcAft>
              <a:buClr>
                <a:srgbClr val="E8EDF5"/>
              </a:buClr>
              <a:buSzPts val="850"/>
              <a:buFont typeface="Calibri"/>
              <a:buNone/>
            </a:pPr>
            <a:r>
              <a:rPr b="0" i="0" lang="en-US" sz="850" u="none" cap="none" strike="noStrike">
                <a:solidFill>
                  <a:srgbClr val="E8EDF5"/>
                </a:solidFill>
                <a:latin typeface="Calibri"/>
                <a:ea typeface="Calibri"/>
                <a:cs typeface="Calibri"/>
                <a:sym typeface="Calibri"/>
              </a:rPr>
              <a:t>1. Detectar automáticamente el tipo de material de cada objeto depositado.  2. Activar el brazo robótico para dirigir el objeto al contenedor correcto según su clasificación.  3. Registrar la cantidad de objetos clasificados por tipo para estadísticas de reciclaje.</a:t>
            </a:r>
            <a:endParaRPr b="0" i="0" sz="850" u="none" cap="none" strike="noStrike">
              <a:solidFill>
                <a:schemeClr val="dk1"/>
              </a:solidFill>
              <a:latin typeface="Calibri"/>
              <a:ea typeface="Calibri"/>
              <a:cs typeface="Calibri"/>
              <a:sym typeface="Calibri"/>
            </a:endParaRPr>
          </a:p>
        </p:txBody>
      </p:sp>
      <p:sp>
        <p:nvSpPr>
          <p:cNvPr id="897" name="Google Shape;897;p35"/>
          <p:cNvSpPr/>
          <p:nvPr/>
        </p:nvSpPr>
        <p:spPr>
          <a:xfrm>
            <a:off x="4937760" y="749808"/>
            <a:ext cx="3977640" cy="2971800"/>
          </a:xfrm>
          <a:prstGeom prst="roundRect">
            <a:avLst>
              <a:gd fmla="val 4615" name="adj"/>
            </a:avLst>
          </a:prstGeom>
          <a:solidFill>
            <a:srgbClr val="00D4FF">
              <a:alpha val="92156"/>
            </a:srgbClr>
          </a:solidFill>
          <a:ln cap="flat" cmpd="sng" w="25400">
            <a:solidFill>
              <a:srgbClr val="00D4FF"/>
            </a:solidFill>
            <a:prstDash val="solid"/>
            <a:round/>
            <a:headEnd len="sm" w="sm" type="none"/>
            <a:tailEnd len="sm" w="sm" type="none"/>
          </a:ln>
          <a:effectLst>
            <a:outerShdw blurRad="127000" rotWithShape="0" algn="bl" dir="2700000" dist="381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p35"/>
          <p:cNvSpPr/>
          <p:nvPr/>
        </p:nvSpPr>
        <p:spPr>
          <a:xfrm>
            <a:off x="5074920" y="822960"/>
            <a:ext cx="37033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SOLUCIÓN</a:t>
            </a:r>
            <a:endParaRPr b="0" i="0" sz="1200" u="none" cap="none" strike="noStrike">
              <a:solidFill>
                <a:schemeClr val="dk1"/>
              </a:solidFill>
              <a:latin typeface="Calibri"/>
              <a:ea typeface="Calibri"/>
              <a:cs typeface="Calibri"/>
              <a:sym typeface="Calibri"/>
            </a:endParaRPr>
          </a:p>
        </p:txBody>
      </p:sp>
      <p:sp>
        <p:nvSpPr>
          <p:cNvPr id="899" name="Google Shape;899;p35"/>
          <p:cNvSpPr/>
          <p:nvPr/>
        </p:nvSpPr>
        <p:spPr>
          <a:xfrm>
            <a:off x="5074920" y="1188720"/>
            <a:ext cx="3703320" cy="1828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1100"/>
              <a:buFont typeface="Calibri"/>
              <a:buNone/>
            </a:pPr>
            <a:r>
              <a:rPr b="0" i="0" lang="en-US" sz="1100" u="none" cap="none" strike="noStrike">
                <a:solidFill>
                  <a:srgbClr val="0A0E2A"/>
                </a:solidFill>
                <a:latin typeface="Calibri"/>
                <a:ea typeface="Calibri"/>
                <a:cs typeface="Calibri"/>
                <a:sym typeface="Calibri"/>
              </a:rPr>
              <a:t>Brazo con 3 servomotores + sensor inductivo + sensor de color TCS3200 + Arduino. El sistema identifica el material y rota el brazo al ángulo correspondiente a cada contenedor.</a:t>
            </a:r>
            <a:endParaRPr b="0" i="0" sz="1100" u="none" cap="none" strike="noStrike">
              <a:solidFill>
                <a:schemeClr val="dk1"/>
              </a:solidFill>
              <a:latin typeface="Calibri"/>
              <a:ea typeface="Calibri"/>
              <a:cs typeface="Calibri"/>
              <a:sym typeface="Calibri"/>
            </a:endParaRPr>
          </a:p>
        </p:txBody>
      </p:sp>
      <p:sp>
        <p:nvSpPr>
          <p:cNvPr id="900" name="Google Shape;900;p35"/>
          <p:cNvSpPr/>
          <p:nvPr/>
        </p:nvSpPr>
        <p:spPr>
          <a:xfrm>
            <a:off x="5074920" y="3017520"/>
            <a:ext cx="370332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A0E2A"/>
              </a:buClr>
              <a:buSzPts val="950"/>
              <a:buFont typeface="Calibri"/>
              <a:buNone/>
            </a:pPr>
            <a:r>
              <a:rPr b="0" i="1" lang="en-US" sz="950" u="none" cap="none" strike="noStrike">
                <a:solidFill>
                  <a:srgbClr val="0A0E2A"/>
                </a:solidFill>
                <a:latin typeface="Calibri"/>
                <a:ea typeface="Calibri"/>
                <a:cs typeface="Calibri"/>
                <a:sym typeface="Calibri"/>
              </a:rPr>
              <a:t>📷  Brazo robótico con sensor de color y tres contenedores de reciclaje</a:t>
            </a:r>
            <a:endParaRPr b="0" i="0" sz="950" u="none" cap="none" strike="noStrike">
              <a:solidFill>
                <a:schemeClr val="dk1"/>
              </a:solidFill>
              <a:latin typeface="Calibri"/>
              <a:ea typeface="Calibri"/>
              <a:cs typeface="Calibri"/>
              <a:sym typeface="Calibri"/>
            </a:endParaRPr>
          </a:p>
        </p:txBody>
      </p:sp>
      <p:sp>
        <p:nvSpPr>
          <p:cNvPr id="901" name="Google Shape;901;p35"/>
          <p:cNvSpPr/>
          <p:nvPr/>
        </p:nvSpPr>
        <p:spPr>
          <a:xfrm>
            <a:off x="274320" y="3858768"/>
            <a:ext cx="8549640" cy="841248"/>
          </a:xfrm>
          <a:prstGeom prst="roundRect">
            <a:avLst>
              <a:gd fmla="val 13043" name="adj"/>
            </a:avLst>
          </a:prstGeom>
          <a:solidFill>
            <a:srgbClr val="1A2550"/>
          </a:solidFill>
          <a:ln cap="flat" cmpd="sng" w="15225">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35"/>
          <p:cNvSpPr/>
          <p:nvPr/>
        </p:nvSpPr>
        <p:spPr>
          <a:xfrm>
            <a:off x="457200" y="3858768"/>
            <a:ext cx="8229600" cy="8412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EDF5"/>
              </a:buClr>
              <a:buSzPts val="1200"/>
              <a:buFont typeface="Calibri"/>
              <a:buNone/>
            </a:pPr>
            <a:r>
              <a:rPr b="0" i="0" lang="en-US" sz="1200" u="none" cap="none" strike="noStrike">
                <a:solidFill>
                  <a:srgbClr val="E8EDF5"/>
                </a:solidFill>
                <a:latin typeface="Calibri"/>
                <a:ea typeface="Calibri"/>
                <a:cs typeface="Calibri"/>
                <a:sym typeface="Calibri"/>
              </a:rPr>
              <a:t>¿Qué equipo formuló mejor cada componente?  ·  ¿Cuál se acercó más a la solución real?  ·  ¿Qué mejorarían?</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E2A"/>
        </a:solidFill>
      </p:bgPr>
    </p:bg>
    <p:spTree>
      <p:nvGrpSpPr>
        <p:cNvPr id="907" name="Shape 907"/>
        <p:cNvGrpSpPr/>
        <p:nvPr/>
      </p:nvGrpSpPr>
      <p:grpSpPr>
        <a:xfrm>
          <a:off x="0" y="0"/>
          <a:ext cx="0" cy="0"/>
          <a:chOff x="0" y="0"/>
          <a:chExt cx="0" cy="0"/>
        </a:xfrm>
      </p:grpSpPr>
      <p:sp>
        <p:nvSpPr>
          <p:cNvPr id="908" name="Google Shape;908;p36"/>
          <p:cNvSpPr/>
          <p:nvPr/>
        </p:nvSpPr>
        <p:spPr>
          <a:xfrm>
            <a:off x="3200400" y="457200"/>
            <a:ext cx="2743200" cy="2743200"/>
          </a:xfrm>
          <a:prstGeom prst="ellipse">
            <a:avLst/>
          </a:prstGeom>
          <a:solidFill>
            <a:srgbClr val="1A2550"/>
          </a:solidFill>
          <a:ln cap="flat" cmpd="sng" w="12700">
            <a:solidFill>
              <a:srgbClr val="1A255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09" name="Google Shape;909;p36"/>
          <p:cNvPicPr preferRelativeResize="0"/>
          <p:nvPr/>
        </p:nvPicPr>
        <p:blipFill rotWithShape="1">
          <a:blip r:embed="rId3">
            <a:alphaModFix/>
          </a:blip>
          <a:srcRect b="0" l="0" r="0" t="0"/>
          <a:stretch/>
        </p:blipFill>
        <p:spPr>
          <a:xfrm>
            <a:off x="4206240" y="822960"/>
            <a:ext cx="731520" cy="731520"/>
          </a:xfrm>
          <a:prstGeom prst="rect">
            <a:avLst/>
          </a:prstGeom>
          <a:noFill/>
          <a:ln>
            <a:noFill/>
          </a:ln>
        </p:spPr>
      </p:pic>
      <p:sp>
        <p:nvSpPr>
          <p:cNvPr id="910" name="Google Shape;910;p36"/>
          <p:cNvSpPr/>
          <p:nvPr/>
        </p:nvSpPr>
        <p:spPr>
          <a:xfrm>
            <a:off x="457200" y="1463040"/>
            <a:ext cx="822960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3200"/>
              <a:buFont typeface="Calibri"/>
              <a:buNone/>
            </a:pPr>
            <a:r>
              <a:rPr b="1" i="0" lang="en-US" sz="3200" u="none" cap="none" strike="noStrike">
                <a:solidFill>
                  <a:srgbClr val="FFFFFF"/>
                </a:solidFill>
                <a:latin typeface="Calibri"/>
                <a:ea typeface="Calibri"/>
                <a:cs typeface="Calibri"/>
                <a:sym typeface="Calibri"/>
              </a:rPr>
              <a:t>¿Qué aprendimos?</a:t>
            </a:r>
            <a:endParaRPr b="0" i="0" sz="3200" u="none" cap="none" strike="noStrike">
              <a:solidFill>
                <a:schemeClr val="dk1"/>
              </a:solidFill>
              <a:latin typeface="Calibri"/>
              <a:ea typeface="Calibri"/>
              <a:cs typeface="Calibri"/>
              <a:sym typeface="Calibri"/>
            </a:endParaRPr>
          </a:p>
        </p:txBody>
      </p:sp>
      <p:sp>
        <p:nvSpPr>
          <p:cNvPr id="911" name="Google Shape;911;p36"/>
          <p:cNvSpPr/>
          <p:nvPr/>
        </p:nvSpPr>
        <p:spPr>
          <a:xfrm>
            <a:off x="457200" y="2286000"/>
            <a:ext cx="8229600" cy="530352"/>
          </a:xfrm>
          <a:prstGeom prst="roundRect">
            <a:avLst>
              <a:gd fmla="val 17241" name="adj"/>
            </a:avLst>
          </a:prstGeom>
          <a:solidFill>
            <a:srgbClr val="1A2550"/>
          </a:solidFill>
          <a:ln cap="flat" cmpd="sng" w="1905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36"/>
          <p:cNvSpPr/>
          <p:nvPr/>
        </p:nvSpPr>
        <p:spPr>
          <a:xfrm>
            <a:off x="566928" y="2359152"/>
            <a:ext cx="365760" cy="365760"/>
          </a:xfrm>
          <a:prstGeom prst="ellipse">
            <a:avLst/>
          </a:prstGeom>
          <a:solidFill>
            <a:srgbClr val="00D4FF"/>
          </a:solidFill>
          <a:ln cap="flat" cmpd="sng" w="12700">
            <a:solidFill>
              <a:srgbClr val="00D4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36"/>
          <p:cNvSpPr/>
          <p:nvPr/>
        </p:nvSpPr>
        <p:spPr>
          <a:xfrm>
            <a:off x="566928" y="235915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914" name="Google Shape;914;p36"/>
          <p:cNvSpPr/>
          <p:nvPr/>
        </p:nvSpPr>
        <p:spPr>
          <a:xfrm>
            <a:off x="1051560" y="2286000"/>
            <a:ext cx="74980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250"/>
              <a:buFont typeface="Calibri"/>
              <a:buNone/>
            </a:pPr>
            <a:r>
              <a:rPr b="0" i="0" lang="en-US" sz="1250" u="none" cap="none" strike="noStrike">
                <a:solidFill>
                  <a:srgbClr val="E8EDF5"/>
                </a:solidFill>
                <a:latin typeface="Calibri"/>
                <a:ea typeface="Calibri"/>
                <a:cs typeface="Calibri"/>
                <a:sym typeface="Calibri"/>
              </a:rPr>
              <a:t>Un problema vago bien analizado lleva siempre a una solución precisa</a:t>
            </a:r>
            <a:endParaRPr b="0" i="0" sz="1250" u="none" cap="none" strike="noStrike">
              <a:solidFill>
                <a:schemeClr val="dk1"/>
              </a:solidFill>
              <a:latin typeface="Calibri"/>
              <a:ea typeface="Calibri"/>
              <a:cs typeface="Calibri"/>
              <a:sym typeface="Calibri"/>
            </a:endParaRPr>
          </a:p>
        </p:txBody>
      </p:sp>
      <p:sp>
        <p:nvSpPr>
          <p:cNvPr id="915" name="Google Shape;915;p36"/>
          <p:cNvSpPr/>
          <p:nvPr/>
        </p:nvSpPr>
        <p:spPr>
          <a:xfrm>
            <a:off x="457200" y="2898648"/>
            <a:ext cx="8229600" cy="530352"/>
          </a:xfrm>
          <a:prstGeom prst="roundRect">
            <a:avLst>
              <a:gd fmla="val 17241" name="adj"/>
            </a:avLst>
          </a:prstGeom>
          <a:solidFill>
            <a:srgbClr val="1A2550"/>
          </a:solidFill>
          <a:ln cap="flat" cmpd="sng" w="1905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36"/>
          <p:cNvSpPr/>
          <p:nvPr/>
        </p:nvSpPr>
        <p:spPr>
          <a:xfrm>
            <a:off x="566928" y="2971800"/>
            <a:ext cx="365760" cy="365760"/>
          </a:xfrm>
          <a:prstGeom prst="ellipse">
            <a:avLst/>
          </a:prstGeom>
          <a:solidFill>
            <a:srgbClr val="FFB800"/>
          </a:solidFill>
          <a:ln cap="flat" cmpd="sng" w="12700">
            <a:solidFill>
              <a:srgbClr val="FFB8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36"/>
          <p:cNvSpPr/>
          <p:nvPr/>
        </p:nvSpPr>
        <p:spPr>
          <a:xfrm>
            <a:off x="566928" y="297180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918" name="Google Shape;918;p36"/>
          <p:cNvSpPr/>
          <p:nvPr/>
        </p:nvSpPr>
        <p:spPr>
          <a:xfrm>
            <a:off x="1051560" y="2898648"/>
            <a:ext cx="74980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250"/>
              <a:buFont typeface="Calibri"/>
              <a:buNone/>
            </a:pPr>
            <a:r>
              <a:rPr b="0" i="0" lang="en-US" sz="1250" u="none" cap="none" strike="noStrike">
                <a:solidFill>
                  <a:srgbClr val="E8EDF5"/>
                </a:solidFill>
                <a:latin typeface="Calibri"/>
                <a:ea typeface="Calibri"/>
                <a:cs typeface="Calibri"/>
                <a:sym typeface="Calibri"/>
              </a:rPr>
              <a:t>La variable y el punto de quiebre son el corazón del problema técnico</a:t>
            </a:r>
            <a:endParaRPr b="0" i="0" sz="1250" u="none" cap="none" strike="noStrike">
              <a:solidFill>
                <a:schemeClr val="dk1"/>
              </a:solidFill>
              <a:latin typeface="Calibri"/>
              <a:ea typeface="Calibri"/>
              <a:cs typeface="Calibri"/>
              <a:sym typeface="Calibri"/>
            </a:endParaRPr>
          </a:p>
        </p:txBody>
      </p:sp>
      <p:sp>
        <p:nvSpPr>
          <p:cNvPr id="919" name="Google Shape;919;p36"/>
          <p:cNvSpPr/>
          <p:nvPr/>
        </p:nvSpPr>
        <p:spPr>
          <a:xfrm>
            <a:off x="457200" y="3511296"/>
            <a:ext cx="8229600" cy="530352"/>
          </a:xfrm>
          <a:prstGeom prst="roundRect">
            <a:avLst>
              <a:gd fmla="val 17241" name="adj"/>
            </a:avLst>
          </a:prstGeom>
          <a:solidFill>
            <a:srgbClr val="1A2550"/>
          </a:solidFill>
          <a:ln cap="flat" cmpd="sng" w="1905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36"/>
          <p:cNvSpPr/>
          <p:nvPr/>
        </p:nvSpPr>
        <p:spPr>
          <a:xfrm>
            <a:off x="566928" y="3584448"/>
            <a:ext cx="365760" cy="365760"/>
          </a:xfrm>
          <a:prstGeom prst="ellipse">
            <a:avLst/>
          </a:prstGeom>
          <a:solidFill>
            <a:srgbClr val="00C896"/>
          </a:solidFill>
          <a:ln cap="flat" cmpd="sng" w="12700">
            <a:solidFill>
              <a:srgbClr val="00C89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36"/>
          <p:cNvSpPr/>
          <p:nvPr/>
        </p:nvSpPr>
        <p:spPr>
          <a:xfrm>
            <a:off x="566928" y="3584448"/>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922" name="Google Shape;922;p36"/>
          <p:cNvSpPr/>
          <p:nvPr/>
        </p:nvSpPr>
        <p:spPr>
          <a:xfrm>
            <a:off x="1051560" y="3511296"/>
            <a:ext cx="74980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250"/>
              <a:buFont typeface="Calibri"/>
              <a:buNone/>
            </a:pPr>
            <a:r>
              <a:rPr b="0" i="0" lang="en-US" sz="1250" u="none" cap="none" strike="noStrike">
                <a:solidFill>
                  <a:srgbClr val="E8EDF5"/>
                </a:solidFill>
                <a:latin typeface="Calibri"/>
                <a:ea typeface="Calibri"/>
                <a:cs typeface="Calibri"/>
                <a:sym typeface="Calibri"/>
              </a:rPr>
              <a:t>Sin disparadoras, el problema técnico queda a mitad de camino</a:t>
            </a:r>
            <a:endParaRPr b="0" i="0" sz="1250" u="none" cap="none" strike="noStrike">
              <a:solidFill>
                <a:schemeClr val="dk1"/>
              </a:solidFill>
              <a:latin typeface="Calibri"/>
              <a:ea typeface="Calibri"/>
              <a:cs typeface="Calibri"/>
              <a:sym typeface="Calibri"/>
            </a:endParaRPr>
          </a:p>
        </p:txBody>
      </p:sp>
      <p:sp>
        <p:nvSpPr>
          <p:cNvPr id="923" name="Google Shape;923;p36"/>
          <p:cNvSpPr/>
          <p:nvPr/>
        </p:nvSpPr>
        <p:spPr>
          <a:xfrm>
            <a:off x="457200" y="4123944"/>
            <a:ext cx="8229600" cy="530352"/>
          </a:xfrm>
          <a:prstGeom prst="roundRect">
            <a:avLst>
              <a:gd fmla="val 17241" name="adj"/>
            </a:avLst>
          </a:prstGeom>
          <a:solidFill>
            <a:srgbClr val="1A2550"/>
          </a:solidFill>
          <a:ln cap="flat" cmpd="sng" w="1905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36"/>
          <p:cNvSpPr/>
          <p:nvPr/>
        </p:nvSpPr>
        <p:spPr>
          <a:xfrm>
            <a:off x="566928" y="4197096"/>
            <a:ext cx="365760" cy="365760"/>
          </a:xfrm>
          <a:prstGeom prst="ellipse">
            <a:avLst/>
          </a:prstGeom>
          <a:solidFill>
            <a:srgbClr val="FF4D6A"/>
          </a:solidFill>
          <a:ln cap="flat" cmpd="sng" w="12700">
            <a:solidFill>
              <a:srgbClr val="FF4D6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36"/>
          <p:cNvSpPr/>
          <p:nvPr/>
        </p:nvSpPr>
        <p:spPr>
          <a:xfrm>
            <a:off x="566928" y="419709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A0E2A"/>
              </a:buClr>
              <a:buSzPts val="1200"/>
              <a:buFont typeface="Calibri"/>
              <a:buNone/>
            </a:pPr>
            <a:r>
              <a:rPr b="1" i="0" lang="en-US" sz="1200" u="none" cap="none" strike="noStrike">
                <a:solidFill>
                  <a:srgbClr val="0A0E2A"/>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926" name="Google Shape;926;p36"/>
          <p:cNvSpPr/>
          <p:nvPr/>
        </p:nvSpPr>
        <p:spPr>
          <a:xfrm>
            <a:off x="1051560" y="4123944"/>
            <a:ext cx="749808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EDF5"/>
              </a:buClr>
              <a:buSzPts val="1250"/>
              <a:buFont typeface="Calibri"/>
              <a:buNone/>
            </a:pPr>
            <a:r>
              <a:rPr b="0" i="0" lang="en-US" sz="1250" u="none" cap="none" strike="noStrike">
                <a:solidFill>
                  <a:srgbClr val="E8EDF5"/>
                </a:solidFill>
                <a:latin typeface="Calibri"/>
                <a:ea typeface="Calibri"/>
                <a:cs typeface="Calibri"/>
                <a:sym typeface="Calibri"/>
              </a:rPr>
              <a:t>Los mejores proyectos nacen de problemas reales y medibles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