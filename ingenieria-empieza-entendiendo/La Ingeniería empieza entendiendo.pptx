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Arrancar con la pregunta: '¿Alguien sabe qué hace un ingeniero antes de construir algo?' Dejar que opinen. La respuesta está en el título.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camino completo desde el principio. Que vean adónde llegan desde el día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 los alumnos qué ejemplos conocen. Todos usan este mismo esquema. El celular, el auto, la heladera.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Preguntar: '¿Podrían programar un Arduino para resolver 'hay mucho ruido'?' Claramente no. Necesitan un número. Eso es la transición al problema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es el núcleo de la unidad. Las 4 componentes son la herramienta. Repetir varias veces con distintos ejemplos hasta que quede grabado.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Construir este ejemplo en vivo con la clase. Preguntar cada componente antes de revelarla. El pizarrón es el lugar para escribir sus respuestas.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de 10 minutos en grupos. Al terminar, pedir a 2 grupos que compartan su reformulación técnica. Comparar entre sí — ¿llegaron al mismo enunciado?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gancho. No revelar nada más. Dejar la pregunta abierta. La tensión es pedagógica — la próxima clase arranca exactamente desde acá.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esto. El ??? ya lo vieron en la slide anterior — acá lo nombran: Preguntas Disparadoras. La próxima clase arranca resolviendo ese nudo.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640080"/>
            <a:ext cx="3657600" cy="3657600"/>
          </a:xfrm>
          <a:prstGeom prst="ellipse">
            <a:avLst/>
          </a:prstGeom>
          <a:solidFill>
            <a:srgbClr val="FFB800">
              <a:alpha val="10000"/>
            </a:srgbClr>
          </a:solidFill>
          <a:ln w="12700">
            <a:solidFill>
              <a:srgbClr val="FFB80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FFB800">
              <a:alpha val="9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2A"/>
                </a:solidFill>
              </a:rPr>
              <a:t>LA INGENIERÍA EMPIEZA ENTENDIENDO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6858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La ingeniería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empieza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entendiendo.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BAA"/>
                </a:solidFill>
              </a:rPr>
              <a:t>Taller de Proyecto · 1er y 2do año · Electromecánica · Robótica · 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1463040" cy="54864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4630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E2A"/>
                </a:solidFill>
              </a:rPr>
              <a:t>¿Qué hacemos en Taller de Proyecto?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BAA"/>
                </a:solidFill>
              </a:rPr>
              <a:t>No es solo construir. Es aprender a pensar como ingenieros.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554480" cy="25603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286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258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9019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Observar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22860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3A5C"/>
                </a:solidFill>
              </a:rPr>
              <a:t>Detectar problemas reales en el entorno cotidiano y técnico.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874520" y="2377440"/>
            <a:ext cx="45720" cy="0"/>
          </a:xfrm>
          <a:prstGeom prst="line">
            <a:avLst/>
          </a:prstGeom>
          <a:noFill/>
          <a:ln w="1905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965960" y="1097280"/>
            <a:ext cx="1554480" cy="25603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286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3258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65960" y="19019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800"/>
                </a:solidFill>
              </a:rPr>
              <a:t>Analizar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057400" y="22860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3A5C"/>
                </a:solidFill>
              </a:rPr>
              <a:t>Entender qué pasa, por qué pasa y qué se necesita para resolverlo.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520440" y="2377440"/>
            <a:ext cx="45720" cy="0"/>
          </a:xfrm>
          <a:prstGeom prst="line">
            <a:avLst/>
          </a:prstGeom>
          <a:noFill/>
          <a:ln w="1905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611880" y="1097280"/>
            <a:ext cx="1554480" cy="25603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286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3258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11880" y="19019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Diseñar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703320" y="22860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3A5C"/>
                </a:solidFill>
              </a:rPr>
              <a:t>Planificar la solución antes de construirla. Planos, diagramas, materiales.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166360" y="2377440"/>
            <a:ext cx="45720" cy="0"/>
          </a:xfrm>
          <a:prstGeom prst="line">
            <a:avLst/>
          </a:prstGeom>
          <a:noFill/>
          <a:ln w="1905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257800" y="1097280"/>
            <a:ext cx="1554480" cy="25603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286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32588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57800" y="19019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59B6"/>
                </a:solidFill>
              </a:rPr>
              <a:t>Construir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349240" y="22860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3A5C"/>
                </a:solidFill>
              </a:rPr>
              <a:t>Armar el prototipo real en el taller con herramientas y componentes.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812280" y="2377440"/>
            <a:ext cx="45720" cy="0"/>
          </a:xfrm>
          <a:prstGeom prst="line">
            <a:avLst/>
          </a:prstGeom>
          <a:noFill/>
          <a:ln w="1905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6903720" y="1097280"/>
            <a:ext cx="1554480" cy="25603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286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132588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03720" y="19019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D6A"/>
                </a:solidFill>
              </a:rPr>
              <a:t>Presentar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995160" y="22860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3A5C"/>
                </a:solidFill>
              </a:rPr>
              <a:t>Defender el proyecto frente a jurados en un Pitch Elevator.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320040" y="3767328"/>
            <a:ext cx="8503920" cy="713232"/>
          </a:xfrm>
          <a:prstGeom prst="roundRect">
            <a:avLst>
              <a:gd name="adj" fmla="val 12821"/>
            </a:avLst>
          </a:prstGeom>
          <a:solidFill>
            <a:srgbClr val="0A0E2A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57200" y="3767328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B800"/>
                </a:solidFill>
              </a:rPr>
              <a:t>🏁  Destino final: Pitch Elevator frente a jurado · MVP funcionando · Carpeta de proyecto completa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Todo sistema automático funciona igual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BAA"/>
                </a:solidFill>
              </a:rPr>
              <a:t>Desde una puerta automática hasta un robot industrial — el principio es siempre el mismo.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76072" y="1097280"/>
            <a:ext cx="1737360" cy="1463040"/>
          </a:xfrm>
          <a:prstGeom prst="roundRect">
            <a:avLst>
              <a:gd name="adj" fmla="val 8750"/>
            </a:avLst>
          </a:prstGeom>
          <a:solidFill>
            <a:srgbClr val="1A2550"/>
          </a:solidFill>
          <a:ln w="25400">
            <a:solidFill>
              <a:srgbClr val="7A8B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76072" y="12618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8BAA"/>
                </a:solidFill>
              </a:rPr>
              <a:t>ENTORNO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7512" y="171907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La realidad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que rodea al sistema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13432" y="1828800"/>
            <a:ext cx="347472" cy="0"/>
          </a:xfrm>
          <a:prstGeom prst="line">
            <a:avLst/>
          </a:prstGeom>
          <a:noFill/>
          <a:ln w="3175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60904" y="1097280"/>
            <a:ext cx="1737360" cy="1463040"/>
          </a:xfrm>
          <a:prstGeom prst="roundRect">
            <a:avLst>
              <a:gd name="adj" fmla="val 8750"/>
            </a:avLst>
          </a:prstGeom>
          <a:solidFill>
            <a:srgbClr val="131B3A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60904" y="12618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SENSOR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52344" y="171907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Detecta y mide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una variable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98264" y="1828800"/>
            <a:ext cx="347472" cy="0"/>
          </a:xfrm>
          <a:prstGeom prst="line">
            <a:avLst/>
          </a:prstGeom>
          <a:noFill/>
          <a:ln w="3175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45736" y="1097280"/>
            <a:ext cx="1737360" cy="1463040"/>
          </a:xfrm>
          <a:prstGeom prst="roundRect">
            <a:avLst>
              <a:gd name="adj" fmla="val 8750"/>
            </a:avLst>
          </a:prstGeom>
          <a:solidFill>
            <a:srgbClr val="131B3A"/>
          </a:solidFill>
          <a:ln w="2540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45736" y="12618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800"/>
                </a:solidFill>
              </a:rPr>
              <a:t>DECISIÓN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37176" y="171907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Compara con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el umbral definido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83096" y="1828800"/>
            <a:ext cx="347472" cy="0"/>
          </a:xfrm>
          <a:prstGeom prst="line">
            <a:avLst/>
          </a:prstGeom>
          <a:noFill/>
          <a:ln w="3175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30568" y="1097280"/>
            <a:ext cx="1737360" cy="1463040"/>
          </a:xfrm>
          <a:prstGeom prst="roundRect">
            <a:avLst>
              <a:gd name="adj" fmla="val 8750"/>
            </a:avLst>
          </a:prstGeom>
          <a:solidFill>
            <a:srgbClr val="131B3A"/>
          </a:solidFill>
          <a:ln w="254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30568" y="12618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6"/>
                </a:solidFill>
              </a:rPr>
              <a:t>ACCIÓN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22008" y="171907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Ejecuta 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respuesta correcta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4340" y="288036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A2550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" y="297180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Puerta automática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4068" y="3291840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Presencia (infrarrojo) → detecta persona → abre la puerta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68980" y="288036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A2550"/>
          </a:solidFill>
          <a:ln w="15240">
            <a:solidFill>
              <a:srgbClr val="FFB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8708" y="297180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Aire acondicionado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78708" y="3291840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Temperatura &gt; 26°C → compara con umbral → activa compresor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03620" y="288036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A2550"/>
          </a:solidFill>
          <a:ln w="1524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3348" y="297180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Sensor de humo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3348" y="3291840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Partículas en el aire → supera nivel → dispara alarma sonora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041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7B8"/>
                </a:solidFill>
              </a:rPr>
              <a:t>sensor = medir variable  |  actuador = ejecutar acción  |  controlador = tomar la decisión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E2A"/>
                </a:solidFill>
              </a:rPr>
              <a:t>El problema vago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BAA"/>
                </a:solidFill>
              </a:rPr>
              <a:t>Así describe un problema alguien que lo vive, pero no sabe cómo resolverlo.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E2A"/>
                </a:solidFill>
              </a:rPr>
              <a:t>Un problema vago </a:t>
            </a:r>
            <a:pPr indent="0" marL="0">
              <a:buNone/>
            </a:pPr>
            <a:r>
              <a:rPr lang="en-US" sz="1400" b="1" dirty="0">
                <a:solidFill>
                  <a:srgbClr val="FFB800"/>
                </a:solidFill>
              </a:rPr>
              <a:t>no tiene contexto, no tiene variable medible, no tiene umbral.</a:t>
            </a:r>
            <a:pPr indent="0" marL="0">
              <a:buNone/>
            </a:pPr>
            <a:r>
              <a:rPr lang="en-US" sz="1400" dirty="0">
                <a:solidFill>
                  <a:srgbClr val="0A0E2A"/>
                </a:solidFill>
              </a:rPr>
              <a:t> Es una sensación, no un enunciado técnico.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00D4FF">
              <a:alpha val="90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96596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E2A"/>
                </a:solidFill>
              </a:rPr>
              <a:t>🔊  "Hay mucho ruido."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37560" y="196596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FFB800">
              <a:alpha val="90000"/>
            </a:srgbClr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47288" y="196596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E2A"/>
                </a:solidFill>
              </a:rPr>
              <a:t>💡  "La luz molesta."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FF4D6A">
              <a:alpha val="90000"/>
            </a:srgbClr>
          </a:solidFill>
          <a:ln w="1905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27648" y="196596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E2A"/>
                </a:solidFill>
              </a:rPr>
              <a:t>🚪  "La puerta queda abierta."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4D6A">
                <a:alpha val="6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035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A"/>
                </a:solidFill>
              </a:rPr>
              <a:t>¿Por qué no alcanza?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375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A"/>
                </a:solidFill>
              </a:rPr>
              <a:t>Sin contexto: </a:t>
            </a:r>
            <a:pPr indent="0" marL="0">
              <a:buNone/>
            </a:pPr>
            <a:r>
              <a:rPr lang="en-US" sz="1100" dirty="0">
                <a:solidFill>
                  <a:srgbClr val="2E3A5C"/>
                </a:solidFill>
              </a:rPr>
              <a:t>¿Dónde pasa "hay mucho ruido"? ¿En un aula, en una autopista, en una fábrica? La misma frase describe tres problemas distintos.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A"/>
                </a:solidFill>
              </a:rPr>
              <a:t>Sin variable: </a:t>
            </a:r>
            <a:pPr indent="0" marL="0">
              <a:buNone/>
            </a:pPr>
            <a:r>
              <a:rPr lang="en-US" sz="1100" dirty="0">
                <a:solidFill>
                  <a:srgbClr val="2E3A5C"/>
                </a:solidFill>
              </a:rPr>
              <a:t>¿Qué medimos? ¿Qué número o condición nos dice que el problema está presente?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A"/>
                </a:solidFill>
              </a:rPr>
              <a:t>Sin umbral: </a:t>
            </a:r>
            <a:pPr indent="0" marL="0">
              <a:buNone/>
            </a:pPr>
            <a:r>
              <a:rPr lang="en-US" sz="1100" dirty="0">
                <a:solidFill>
                  <a:srgbClr val="2E3A5C"/>
                </a:solidFill>
              </a:rPr>
              <a:t>¿Cuándo "la luz molesta" exactamente? ¿A partir de qué valor? "Mucho" y "molesta" no se pueden medir.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La anatomía del problema técnico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BAA"/>
                </a:solidFill>
              </a:rPr>
              <a:t>Todo problema técnico tiene exactamente 4 componentes. Ni más, ni menos.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75488" cy="47548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86968" y="109728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00D4FF">
              <a:alpha val="8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0972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A"/>
                </a:solidFill>
              </a:rPr>
              <a:t>CONTEXTO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423160" y="100584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EDF5"/>
                </a:solidFill>
              </a:rPr>
              <a:t>¿En qué sistema, lugar o momento ocurre?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97880" y="1408176"/>
            <a:ext cx="27432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17920" y="1097280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1A2550"/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1097280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En el aula · En la autopista · En el taller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066544"/>
            <a:ext cx="475488" cy="475488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66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86968" y="1993392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FFB800">
              <a:alpha val="88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19933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A"/>
                </a:solidFill>
              </a:rPr>
              <a:t>VARIABLE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23160" y="190195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EDF5"/>
                </a:solidFill>
              </a:rPr>
              <a:t>¿Qué es lo único que, si lo mido, me dice si el problema existe?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2304288"/>
            <a:ext cx="274320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1993392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1A2550"/>
          </a:solidFill>
          <a:ln w="12700">
            <a:solidFill>
              <a:srgbClr val="FFB800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1993392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Nivel de ruido en dB · Temperatura en °C · Posición de la puerta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962656"/>
            <a:ext cx="475488" cy="475488"/>
          </a:xfrm>
          <a:prstGeom prst="ellipse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962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86968" y="2889504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FF4D6A">
              <a:alpha val="88000"/>
            </a:srgbClr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28895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A"/>
                </a:solidFill>
              </a:rPr>
              <a:t>PUNTO DE QUIEBRE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423160" y="2798064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EDF5"/>
                </a:solidFill>
              </a:rPr>
              <a:t>¿A partir de qué valor o condición empieza el problema?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97880" y="3200400"/>
            <a:ext cx="274320" cy="0"/>
          </a:xfrm>
          <a:prstGeom prst="line">
            <a:avLst/>
          </a:prstGeom>
          <a:noFill/>
          <a:ln w="19050">
            <a:solidFill>
              <a:srgbClr val="FF4D6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17920" y="2889504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1A2550"/>
          </a:solidFill>
          <a:ln w="12700">
            <a:solidFill>
              <a:srgbClr val="FF4D6A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2889504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Más de 70 dB · Más de 26°C · Posición ≥ 30°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858768"/>
            <a:ext cx="475488" cy="47548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858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86968" y="3785616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00C896">
              <a:alpha val="88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" y="37856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A"/>
                </a:solidFill>
              </a:rPr>
              <a:t>PROBLEMA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423160" y="3694176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EDF5"/>
                </a:solidFill>
              </a:rPr>
              <a:t>¿Qué efecto no deseado ocurre cuando se cruza ese umbral?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97880" y="4096512"/>
            <a:ext cx="274320" cy="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217920" y="3785616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1A2550"/>
          </a:solidFill>
          <a:ln w="12700">
            <a:solidFill>
              <a:srgbClr val="00C896">
                <a:alpha val="4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27648" y="3785616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Perturba la atención · Genera fatiga · Quita privacidad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011680" cy="347472"/>
          </a:xfrm>
          <a:prstGeom prst="roundRect">
            <a:avLst>
              <a:gd name="adj" fmla="val 18421"/>
            </a:avLst>
          </a:prstGeom>
          <a:solidFill>
            <a:srgbClr val="0A0E2A"/>
          </a:solidFill>
          <a:ln w="12700">
            <a:solidFill>
              <a:srgbClr val="0A0E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EJEMPLO RESUELTO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2A"/>
                </a:solidFill>
              </a:rPr>
              <a:t>Del problema vago al problema técnico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0A0E2A"/>
          </a:solidFill>
          <a:ln w="22860">
            <a:solidFill>
              <a:srgbClr val="FFB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</a:rPr>
              <a:t>PROBLEMA VAGO: 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"Hay mucho ruido."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08176"/>
            <a:ext cx="420624" cy="42062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08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A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24128" y="1408176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0D4FF">
              <a:alpha val="8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14081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2A"/>
                </a:solidFill>
              </a:rPr>
              <a:t>CONTEXTO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06040" y="12984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3A5C"/>
                </a:solidFill>
              </a:rPr>
              <a:t>¿Dónde y cuándo ocurre?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57800" y="129844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E2A"/>
                </a:solidFill>
              </a:rPr>
              <a:t>→  Los viernes y sábados, en la Av. 9 de Julio, durante la noche (22:00–6:00 hs).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02996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FFB8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139696"/>
            <a:ext cx="420624" cy="420624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139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A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24128" y="2139696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FFB800">
              <a:alpha val="88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21396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2A"/>
                </a:solidFill>
              </a:rPr>
              <a:t>VARIABLE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06040" y="202996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3A5C"/>
                </a:solidFill>
              </a:rPr>
              <a:t>¿Qué medimos?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57800" y="202996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E2A"/>
                </a:solidFill>
              </a:rPr>
              <a:t>→  Nivel de ruido ambiental medido en decibeles (dB).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76148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FF4D6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2871216"/>
            <a:ext cx="420624" cy="420624"/>
          </a:xfrm>
          <a:prstGeom prst="ellipse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871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A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24128" y="2871216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FF4D6A">
              <a:alpha val="88000"/>
            </a:srgbClr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28712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2A"/>
                </a:solidFill>
              </a:rPr>
              <a:t>PUNTO DE QUIEBRE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606040" y="276148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3A5C"/>
                </a:solidFill>
              </a:rPr>
              <a:t>¿A partir de qué valor es un problema?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57800" y="276148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E2A"/>
                </a:solidFill>
              </a:rPr>
              <a:t>→  Nivel de ruido superior a 70 dB — límite apto para la salud auditiva.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49300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00C89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3602736"/>
            <a:ext cx="420624" cy="42062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A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24128" y="3602736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0C896">
              <a:alpha val="88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36027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2A"/>
                </a:solidFill>
              </a:rPr>
              <a:t>PROBLEMA TÉCNICO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606040" y="34930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3A5C"/>
                </a:solidFill>
              </a:rPr>
              <a:t>¿Qué efecto no deseado ocurre?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57800" y="349300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E2A"/>
                </a:solidFill>
              </a:rPr>
              <a:t>→  El ruido perturba la atención y el descanso de los habitantes del entorno.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00C896">
              <a:alpha val="90000"/>
            </a:srgbClr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40965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2A"/>
                </a:solidFill>
              </a:rPr>
              <a:t>ENUNCIADO TÉCNICO:  </a:t>
            </a:r>
            <a:pPr indent="0" marL="0">
              <a:buNone/>
            </a:pPr>
            <a:r>
              <a:rPr lang="en-US" sz="1200" dirty="0">
                <a:solidFill>
                  <a:srgbClr val="0A0E2A"/>
                </a:solidFill>
              </a:rPr>
              <a:t>El nivel de ruido en Av. 9 de Julio supera los 70 dB los viernes y sábados de noche, perturbando la atención y el descanso de los habitantes.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2A"/>
                </a:solidFill>
              </a:rPr>
              <a:t>EJERCICIO GRUPAL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800"/>
                </a:solidFill>
              </a:rPr>
              <a:t>Ahora les toca a ustedes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DF5"/>
                </a:solidFill>
              </a:rPr>
              <a:t>Usando las 4 componentes, transformen estos problemas vagos en problemas técnicos.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206240" cy="3383280"/>
          </a:xfrm>
          <a:prstGeom prst="roundRect">
            <a:avLst>
              <a:gd name="adj" fmla="val 3784"/>
            </a:avLst>
          </a:prstGeom>
          <a:solidFill>
            <a:srgbClr val="1A2550"/>
          </a:solidFill>
          <a:ln w="2286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170432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FFB800">
              <a:alpha val="88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2A"/>
                </a:solidFill>
              </a:rPr>
              <a:t>PROBLEMA 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</a:rPr>
              <a:t>💡  "La luz molesta."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3931920" cy="420624"/>
          </a:xfrm>
          <a:prstGeom prst="roundRect">
            <a:avLst>
              <a:gd name="adj" fmla="val 15217"/>
            </a:avLst>
          </a:prstGeom>
          <a:solidFill>
            <a:srgbClr val="131B3A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11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CONTEXTO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57400" y="20116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BAA"/>
                </a:solidFill>
              </a:rPr>
              <a:t>→  ...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514600"/>
            <a:ext cx="3931920" cy="420624"/>
          </a:xfrm>
          <a:prstGeom prst="roundRect">
            <a:avLst>
              <a:gd name="adj" fmla="val 15217"/>
            </a:avLst>
          </a:prstGeom>
          <a:solidFill>
            <a:srgbClr val="131B3A"/>
          </a:solidFill>
          <a:ln w="12700">
            <a:solidFill>
              <a:srgbClr val="FFB800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146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</a:rPr>
              <a:t>VARIABLE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57400" y="25146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BAA"/>
                </a:solidFill>
              </a:rPr>
              <a:t>→  ...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017520"/>
            <a:ext cx="3931920" cy="420624"/>
          </a:xfrm>
          <a:prstGeom prst="roundRect">
            <a:avLst>
              <a:gd name="adj" fmla="val 15217"/>
            </a:avLst>
          </a:prstGeom>
          <a:solidFill>
            <a:srgbClr val="131B3A"/>
          </a:solidFill>
          <a:ln w="12700">
            <a:solidFill>
              <a:srgbClr val="FF4D6A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0175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6A"/>
                </a:solidFill>
              </a:rPr>
              <a:t>PUNTO DE QUIEBRE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57400" y="30175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BAA"/>
                </a:solidFill>
              </a:rPr>
              <a:t>→  ...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520440"/>
            <a:ext cx="3931920" cy="420624"/>
          </a:xfrm>
          <a:prstGeom prst="roundRect">
            <a:avLst>
              <a:gd name="adj" fmla="val 15217"/>
            </a:avLst>
          </a:prstGeom>
          <a:solidFill>
            <a:srgbClr val="131B3A"/>
          </a:solidFill>
          <a:ln w="12700">
            <a:solidFill>
              <a:srgbClr val="00C896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204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</a:rPr>
              <a:t>PROBLEMA TÉCNICO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57400" y="35204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BAA"/>
                </a:solidFill>
              </a:rPr>
              <a:t>→  ...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1051560"/>
            <a:ext cx="4206240" cy="3383280"/>
          </a:xfrm>
          <a:prstGeom prst="roundRect">
            <a:avLst>
              <a:gd name="adj" fmla="val 3784"/>
            </a:avLst>
          </a:prstGeom>
          <a:solidFill>
            <a:srgbClr val="1A2550"/>
          </a:solidFill>
          <a:ln w="2286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1170432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FF4D6A">
              <a:alpha val="88000"/>
            </a:srgbClr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1704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2A"/>
                </a:solidFill>
              </a:rPr>
              <a:t>PROBLEMA B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37760" y="15087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6A"/>
                </a:solidFill>
              </a:rPr>
              <a:t>🚪  "La puerta queda abierta."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0" y="2011680"/>
            <a:ext cx="3931920" cy="420624"/>
          </a:xfrm>
          <a:prstGeom prst="roundRect">
            <a:avLst>
              <a:gd name="adj" fmla="val 15217"/>
            </a:avLst>
          </a:prstGeom>
          <a:solidFill>
            <a:srgbClr val="131B3A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011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CONTEXTO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92240" y="20116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BAA"/>
                </a:solidFill>
              </a:rPr>
              <a:t>→  ...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2514600"/>
            <a:ext cx="3931920" cy="420624"/>
          </a:xfrm>
          <a:prstGeom prst="roundRect">
            <a:avLst>
              <a:gd name="adj" fmla="val 15217"/>
            </a:avLst>
          </a:prstGeom>
          <a:solidFill>
            <a:srgbClr val="131B3A"/>
          </a:solidFill>
          <a:ln w="12700">
            <a:solidFill>
              <a:srgbClr val="FFB800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25146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</a:rPr>
              <a:t>VARIABLE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92240" y="25146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BAA"/>
                </a:solidFill>
              </a:rPr>
              <a:t>→  ...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3017520"/>
            <a:ext cx="3931920" cy="420624"/>
          </a:xfrm>
          <a:prstGeom prst="roundRect">
            <a:avLst>
              <a:gd name="adj" fmla="val 15217"/>
            </a:avLst>
          </a:prstGeom>
          <a:solidFill>
            <a:srgbClr val="131B3A"/>
          </a:solidFill>
          <a:ln w="12700">
            <a:solidFill>
              <a:srgbClr val="FF4D6A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0175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6A"/>
                </a:solidFill>
              </a:rPr>
              <a:t>PUNTO DE QUIEBRE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92240" y="30175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BAA"/>
                </a:solidFill>
              </a:rPr>
              <a:t>→  ...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3520440"/>
            <a:ext cx="3931920" cy="420624"/>
          </a:xfrm>
          <a:prstGeom prst="roundRect">
            <a:avLst>
              <a:gd name="adj" fmla="val 15217"/>
            </a:avLst>
          </a:prstGeom>
          <a:solidFill>
            <a:srgbClr val="131B3A"/>
          </a:solidFill>
          <a:ln w="12700">
            <a:solidFill>
              <a:srgbClr val="00C896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35204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</a:rPr>
              <a:t>PROBLEMA TÉCNICO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92240" y="35204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BAA"/>
                </a:solidFill>
              </a:rPr>
              <a:t>→  ...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017520" y="4572000"/>
            <a:ext cx="3108960" cy="402336"/>
          </a:xfrm>
          <a:prstGeom prst="roundRect">
            <a:avLst>
              <a:gd name="adj" fmla="val 22727"/>
            </a:avLst>
          </a:prstGeom>
          <a:solidFill>
            <a:srgbClr val="131B3A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17520" y="457200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⏱  10 minutos — Anotar en papel. Luego compartimos.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274320"/>
            <a:ext cx="41148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b="1" dirty="0">
                <a:solidFill>
                  <a:srgbClr val="1A2550"/>
                </a:solidFill>
              </a:rPr>
              <a:t>?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8BAA"/>
                </a:solidFill>
              </a:rPr>
              <a:t>Todo muy bien. Pero...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¿Cómo llegamos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 las 4 componentes?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</a:rPr>
              <a:t>Tenemos el problema vago.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94436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</a:rPr>
              <a:t>Sabemos qué necesitamos encontrar.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</a:rPr>
              <a:t>Pero </a:t>
            </a:r>
            <a:pPr indent="0" marL="0">
              <a:buNone/>
            </a:pPr>
            <a:r>
              <a:rPr lang="en-US" sz="1400" b="1" dirty="0">
                <a:solidFill>
                  <a:srgbClr val="FFB800"/>
                </a:solidFill>
              </a:rPr>
              <a:t>¿qué preguntas hacemos para extraer cada componente?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0" cy="41148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4251960"/>
            <a:ext cx="4114800" cy="457200"/>
          </a:xfrm>
          <a:prstGeom prst="roundRect">
            <a:avLst>
              <a:gd name="adj" fmla="val 18000"/>
            </a:avLst>
          </a:prstGeom>
          <a:solidFill>
            <a:srgbClr val="FFB800">
              <a:alpha val="9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800"/>
                </a:solidFill>
              </a:rPr>
              <a:t>Eso lo vemos en la próxima unidad →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27432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FF4D6A">
              <a:alpha val="90000"/>
            </a:srgbClr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0" y="2743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🔮  SPOILER — PRÓXIMA UNIDAD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8BAA"/>
                </a:solidFill>
              </a:rPr>
              <a:t>Unidad 2: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FF"/>
                </a:solidFill>
              </a:rPr>
              <a:t>Preguntas Disparadoras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029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EDF5"/>
                </a:solidFill>
              </a:rPr>
              <a:t>La herramienta que convierte un problema vago en un problema técnico.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1A2550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651760"/>
            <a:ext cx="1691640" cy="329184"/>
          </a:xfrm>
          <a:prstGeom prst="roundRect">
            <a:avLst>
              <a:gd name="adj" fmla="val 16667"/>
            </a:avLst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517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A"/>
                </a:solidFill>
              </a:rPr>
              <a:t>¿Cómo...?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Busca crear un proceso o solución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256032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1A2550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97480" y="2651760"/>
            <a:ext cx="1691640" cy="329184"/>
          </a:xfrm>
          <a:prstGeom prst="roundRect">
            <a:avLst>
              <a:gd name="adj" fmla="val 16667"/>
            </a:avLst>
          </a:prstGeom>
          <a:solidFill>
            <a:srgbClr val="FFB800">
              <a:alpha val="9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26517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A"/>
                </a:solidFill>
              </a:rPr>
              <a:t>¿Por qué...?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306324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Investiga causas y razones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56032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1A2550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651760"/>
            <a:ext cx="1691640" cy="329184"/>
          </a:xfrm>
          <a:prstGeom prst="roundRect">
            <a:avLst>
              <a:gd name="adj" fmla="val 16667"/>
            </a:avLst>
          </a:prstGeom>
          <a:solidFill>
            <a:srgbClr val="00C896">
              <a:alpha val="9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6517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A"/>
                </a:solidFill>
              </a:rPr>
              <a:t>¿Para qué...?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306324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Explora el propósito del proyecto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256032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1A2550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2651760"/>
            <a:ext cx="1691640" cy="329184"/>
          </a:xfrm>
          <a:prstGeom prst="roundRect">
            <a:avLst>
              <a:gd name="adj" fmla="val 16667"/>
            </a:avLst>
          </a:prstGeom>
          <a:solidFill>
            <a:srgbClr val="9B59B6">
              <a:alpha val="9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6517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A"/>
                </a:solidFill>
              </a:rPr>
              <a:t>¿Qué harías...?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2280" y="306324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Imagina soluciones posibles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67328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31B3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767328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AA"/>
                </a:solidFill>
              </a:rPr>
              <a:t>Problema vago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74520" y="4114800"/>
            <a:ext cx="137160" cy="0"/>
          </a:xfrm>
          <a:prstGeom prst="line">
            <a:avLst/>
          </a:prstGeom>
          <a:noFill/>
          <a:ln w="1524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2011680" y="3767328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800"/>
                </a:solidFill>
              </a:rPr>
              <a:t>???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46120" y="4114800"/>
            <a:ext cx="137160" cy="0"/>
          </a:xfrm>
          <a:prstGeom prst="line">
            <a:avLst/>
          </a:prstGeom>
          <a:noFill/>
          <a:ln w="1524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383280" y="3767328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D4FF"/>
                </a:solidFill>
              </a:rPr>
              <a:t>4 Componentes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4114800"/>
            <a:ext cx="137160" cy="0"/>
          </a:xfrm>
          <a:prstGeom prst="line">
            <a:avLst/>
          </a:prstGeom>
          <a:noFill/>
          <a:ln w="1524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754880" y="3767328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59B6"/>
                </a:solidFill>
              </a:rPr>
              <a:t>Problema técnico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89320" y="4114800"/>
            <a:ext cx="137160" cy="0"/>
          </a:xfrm>
          <a:prstGeom prst="line">
            <a:avLst/>
          </a:prstGeom>
          <a:noFill/>
          <a:ln w="1524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6126480" y="3767328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896"/>
                </a:solidFill>
              </a:rPr>
              <a:t>Objetivos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60920" y="4114800"/>
            <a:ext cx="137160" cy="0"/>
          </a:xfrm>
          <a:prstGeom prst="line">
            <a:avLst/>
          </a:prstGeom>
          <a:noFill/>
          <a:ln w="1524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498080" y="3767328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896"/>
                </a:solidFill>
              </a:rPr>
              <a:t>Solución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Ingeniería empieza Entendiendo — Taller de Proyecto</dc:title>
  <dc:subject>PptxGenJS Presentation</dc:subject>
  <dc:creator>PptxGenJS</dc:creator>
  <cp:lastModifiedBy>PptxGenJS</cp:lastModifiedBy>
  <cp:revision>1</cp:revision>
  <dcterms:created xsi:type="dcterms:W3CDTF">2026-06-24T02:56:18Z</dcterms:created>
  <dcterms:modified xsi:type="dcterms:W3CDTF">2026-06-24T02:56:18Z</dcterms:modified>
</cp:coreProperties>
</file>