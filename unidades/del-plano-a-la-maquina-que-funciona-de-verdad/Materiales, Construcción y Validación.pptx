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5. Ya tienen diseño, planos, inventario y presupuesto (Unidad 4). Ahora tocan las herramientas de verdad. Máximo hincapié en seguridad desde la primera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unidad antes del Pitch Elevator. Los 3 bloques: materiales y seguridad (mucho énfasis), construcción, validación con Scrum aplicado.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Nombre técnico correcto: ferretería (tornillería/anclajes) + herramientas manuales (destornilladores, pinzas, corte). Repasar tamaños normalizados de tornillos con ejemplos físicos si hay disponibles.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datasheet es un concepto nuevo para la mayoría. Traer un ejemplo real impreso (datasheet de DHT22 o similar) para que vean el formato real en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alimentación es crítico y donde más se rompen componentes por error de principiante. Insistir en revisar el datasheet antes de conectar cualquier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dar soldador a los alumnos, demostración docente completa. Ventilación y soporte metálico son no-negociables. Supervisión directa en las primeras sesiones.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Corte láser: máquina de mayor riesgo del taller. Reglas no negociables. El docente siempre opera el encendido y supervisa cada corte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Taladro = riesgo mecánico inmediato (atrapamiento, corte). Impresora 3D = riesgo térmico + de tiempo (mala planificación de Gantt). Distintos riesgos, misma exigencia de respeto.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dedicada exclusivamente a seguridad. Máximo énfasis pedido explícitamente. Repetir estas 3 reglas al inicio de cada clase de taller físico, sin excepción.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Pensamiento en cascada = secuenciación inteligente. El ejemplo de la tapa es el más común en proyectos escolares. Repetirlo con ejemplos del proyecto de cada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conceptos son nuevos para los alumnos. Calidad/tolerancias explica por qué 'casi encaja' no es aceptable. Riesgos comunes previene los 4 errores más frecuentes en proyectos escolares.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cierre conceptual: el Scrum de la Unidad 4 vuelve acá aplicado concretamente a la validación. El análisis crítico constructivo debe ser específico, no 'está bien' o 'está mal'.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directamente con la Fase 4 del programa general (Carpeta de Proyecto) y con la Fase 5 (Pitch Elevator), que necesita material visual real del proceso de construcción.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de construcción real, con tiempo variable según la complejidad de cada proyecto. La supervisión docente es constante durante el uso de máquinas.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Unidad 5 y de todo el ciclo de análisis-diseño-construcción. Lo que sigue es la Fase 5 del programa: Pitch Elevator, la presentación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657600" cy="3657600"/>
          </a:xfrm>
          <a:prstGeom prst="ellipse">
            <a:avLst/>
          </a:prstGeom>
          <a:solidFill>
            <a:srgbClr val="FF4D6A">
              <a:alpha val="10000"/>
            </a:srgbClr>
          </a:solidFill>
          <a:ln w="12700">
            <a:solidFill>
              <a:srgbClr val="FF4D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UNIDAD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Materiales,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Construcción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y Validación.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4D6A"/>
                </a:solidFill>
              </a:rPr>
              <a:t>Del plano a la máquina que funciona de verdad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A"/>
                </a:solidFill>
              </a:rPr>
              <a:t>Taller de Proyecto · 1er y 2do año · Electromecánica · Robótica · 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4630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A"/>
                </a:solidFill>
              </a:rPr>
              <a:t>¿Dónde estamos?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Diseño, planos e inventario listos. Ahora construimos el MVP real, con herramientas reales.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7A8BAA"/>
          </a:solidFill>
          <a:ln w="19050">
            <a:solidFill>
              <a:srgbClr val="7A8B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Análisis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y solución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E2A"/>
                </a:solidFill>
              </a:rPr>
              <a:t>✓ visto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0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92224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7A8BAA"/>
          </a:solidFill>
          <a:ln w="19050">
            <a:solidFill>
              <a:srgbClr val="7A8B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92224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Metodología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y diseño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92224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0E2A"/>
                </a:solidFill>
              </a:rPr>
              <a:t>✓ visto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72384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18688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Materiales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seguridad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18688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23652"/>
                </a:solidFill>
              </a:rPr>
              <a:t>● ahora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98848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45152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Construcción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23652"/>
                </a:solidFill>
              </a:rPr>
              <a:t>● ahora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25312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71616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Validación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del MVP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71616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23652"/>
                </a:solidFill>
              </a:rPr>
              <a:t>● ahora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51776" y="1737360"/>
            <a:ext cx="146304" cy="0"/>
          </a:xfrm>
          <a:prstGeom prst="line">
            <a:avLst/>
          </a:prstGeom>
          <a:noFill/>
          <a:ln w="19050">
            <a:solidFill>
              <a:srgbClr val="7A8BA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12344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7A8B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8BAA"/>
                </a:solidFill>
              </a:rPr>
              <a:t>Pitch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A8BAA"/>
                </a:solidFill>
              </a:rPr>
              <a:t>Elevator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1984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BAA"/>
                </a:solidFill>
              </a:rPr>
              <a:t>próximo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A5C"/>
                </a:solidFill>
              </a:rPr>
              <a:t>Esta unidad tiene 3 bloques: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" y="3264408"/>
            <a:ext cx="457200" cy="45720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287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A"/>
                </a:solidFill>
              </a:rPr>
              <a:t>Materiales y seguridad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Herramientas, electrónica, máquinas y EPP.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2326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7852" y="3264408"/>
            <a:ext cx="457200" cy="45720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785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547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Construcción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0614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Ensamblaje, calidad, gestión de riesgos.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49340" y="30632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13932" y="3264408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393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F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8808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Validación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32220" y="3813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Prueba del MVP, feedback, documentación.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4D6A"/>
                </a:solidFill>
              </a:rPr>
              <a:t>Ferretería y herramientas manuales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Lo básico que todo técnico tiene que saber usar antes de tocar una máquina.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" y="1234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578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Tornillería y anclajes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1500" y="1920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Tornillos, tuercas, arandelas, insertos. Tamaños normalizados (M3, M4).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1234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289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800"/>
                </a:solidFill>
              </a:rPr>
              <a:t>Destornilladores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74620" y="1920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Phillips (cruz) y plano, en tamaños PH0 a PH2 según el tornillo.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0580" y="1234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20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Pinzas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77740" y="1920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Punta fina, universal y de corte (alicate). Cada una para un trabajo distinto.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43700" y="12344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51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Herramientas de corte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80860" y="19202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Cutter, tijera, regla metálica, tabla de corte para proteger la mesa.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A2550"/>
          </a:solidFill>
          <a:ln w="16510">
            <a:solidFill>
              <a:srgbClr val="FF4D6A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107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D6A"/>
                </a:solidFill>
              </a:rPr>
              <a:t>REGLA BÁSICA DE TALLER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Cada herramienta vuelve a su lugar después de usarla. Un cutter perdido en la mesa es un accidente esperando pasar. Orden = seguridad.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0E2A"/>
                </a:solidFill>
              </a:rPr>
              <a:t>Electricidad y electrónica — componentes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Antes de armar un circuito, hay que saber leer la hoja de datos de cada componente.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03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B8"/>
                </a:solidFill>
              </a:rPr>
              <a:t>¿Qué es un datasheet?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3A5C"/>
                </a:solidFill>
              </a:rPr>
              <a:t>La hoja de datos técnica de un componente. Antes de elegir un sensor, hay que leerla.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6112" y="2167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Voltaje de operación (ej. 3.3-5V)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6112" y="2532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Rango de medición (ej. 0-100°C)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443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6112" y="2898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Precisión / tolerancia (ej. ±0.5°C)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6112" y="32644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Interfaz de comunicación (analógica, I2C)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03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Componentes básicos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691640"/>
            <a:ext cx="182880" cy="1828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45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2352" y="16459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Resistencias — limitan la corriente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93976"/>
            <a:ext cx="182880" cy="1828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48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2352" y="20482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LEDs — indicadores luminosos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96312"/>
            <a:ext cx="182880" cy="1828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450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24505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Capacitores — almacenan carga eléctrica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98648"/>
            <a:ext cx="182880" cy="1828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852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02352" y="285292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Diodos — dejan pasar corriente en un sentido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300984"/>
            <a:ext cx="182880" cy="1828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55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•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02352" y="32552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A5C"/>
                </a:solidFill>
              </a:rPr>
              <a:t>Transistores — actúan como interruptores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Arduino, sensores y alimentación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El corazón de la automatización: cómo se conectan sensores, protoboard y fuentes de energía.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234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131B3A"/>
          </a:solidFill>
          <a:ln w="203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41732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340" y="1947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Arduino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3212" y="2258568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El microcontrolador. Lee sensores, ejecuta lógica, activa actuadores.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37460" y="1234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131B3A"/>
          </a:solidFill>
          <a:ln w="203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4173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37460" y="1947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Protoboard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56332" y="2258568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Placa de pruebas sin soldadura. Ideal para prototipar antes de fijar.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40580" y="1234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131B3A"/>
          </a:solidFill>
          <a:ln w="2032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41732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40580" y="1947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Sensores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59452" y="2258568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Miden variables del entorno: temperatura, humedad, distancia, luz.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743700" y="1234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131B3A"/>
          </a:solidFill>
          <a:ln w="2032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41732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43700" y="1947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Alimentación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862572" y="2258568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Pilas, baterías recargables o mini transformadores según el consumo.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651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0080" y="3429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⚡  Cuidado con la alimentación: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cada componente tiene un voltaje de operación específico (revisá el datasheet). Conectar 9V a un sensor de 5V lo quema en segundos.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0E2A"/>
                </a:solidFill>
              </a:rPr>
              <a:t>Soldadura: soldador y estaño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La habilidad manual que fija las conexiones eléctricas de forma permanente.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188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353312"/>
            <a:ext cx="365760" cy="36576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8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6A"/>
                </a:solidFill>
              </a:rPr>
              <a:t>Preparar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1500" y="21214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Componentes limpios, soldador a temperatura, buena ventilación.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7460" y="1188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53312"/>
            <a:ext cx="365760" cy="36576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2890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6A"/>
                </a:solidFill>
              </a:rPr>
              <a:t>Calentar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74620" y="21214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Apoyar la punta en la unión a soldar, no directamente en el estaño.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0580" y="1188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1353312"/>
            <a:ext cx="365760" cy="36576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3202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6A"/>
                </a:solidFill>
              </a:rPr>
              <a:t>Aplicar estaño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7740" y="21214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El estaño se derrite por el calor de la pieza, no del soldador.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1188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43800" y="1353312"/>
            <a:ext cx="365760" cy="36576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3514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6A"/>
                </a:solidFill>
              </a:rPr>
              <a:t>Enfriar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80860" y="21214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No soplar ni mover la unión — debe enfriar sola para quedar sólida.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0A0E2A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⚠  SEGURIDAD OBLIGATORIA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547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El soldador trabaja a 300-400°C — nunca tocar la punta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3547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Ventilación siempre activa — el humo de estaño no se respira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26480" y="3547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Soporte metálico para apoyar el soldador caliente, nunca la mesa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Corte láser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Cómo funciona, qué materiales corta, y las reglas de seguridad no negociables.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¿Cómo funciona?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Un haz de luz concentrado quema o funde el material siguiendo el trazado del diseño digital, con precisión de décimas de milímetro.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BAA"/>
                </a:solidFill>
              </a:rPr>
              <a:t>Materiales típicos: MDF, acrílico, cartón, madera fina. NUNCA PVC (libera gas tóxico).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31B3A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⚠  Seguridad obligatoria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164592" cy="16459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73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16367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Nunca dejar la máquina sin supervisión mientras corta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075688"/>
            <a:ext cx="164592" cy="16459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574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4920" y="20208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Ventilación y extracción de humos siempre activa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59736"/>
            <a:ext cx="164592" cy="16459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41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24048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No abrir la tapa durante el corte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843784"/>
            <a:ext cx="164592" cy="16459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25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4920" y="2788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Material fijado firme antes de empezar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227832"/>
            <a:ext cx="164592" cy="16459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095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31729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Solo docente autoriza y opera el encendido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A"/>
                </a:solidFill>
              </a:rPr>
              <a:t>Taladro de mesa e impresora 3D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Dos máquinas distintas, dos lógicas de fabricación: quitar material vs. agregar material.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203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🔩  Taladro de mesa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93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Perfora agujeros precisos y perpendiculares. Se usa para tornillería, ejes y pasacables.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Pieza sujeta con mordaza — NUNCA con la mano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Velocidad según el material (madera rápido, metal lento)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9169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Gafas de protección obligatorias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300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Pelo atado, sin mangas sueltas ni guantes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2032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261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E"/>
                </a:solidFill>
              </a:rPr>
              <a:t>🖨  Impresora 3D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93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Agrega material capa por capa (PLA) siguiendo el modelo exportado desde Tinkercad.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No tocar la boquilla caliente (200°C aprox.)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Verificar que la primera capa se adhiera bien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29169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Tiempo de impresión: horas, no minutos — planificar con tiempo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3300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• Retirar la pieza solo cuando la mesa esté fría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SEGURIDAD INDUSTRIAL — LO NO NEGOCIABLE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34340" y="10972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578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Gafas de protección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3212" y="1719072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Obligatorias con cualquier máquina que corte, perfore o proyecte partículas.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37460" y="10972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2890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Guantes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56332" y="1719072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Para manipular piezas cortadas o calientes — NUNCA cerca de partes giratorias.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40580" y="10972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320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Pelo atado y ropa ajustada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9452" y="1719072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Nada suelto cerca de taladro, láser o cualquier mecanismo con movimiento.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43700" y="10972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131B3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351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Ventilación activa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62572" y="1719072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Soldadura, láser e impresión 3D liberan humos que no se deben respirar directo.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1A2550"/>
          </a:solidFill>
          <a:ln w="2540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063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A"/>
                </a:solidFill>
              </a:rPr>
              <a:t>LAS 3 REGLAS DE ORO DEL TALLER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3364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1. Ninguna máquina se enciende sin autorización docente presente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639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2. Si no sabés cómo usar algo, preguntás — nunca 'probás a ver'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39136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3. Un accidente evitado vale más que un proyecto terminado a tiempo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BLOQUE 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20116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A"/>
                </a:solidFill>
              </a:rPr>
              <a:t>Ensamblaje: pensamiento en cascada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El orden de armado importa tanto como las piezas mismas. Pensar en cascada evita desarmar todo por un error de secuencia.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31B3A"/>
          </a:solidFill>
          <a:ln w="19050">
            <a:solidFill>
              <a:srgbClr val="FF4D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6A"/>
                </a:solidFill>
              </a:rPr>
              <a:t>✗  Sin pensar en cascada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Atornillás la tapa superior primero. Después te das cuenta de que el cableado interno no se puede acceder sin desarmar la tapa que acabás de cerrar.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Resultado: desarmar, rehacer, perder tiempo.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✓  Pensando en cascada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6276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Preguntás antes: '¿qué necesito acceder después de esto?' Cableás y probás el circuito ANTES de cerrar cualquier tapa.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A"/>
                </a:solidFill>
              </a:rPr>
              <a:t>Resultado: cada paso habilita el siguiente sin retrocesos.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6364"/>
            </a:avLst>
          </a:prstGeom>
          <a:solidFill>
            <a:srgbClr val="0A0E2A"/>
          </a:solidFill>
          <a:ln w="15240">
            <a:solidFill>
              <a:srgbClr val="FFB80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💡  Pregunta clave antes de cada paso: </a:t>
            </a:r>
            <a:pPr indent="0" marL="0">
              <a:buNone/>
            </a:pPr>
            <a:r>
              <a:rPr lang="en-US" sz="1100" dirty="0">
                <a:solidFill>
                  <a:srgbClr val="0A0E2A"/>
                </a:solidFill>
              </a:rPr>
              <a:t>'¿esto me va a bloquear el acceso a algo que necesito después?'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Control de calidad y gestión de riesgos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Dos hábitos que separan un proyecto que funciona de uno que casi funciona.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Control de calidad y tolerancias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Ninguna pieza cortada o impresa encaja perfecta al 100%. Una tolerancia es el margen de error aceptable.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Verificar cada pieza antes de armar el conjunto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807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Si algo no encaja, medir antes de forzar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191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Un ajuste de 0.5mm de más traba un mecanismo entero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131B3A"/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Puntos de falla comunes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Identificarlos antes de que ocurran es más barato que repararlos después.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Cables sueltos o mal soldados → falso contacto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Alimentación incorrecta → componente quemado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Piezas sin tolerancia → mecanismo trabado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Sensor mal calibrado → lecturas erróneas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BLOQUE 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20116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A"/>
                </a:solidFill>
              </a:rPr>
              <a:t>Prueba del MVP: el Scrum en acción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Acá vuelve el ciclo de Sprints que vimos en la Unidad 4 — ahora aplicado a probar y mejorar el MVP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399032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5780" y="18562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FF"/>
                </a:solidFill>
              </a:rPr>
              <a:t>Probar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1500" y="2194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Encender el MVP y verificar si cumple el objetivo SMART.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2057400"/>
            <a:ext cx="13716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3746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99032"/>
            <a:ext cx="365760" cy="36576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28900" y="18562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800"/>
                </a:solidFill>
              </a:rPr>
              <a:t>Observar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74620" y="2194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¿Qué funcionó? ¿Qué no? Sin justificar, solo registrar.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03420" y="2057400"/>
            <a:ext cx="13716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4058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0680" y="1399032"/>
            <a:ext cx="365760" cy="3657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32020" y="18562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Recibir feedback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77740" y="2194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Compañeros y docente dan su análisis crítico constructivo.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06540" y="2057400"/>
            <a:ext cx="137160" cy="0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43700" y="12344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399032"/>
            <a:ext cx="365760" cy="3657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5140" y="18562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Ajustar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80860" y="2194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Corregir lo que falló. Volver al paso 1 — nuevo sprint.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A0E2A"/>
          </a:solidFill>
          <a:ln w="1651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🔄  El ciclo se repite: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no hay 'terminado' de una vez. Cada sprint de prueba mejora el MVP hasta que cumple los objetivos SMART definidos en la Unidad 3.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Registro fotográfico y documentación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8BAA"/>
                </a:solidFill>
              </a:rPr>
              <a:t>Todo el proceso de construcción alimenta la carpeta de proyecto final.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578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Antes de empezar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3212" y="18288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Foto del inventario completo, piezas ordenadas y etiquetadas.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746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890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Durante el proceso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6332" y="18288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Cada etapa de ensamblaje, especialmente donde algo falló y se corrigió.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058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202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MVP funcionando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9452" y="18288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Video corto o foto del sistema completo cumpliendo el objetivo.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3700" y="118872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131B3A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5140" y="1325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Sprints de mejora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62572" y="1828800"/>
            <a:ext cx="1728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Registro de cada ciclo de prueba-feedback-ajuste realizado.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550"/>
          </a:solidFill>
          <a:ln w="16510">
            <a:solidFill>
              <a:srgbClr val="9B59B6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📸  Por qué importa: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la carpeta de proyecto y el Pitch Elevator necesitan evidencia visual del proceso, no solo el resultado final. Documentar en el momento, no reconstruir después de memoria.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EJERCICIO INTEGRADOR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0" y="2011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4D6A"/>
                </a:solidFill>
              </a:rPr>
              <a:t>Manos a la obra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0E2A"/>
                </a:solidFill>
              </a:rPr>
              <a:t>Empiecen a construir su MVP con lo que vimos en toda la unidad.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1732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Verifiquen su inventario físico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417320"/>
            <a:ext cx="868680" cy="292608"/>
          </a:xfrm>
          <a:prstGeom prst="roundRect">
            <a:avLst>
              <a:gd name="adj" fmla="val 43750"/>
            </a:avLst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17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10 min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Confirmen que tienen todas las piezas antes de empezar a cortar o soldar.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417320"/>
            <a:ext cx="457200" cy="45720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Planifiquen la secuencia de armado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417320"/>
            <a:ext cx="868680" cy="292608"/>
          </a:xfrm>
          <a:prstGeom prst="roundRect">
            <a:avLst>
              <a:gd name="adj" fmla="val 43750"/>
            </a:avLst>
          </a:prstGeom>
          <a:solidFill>
            <a:srgbClr val="FFB800">
              <a:alpha val="18000"/>
            </a:srgbClr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417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15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94960" y="1801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Apliquen el pensamiento en cascada: ¿qué va primero para no bloquear lo siguiente?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01752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2999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Construyan el MVP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868680" cy="292608"/>
          </a:xfrm>
          <a:prstGeom prst="roundRect">
            <a:avLst>
              <a:gd name="adj" fmla="val 43750"/>
            </a:avLst>
          </a:prstGeom>
          <a:solidFill>
            <a:srgbClr val="00C896">
              <a:alpha val="18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017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Variable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88720" y="3401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Con supervisión docente en máquinas. Foto de cada etapa.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30175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94960" y="2999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Primer sprint de prueba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3017520"/>
            <a:ext cx="868680" cy="292608"/>
          </a:xfrm>
          <a:prstGeom prst="roundRect">
            <a:avLst>
              <a:gd name="adj" fmla="val 43750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017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15 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94960" y="3401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5C"/>
                </a:solidFill>
              </a:rPr>
              <a:t>Encienda, observen, reciban feedback, anoten ajustes pendientes.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logramos?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FF4D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43584"/>
            <a:ext cx="256032" cy="256032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Aprendimos a usar herramientas y máquinas con seguridad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FFB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709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Armamos electrónica: Arduino, sensores, soldadura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76856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276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Ensamblamos con pensamiento en cascada y control de calidad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5120640" cy="457200"/>
          </a:xfrm>
          <a:prstGeom prst="roundRect">
            <a:avLst>
              <a:gd name="adj" fmla="val 18000"/>
            </a:avLst>
          </a:prstGeom>
          <a:solidFill>
            <a:srgbClr val="131B3A"/>
          </a:solidFill>
          <a:ln w="1651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843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Probamos el MVP con ciclos de Scrum y documentamos todo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2834640" cy="2743200"/>
          </a:xfrm>
          <a:prstGeom prst="roundRect">
            <a:avLst>
              <a:gd name="adj" fmla="val 4667"/>
            </a:avLst>
          </a:prstGeom>
          <a:solidFill>
            <a:srgbClr val="131B3A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36192"/>
            <a:ext cx="2468880" cy="365760"/>
          </a:xfrm>
          <a:prstGeom prst="roundRect">
            <a:avLst>
              <a:gd name="adj" fmla="val 17500"/>
            </a:avLst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536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🎤  LO QUE VIENE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BAA"/>
                </a:solidFill>
              </a:rPr>
              <a:t>Fase final: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</a:rPr>
              <a:t>Pitch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B800"/>
                </a:solidFill>
              </a:rPr>
              <a:t>Elevator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291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EDF5"/>
                </a:solidFill>
              </a:rPr>
              <a:t>Presentación final frente a jurado, en pantalla gigante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4D6A"/>
                </a:solidFill>
              </a:rPr>
              <a:t>Tu MVP funciona. Ahora hay que contar la historia de por qué importa.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Materiales, Construcción y Validación — Taller de Proyecto</dc:title>
  <dc:subject>PptxGenJS Presentation</dc:subject>
  <dc:creator>PptxGenJS</dc:creator>
  <cp:lastModifiedBy>PptxGenJS</cp:lastModifiedBy>
  <cp:revision>1</cp:revision>
  <dcterms:created xsi:type="dcterms:W3CDTF">2026-07-12T13:13:09Z</dcterms:created>
  <dcterms:modified xsi:type="dcterms:W3CDTF">2026-07-12T13:13:09Z</dcterms:modified>
</cp:coreProperties>
</file>