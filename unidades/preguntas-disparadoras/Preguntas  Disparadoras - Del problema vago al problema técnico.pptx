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20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Arrancar conectando con lo que ya hicieron: el flujograma con el '?'. Esta slide es el punto de partida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flujograma completo. Preguntar a la clase: '¿Qué pusieron ustedes en el ???' Dejar que compartan. Escribir las respuestas en el pizarrón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la definición CON ellos primero. Preguntar: '¿Qué tenían en común las preguntas que usaron en el ejercicio?' Después mostrar esta slide como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tipo, pedir a los alumnos que reformulen UNA de las preguntas del pizarrón usando ese inicio. No pasar de largo — que lo practiquen en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Anclar cada eje a las 9 soluciones que ya trabajaron. Elegir 3 contrastantes y trabajarlas en voz alta con la clase. No dar los 9 — solo 3 bien elegidos.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nodo central de la clase. Mostrar cómo cada pregunta dispara exactamente una componente. El criterio de validez es clave — si la respuesta sigue siendo vaga, la pregunta no sirvió.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transición a FASE 1. Presentar como el primer gran momento de trabajo de proyecto. Los 5 pasos que siguen son el proceso completo de análisis del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1 y 2 de FASE 1. La barra inferior ancla estos dos pasos con la componente CONTEXTO y su pregunta disparadora. Los alumnos ya conocen esta herramienta — el ancla refuerza la conexión.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3 y 4 de FASE 1. El paso 4 (variables) es el mas tecnico. La barra inferior conecta con la componente VARIABLE y su disparadora — refuerza que ya saben esta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5 — el cierre de FASE 1. La formula conecta exactamente con las 4 componentes. Si algun hueco esta vacio o es subjetivo, hay que volver al paso anterior. Los ejemplos de bien/mal son para trabajar en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Trabajar este ejemplo en voz alta, paso a paso. Mostrar cómo el objetivo casi se escribe solo cuando el problema técnico está bien construido.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colectiva — 15 minutos. Vos guiás, ellos proponen. Escribir en el pizarrón real las respuestas que van surgiendo. No avanzar al siguiente paso hasta que el anterior esté cerrado.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Ronda 2 — 25 minutos. Circular por cada pareja. El mayor desafío suele ser el punto de quiebre — que no quede en términos subjetivos. Forzar un número o una condición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Puesta en común — 15 minutos. El docente cierra cada caso con UNA observación puntual, breve. No extenderse en cada pareja — el valor está en la variedad de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individual — 45 minutos. El docente circula y trabaja caso por caso. Con 10-20 alumnos hay tiempo de pasar por todos. El paso 4 (justificación del eje) es el que más cuesta — priorizar ese acompañamiento.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— 20 minutos. 3-4 voluntarios comparten su pregunta propia. Después mostrar el flujo completo con el ??? ya reemplazado. La frase del cuadro central va al pizarrón para que la copien.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</a:rPr>
              <a:t>TALLER DE PROYECTO · 1er AÑO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Preguntas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00D4FF"/>
                </a:solidFill>
              </a:rPr>
              <a:t>Disparadoras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DF5"/>
                </a:solidFill>
              </a:rPr>
              <a:t>Del problema vago al proyecto técnico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97B8"/>
                </a:solidFill>
              </a:rPr>
              <a:t>Industria 4.0 · Electromecánica · Electrónica · IA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716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0E2A"/>
                </a:solidFill>
              </a:rPr>
              <a:t>El flujo que ya conocen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PROBLEMA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VAGO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6596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0A0E2A"/>
          </a:solidFill>
          <a:ln w="31750">
            <a:solidFill>
              <a:srgbClr val="FFB800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96596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00"/>
                </a:solidFill>
              </a:rPr>
              <a:t>???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COMPONENTES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34924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PROBLEMA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TÉCNICO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704088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OBJETIVO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8308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16636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7040880" y="274320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00C896">
              <a:alpha val="90000"/>
            </a:srgbClr>
          </a:solidFill>
          <a:ln w="19050">
            <a:solidFill>
              <a:srgbClr val="00C896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040880" y="2743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95260" y="2331720"/>
            <a:ext cx="0" cy="411480"/>
          </a:xfrm>
          <a:prstGeom prst="line">
            <a:avLst/>
          </a:prstGeom>
          <a:noFill/>
          <a:ln w="31750">
            <a:solidFill>
              <a:srgbClr val="00C896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1554480" y="2743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FB800">
              <a:alpha val="90000"/>
            </a:srgbClr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155448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2A"/>
                </a:solidFill>
              </a:rPr>
              <a:t>← Hoy cerramos este nodo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66060" y="2743200"/>
            <a:ext cx="0" cy="0"/>
          </a:xfrm>
          <a:prstGeom prst="line">
            <a:avLst/>
          </a:prstGeom>
          <a:noFill/>
          <a:ln w="22860">
            <a:solidFill>
              <a:srgbClr val="FFB80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¿Qué es una pregunta disparadora?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oundRect">
            <a:avLst>
              <a:gd name="adj" fmla="val 11111"/>
            </a:avLst>
          </a:prstGeom>
          <a:solidFill>
            <a:srgbClr val="1A2550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noFill/>
          <a:ln/>
        </p:spPr>
        <p:txBody>
          <a:bodyPr wrap="square" lIns="3175" tIns="3175" rIns="3175" bIns="3175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8EDF5"/>
                </a:solidFill>
              </a:rPr>
              <a:t>Una pregunta </a:t>
            </a:r>
            <a:r>
              <a:rPr lang="en-US" sz="1700" b="1" dirty="0">
                <a:solidFill>
                  <a:srgbClr val="00D4FF"/>
                </a:solidFill>
              </a:rPr>
              <a:t>abierta y precisa</a:t>
            </a:r>
            <a:r>
              <a:rPr lang="en-US" sz="1700" dirty="0">
                <a:solidFill>
                  <a:srgbClr val="E8EDF5"/>
                </a:solidFill>
              </a:rPr>
              <a:t> que despierta curiosidad y da inicio a un proyecto.</a:t>
            </a:r>
            <a:endParaRPr lang="en-US" sz="17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DF5"/>
                </a:solidFill>
              </a:rPr>
              <a:t>No se responde con sí/no. Obliga a </a:t>
            </a:r>
            <a:endParaRPr lang="en-US" sz="17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B800"/>
                </a:solidFill>
              </a:rPr>
              <a:t>investigar, definir o crear</a:t>
            </a:r>
            <a:r>
              <a:rPr lang="en-US" sz="1400" dirty="0">
                <a:solidFill>
                  <a:srgbClr val="E8EDF5"/>
                </a:solidFill>
              </a:rPr>
              <a:t> algo.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5786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ABIERTA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401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No admite sí/ni no.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Abre un campo de indagación.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57860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800"/>
                </a:solidFill>
              </a:rPr>
              <a:t>PRECISA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3401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Sin ambigüedad.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Se puede medir o verificar.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57860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ORIENTADA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55080" y="3401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Apunta a un destino: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informe, solución o producto.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E2A"/>
                </a:solidFill>
              </a:rPr>
              <a:t>Los 6 tipos de preguntas disparadoras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384048" y="941832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384048" y="94183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¿Cómo...?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3990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A5C"/>
                </a:solidFill>
              </a:rPr>
              <a:t>Busca crear un proceso o solución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70078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</a:rPr>
              <a:t>"¿Cómo diseñamos un sensor que detecte fallos?"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3240" y="8229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3172968" y="941832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172968" y="94183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¿Por qué...?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13990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A5C"/>
                </a:solidFill>
              </a:rPr>
              <a:t>Investiga causas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2968" y="170078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</a:rPr>
              <a:t>"¿Por qué las fábricas usan robots en vez de personas?"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8229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5961888" y="941832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961888" y="94183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¿Para qué...?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61888" y="13990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A5C"/>
                </a:solidFill>
              </a:rPr>
              <a:t>Explora el propósito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70078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</a:rPr>
              <a:t>"¿Para qué usamos IA en una fábrica?"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87752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384048" y="2706624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9B59B6">
              <a:alpha val="85000"/>
            </a:srgbClr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¿Qué harías...?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" y="316382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A5C"/>
                </a:solidFill>
              </a:rPr>
              <a:t>Imagina soluciones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465576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</a:rPr>
              <a:t>"¿Qué harías para programar un robot que clasifique reciclaje?"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63240" y="2587752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FF4D6A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3172968" y="2706624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FF4D6A">
              <a:alpha val="85000"/>
            </a:srgbClr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172968" y="27066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¿De qué manera...?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316382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A5C"/>
                </a:solidFill>
              </a:rPr>
              <a:t>Busca métodos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72968" y="3465576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</a:rPr>
              <a:t>"¿De qué manera usamos IA para ahorrar energía?"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2587752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97B8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5961888" y="2706624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0097B8">
              <a:alpha val="85000"/>
            </a:srgbClr>
          </a:solidFill>
          <a:ln w="12700">
            <a:solidFill>
              <a:srgbClr val="0097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5961888" y="27066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¿Cuál es...?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61888" y="316382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A5C"/>
                </a:solidFill>
              </a:rPr>
              <a:t>Compara opciones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3465576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</a:rPr>
              <a:t>"¿Cuál es la mejor forma de conectar sensores a una app?"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Los 3 ejes disparadores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DF5"/>
                </a:solidFill>
              </a:rPr>
              <a:t>La pregunta no solo abre el proyecto — define hacia dónde 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1A2550"/>
          </a:solidFill>
          <a:ln w="2286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508760" y="1261872"/>
            <a:ext cx="548640" cy="548640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50876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92024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RESPUESTA A UNA PREGUNTA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</a:rPr>
              <a:t>Investigamos para entender algo.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DF5"/>
                </a:solidFill>
              </a:rPr>
              <a:t>"¿Por qué los paneles solares son más eficientes con ciertos materiales?"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400507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6858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→ INFORME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1A2550"/>
          </a:solidFill>
          <a:ln w="2286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4297680" y="1261872"/>
            <a:ext cx="548640" cy="548640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429768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92024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00"/>
                </a:solidFill>
              </a:rPr>
              <a:t>RESOLUCIÓN DE UN PROBLEMA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</a:rPr>
              <a:t>Solucionamos un desafío concreto.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2900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DF5"/>
                </a:solidFill>
              </a:rPr>
              <a:t>"¿Cómo reducimos errores en una máquina de producción?"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474720" y="400507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7"/>
          <p:cNvSpPr/>
          <p:nvPr/>
        </p:nvSpPr>
        <p:spPr>
          <a:xfrm>
            <a:off x="347472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00"/>
                </a:solidFill>
              </a:rPr>
              <a:t>→ DISEÑO / SENSOR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109728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1A2550"/>
          </a:solidFill>
          <a:ln w="2286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19"/>
          <p:cNvSpPr/>
          <p:nvPr/>
        </p:nvSpPr>
        <p:spPr>
          <a:xfrm>
            <a:off x="7086600" y="1261872"/>
            <a:ext cx="548640" cy="54864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0"/>
          <p:cNvSpPr/>
          <p:nvPr/>
        </p:nvSpPr>
        <p:spPr>
          <a:xfrm>
            <a:off x="708660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03</a:t>
            </a:r>
            <a:endParaRPr lang="en-US" sz="1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92024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7220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CREACIÓN DE UN PRODUCTO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</a:rPr>
              <a:t>Inventamos algo tangible.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1792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DF5"/>
                </a:solidFill>
              </a:rPr>
              <a:t>"¿De qué manera creamos un brazo robótico para clasificar piezas?"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263640" y="400507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5"/>
          <p:cNvSpPr/>
          <p:nvPr/>
        </p:nvSpPr>
        <p:spPr>
          <a:xfrm>
            <a:off x="626364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→ PROTOTIPO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E2A"/>
                </a:solidFill>
              </a:rPr>
              <a:t>La pregunta disparadora y las 4 componentes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A8A"/>
                </a:solidFill>
              </a:rPr>
              <a:t>Cada pregunta apunta a extraer UNA componente del problema vago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0E2A"/>
                </a:solidFill>
              </a:rPr>
              <a:t>¿En qué sistema o espacio ocurre esto, y quién está involucrado?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453896"/>
            <a:ext cx="411480" cy="0"/>
          </a:xfrm>
          <a:prstGeom prst="line">
            <a:avLst/>
          </a:prstGeom>
          <a:noFill/>
          <a:ln w="2794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5532120" y="1143000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00D4FF">
              <a:alpha val="92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532120" y="1143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CONTEXTO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11887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</a:rPr>
              <a:t>Debe poder delimitarse o dibujarse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0E2A"/>
                </a:solidFill>
              </a:rPr>
              <a:t>¿Qué es lo único que, si lo mido, me dice si el problema existe?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350008"/>
            <a:ext cx="411480" cy="0"/>
          </a:xfrm>
          <a:prstGeom prst="line">
            <a:avLst/>
          </a:prstGeom>
          <a:noFill/>
          <a:ln w="27940">
            <a:solidFill>
              <a:srgbClr val="FFB80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5532120" y="2039112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FFB800">
              <a:alpha val="92000"/>
            </a:srgbClr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532120" y="203911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VARIABLE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20848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</a:rPr>
              <a:t>Tiene que ser observable o medible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43784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57200" y="2843784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0E2A"/>
                </a:solidFill>
              </a:rPr>
              <a:t>¿En qué valor o estado de esa variable digo que el problema empieza?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246120"/>
            <a:ext cx="411480" cy="0"/>
          </a:xfrm>
          <a:prstGeom prst="line">
            <a:avLst/>
          </a:prstGeom>
          <a:noFill/>
          <a:ln w="27940">
            <a:solidFill>
              <a:srgbClr val="FF4D6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5532120" y="2935224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FF4D6A">
              <a:alpha val="92000"/>
            </a:srgbClr>
          </a:solidFill>
          <a:ln w="1905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532120" y="2935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PUNTO DE QUIEBRE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29809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</a:rPr>
              <a:t>Debe escribirse como condición objetiva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739896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57200" y="3739896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0E2A"/>
                </a:solidFill>
              </a:rPr>
              <a:t>Dado ese contexto, variable y quiebre, ¿qué efecto no deseado ocurre?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4142232"/>
            <a:ext cx="411480" cy="0"/>
          </a:xfrm>
          <a:prstGeom prst="line">
            <a:avLst/>
          </a:prstGeom>
          <a:noFill/>
          <a:ln w="27940">
            <a:solidFill>
              <a:srgbClr val="00C896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5532120" y="3831336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00C896">
              <a:alpha val="92000"/>
            </a:srgbClr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532120" y="383133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PROBLEMA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</a:rPr>
              <a:t>Una sola oración, sin adjetivos valorativos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-4572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0" b="1" dirty="0">
                <a:solidFill>
                  <a:srgbClr val="1A2550"/>
                </a:solidFill>
              </a:rPr>
              <a:t>01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FASE 1  ·  SEMANAS 1–3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Análisis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00D4FF"/>
                </a:solidFill>
              </a:rPr>
              <a:t>del Problema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Objetivo: comprender qué problema se quiere resolver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antes de proponer cualquier solución.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8136" y="4005072"/>
            <a:ext cx="402336" cy="402336"/>
          </a:xfrm>
          <a:prstGeom prst="ellipse">
            <a:avLst/>
          </a:prstGeom>
          <a:solidFill>
            <a:srgbClr val="00D4FF">
              <a:alpha val="9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88136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Problema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Original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660904" y="4005072"/>
            <a:ext cx="402336" cy="402336"/>
          </a:xfrm>
          <a:prstGeom prst="ellipse">
            <a:avLst/>
          </a:prstGeom>
          <a:solidFill>
            <a:srgbClr val="FFB800">
              <a:alpha val="95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2660904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1408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Contexto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02736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4233672" y="4005072"/>
            <a:ext cx="402336" cy="402336"/>
          </a:xfrm>
          <a:prstGeom prst="ellipse">
            <a:avLst/>
          </a:prstGeom>
          <a:solidFill>
            <a:srgbClr val="FF4D6A">
              <a:alpha val="95000"/>
            </a:srgbClr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2336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94176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Impacto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75504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5806440" y="4005072"/>
            <a:ext cx="402336" cy="402336"/>
          </a:xfrm>
          <a:prstGeom prst="ellipse">
            <a:avLst/>
          </a:prstGeom>
          <a:solidFill>
            <a:srgbClr val="9B59B6">
              <a:alpha val="9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80644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Variables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48272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7379208" y="4005072"/>
            <a:ext cx="402336" cy="402336"/>
          </a:xfrm>
          <a:prstGeom prst="ellipse">
            <a:avLst/>
          </a:prstGeom>
          <a:solidFill>
            <a:srgbClr val="00C896">
              <a:alpha val="9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37920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Problema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Técnico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0A0E2A"/>
          </a:solidFill>
          <a:ln w="12700">
            <a:solidFill>
              <a:srgbClr val="0A0E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FASE 1 · ANÁLISIS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A"/>
                </a:solidFill>
              </a:rPr>
              <a:t>Del problema vago al problema situado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475488" y="804672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75488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PROBLEMA ORIGINAL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53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Describan el problema tal como lo identificaron.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673352"/>
            <a:ext cx="3749040" cy="246888"/>
          </a:xfrm>
          <a:prstGeom prst="roundRect">
            <a:avLst>
              <a:gd name="adj" fmla="val 18519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94360" y="16733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◆  ¿Dónde ocurre?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956816"/>
            <a:ext cx="3749040" cy="246888"/>
          </a:xfrm>
          <a:prstGeom prst="roundRect">
            <a:avLst>
              <a:gd name="adj" fmla="val 18519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94360" y="19568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◆  ¿Quién se ve afectado?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240280"/>
            <a:ext cx="3749040" cy="246888"/>
          </a:xfrm>
          <a:prstGeom prst="roundRect">
            <a:avLst>
              <a:gd name="adj" fmla="val 18519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94360" y="22402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◆  ¿En qué situación aparece?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38912" y="2862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B8"/>
                </a:solidFill>
              </a:rPr>
              <a:t>💡  ¿Tu problema todavía es muy amplio?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090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A5C"/>
                </a:solidFill>
              </a:rPr>
              <a:t>Preguntate: ¿Dónde pasa exactamente? · ¿Cuándo pasa? · ¿A quién afecta?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2272" y="1709928"/>
            <a:ext cx="292608" cy="0"/>
          </a:xfrm>
          <a:prstGeom prst="line">
            <a:avLst/>
          </a:prstGeom>
          <a:noFill/>
          <a:ln w="27940">
            <a:solidFill>
              <a:srgbClr val="FFB80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736592" y="658368"/>
            <a:ext cx="41148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919472" y="804672"/>
            <a:ext cx="475488" cy="47548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919472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CONTEXTO DEL PROBLEMA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Describan el entorno donde ocurre el problema.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19472" y="1673352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4983480" y="16733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Aula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39712" y="1673352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903720" y="16733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Casa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9472" y="1956816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983480" y="19568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Transporte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39712" y="1956816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6903720" y="19568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Taller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19472" y="2240280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498348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Patio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39712" y="2240280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690372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2A"/>
                </a:solidFill>
              </a:rPr>
              <a:t>Industria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86200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0A0E2A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45720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FF"/>
                </a:solidFill>
              </a:rPr>
              <a:t>COMPONENTE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CONTEXTO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800"/>
                </a:solidFill>
              </a:rPr>
              <a:t>DISPARADORA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9184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¿En qué sistema ocurre? ¿Quién está involucrado?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96"/>
                </a:solidFill>
              </a:rPr>
              <a:t>VALIDEZ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Debe poder delimitarse o dibujarse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FASE 1 · ANÁLISIS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</a:rPr>
              <a:t>Impacto y Variables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2331720"/>
          </a:xfrm>
          <a:prstGeom prst="roundRect">
            <a:avLst>
              <a:gd name="adj" fmla="val 5882"/>
            </a:avLst>
          </a:prstGeom>
          <a:solidFill>
            <a:srgbClr val="1A2550"/>
          </a:solidFill>
          <a:ln w="25400">
            <a:solidFill>
              <a:srgbClr val="FF4D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475488" y="804672"/>
            <a:ext cx="475488" cy="475488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75488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A"/>
                </a:solidFill>
              </a:rPr>
              <a:t>IMPACTO DEL PROBLEMA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53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¿Qué consecuencias genera este problema?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67335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94360" y="1673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¿Qué pasa si no se resuelve?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94767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94360" y="1947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¿Quién sufre las consecuencias?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22199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94360" y="22219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¿Con qué frecuencia ocurre?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49631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94360" y="2496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¿Qué tan grave es el efecto?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2700">
            <a:solidFill>
              <a:srgbClr val="FF4D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11480" y="3081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DF5"/>
                </a:solidFill>
              </a:rPr>
              <a:t>⚠️  Si el problema no tiene consecuencias reales, el proyecto pierde su razón de ser.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62272" y="1828800"/>
            <a:ext cx="292608" cy="0"/>
          </a:xfrm>
          <a:prstGeom prst="line">
            <a:avLst/>
          </a:prstGeom>
          <a:noFill/>
          <a:ln w="27940">
            <a:solidFill>
              <a:srgbClr val="9B59B6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736592" y="658368"/>
            <a:ext cx="4114800" cy="2331720"/>
          </a:xfrm>
          <a:prstGeom prst="roundRect">
            <a:avLst>
              <a:gd name="adj" fmla="val 5882"/>
            </a:avLst>
          </a:prstGeom>
          <a:solidFill>
            <a:srgbClr val="1A2550"/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4919472" y="804672"/>
            <a:ext cx="475488" cy="47548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919472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04688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VARIABLES DEL PROBLEMA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5"/>
                </a:solidFill>
              </a:rPr>
              <a:t>Todo sistema automático detecta una variable.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1673352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4983480" y="16733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Temperatura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39712" y="1673352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903720" y="16733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Luz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193852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983480" y="1938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Sonido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39712" y="193852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903720" y="1938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Movimiento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19472" y="2203704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4983480" y="2203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Distancia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39712" y="2203704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6903720" y="2203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Humedad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19472" y="246888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4983480" y="2468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Tiempo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39712" y="246888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6903720" y="2468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Corriente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36592" y="306324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9B59B6">
              <a:alpha val="88000"/>
            </a:srgbClr>
          </a:solidFill>
          <a:ln w="1524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4864608" y="3081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 = medir variable  |  Este paso prepara la elección de sensores.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858768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111840"/>
          </a:solidFill>
          <a:ln w="1524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45720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800"/>
                </a:solidFill>
              </a:rPr>
              <a:t>COMPONENTE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VARIABLE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9184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B59B6"/>
                </a:solidFill>
              </a:rPr>
              <a:t>DISPARADORA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¿Qué es lo único que, si lo mido, me dice si el problema existe?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96"/>
                </a:solidFill>
              </a:rPr>
              <a:t>VALIDEZ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26480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Tiene que ser observable o medible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0A0E2A"/>
          </a:solidFill>
          <a:ln w="12700">
            <a:solidFill>
              <a:srgbClr val="0A0E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FASE 1 · PASO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A"/>
                </a:solidFill>
              </a:rPr>
              <a:t>El Problema Técnico Definitivo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A"/>
                </a:solidFill>
              </a:rPr>
              <a:t>Reescribir el problema en lenguaje técnico — sin ambigüedad, sin adjetivos subjetivos.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60120"/>
          </a:xfrm>
          <a:prstGeom prst="roundRect">
            <a:avLst>
              <a:gd name="adj" fmla="val 14286"/>
            </a:avLst>
          </a:prstGeom>
          <a:solidFill>
            <a:srgbClr val="0A0E2A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</a:rPr>
              <a:t>ESTRUCTURA: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</a:rPr>
              <a:t>En </a:t>
            </a:r>
            <a:r>
              <a:rPr lang="en-US" sz="1300" b="1" dirty="0">
                <a:solidFill>
                  <a:srgbClr val="00D4FF"/>
                </a:solidFill>
              </a:rPr>
              <a:t>[CONTEXTO]</a:t>
            </a:r>
            <a:r>
              <a:rPr lang="en-US" sz="1300" dirty="0">
                <a:solidFill>
                  <a:srgbClr val="E8EDF5"/>
                </a:solidFill>
              </a:rPr>
              <a:t>  ocurre  </a:t>
            </a:r>
            <a:r>
              <a:rPr lang="en-US" sz="1300" b="1" dirty="0">
                <a:solidFill>
                  <a:srgbClr val="FFB800"/>
                </a:solidFill>
              </a:rPr>
              <a:t>[PROBLEMA]</a:t>
            </a:r>
            <a:r>
              <a:rPr lang="en-US" sz="1300" dirty="0">
                <a:solidFill>
                  <a:srgbClr val="E8EDF5"/>
                </a:solidFill>
              </a:rPr>
              <a:t>  cuando  </a:t>
            </a:r>
            <a:r>
              <a:rPr lang="en-US" sz="1300" b="1" dirty="0">
                <a:solidFill>
                  <a:srgbClr val="9B59B6"/>
                </a:solidFill>
              </a:rPr>
              <a:t>[VARIABLE]</a:t>
            </a:r>
            <a:r>
              <a:rPr lang="en-US" sz="1300" dirty="0">
                <a:solidFill>
                  <a:srgbClr val="E8EDF5"/>
                </a:solidFill>
              </a:rPr>
              <a:t>  supera  </a:t>
            </a:r>
            <a:r>
              <a:rPr lang="en-US" sz="1300" b="1" dirty="0">
                <a:solidFill>
                  <a:srgbClr val="FF4D6A"/>
                </a:solidFill>
              </a:rPr>
              <a:t>[PTO.QUIEBRE]</a:t>
            </a:r>
            <a:r>
              <a:rPr lang="en-US" sz="1300" dirty="0">
                <a:solidFill>
                  <a:srgbClr val="E8EDF5"/>
                </a:solidFill>
              </a:rPr>
              <a:t>,  lo que genera  </a:t>
            </a:r>
            <a:r>
              <a:rPr lang="en-US" sz="1300" b="1" dirty="0">
                <a:solidFill>
                  <a:srgbClr val="00C896"/>
                </a:solidFill>
              </a:rPr>
              <a:t>[EFECTO NO DESEADO]</a:t>
            </a:r>
            <a:r>
              <a:rPr lang="en-US" sz="1300" dirty="0">
                <a:solidFill>
                  <a:srgbClr val="E8EDF5"/>
                </a:solidFill>
              </a:rPr>
              <a:t>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0D4FF">
              <a:alpha val="92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CONTEXTO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0E2A"/>
                </a:solidFill>
              </a:rPr>
              <a:t>¿En qué sistema?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1892808"/>
            <a:ext cx="0" cy="1371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2487168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9B59B6">
              <a:alpha val="92000"/>
            </a:srgbClr>
          </a:solidFill>
          <a:ln w="19050">
            <a:solidFill>
              <a:srgbClr val="9B59B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2578608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VARIABLE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0E2A"/>
                </a:solidFill>
              </a:rPr>
              <a:t>¿Qué se mide?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93008" y="1892808"/>
            <a:ext cx="0" cy="137160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4645152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4D6A">
              <a:alpha val="92000"/>
            </a:srgbClr>
          </a:solidFill>
          <a:ln w="19050">
            <a:solidFill>
              <a:srgbClr val="FF4D6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736592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PUNTO DE QUIEBRE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0E2A"/>
                </a:solidFill>
              </a:rPr>
              <a:t>¿Cuándo es problema?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50992" y="1892808"/>
            <a:ext cx="0" cy="137160"/>
          </a:xfrm>
          <a:prstGeom prst="line">
            <a:avLst/>
          </a:prstGeom>
          <a:noFill/>
          <a:ln w="19050">
            <a:solidFill>
              <a:srgbClr val="FF4D6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6803136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0C896">
              <a:alpha val="92000"/>
            </a:srgbClr>
          </a:solidFill>
          <a:ln w="19050">
            <a:solidFill>
              <a:srgbClr val="00C89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894576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EFECTO/PROBLEMA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94576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0E2A"/>
                </a:solidFill>
              </a:rPr>
              <a:t>¿Qué consecuencia ocurre?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08976" y="1892808"/>
            <a:ext cx="0" cy="13716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640"/>
                </a:solidFill>
              </a:rPr>
              <a:t>✔  Una sola oración — no usar 'y' para unir dos problemas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65576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57200" y="3465576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640"/>
                </a:solidFill>
              </a:rPr>
              <a:t>✔  Sin adjetivos subjetivos: no 'mucho', 'grave', 'excesivo'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30752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57200" y="3730752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640"/>
                </a:solidFill>
              </a:rPr>
              <a:t>✔  Cada término entre corchetes ya debe estar definido en los pasos anteriores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995928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FF4D6A">
              <a:alpha val="10000"/>
            </a:srgbClr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57200" y="3995928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</a:rPr>
              <a:t>✘  NO: 'Hay mucho calor en la oficina que molesta a la gente'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261104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457200" y="4261104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640"/>
                </a:solidFill>
              </a:rPr>
              <a:t>✔  SÍ: 'La temperatura del ambiente supera los 26 °C por más de 30 min en horario laboral'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</a:rPr>
              <a:t>Ejemplo completo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1A2550"/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PROBLEMA VAGO:  </a:t>
            </a:r>
            <a:r>
              <a:rPr lang="en-US" sz="1300" i="1" dirty="0">
                <a:solidFill>
                  <a:srgbClr val="E8EDF5"/>
                </a:solidFill>
              </a:rPr>
              <a:t>"En la oficina hace mucho calor."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57200" cy="457200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</a:rPr>
              <a:t>CONTEXTO: "¿En qué sistema y cuándo?"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61848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→  La oficina, en horario laboral, con el personal administrativo presente.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57200" cy="457200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800"/>
                </a:solidFill>
              </a:rPr>
              <a:t>VARIABLE: "¿Qué mido para saber si el problema existe?"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→  Temperatura ambiente del espacio de trabajo.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457200" cy="457200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657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352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4D6A"/>
                </a:solidFill>
              </a:rPr>
              <a:t>PTO. DE QUIEBRE: "¿A partir de qué valor es un problema?"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2278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→  Temperatura &gt; 26 °C sostenida por más de 30 minutos.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57200" cy="45720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36576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7398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96"/>
                </a:solidFill>
              </a:rPr>
              <a:t>PROBLEMA TÉCNICO: "¿Qué efecto no deseado ocurre cuando se cruza ese umbral?"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032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→  La temperatura del ambiente supera los 26 °C durante más de 30 min en horario laboral.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00C896">
              <a:alpha val="88000"/>
            </a:srgbClr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OBJETIVO:  </a:t>
            </a:r>
            <a:r>
              <a:rPr lang="en-US" sz="1200" dirty="0">
                <a:solidFill>
                  <a:srgbClr val="E8EDF5"/>
                </a:solidFill>
              </a:rPr>
              <a:t>Detectar cuando la temperatura supere los 26 °C por más de 30 min y activar un mecanismo de enfriamiento.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RONDA 1 · COLECTIVA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A"/>
                </a:solidFill>
              </a:rPr>
              <a:t>Ejercitación guiada — todos juntos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0A0E2A"/>
          </a:solidFill>
          <a:ln w="254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00"/>
                </a:solidFill>
              </a:rPr>
              <a:t>PROBLEMA VAGO:  </a:t>
            </a:r>
            <a:r>
              <a:rPr lang="en-US" sz="1400" i="1" dirty="0">
                <a:solidFill>
                  <a:srgbClr val="FFFFFF"/>
                </a:solidFill>
              </a:rPr>
              <a:t>"En el taller de la escuela, a veces pasan accidentes."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00D4FF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594360" y="1636776"/>
            <a:ext cx="457200" cy="457200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2A"/>
                </a:solidFill>
              </a:rPr>
              <a:t>Aplicar la disparadora de CONTEXTO: ¿en qué parte del taller, con quién, en qué momento?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FFB80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3134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2A"/>
                </a:solidFill>
              </a:rPr>
              <a:t>Aplicar la disparadora de VARIABLE: ¿qué es lo único que, si lo mido, me dice que hay peligro?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FF4D6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1810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2A"/>
                </a:solidFill>
              </a:rPr>
              <a:t>Aplicar la disparadora de PUNTO DE QUIEBRE: ¿a partir de qué valor o condición hay problema?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00C89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594360" y="4050792"/>
            <a:ext cx="457200" cy="45720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227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2A"/>
                </a:solidFill>
              </a:rPr>
              <a:t>Enunciar el PROBLEMA TÉCNICO con una sola oración, sin adjetivos valorativos.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RONDA 2 · EN PAREJAS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Ingeniería directa — desde el problema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2550"/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</a:rPr>
              <a:t>Cada pareja recibe una tarjeta con un problema vago de distinto dominio. Tienen 25 minutos.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475488" cy="475488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Aplicar las 4 disparadoras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Contexto · Variable · Punto de quiebre · Problema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475488" cy="475488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70916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</a:rPr>
              <a:t>Enunciar el problema técnico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Una sola oración. Sin 'y'. Sin adjetivos subjetivos.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502920" y="3136392"/>
            <a:ext cx="475488" cy="475488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5029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Definir el eje del proyecto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¿Es respuesta a una pregunta, resolución de problema o creación de producto?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999232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FF4D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4709160" y="3136392"/>
            <a:ext cx="475488" cy="475488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70916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0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</a:rPr>
              <a:t>Redactar la pregunta disparadora final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62102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Abierta, precisa, con el inicio correcto (¿Cómo...? / ¿Qué harías...? / etc.)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2A"/>
                </a:solidFill>
              </a:rPr>
              <a:t>RONDA 3 · PUESTA EN COMÚN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2A"/>
                </a:solidFill>
              </a:rPr>
              <a:t>Compartir, votar, reflexionar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05156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Cada pareja presenta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48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A"/>
                </a:solidFill>
              </a:rPr>
              <a:t>1–2 minutos: problema vago → pregunta disparadora final + eje elegido.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82296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FFB800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05156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La clase vota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2148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A"/>
                </a:solidFill>
              </a:rPr>
              <a:t>¿El eje elegido es el correcto? ¿La pregunta es abierta y precisa?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82296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00C896"/>
            </a:solidFill>
            <a:prstDash val="solid"/>
          </a:ln>
          <a:effectLst>
            <a:outerShdw blurRad="152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051560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Reflexión colectiva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55080" y="2148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A"/>
                </a:solidFill>
              </a:rPr>
              <a:t>¿Cuál proyecto les gustó más y por qué? ¿Qué mejorarían de la pregunta?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0" y="329184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A0E2A"/>
          </a:solidFill>
          <a:ln w="12700">
            <a:solidFill>
              <a:srgbClr val="0097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3"/>
          <p:cNvSpPr/>
          <p:nvPr/>
        </p:nvSpPr>
        <p:spPr>
          <a:xfrm>
            <a:off x="32004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⏱  15 minutos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BLOQUE 4 · PROYECTO PROPIO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Tu pregunta disparadora de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F5"/>
                </a:solidFill>
              </a:rPr>
              <a:t>Trabajo individual — 45 minutos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Escribí un problema vago que hayas observado en tu entorno (barrio, casa, escuela, industria).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594360" y="2203704"/>
            <a:ext cx="438912" cy="438912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594360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9397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Aplicá las 4 preguntas disparadoras para extraer las 4 componentes.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94360" y="2926080"/>
            <a:ext cx="438912" cy="438912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163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Enunciá el problema técnico en una sola oración precisa.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FF4D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438912" cy="438912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38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Elegí el eje del proyecto (respuesta / problema / producto) y justificá en una oración por qué.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6110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594360" y="4370832"/>
            <a:ext cx="438912" cy="438912"/>
          </a:xfrm>
          <a:prstGeom prst="ellipse">
            <a:avLst/>
          </a:prstGeom>
          <a:solidFill>
            <a:srgbClr val="9B59B6">
              <a:alpha val="90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59436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2611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Formulá la pregunta disparadora final que daría inicio a tu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El arco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Robot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&amp; instrucción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atómica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55448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164592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Problema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Vago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83464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283464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2A"/>
                </a:solidFill>
              </a:rPr>
              <a:t>Preguntas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0E2A"/>
                </a:solidFill>
              </a:rPr>
              <a:t>Disparadoras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02336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Componentes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21208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21208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Problema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Técnico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0936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40080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640080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</a:rPr>
              <a:t>Objetivo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9808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758952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758952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2A"/>
                </a:solidFill>
              </a:rPr>
              <a:t>Solución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057400"/>
            <a:ext cx="7680960" cy="1234440"/>
          </a:xfrm>
          <a:prstGeom prst="roundRect">
            <a:avLst>
              <a:gd name="adj" fmla="val 11111"/>
            </a:avLst>
          </a:prstGeom>
          <a:solidFill>
            <a:srgbClr val="1A255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22960" y="2057400"/>
            <a:ext cx="7498080" cy="12344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D4FF"/>
                </a:solidFill>
              </a:rPr>
              <a:t>"</a:t>
            </a:r>
            <a:r>
              <a:rPr lang="en-US" sz="1700" b="1" dirty="0">
                <a:solidFill>
                  <a:srgbClr val="FFFFFF"/>
                </a:solidFill>
              </a:rPr>
              <a:t>Una buena pregunta disparadora ya contiene el problema bien enunciado.</a:t>
            </a:r>
            <a:endParaRPr lang="en-US" sz="42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E8EDF5"/>
                </a:solidFill>
              </a:rPr>
              <a:t> Si la pregunta es vaga, el proyecto va a ser vago."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685800" y="3456432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68580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4FF"/>
                </a:solidFill>
              </a:rPr>
              <a:t>La pregunta disparadora
</a:t>
            </a:r>
            <a:endParaRPr lang="en-US" sz="10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</a:rPr>
              <a:t>llena el '?' del flujograma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3456432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333756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B800"/>
                </a:solidFill>
              </a:rPr>
              <a:t>Cada pregunta
</a:t>
            </a:r>
            <a:endParaRPr lang="en-US" sz="10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</a:rPr>
              <a:t>extrae una componente específica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456432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598932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96"/>
                </a:solidFill>
              </a:rPr>
              <a:t>El eje elegido
</a:t>
            </a:r>
            <a:endParaRPr lang="en-US" sz="10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</a:rPr>
              <a:t>define el tipo de proyecto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0" y="425196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FB800">
              <a:alpha val="90000"/>
            </a:srgbClr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2286000" y="4251960"/>
            <a:ext cx="4572000" cy="594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00"/>
                </a:solidFill>
              </a:rPr>
              <a:t>TAREA → Traer una pregunta disparadora de proyecto para la próxima clase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Microsoft Office PowerPoint</Application>
  <PresentationFormat>Presentación en pantalla (16:9)</PresentationFormat>
  <Paragraphs>286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Preguntas Disparadoras — Taller de Proyecto</dc:title>
  <dc:subject>PptxGenJS Presentation</dc:subject>
  <dc:creator>PptxGenJS</dc:creator>
  <cp:lastModifiedBy>Pablo Martinez Roca</cp:lastModifiedBy>
  <cp:revision>2</cp:revision>
  <dcterms:created xsi:type="dcterms:W3CDTF">2026-06-22T04:40:56Z</dcterms:created>
  <dcterms:modified xsi:type="dcterms:W3CDTF">2026-07-06T17:10:03Z</dcterms:modified>
</cp:coreProperties>
</file>