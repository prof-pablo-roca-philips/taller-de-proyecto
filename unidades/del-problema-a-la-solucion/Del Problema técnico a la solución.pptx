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920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Unidad 3. Ya saben transformar un problema vago en técnico (U2). Ahora: enunciar con criterio profesional, definir objetivos SMART y generar soluciones con Brainstorming y SCAMPER.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2 primeras etapas ya las vieron. Esta unidad cubre problema técnico + objetivos + solución. Después viene diseño y construcción.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 contexto industrial. Servidor + sala de racks es 100% electromecánico. El enunciado malo presupone Arduino y DHT22, cerrando la solución antes de analizar.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4 es el más difícil: los alumnos tienden a nombrar el sensor o el microcontrolador en el enunciado. Si dice 'Arduino', 'DHT22', 'relay', 'servo' → devolver.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Distinción Suh/Axiomatic Design. En contexto electromecánico: función = qué hace el sistema (operar el motor). Objetivo = qué optimizás (tiempo de respuesta). Restricción = costo, tamaño, voltaje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atributo SMART con contexto electromecánico. Destacar que 'medible' implica siempre un instrumento de medición real: no 'parecía caliente' sino '72 °C medidos con termocupla tipo K'.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industrial real: faja transportadora con motor. Termocupla tipo K + variador de frecuencia + tiempo de respuesta en milisegundos — vocabulario técnico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Divergir antes de converger — concepto central (Daly et al). El error clásico en ingeniería es elegir la primera solución que parece funcionar. Eso cierra el espacio de diseño prematuramente.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Reglas de Osborn. El ejemplo de la regla 2 y 4 están en contexto de automatización (Arduino, relay, detección óptica). Así el alumno ya piensa en términos técnicos.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SCAMPER (Eberle / Osborn). Cada pregunta está formulada en vocabulario de ingeniería y automatización: componentes, módulos, parámetros, flujo de señal.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100% electromecánico-robótico. TCS3200 → OpenCV, brazo → deflectores, clasificación → control de calidad. Son variantes reales que existen en líneas de producción industriales.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3 herramientas avanzadas con ejemplos de automatización. Morfológico con seguimiento solar, TRIZ con encoder, Pugh con comparación de arquitecturas. Son reales y usados en industria.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Síntesis. El resultado es un paquete completo listo para pasar a diseño (planos, Gantt, inventario).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minutos en total. El paso 3 combina Brainstorming + SCAMPER en una misma sesión. Importante: Brainstorming primero (cantidad libre) y SCAMPER segundo (transformar la mejor idea).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El recap refuerza que 'sin nombrar componentes' es el criterio diferenciador. Spoiler a Unidad 4: diseño y planificación.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73335" y="-1001168"/>
            <a:ext cx="4409810" cy="4338728"/>
          </a:xfrm>
          <a:prstGeom prst="ellipse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6949440" y="-640080"/>
            <a:ext cx="3657600" cy="3657600"/>
          </a:xfrm>
          <a:prstGeom prst="ellipse">
            <a:avLst/>
          </a:prstGeom>
          <a:solidFill>
            <a:srgbClr val="00C896">
              <a:alpha val="1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A"/>
                </a:solidFill>
              </a:rPr>
              <a:t>UNIDAD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</a:rPr>
              <a:t>Del problema técnico</a:t>
            </a:r>
            <a:endParaRPr lang="en-US" sz="5000"/>
          </a:p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</a:rPr>
              <a:t>a la solución.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896"/>
                </a:solidFill>
              </a:rPr>
              <a:t>Enunciar · Definir objetivos · Idear soluciones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BAA"/>
                </a:solidFill>
              </a:rPr>
              <a:t>Taller de Proyecto · 1er y 2do año · Electromecánica · Robótica · 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463040" cy="54864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630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E2A"/>
                </a:solidFill>
              </a:rPr>
              <a:t>¿Dónde estamos?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BAA"/>
                </a:solidFill>
              </a:rPr>
              <a:t>Cerramos la etapa de análisis. Esta unidad es el puente hacia el diseño.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7A8BAA"/>
          </a:solidFill>
          <a:ln w="19050">
            <a:solidFill>
              <a:srgbClr val="7A8B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2A"/>
                </a:solidFill>
              </a:rPr>
              <a:t>Problema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0E2A"/>
                </a:solidFill>
              </a:rPr>
              <a:t>vago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0E2A"/>
                </a:solidFill>
              </a:rPr>
              <a:t>✓ visto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645920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1792224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00D4FF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1792224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2A"/>
                </a:solidFill>
              </a:rPr>
              <a:t>Preguntas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0E2A"/>
                </a:solidFill>
              </a:rPr>
              <a:t>disparadoras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92224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0E2A"/>
                </a:solidFill>
              </a:rPr>
              <a:t>✓ visto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72384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3218688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3218688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2A"/>
                </a:solidFill>
              </a:rPr>
              <a:t>Problema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0E2A"/>
                </a:solidFill>
              </a:rPr>
              <a:t>técnico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18688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A5E"/>
                </a:solidFill>
              </a:rPr>
              <a:t>● ahora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98848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4645152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4645152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2A"/>
                </a:solidFill>
              </a:rPr>
              <a:t>Objetivos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A5E"/>
                </a:solidFill>
              </a:rPr>
              <a:t>● ahora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6071616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6071616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2A"/>
                </a:solidFill>
              </a:rPr>
              <a:t>Solución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71616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A5E"/>
                </a:solidFill>
              </a:rPr>
              <a:t>● ahora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51776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7498080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7A8B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7498080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8BAA"/>
                </a:solidFill>
              </a:rPr>
              <a:t>Diseño 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7A8BAA"/>
                </a:solidFill>
              </a:rPr>
              <a:t>construcción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0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8BAA"/>
                </a:solidFill>
              </a:rPr>
              <a:t>próximo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3A5C"/>
                </a:solidFill>
              </a:rPr>
              <a:t>En esta unidad trabajamos 3 cosas: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180" y="30632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9B59B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461772" y="3264408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461772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2870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</a:rPr>
              <a:t>Enunciar el problema técnico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" y="3813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5C"/>
                </a:solidFill>
              </a:rPr>
              <a:t>Con precisión profesional, sin presuponer la solución.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23260" y="30632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FFB8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4" name="Shape 32"/>
          <p:cNvSpPr/>
          <p:nvPr/>
        </p:nvSpPr>
        <p:spPr>
          <a:xfrm>
            <a:off x="3387852" y="3264408"/>
            <a:ext cx="457200" cy="45720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3387852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95478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</a:rPr>
              <a:t>Definir objetivos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06140" y="3813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5C"/>
                </a:solidFill>
              </a:rPr>
              <a:t>Medibles y verificables. Marco SMART.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49340" y="30632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9" name="Shape 37"/>
          <p:cNvSpPr/>
          <p:nvPr/>
        </p:nvSpPr>
        <p:spPr>
          <a:xfrm>
            <a:off x="6313932" y="3264408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6313932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3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88086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</a:rPr>
              <a:t>Idear soluciones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32220" y="3813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5C"/>
                </a:solidFill>
              </a:rPr>
              <a:t>Brainstorming + SCAMPER antes de elegir.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B59B6"/>
                </a:solidFill>
              </a:rPr>
              <a:t>Enunciar el problema técnico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DF5"/>
                </a:solidFill>
              </a:rPr>
              <a:t>Ya saben construir el enunciado con las 4 componentes. Ahora lo hacemos con criterio profesional.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914400"/>
          </a:xfrm>
          <a:prstGeom prst="roundRect">
            <a:avLst>
              <a:gd name="adj" fmla="val 12000"/>
            </a:avLst>
          </a:prstGeom>
          <a:solidFill>
            <a:srgbClr val="1A2550"/>
          </a:solidFill>
          <a:ln w="25400">
            <a:solidFill>
              <a:srgbClr val="FFB8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⚠  LA REGLA DE ORO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</a:rPr>
              <a:t>Un buen enunciado describe el problema, </a:t>
            </a:r>
            <a:r>
              <a:rPr lang="en-US" sz="1400" b="1" dirty="0">
                <a:solidFill>
                  <a:srgbClr val="FFB800"/>
                </a:solidFill>
              </a:rPr>
              <a:t>NO la solución.</a:t>
            </a:r>
            <a:r>
              <a:rPr lang="en-US" sz="1400" dirty="0">
                <a:solidFill>
                  <a:srgbClr val="E8EDF5"/>
                </a:solidFill>
              </a:rPr>
              <a:t>  Si ya menciona el dispositivo o sistema, cerrás posibilidades antes de explorar.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131B3A"/>
          </a:solidFill>
          <a:ln w="1905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6A"/>
                </a:solidFill>
              </a:rPr>
              <a:t>✗  PRESUPONE LA SOLUCIÓN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DF5"/>
                </a:solidFill>
              </a:rPr>
              <a:t>"Necesitamos instalar un ventilador con sensor DHT22 controlado por Arduino en la sala de servidores."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AA"/>
                </a:solidFill>
              </a:rPr>
              <a:t>El sistema ya está elegido. ¿Y si la mejor solución era refrigeración líquida, o reubicar los racks? Nunca lo vas a saber.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33172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131B3A"/>
          </a:solidFill>
          <a:ln w="190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84632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DESCRIBE EL PROBLEMA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788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DF5"/>
                </a:solidFill>
              </a:rPr>
              <a:t>"La temperatura en la sala de servidores supera los 28 °C por más de 15 minutos, generando apagado térmico de equipos."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703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AA"/>
                </a:solidFill>
              </a:rPr>
              <a:t>Deja abierto el espacio: refrigeración activa, pasiva, reubicación de equipos, aislación, gestión de carga. Todo sigue en juego.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0E2A"/>
                </a:solidFill>
              </a:rPr>
              <a:t>¿Cómo sé que mi enunciado está bien?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BAA"/>
                </a:solidFill>
              </a:rPr>
              <a:t>5 preguntas de control antes de darlo por cerrado.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6510">
            <a:solidFill>
              <a:srgbClr val="00D4FF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822960" y="1289304"/>
            <a:ext cx="365760" cy="3657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22960" y="1289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21615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E2A"/>
                </a:solidFill>
              </a:rPr>
              <a:t>¿Tiene las 4 componentes?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0" y="1216152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Contexto, variable, punto de quiebre y efecto no deseado — los cuatro presentes.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83664"/>
            <a:ext cx="7863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6510">
            <a:solidFill>
              <a:srgbClr val="FFB80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822960" y="2029968"/>
            <a:ext cx="365760" cy="36576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8229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195681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E2A"/>
                </a:solidFill>
              </a:rPr>
              <a:t>¿Es una sola oración?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0" y="1956816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Sin 'y' que una dos problemas distintos. Un enunciado, un problema.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24328"/>
            <a:ext cx="7863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6510">
            <a:solidFill>
              <a:srgbClr val="9B59B6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822960" y="2770632"/>
            <a:ext cx="365760" cy="36576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2296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6974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E2A"/>
                </a:solidFill>
              </a:rPr>
              <a:t>¿Evita adjetivos subjetivos?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0" y="269748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Sin 'mucho', 'grave', 'excesivo'. Solo magnitudes medibles con instrumento.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64992"/>
            <a:ext cx="7863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6510">
            <a:solidFill>
              <a:srgbClr val="FF4D6A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822960" y="3511296"/>
            <a:ext cx="365760" cy="365760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82296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4381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E2A"/>
                </a:solidFill>
              </a:rPr>
              <a:t>¿NO presupone la solución?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0" y="343814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No nombra Arduino, sensor, actuador ni ningún componente. Solo describe qué pasa.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105656"/>
            <a:ext cx="7863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6510">
            <a:solidFill>
              <a:srgbClr val="00C896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822960" y="4251960"/>
            <a:ext cx="365760" cy="3657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82296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41788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E2A"/>
                </a:solidFill>
              </a:rPr>
              <a:t>¿Se puede verificar?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389120" y="4178808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Un técnico externo podría medir si el problema existe con un instrumento real.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A"/>
                </a:solidFill>
              </a:rPr>
              <a:t>PARTE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800"/>
                </a:solidFill>
              </a:rPr>
              <a:t>Definir los objetivos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DF5"/>
                </a:solidFill>
              </a:rPr>
              <a:t>Antes de escribir objetivos, hay que distinguir tres conceptos que los principiantes confunden.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" y="128016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131B3A"/>
          </a:solidFill>
          <a:ln w="2286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554480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7180" y="2194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</a:rPr>
              <a:t>FUNCIÓN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34340" y="2560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EDF5"/>
                </a:solidFill>
              </a:rPr>
              <a:t>¿Qué debe hacer?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006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A"/>
                </a:solidFill>
              </a:rPr>
              <a:t>El propósito del sistema. Lo que tiene que lograr.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" y="365760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571500" y="365760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EDF5"/>
                </a:solidFill>
              </a:rPr>
              <a:t>'El sistema de control debe mantener el motor dentro de su rango de operación seguro.'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23260" y="128016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131B3A"/>
          </a:solidFill>
          <a:ln w="22860">
            <a:solidFill>
              <a:srgbClr val="FFB8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554480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23260" y="2194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800"/>
                </a:solidFill>
              </a:rPr>
              <a:t>OBJETIVO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360420" y="2560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EDF5"/>
                </a:solidFill>
              </a:rPr>
              <a:t>¿Qué optimizás?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0614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A"/>
                </a:solidFill>
              </a:rPr>
              <a:t>Una magnitud a maximizar o minimizar. Siempre medible.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06140" y="365760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5"/>
          <p:cNvSpPr/>
          <p:nvPr/>
        </p:nvSpPr>
        <p:spPr>
          <a:xfrm>
            <a:off x="3497580" y="365760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EDF5"/>
                </a:solidFill>
              </a:rPr>
              <a:t>'Minimizar el tiempo de respuesta ante una falla de temperatura del motor.'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49340" y="128016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131B3A"/>
          </a:solidFill>
          <a:ln w="22860">
            <a:solidFill>
              <a:srgbClr val="FF4D6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1554480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49340" y="2194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4D6A"/>
                </a:solidFill>
              </a:rPr>
              <a:t>RESTRICCIÓN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286500" y="2560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EDF5"/>
                </a:solidFill>
              </a:rPr>
              <a:t>¿Qué límite no cruzás?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3222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A"/>
                </a:solidFill>
              </a:rPr>
              <a:t>Un límite que la solución no puede violar bajo ninguna condición.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332220" y="3657600"/>
            <a:ext cx="2331720" cy="621792"/>
          </a:xfrm>
          <a:prstGeom prst="roundRect">
            <a:avLst>
              <a:gd name="adj" fmla="val 10294"/>
            </a:avLst>
          </a:prstGeom>
          <a:solidFill>
            <a:srgbClr val="FF4D6A">
              <a:alpha val="12000"/>
            </a:srgbClr>
          </a:solidFill>
          <a:ln w="12700">
            <a:solidFill>
              <a:srgbClr val="FF4D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1"/>
          <p:cNvSpPr/>
          <p:nvPr/>
        </p:nvSpPr>
        <p:spPr>
          <a:xfrm>
            <a:off x="6423660" y="365760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EDF5"/>
                </a:solidFill>
              </a:rPr>
              <a:t>'El costo total de los componentes no debe superar $85.000.'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E2A"/>
                </a:solidFill>
              </a:rPr>
              <a:t>Objetivos SMART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BAA"/>
                </a:solidFill>
              </a:rPr>
              <a:t>Un objetivo bien escrito cumple estas 5 condiciones. Es el estándar en ingeniería.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00D4FF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777240" y="119786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77240" y="1197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</a:rPr>
              <a:t>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Específico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Apunta a una sola magnitud concreta. No 'el sistema funcione bien' — sí 'la corriente de arranque del motor'.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78638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FFB80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777240" y="188366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77724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</a:rPr>
              <a:t>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</a:rPr>
              <a:t>Medible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Tiene un número o condición verificable con un instrumento. Voltímetro, tacómetro, termómetro, encoder.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78638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00C896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777240" y="256946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777240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2468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Alcanzable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24688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Posible con los componentes, el presupuesto y el tiempo disponibles en el taller.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154680"/>
            <a:ext cx="78638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9B59B6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777240" y="325526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777240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</a:rPr>
              <a:t>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</a:rPr>
              <a:t>Relevante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1546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Resuelve directamente una parte del problema técnico enunciado. No un objetivo de adorno.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78638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FF4D6A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777240" y="394106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77724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</a:rPr>
              <a:t>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6A"/>
                </a:solidFill>
              </a:rPr>
              <a:t>Temporal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8404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Tiene un plazo de verificación. 'Al finalizar la fase de pruebas' o 'dentro de los 5 seg de detectada la falla'.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800"/>
                </a:solidFill>
              </a:rPr>
              <a:t>Un objetivo, dos versiones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EDF5"/>
                </a:solidFill>
              </a:rPr>
              <a:t>El mismo objetivo para un sistema de detección de fallas en una faja transportadora.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131B3A"/>
          </a:solidFill>
          <a:ln w="1905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6A"/>
                </a:solidFill>
              </a:rPr>
              <a:t>✗  VAGO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8EDF5"/>
                </a:solidFill>
              </a:rPr>
              <a:t>"Que el motor de la faja no se sobrecaliente y el sistema lo detecte rápido."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AA"/>
                </a:solidFill>
              </a:rPr>
              <a:t>¿Cuánto es 'rápido'? ¿Qué temperatura es 'sobrecalentamiento'? ¿Qué instrumento lo verifica? No cumple ningún criterio SMART.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600200"/>
          </a:xfrm>
          <a:prstGeom prst="roundRect">
            <a:avLst>
              <a:gd name="adj" fmla="val 6857"/>
            </a:avLst>
          </a:prstGeom>
          <a:solidFill>
            <a:srgbClr val="131B3A"/>
          </a:solidFill>
          <a:ln w="190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SMART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1576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DF5"/>
                </a:solidFill>
              </a:rPr>
              <a:t>"Detectar cuando la temperatura de la carcasa del motor supere los 72 °C (medida con termocupla tipo K) y enviar una señal de corte al variador de frecuencia en menos de 500 ms."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2699309" cy="292608"/>
          </a:xfrm>
          <a:prstGeom prst="roundRect">
            <a:avLst>
              <a:gd name="adj" fmla="val 50000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40080" y="3502152"/>
            <a:ext cx="26993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DF5"/>
                </a:solidFill>
              </a:rPr>
              <a:t>Específico: carcasa del motor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6549" y="3502152"/>
            <a:ext cx="2699309" cy="292608"/>
          </a:xfrm>
          <a:prstGeom prst="roundRect">
            <a:avLst>
              <a:gd name="adj" fmla="val 50000"/>
            </a:avLst>
          </a:prstGeom>
          <a:solidFill>
            <a:srgbClr val="FFB800">
              <a:alpha val="15000"/>
            </a:srgbClr>
          </a:solidFill>
          <a:ln w="12700">
            <a:solidFill>
              <a:srgbClr val="FFB8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3476549" y="3502152"/>
            <a:ext cx="26993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DF5"/>
                </a:solidFill>
              </a:rPr>
              <a:t>Medible: 72 °C / termocupla 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13018" y="3502152"/>
            <a:ext cx="1814170" cy="292608"/>
          </a:xfrm>
          <a:prstGeom prst="roundRect">
            <a:avLst>
              <a:gd name="adj" fmla="val 50000"/>
            </a:avLst>
          </a:prstGeom>
          <a:solidFill>
            <a:srgbClr val="FF4D6A">
              <a:alpha val="15000"/>
            </a:srgbClr>
          </a:solidFill>
          <a:ln w="12700">
            <a:solidFill>
              <a:srgbClr val="FF4D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6313018" y="3502152"/>
            <a:ext cx="1814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DF5"/>
                </a:solidFill>
              </a:rPr>
              <a:t>Temporal: &lt; 500 ms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05072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1A2550"/>
          </a:solidFill>
          <a:ln w="12700">
            <a:solidFill>
              <a:srgbClr val="FFB8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640080" y="400507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</a:rPr>
              <a:t>💡  Truco: </a:t>
            </a:r>
            <a:r>
              <a:rPr lang="en-US" sz="1200" dirty="0">
                <a:solidFill>
                  <a:srgbClr val="E8EDF5"/>
                </a:solidFill>
              </a:rPr>
              <a:t>un objetivo de ingeniería arranca con verbo de acción — detectar, activar, cortar, medir, controlar, reducir, aislar.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A"/>
                </a:solidFill>
              </a:rPr>
              <a:t>PARTE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96"/>
                </a:solidFill>
              </a:rPr>
              <a:t>Idear las soluciones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DF5"/>
                </a:solidFill>
              </a:rPr>
              <a:t>Ya tenés el problema y los objetivos. Ahora generás ideas — muchas, antes de elegir una.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1051560"/>
          </a:xfrm>
          <a:prstGeom prst="roundRect">
            <a:avLst>
              <a:gd name="adj" fmla="val 10435"/>
            </a:avLst>
          </a:prstGeom>
          <a:solidFill>
            <a:srgbClr val="1A2550"/>
          </a:solidFill>
          <a:ln w="2540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⚡  LA REGLA DE ORO DE LA IDEACIÓN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</a:rPr>
              <a:t>Primero generás, después evaluás. </a:t>
            </a:r>
            <a:r>
              <a:rPr lang="en-US" sz="1400" dirty="0">
                <a:solidFill>
                  <a:srgbClr val="E8EDF5"/>
                </a:solidFill>
              </a:rPr>
              <a:t>No juzgues las ideas mientras las creás. Un ingeniero que corta ideas prematuramente es un ingeniero que pierde soluciones.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131B3A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974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2724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FASE DIVERGENTE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3246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Abrir. Generar la mayor cantidad posible de ideas de solución. Sin filtrar, sin criticar. Todo vale.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0D4FF"/>
                </a:solidFill>
              </a:rPr>
              <a:t>Herramientas: Brainstorming · SCAMPER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251460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131B3A"/>
          </a:solidFill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974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2724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</a:rPr>
              <a:t>FASE CONVERGENTE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92040" y="3246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Cerrar. Evaluar las ideas contra los objetivos y elegir la mejor. Ahora sí, con criterio técnico.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920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FB800"/>
                </a:solidFill>
              </a:rPr>
              <a:t>Herramientas: Matriz de Pugh (avanzado)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2A"/>
                </a:solidFill>
              </a:rPr>
              <a:t>HERRAMIENTA FUNDAMENTAL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834640" y="201168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E2A"/>
                </a:solidFill>
              </a:rPr>
              <a:t>Brainstorming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AA"/>
                </a:solidFill>
              </a:rPr>
              <a:t>Generar la mayor cantidad de ideas de solución en equipo, sin juzgar ninguna. La técnica más simple y la más productiva.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LAS 4 REGLAS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9050">
            <a:solidFill>
              <a:srgbClr val="00D4FF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594360" y="1645920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</a:rPr>
              <a:t>Cantidad sobre calidad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194767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5C"/>
                </a:solidFill>
              </a:rPr>
              <a:t>15 ideas mediocres valen más que 3 buenas. Cuantas más generes, más probable es que aparezca la solución óptima.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9050">
            <a:solidFill>
              <a:srgbClr val="00C896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4800600" y="1645920"/>
            <a:ext cx="384048" cy="38404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8006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85232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96"/>
                </a:solidFill>
              </a:rPr>
              <a:t>Prohibido criticar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85232" y="194767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5C"/>
                </a:solidFill>
              </a:rPr>
              <a:t>Ni 'eso no funciona con un Arduino', ni 'es muy caro'. Toda crítica mata ideas antes de que maduren.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9050">
            <a:solidFill>
              <a:srgbClr val="FFB80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594360" y="2834640"/>
            <a:ext cx="384048" cy="38404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59436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28163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00"/>
                </a:solidFill>
              </a:rPr>
              <a:t>Bienvenidas las locuras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78992" y="313639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5C"/>
                </a:solidFill>
              </a:rPr>
              <a:t>'¿Y si usamos superconductores?' A veces la idea imposible abre el camino a una posible. Anotá todo.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69748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4800600" y="2834640"/>
            <a:ext cx="384048" cy="38404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8006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A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85232" y="28163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59B6"/>
                </a:solidFill>
              </a:rPr>
              <a:t>Combiná y mejorá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285232" y="313639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5C"/>
                </a:solidFill>
              </a:rPr>
              <a:t>Tomá la idea de detección óptica de otro y combinala con tu idea de relay. El resultado puede ser mejor que ambas.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133088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0A0E2A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640080" y="4133088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</a:rPr>
              <a:t>⏱  En práctica: </a:t>
            </a:r>
            <a:r>
              <a:rPr lang="en-US" sz="1150" dirty="0">
                <a:solidFill>
                  <a:srgbClr val="E8EDF5"/>
                </a:solidFill>
              </a:rPr>
              <a:t>10 min, un anotador por equipo, meta de 15 ideas mínimo. Después de la lista: recién ahí evaluamos.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2A"/>
                </a:solidFill>
              </a:rPr>
              <a:t>HERRAMIENTA FUNDAMENTAL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834640" y="201168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SCAMPER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DF5"/>
                </a:solidFill>
              </a:rPr>
              <a:t>7 gatillos mentales para transformar una idea técnica existente en una nueva. Cuando el brainstorming se traba, SCAMPER destraba.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484632"/>
          </a:xfrm>
          <a:prstGeom prst="roundRect">
            <a:avLst>
              <a:gd name="adj" fmla="val 13208"/>
            </a:avLst>
          </a:prstGeom>
          <a:solidFill>
            <a:srgbClr val="131B3A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207008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</a:rPr>
              <a:t>Sustituir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1207008"/>
            <a:ext cx="5577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</a:rPr>
              <a:t>¿Qué componente, material o tecnología puedo reemplazar por otro equivalente o mejor?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41932"/>
            <a:ext cx="8229600" cy="484632"/>
          </a:xfrm>
          <a:prstGeom prst="roundRect">
            <a:avLst>
              <a:gd name="adj" fmla="val 13208"/>
            </a:avLst>
          </a:prstGeom>
          <a:solidFill>
            <a:srgbClr val="131B3A"/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548640" y="18150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548640" y="1815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1741932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96"/>
                </a:solidFill>
              </a:rPr>
              <a:t>Combinar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26080" y="1741932"/>
            <a:ext cx="5577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</a:rPr>
              <a:t>¿Qué dos funciones o módulos puedo unir en un solo sistema integrado?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76856"/>
            <a:ext cx="8229600" cy="484632"/>
          </a:xfrm>
          <a:prstGeom prst="roundRect">
            <a:avLst>
              <a:gd name="adj" fmla="val 13208"/>
            </a:avLst>
          </a:prstGeom>
          <a:solidFill>
            <a:srgbClr val="131B3A"/>
          </a:solidFill>
          <a:ln w="12700">
            <a:solidFill>
              <a:srgbClr val="FFB8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548640" y="235000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54864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2276856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00"/>
                </a:solidFill>
              </a:rPr>
              <a:t>Adaptar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26080" y="2276856"/>
            <a:ext cx="5577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</a:rPr>
              <a:t>¿Qué solución de otro campo de la ingeniería puedo traer a este problema?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11780"/>
            <a:ext cx="8229600" cy="484632"/>
          </a:xfrm>
          <a:prstGeom prst="roundRect">
            <a:avLst>
              <a:gd name="adj" fmla="val 13208"/>
            </a:avLst>
          </a:prstGeom>
          <a:solidFill>
            <a:srgbClr val="131B3A"/>
          </a:solidFill>
          <a:ln w="12700">
            <a:solidFill>
              <a:srgbClr val="9B59B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548640" y="288493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548640" y="28849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2811780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59B6"/>
                </a:solidFill>
              </a:rPr>
              <a:t>Modificar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926080" y="2811780"/>
            <a:ext cx="5577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</a:rPr>
              <a:t>¿Qué parámetro puedo cambiar: frecuencia, voltaje, dimensión, velocidad, rango?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46704"/>
            <a:ext cx="8229600" cy="484632"/>
          </a:xfrm>
          <a:prstGeom prst="roundRect">
            <a:avLst>
              <a:gd name="adj" fmla="val 13208"/>
            </a:avLst>
          </a:prstGeom>
          <a:solidFill>
            <a:srgbClr val="131B3A"/>
          </a:solidFill>
          <a:ln w="12700">
            <a:solidFill>
              <a:srgbClr val="FF4D6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548640" y="34198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548640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51560" y="3346704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D6A"/>
                </a:solidFill>
              </a:rPr>
              <a:t>Poner otro uso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926080" y="3346704"/>
            <a:ext cx="5577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</a:rPr>
              <a:t>¿Este componente o sistema puede resolver también otro problema del mismo proyecto?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881628"/>
            <a:ext cx="8229600" cy="484632"/>
          </a:xfrm>
          <a:prstGeom prst="roundRect">
            <a:avLst>
              <a:gd name="adj" fmla="val 13208"/>
            </a:avLst>
          </a:prstGeom>
          <a:solidFill>
            <a:srgbClr val="131B3A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Shape 30"/>
          <p:cNvSpPr/>
          <p:nvPr/>
        </p:nvSpPr>
        <p:spPr>
          <a:xfrm>
            <a:off x="548640" y="39547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548640" y="39547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51560" y="3881628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</a:rPr>
              <a:t>Eliminar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926080" y="3881628"/>
            <a:ext cx="5577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</a:rPr>
              <a:t>¿Qué parte puedo quitar, simplificar o hacer más liviano sin perder la función?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416552"/>
            <a:ext cx="8229600" cy="484632"/>
          </a:xfrm>
          <a:prstGeom prst="roundRect">
            <a:avLst>
              <a:gd name="adj" fmla="val 13208"/>
            </a:avLst>
          </a:prstGeom>
          <a:solidFill>
            <a:srgbClr val="131B3A"/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Shape 35"/>
          <p:cNvSpPr/>
          <p:nvPr/>
        </p:nvSpPr>
        <p:spPr>
          <a:xfrm>
            <a:off x="548640" y="448970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548640" y="4489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51560" y="4416552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96"/>
                </a:solidFill>
              </a:rPr>
              <a:t>Reordenar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2926080" y="4416552"/>
            <a:ext cx="5577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</a:rPr>
              <a:t>¿Qué pasa si invierto el flujo de señal, el orden de etapas o la lógica de control?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0E2A"/>
                </a:solidFill>
              </a:rPr>
              <a:t>SCAMPER en acción — contexto real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BAA"/>
                </a:solidFill>
              </a:rPr>
              <a:t>Idea de partida: brazo robótico con sensor de color TCS3200 para clasificar residuos en 3 contenedores.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00D4FF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548640" y="113385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48640" y="113385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05156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Sustituir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88029" y="1051560"/>
            <a:ext cx="649877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Reemplazar el TCS3200 por una cámara + visión artificial (OpenCV) — más versátil, detecta forma y no solo </a:t>
            </a:r>
            <a:r>
              <a:rPr lang="en-US" sz="1100">
                <a:solidFill>
                  <a:srgbClr val="2E3A5C"/>
                </a:solidFill>
              </a:rPr>
              <a:t>color.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00C896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548640" y="168249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548640" y="168249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160020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Combinar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88029" y="1600200"/>
            <a:ext cx="649877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Combinar el brazo con un conveyor de velocidad variable: el brazo clasifica mientras la cinta regula el </a:t>
            </a:r>
            <a:r>
              <a:rPr lang="en-US" sz="1100">
                <a:solidFill>
                  <a:srgbClr val="2E3A5C"/>
                </a:solidFill>
              </a:rPr>
              <a:t>flujo.</a:t>
            </a:r>
          </a:p>
          <a:p>
            <a:pPr>
              <a:lnSpc>
                <a:spcPct val="150000"/>
              </a:lnSpc>
            </a:pPr>
            <a:r>
              <a:rPr lang="es-AR" sz="800"/>
              <a:t>Un </a:t>
            </a:r>
            <a:r>
              <a:rPr lang="es-AR" sz="800" b="1"/>
              <a:t>conveyor</a:t>
            </a:r>
            <a:r>
              <a:rPr lang="es-AR" sz="800"/>
              <a:t> (o </a:t>
            </a:r>
            <a:r>
              <a:rPr lang="es-AR" sz="800" b="1"/>
              <a:t>transportador</a:t>
            </a:r>
            <a:r>
              <a:rPr lang="es-AR" sz="800"/>
              <a:t>) es un sistema mecánico utilizado para mover materiales de un lugar a otro de forma automática y continua.</a:t>
            </a:r>
            <a:endParaRPr lang="en-US" sz="80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82296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FFB800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548640" y="223113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548640" y="22311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214884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Adaptar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88029" y="2148840"/>
            <a:ext cx="649877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Adaptar la lógica de detección de los robots Pick &amp; Place industriales (Fanuc, KUKA) — ángulo de agarre por cámara.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82296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9B59B6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548640" y="277977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48640" y="277977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269748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</a:rPr>
              <a:t>Modificar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88029" y="2697480"/>
            <a:ext cx="649877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Aumentar el rango del sensor a IR: detectar materiales opacos y translúcidos que el TCS3200 no diferencia.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2296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FF4D6A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548640" y="332841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548640" y="332841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24128" y="324612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6A"/>
                </a:solidFill>
              </a:rPr>
              <a:t>Poner otro uso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88029" y="3246120"/>
            <a:ext cx="649877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El mismo brazo puede hacer control de calidad dimensional (medir con sensor ultrasónico si una pieza entra en tolerancia).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00D4FF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548640" y="387705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548640" y="387705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4128" y="379476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Eliminar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88029" y="3794760"/>
            <a:ext cx="649877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Eliminar el brazo: usar solo deflectores actuados por servomotores — más simple, más rápido, menos puntos de falla.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343400"/>
            <a:ext cx="822960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00C896">
                <a:alpha val="65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5" name="Shape 33"/>
          <p:cNvSpPr/>
          <p:nvPr/>
        </p:nvSpPr>
        <p:spPr>
          <a:xfrm>
            <a:off x="548640" y="442569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548640" y="442569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A"/>
                </a:solidFill>
              </a:rPr>
              <a:t>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24128" y="434340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Reordenar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88029" y="4343400"/>
            <a:ext cx="649877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C"/>
                </a:solidFill>
              </a:rPr>
              <a:t>Invertir el flujo: en vez de mover el residuo al contenedor, mover el contenedor correcto debajo del punto de descarte.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 QUERÉS IR MÁS ALLÁ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108960" y="20116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9B59B6"/>
                </a:solidFill>
              </a:rPr>
              <a:t>Herramientas para avanzar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DF5"/>
                </a:solidFill>
              </a:rPr>
              <a:t>No son obligatorias, pero si el proyecto lo pide — o si ya manejás Brainstorming y SCAMPER — acá está el siguiente nivel.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743200" cy="3337560"/>
          </a:xfrm>
          <a:prstGeom prst="roundRect">
            <a:avLst>
              <a:gd name="adj" fmla="val 4000"/>
            </a:avLst>
          </a:prstGeom>
          <a:solidFill>
            <a:srgbClr val="131B3A"/>
          </a:solidFill>
          <a:ln w="2032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3560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417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Análisis Morfológico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BAA"/>
                </a:solidFill>
              </a:rPr>
              <a:t>La Caja de Zwicky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22199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Descomponés el sistema en subsistemas y generás opciones para cada uno. Al combinarlos, explorás TODAS las arquitecturas posibles.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520440"/>
            <a:ext cx="2377440" cy="932688"/>
          </a:xfrm>
          <a:prstGeom prst="roundRect">
            <a:avLst>
              <a:gd name="adj" fmla="val 6863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658368" y="3566160"/>
            <a:ext cx="21579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DF5"/>
                </a:solidFill>
              </a:rPr>
              <a:t>Sistema de seguimiento solar → (motor: DC / paso a paso / servo) × (sensor: LDR / encoder / GPS) × (control: Arduino / PLC / Raspberry)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1234440"/>
            <a:ext cx="2743200" cy="3337560"/>
          </a:xfrm>
          <a:prstGeom prst="roundRect">
            <a:avLst>
              <a:gd name="adj" fmla="val 4000"/>
            </a:avLst>
          </a:prstGeom>
          <a:solidFill>
            <a:srgbClr val="131B3A"/>
          </a:solidFill>
          <a:ln w="20320">
            <a:solidFill>
              <a:srgbClr val="FFB8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3560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417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</a:rPr>
              <a:t>TRIZ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2900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BAA"/>
                </a:solidFill>
              </a:rPr>
              <a:t>40 principios de invención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29000" y="222199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Cuando dos requisitos se contradicen (liviano pero resistente, preciso pero barato), TRIZ tiene principios catalogados de patentes para resolver ese conflicto exacto.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429000" y="3520440"/>
            <a:ext cx="2377440" cy="932688"/>
          </a:xfrm>
          <a:prstGeom prst="roundRect">
            <a:avLst>
              <a:gd name="adj" fmla="val 6863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5"/>
          <p:cNvSpPr/>
          <p:nvPr/>
        </p:nvSpPr>
        <p:spPr>
          <a:xfrm>
            <a:off x="3538728" y="3566160"/>
            <a:ext cx="21579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DF5"/>
                </a:solidFill>
              </a:rPr>
              <a:t>'Quiero alta precisión del encoder pero bajo costo' → TRIZ: principio de 'daño previo' o 'otro punto de vista'.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26480" y="1234440"/>
            <a:ext cx="2743200" cy="3337560"/>
          </a:xfrm>
          <a:prstGeom prst="roundRect">
            <a:avLst>
              <a:gd name="adj" fmla="val 4000"/>
            </a:avLst>
          </a:prstGeom>
          <a:solidFill>
            <a:srgbClr val="131B3A"/>
          </a:solidFill>
          <a:ln w="2032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435608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12280" y="1417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Matriz de Pugh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0936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BAA"/>
                </a:solidFill>
              </a:rPr>
              <a:t>Para converger, no para crear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309360" y="222199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Puntuás cada idea contra tus objetivos SMART en una tabla. Convierte la elección de diseño en algo objetivo y defendible ante el jurado.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309360" y="3520440"/>
            <a:ext cx="2377440" cy="932688"/>
          </a:xfrm>
          <a:prstGeom prst="roundRect">
            <a:avLst>
              <a:gd name="adj" fmla="val 6863"/>
            </a:avLst>
          </a:prstGeom>
          <a:solidFill>
            <a:srgbClr val="00C896">
              <a:alpha val="12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1"/>
          <p:cNvSpPr/>
          <p:nvPr/>
        </p:nvSpPr>
        <p:spPr>
          <a:xfrm>
            <a:off x="6419088" y="3566160"/>
            <a:ext cx="21579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DF5"/>
                </a:solidFill>
              </a:rPr>
              <a:t>5 arquitecturas × 4 criterios (costo, precisión, robustez, complejidad) → puntaje total → decisión de diseño.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E2A"/>
                </a:solidFill>
              </a:rPr>
              <a:t>El flujo completo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BAA"/>
                </a:solidFill>
              </a:rPr>
              <a:t>Así se conecta todo lo que vimos en esta unidad.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1460" y="1371600"/>
            <a:ext cx="19202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164592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B59B6"/>
                </a:solidFill>
              </a:rPr>
              <a:t>PROBLEMA TÉCNICO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8862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A5C"/>
                </a:solidFill>
              </a:rPr>
              <a:t>Enunciado claro, sin presuponer dispositivos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71700" y="2286000"/>
            <a:ext cx="320040" cy="0"/>
          </a:xfrm>
          <a:prstGeom prst="line">
            <a:avLst/>
          </a:prstGeom>
          <a:noFill/>
          <a:ln w="31750">
            <a:solidFill>
              <a:srgbClr val="9B59B6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6"/>
          <p:cNvSpPr/>
          <p:nvPr/>
        </p:nvSpPr>
        <p:spPr>
          <a:xfrm>
            <a:off x="2491740" y="1371600"/>
            <a:ext cx="19202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FFB8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828" y="1645920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8318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B800"/>
                </a:solidFill>
              </a:rPr>
              <a:t>OBJETIVOS SMART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62890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A5C"/>
                </a:solidFill>
              </a:rPr>
              <a:t>Qué lograr, medible con instrumento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411980" y="2286000"/>
            <a:ext cx="320040" cy="0"/>
          </a:xfrm>
          <a:prstGeom prst="line">
            <a:avLst/>
          </a:prstGeom>
          <a:noFill/>
          <a:ln w="31750">
            <a:solidFill>
              <a:srgbClr val="FFB80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0"/>
          <p:cNvSpPr/>
          <p:nvPr/>
        </p:nvSpPr>
        <p:spPr>
          <a:xfrm>
            <a:off x="4732020" y="1371600"/>
            <a:ext cx="19202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108" y="1645920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2346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D4FF"/>
                </a:solidFill>
              </a:rPr>
              <a:t>IDEACIÓN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86918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A5C"/>
                </a:solidFill>
              </a:rPr>
              <a:t>Brainstorming + SCAMPER (divergir)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652260" y="2286000"/>
            <a:ext cx="32004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4"/>
          <p:cNvSpPr/>
          <p:nvPr/>
        </p:nvSpPr>
        <p:spPr>
          <a:xfrm>
            <a:off x="6972300" y="1371600"/>
            <a:ext cx="19202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388" y="1645920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6374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896"/>
                </a:solidFill>
              </a:rPr>
              <a:t>ELECCIÓN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10946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3A5C"/>
                </a:solidFill>
              </a:rPr>
              <a:t>Evaluar contra objetivos (converger)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0A0E2A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Text 18"/>
          <p:cNvSpPr/>
          <p:nvPr/>
        </p:nvSpPr>
        <p:spPr>
          <a:xfrm>
            <a:off x="685800" y="3566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Al terminar: </a:t>
            </a:r>
            <a:r>
              <a:rPr lang="en-US" sz="1300" dirty="0">
                <a:solidFill>
                  <a:srgbClr val="E8EDF5"/>
                </a:solidFill>
              </a:rPr>
              <a:t>tenés un problema técnico sin presuponer dispositivos, objetivos medibles con instrumento, y una solución elegida con criterio técnico. </a:t>
            </a:r>
            <a:r>
              <a:rPr lang="en-US" sz="1300" b="1" dirty="0">
                <a:solidFill>
                  <a:srgbClr val="00C896"/>
                </a:solidFill>
              </a:rPr>
              <a:t>Listo para diseñar.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A"/>
                </a:solidFill>
              </a:rPr>
              <a:t>EJERCICIO GRUPAL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20116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C896"/>
                </a:solidFill>
              </a:rPr>
              <a:t>Ahora les toca a ustedes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DF5"/>
                </a:solidFill>
              </a:rPr>
              <a:t>Tomen el problema técnico de su proyecto y recorran las 3 partes de esta unidad.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31B3A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59B6"/>
                </a:solidFill>
              </a:rPr>
              <a:t>Revisen su enunciado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0440" y="1417320"/>
            <a:ext cx="822960" cy="292608"/>
          </a:xfrm>
          <a:prstGeom prst="roundRect">
            <a:avLst>
              <a:gd name="adj" fmla="val 43750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52044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DF5"/>
                </a:solidFill>
              </a:rPr>
              <a:t>⏱ 10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88720" y="1801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Pásenlo por las 5 preguntas. ¿Nombra Arduino, sensor o actuador? Si sí → reescribir.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31B3A"/>
          </a:solidFill>
          <a:ln w="19050">
            <a:solidFill>
              <a:srgbClr val="FFB8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4828032" y="1417320"/>
            <a:ext cx="457200" cy="45720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82803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00"/>
                </a:solidFill>
              </a:rPr>
              <a:t>Escriban 3 objetivos SMART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26680" y="1417320"/>
            <a:ext cx="822960" cy="292608"/>
          </a:xfrm>
          <a:prstGeom prst="roundRect">
            <a:avLst>
              <a:gd name="adj" fmla="val 43750"/>
            </a:avLst>
          </a:prstGeom>
          <a:solidFill>
            <a:srgbClr val="FFB800">
              <a:alpha val="18000"/>
            </a:srgbClr>
          </a:solidFill>
          <a:ln w="12700">
            <a:solidFill>
              <a:srgbClr val="FFB8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772668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DF5"/>
                </a:solidFill>
              </a:rPr>
              <a:t>⏱ 15 min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94960" y="1801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Con verbo de acción, magnitud medible y forma de verificación. Distingan función, objetivo y restricción.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816352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31B3A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621792" y="2999232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62179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2980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</a:rPr>
              <a:t>Generen 10+ ideas (Brainstorm + SCAMPER)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20440" y="2999232"/>
            <a:ext cx="822960" cy="292608"/>
          </a:xfrm>
          <a:prstGeom prst="roundRect">
            <a:avLst>
              <a:gd name="adj" fmla="val 43750"/>
            </a:avLst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3520440" y="29992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DF5"/>
                </a:solidFill>
              </a:rPr>
              <a:t>⏱ 20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Brainstorming primero (15 ideas mínimo). Después apliquen SCAMPER a la mejor idea que surgió.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816352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31B3A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8" name="Shape 26"/>
          <p:cNvSpPr/>
          <p:nvPr/>
        </p:nvSpPr>
        <p:spPr>
          <a:xfrm>
            <a:off x="4828032" y="2999232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482803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A"/>
                </a:solidFill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94960" y="2980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96"/>
                </a:solidFill>
              </a:rPr>
              <a:t>Elijan una solución y justifíquenla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26680" y="2999232"/>
            <a:ext cx="822960" cy="292608"/>
          </a:xfrm>
          <a:prstGeom prst="roundRect">
            <a:avLst>
              <a:gd name="adj" fmla="val 43750"/>
            </a:avLst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7726680" y="29992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EDF5"/>
                </a:solidFill>
              </a:rPr>
              <a:t>⏱ 10 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0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¿Cuál resuelve mejor los objetivos SMART del paso 2? Justifiquen técnicamente la elección.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¿Qué logramos?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131B3A"/>
          </a:solidFill>
          <a:ln w="1651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58368" y="1243584"/>
            <a:ext cx="256032" cy="25603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658368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A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</a:rPr>
              <a:t>Enunciamos el problema sin nombrar componentes ni soluciones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09928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131B3A"/>
          </a:solidFill>
          <a:ln w="1651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658368" y="1810512"/>
            <a:ext cx="256032" cy="256032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58368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A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709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</a:rPr>
              <a:t>Definimos objetivos medibles con instrumento real (SMART)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76856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131B3A"/>
          </a:solidFill>
          <a:ln w="1651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658368" y="2377440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58368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A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2768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</a:rPr>
              <a:t>Generamos ideas con Brainstorming + SCAMPER en contexto técnico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43784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131B3A"/>
          </a:solidFill>
          <a:ln w="1651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658368" y="2944368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658368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A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8437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</a:rPr>
              <a:t>Conocimos Morfológico, TRIZ y Pugh para cuando el proyecto lo pida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371600"/>
            <a:ext cx="2834640" cy="2743200"/>
          </a:xfrm>
          <a:prstGeom prst="roundRect">
            <a:avLst>
              <a:gd name="adj" fmla="val 4667"/>
            </a:avLst>
          </a:prstGeom>
          <a:solidFill>
            <a:srgbClr val="131B3A"/>
          </a:solidFill>
          <a:ln w="22860">
            <a:solidFill>
              <a:srgbClr val="00C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6126480" y="1536192"/>
            <a:ext cx="2468880" cy="365760"/>
          </a:xfrm>
          <a:prstGeom prst="roundRect">
            <a:avLst>
              <a:gd name="adj" fmla="val 17500"/>
            </a:avLst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6126480" y="15361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A"/>
                </a:solidFill>
              </a:rPr>
              <a:t>🔮  LO QUE VIENE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AA"/>
                </a:solidFill>
              </a:rPr>
              <a:t>Unidad 4: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377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</a:rPr>
              <a:t>Planificación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</a:rPr>
              <a:t>y Diseño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26480" y="3246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EDF5"/>
                </a:solidFill>
              </a:rPr>
              <a:t>Gantt · Diagramas de proceso · Croquis · Planos · Inventario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96"/>
                </a:solidFill>
              </a:rPr>
              <a:t>Ya sabés QUÉ resolver y CON QUÉ principio. Ahora toca planificar CÓMO construirlo.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2379</Words>
  <Application>Microsoft Office PowerPoint</Application>
  <PresentationFormat>Presentación en pantalla (16:9)</PresentationFormat>
  <Paragraphs>270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Problema a la Solución — Taller de Proyecto</dc:title>
  <dc:subject>PptxGenJS Presentation</dc:subject>
  <dc:creator>PptxGenJS</dc:creator>
  <cp:lastModifiedBy>Pablo Martinez Roca</cp:lastModifiedBy>
  <cp:revision>3</cp:revision>
  <dcterms:created xsi:type="dcterms:W3CDTF">2026-07-06T12:13:23Z</dcterms:created>
  <dcterms:modified xsi:type="dcterms:W3CDTF">2026-07-06T17:11:47Z</dcterms:modified>
</cp:coreProperties>
</file>