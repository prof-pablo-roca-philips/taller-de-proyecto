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4. Ya tienen problema técnico, objetivos y solución elegida (Unidad 3). Ahora: metodología de trabajo en equipo, MVP, planificación temporal, y de la idea al plano completo con inventario y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análisis y solución ya vistos (U1-U3). Esta unidad cubre 3 bloques: metodología, diseño técnico, factibilidad. Después viene Unidad 5: materiales y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mapa se muestra completo antes de empezar cualquier cosa. Los 5 procesos son Unidad 4 (diseño+factibilidad) y Unidad 5 (materiales+construcción+validación).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 simplificado para el aula. No hace falta terminología completa (Scrum Master, Product Owner) — la idea es que trabajen en ciclos cortos con roles claros. El Kanban de 3 columnas alcanza para este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crítico para no perderse en el desarrollo. El MVP se define ANTES de bocetar y listar inventario, porque acota todo lo que sigue. Insistir: funciones extra van 'después', si sobra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simplificado a nivel escolar: filas = tareas, columnas = semanas, barras = duración. Enfatizar dependencias — una tarea no puede empezar antes de que termine la que la precede.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Tinkercad tiene 3 módulos: diseño 3D, simulación de circuitos, y codeblocks. Para este proyecto usamos el 3D (para piezas) y circuitos (para probar la lógica antes de armar físicamente).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puente para quienes no vieron programación en otra materia. No profundizar acá — mencionar la cápsula aparte para quien la necesite. Los que ya saben programar, avanzan sin detenerse.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3 vistas normalizadas + la isométrica. El plano se genera directamente desde Tinkercad exportando las vistas del modelo 3D ya construido.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despiece alimenta directamente al inventario de la próxima slide. Cada número de pieza en el despiece se convierte en una fila de la tabla de inventario.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inventario es el puente entre diseño y presupuesto. Cada fila debe poder rastrearse hasta un número del despiece.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3 (cuellos de botella) es el que más sorprende a los alumnos — no sirve de nada tener presupuesto si el componente clave tarda más que el plazo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 minutos en total. Al finalizar, cada equipo tiene: roles definidos, MVP en una oración, Gantt inicial, boceto+modelo 3D, e inventario en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Unidad 4. Todo el trabajo de diseño está completo. La Unidad 5 arranca con materiales físicos, seguridad y construcción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3657600" cy="3657600"/>
          </a:xfrm>
          <a:prstGeom prst="ellipse">
            <a:avLst/>
          </a:prstGeom>
          <a:solidFill>
            <a:srgbClr val="9B59B6">
              <a:alpha val="10000"/>
            </a:srgbClr>
          </a:solidFill>
          <a:ln w="12700">
            <a:solidFill>
              <a:srgbClr val="9B59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9B59B6">
              <a:alpha val="9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UNIDAD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Metodología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y Diseño.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59B6"/>
                </a:solidFill>
              </a:rPr>
              <a:t>De la solución elegida al plano listo para construir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A"/>
                </a:solidFill>
              </a:rPr>
              <a:t>Taller de Proyecto · 1er y 2do año · Electromecánica · Robótica ·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4630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A"/>
                </a:solidFill>
              </a:rPr>
              <a:t>¿Dónde estamos?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Ya elegimos la solución. Ahora la planificamos y la diseñamos hasta tener el plano listo para construir.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7A8BAA"/>
          </a:solidFill>
          <a:ln w="19050">
            <a:solidFill>
              <a:srgbClr val="7A8B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Análisis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del problema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E2A"/>
                </a:solidFill>
              </a:rPr>
              <a:t>✓ visto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0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92224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00C89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92224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Objetivos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solución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92224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E2A"/>
                </a:solidFill>
              </a:rPr>
              <a:t>✓ visto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72384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18688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18688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Metodología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y MVP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18688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4495"/>
                </a:solidFill>
              </a:rPr>
              <a:t>● ahora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98848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45152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Diseño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planos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4495"/>
                </a:solidFill>
              </a:rPr>
              <a:t>● ahora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71616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Presupuesto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71616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4495"/>
                </a:solidFill>
              </a:rPr>
              <a:t>● ahora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51776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7A8B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8BAA"/>
                </a:solidFill>
              </a:rPr>
              <a:t>Materiales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A8BAA"/>
                </a:solidFill>
              </a:rPr>
              <a:t>construcción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BAA"/>
                </a:solidFill>
              </a:rPr>
              <a:t>próximo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A5C"/>
                </a:solidFill>
              </a:rPr>
              <a:t>Esta unidad tiene 3 bloques: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" y="3264408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870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Metodología ágil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Scrum, roles de equipo, MVP y planificación temporal.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2326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7852" y="3264408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785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B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547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Diseño técnico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0614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Boceto, Tinkercad, planos, despiece e inventario.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4934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13932" y="3264408"/>
            <a:ext cx="457200" cy="45720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393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C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8808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Factibilidad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3222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Presupuesto, proveedores y decisión costo-tiempo.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B59B6"/>
                </a:solidFill>
              </a:rPr>
              <a:t>El mapa completo del proyecto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Antes de planificar, hay que ver todo el camino de una vez: desde la solución elegida hasta el producto terminado.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3716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131B3A"/>
          </a:solidFill>
          <a:ln w="203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554480"/>
            <a:ext cx="438912" cy="43891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" y="20848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Diseño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064" y="245059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Boceto → Tinkercad → planos → despiece → inventario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2468880"/>
            <a:ext cx="10972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03120" y="13716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131B3A"/>
          </a:solidFill>
          <a:ln w="2032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70048" y="1554480"/>
            <a:ext cx="438912" cy="43891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76272" y="20848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800"/>
                </a:solidFill>
              </a:rPr>
              <a:t>Factibilidad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94560" y="245059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Presupuesto, proveedores, decisión costo-tiempo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75888" y="2468880"/>
            <a:ext cx="109728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85616" y="13716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131B3A"/>
          </a:solidFill>
          <a:ln w="2032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52544" y="1554480"/>
            <a:ext cx="438912" cy="43891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58768" y="20848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Materiales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77056" y="245059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Herramientas, electrónica, seguridad industrial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58384" y="2468880"/>
            <a:ext cx="109728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68112" y="13716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131B3A"/>
          </a:solidFill>
          <a:ln w="2032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554480"/>
            <a:ext cx="438912" cy="43891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41264" y="20848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59B6"/>
                </a:solidFill>
              </a:rPr>
              <a:t>Construcción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59552" y="245059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Ensamblaje, control de calidad, ajustes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2468880"/>
            <a:ext cx="109728" cy="0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50608" y="1371600"/>
            <a:ext cx="1572768" cy="2194560"/>
          </a:xfrm>
          <a:prstGeom prst="roundRect">
            <a:avLst>
              <a:gd name="adj" fmla="val 5814"/>
            </a:avLst>
          </a:prstGeom>
          <a:solidFill>
            <a:srgbClr val="131B3A"/>
          </a:solidFill>
          <a:ln w="2032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17536" y="1554480"/>
            <a:ext cx="438912" cy="438912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20848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6A"/>
                </a:solidFill>
              </a:rPr>
              <a:t>Validación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42048" y="2450592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Prueba de MVP, feedback, iteración con Scrum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2550"/>
          </a:solidFill>
          <a:ln w="12700">
            <a:solidFill>
              <a:srgbClr val="9B59B6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💡  Por qué importa: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si no ves el mapa completo desde el día 1, vas a tomar decisiones de diseño que te complican la construcción semanas después.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A"/>
                </a:solidFill>
              </a:rPr>
              <a:t>Trabajar en equipo: Scrum y Sprints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La metodología ágil que organiza el trabajo en ciclos cortos, con entregas frecuentes y ajustes constantes.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032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9B6"/>
                </a:solidFill>
              </a:rPr>
              <a:t>¿Qué es un Sprint?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A5C"/>
                </a:solidFill>
              </a:rPr>
              <a:t>Un ciclo corto de trabajo (1-2 semanas) con un objetivo concreto y entregable al final. Se planifica, se ejecuta y se revisa.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1. Planificar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21488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148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2. Ejecutar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C896">
              <a:alpha val="12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32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3. Revisar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25328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4D6A">
              <a:alpha val="12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532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4. Ajustar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4206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03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7B8"/>
                </a:solidFill>
              </a:rPr>
              <a:t>Tablero Kanban simple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572768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131B3A"/>
          </a:solidFill>
          <a:ln w="15240">
            <a:solidFill>
              <a:srgbClr val="7A8B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27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Por hacer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2700">
            <a:solidFill>
              <a:srgbClr val="7A8BAA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12848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2700">
            <a:solidFill>
              <a:srgbClr val="7A8BAA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572768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131B3A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627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Haciendo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9202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212848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572768"/>
            <a:ext cx="1234440" cy="1280160"/>
          </a:xfrm>
          <a:prstGeom prst="roundRect">
            <a:avLst>
              <a:gd name="adj" fmla="val 4444"/>
            </a:avLst>
          </a:prstGeom>
          <a:solidFill>
            <a:srgbClr val="131B3A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627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Terminado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192024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2212848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Roles sugeridos en un equipo de 4-5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4048" y="345643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00D4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3511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Líder de diseño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" y="3803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Planos, boceto, CAD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05456" y="345643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96896" y="3511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800"/>
                </a:solidFill>
              </a:rPr>
              <a:t>Líder de electrónica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96896" y="3803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Sensores, Arduino, cableado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26864" y="345643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00C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18304" y="3511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Líder de construcción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18304" y="3803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Herramientas, ensamblaje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48272" y="345643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9B59B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39712" y="3511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Líder de documentación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39712" y="3803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Registro, carpeta, presentación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es un MVP?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Producto Mínimo Viable — lo mínimo que tiene que funcionar para demostrar que la solución es posible.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</a:rPr>
              <a:t>MVP no es la versión incompleta del producto. </a:t>
            </a:r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</a:rPr>
              <a:t>Es la versión más simple que ya resuelve el problema.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131B3A"/>
          </a:solidFill>
          <a:ln w="19050">
            <a:solidFill>
              <a:srgbClr val="FF4D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</a:rPr>
              <a:t>✗  NO ES UN MVP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Un prototipo con todas las funciones imaginables, cada sensor posible, la carcasa perfecta y el diseño final terminado.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A"/>
                </a:solidFill>
              </a:rPr>
              <a:t>Eso no es mínimo — es el producto final. Tomarlo como meta inicial hace que nunca termines a tiempo.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SÍ ES UN MVP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Un sensor + un actuador + la lógica mínima que demuestra que el objetivo SMART se cumple, en una estructura simple.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A"/>
                </a:solidFill>
              </a:rPr>
              <a:t>Ejemplo: para el riego automático, el MVP es sensor de humedad + bomba + Arduino. Sin app, sin pantalla, sin carcasa estética.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A"/>
                </a:solidFill>
              </a:rPr>
              <a:t>Diagrama de Gantt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La herramienta para planificar el tiempo: qué se hace, cuándo, y qué depende de qué.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77440" y="896112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S1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78777" y="896112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S2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80114" y="896112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S3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81451" y="896112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S4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82789" y="896112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S5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84126" y="896112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S6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85463" y="896112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BAA"/>
                </a:solidFill>
              </a:rPr>
              <a:t>S7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8777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0114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1451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2789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84126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5463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1143000"/>
            <a:ext cx="0" cy="2743200"/>
          </a:xfrm>
          <a:prstGeom prst="line">
            <a:avLst/>
          </a:prstGeom>
          <a:noFill/>
          <a:ln w="6350">
            <a:solidFill>
              <a:srgbClr val="E0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1887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Diseño y planos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77440" y="1243584"/>
            <a:ext cx="1802674" cy="292608"/>
          </a:xfrm>
          <a:prstGeom prst="roundRect">
            <a:avLst>
              <a:gd name="adj" fmla="val 15625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Presupuesto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78777" y="1700784"/>
            <a:ext cx="901337" cy="292608"/>
          </a:xfrm>
          <a:prstGeom prst="roundRect">
            <a:avLst>
              <a:gd name="adj" fmla="val 15625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031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Compra de materiales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80114" y="2157984"/>
            <a:ext cx="901337" cy="292608"/>
          </a:xfrm>
          <a:prstGeom prst="roundRect">
            <a:avLst>
              <a:gd name="adj" fmla="val 15625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603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Electrónica y cableado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81451" y="2615184"/>
            <a:ext cx="1802674" cy="292608"/>
          </a:xfrm>
          <a:prstGeom prst="roundRect">
            <a:avLst>
              <a:gd name="adj" fmla="val 15625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17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Ensamblaje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2789" y="3072384"/>
            <a:ext cx="1802674" cy="292608"/>
          </a:xfrm>
          <a:prstGeom prst="roundRect">
            <a:avLst>
              <a:gd name="adj" fmla="val 15625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747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Prueba del MVP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85463" y="3529584"/>
            <a:ext cx="901337" cy="292608"/>
          </a:xfrm>
          <a:prstGeom prst="roundRect">
            <a:avLst>
              <a:gd name="adj" fmla="val 15625"/>
            </a:avLst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A0E2A"/>
          </a:solidFill>
          <a:ln w="12700">
            <a:solidFill>
              <a:srgbClr val="9B59B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59B6"/>
                </a:solidFill>
              </a:rPr>
              <a:t>💡  Clave: </a:t>
            </a:r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identificá las dependencias — no podés cablear sin materiales, no podés ensamblar sin cablear. El Gantt muestra esos cuellos de botella antes de que te sorprendan.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BLOQUE 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D4FF"/>
                </a:solidFill>
              </a:rPr>
              <a:t>De la idea al modelo 3D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El camino: boceto en papel → modelo digital en Tinkercad → impresión 3D o corte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" y="1280160"/>
            <a:ext cx="2697480" cy="2103120"/>
          </a:xfrm>
          <a:prstGeom prst="roundRect">
            <a:avLst>
              <a:gd name="adj" fmla="val 6087"/>
            </a:avLst>
          </a:prstGeom>
          <a:solidFill>
            <a:srgbClr val="131B3A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508760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7180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Boceto a mano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" y="2514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Ya lo practicaron. Primera forma, proporciones, ideas rápidas sin herramientas.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94660" y="2331720"/>
            <a:ext cx="228600" cy="0"/>
          </a:xfrm>
          <a:prstGeom prst="line">
            <a:avLst/>
          </a:prstGeom>
          <a:noFill/>
          <a:ln w="2540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23260" y="1280160"/>
            <a:ext cx="2697480" cy="2103120"/>
          </a:xfrm>
          <a:prstGeom prst="roundRect">
            <a:avLst>
              <a:gd name="adj" fmla="val 6087"/>
            </a:avLst>
          </a:prstGeom>
          <a:solidFill>
            <a:srgbClr val="131B3A"/>
          </a:solidFill>
          <a:ln w="228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50876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3260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Tinkercad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0420" y="2514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Modelo 3D digital exacto. Medidas reales, simulación de circuitos con Arduino incluida.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20740" y="2331720"/>
            <a:ext cx="228600" cy="0"/>
          </a:xfrm>
          <a:prstGeom prst="line">
            <a:avLst/>
          </a:prstGeom>
          <a:noFill/>
          <a:ln w="2540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49340" y="1280160"/>
            <a:ext cx="2697480" cy="2103120"/>
          </a:xfrm>
          <a:prstGeom prst="roundRect">
            <a:avLst>
              <a:gd name="adj" fmla="val 6087"/>
            </a:avLst>
          </a:prstGeom>
          <a:solidFill>
            <a:srgbClr val="131B3A"/>
          </a:solidFill>
          <a:ln w="228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508760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9340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Salida física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86500" y="2514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Impresión 3D para piezas propias, o exportación de medidas para corte láser.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🖥  Tinkercad: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web, gratis, con simulador de circuitos Arduino incluido — podés probar tu lógica de sensor/actuador antes de tocar un cable real. Exportá a STL para imprimir en 3D.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0E2A"/>
                </a:solidFill>
              </a:rPr>
              <a:t>Un puente necesario: lógica de programación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Tinkercad ya simula código para tu circuito. Antes de seguir, un repaso mínimo de los 4 conceptos que vas a necesitar.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1430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03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8016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280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Variables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500" y="16733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Guardan un valor que cambia. Ej: la temperatura leída por el sensor.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4068" y="2624328"/>
            <a:ext cx="1746504" cy="384048"/>
          </a:xfrm>
          <a:prstGeom prst="roundRect">
            <a:avLst>
              <a:gd name="adj" fmla="val 11905"/>
            </a:avLst>
          </a:prstGeom>
          <a:solidFill>
            <a:srgbClr val="0A0E2A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624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temp = 0;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37460" y="11430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032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4620" y="128016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4620" y="1280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Condicionales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4620" y="16733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Si se cumple algo, hacé una acción. Ej: si temp &gt; 72, cortar motor.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47188" y="2624328"/>
            <a:ext cx="1746504" cy="384048"/>
          </a:xfrm>
          <a:prstGeom prst="roundRect">
            <a:avLst>
              <a:gd name="adj" fmla="val 11905"/>
            </a:avLst>
          </a:prstGeom>
          <a:solidFill>
            <a:srgbClr val="0A0E2A"/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4620" y="2624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(temp &gt; 72) {...}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40580" y="11430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032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7740" y="128016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7740" y="1280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Loops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7740" y="16733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Repetir una acción todo el tiempo. Ej: leer el sensor constantemente.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0308" y="2624328"/>
            <a:ext cx="1746504" cy="384048"/>
          </a:xfrm>
          <a:prstGeom prst="roundRect">
            <a:avLst>
              <a:gd name="adj" fmla="val 11905"/>
            </a:avLst>
          </a:prstGeom>
          <a:solidFill>
            <a:srgbClr val="0A0E2A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7740" y="2624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 {...}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43700" y="11430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032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80860" y="128016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9B59B6">
              <a:alpha val="9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0860" y="1280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Entrada / Salida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80860" y="16733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Leer un sensor o activar un actuador. Las dos operaciones básicas.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3428" y="2624328"/>
            <a:ext cx="1746504" cy="384048"/>
          </a:xfrm>
          <a:prstGeom prst="roundRect">
            <a:avLst>
              <a:gd name="adj" fmla="val 11905"/>
            </a:avLst>
          </a:prstGeom>
          <a:solidFill>
            <a:srgbClr val="0A0E2A"/>
          </a:solidFill>
          <a:ln w="12700">
            <a:solidFill>
              <a:srgbClr val="9B59B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0860" y="26243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 / Write()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A0E2A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337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📚  Si necesitás más profundidad: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existe una cápsula completa de Lógica de Programación para Arduino, con ejercicios interactivos. Consultá a tu docente si tu equipo la necesita.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Vistas técnicas y planos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Del boceto libre al plano normalizado — donde cada medida es exacta y verificable.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578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Vista de planta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71500" y="194767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Desde arriba. Muestra el largo y ancho del objeto.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746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31B3A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89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800"/>
                </a:solidFill>
              </a:rPr>
              <a:t>Vista de frente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4620" y="194767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De frente. Muestra el ancho y la altura.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058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202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Vista de perfil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77740" y="194767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Desde el costado. Muestra la profundidad y la altura.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4370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31B3A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51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59B6"/>
                </a:solidFill>
              </a:rPr>
              <a:t>Perspectiva isométrica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80860" y="194767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Vista 3D a 30°. Da una idea completa del volumen.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A2550"/>
          </a:solidFill>
          <a:ln w="1651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REGLA DE ORO DEL PLANO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Toda medida en el plano debe coincidir exactamente con el modelo digital y con el material real disponible. Un plano sin cotas (medidas) no sirve para construir — es solo una ilustración.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A"/>
                </a:solidFill>
              </a:rPr>
              <a:t>Despiece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El plano que descompone el conjunto en cada pieza individual, numerada y lista para el inventario.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846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B8"/>
                </a:solidFill>
              </a:rPr>
              <a:t>VISTA EXPLOSIONADA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600200"/>
            <a:ext cx="2560320" cy="320040"/>
          </a:xfrm>
          <a:prstGeom prst="rect">
            <a:avLst/>
          </a:prstGeom>
          <a:solidFill>
            <a:srgbClr val="E8EDF5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18488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Carcasa superior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51560" y="1755648"/>
            <a:ext cx="411480" cy="0"/>
          </a:xfrm>
          <a:prstGeom prst="line">
            <a:avLst/>
          </a:prstGeom>
          <a:noFill/>
          <a:ln w="12700">
            <a:solidFill>
              <a:srgbClr val="0097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463040" y="2057400"/>
            <a:ext cx="2560320" cy="320040"/>
          </a:xfrm>
          <a:prstGeom prst="rect">
            <a:avLst/>
          </a:prstGeom>
          <a:solidFill>
            <a:srgbClr val="E8EDF5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075688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Placa Arduino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1560" y="2212848"/>
            <a:ext cx="411480" cy="0"/>
          </a:xfrm>
          <a:prstGeom prst="line">
            <a:avLst/>
          </a:prstGeom>
          <a:noFill/>
          <a:ln w="12700">
            <a:solidFill>
              <a:srgbClr val="0097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514600"/>
            <a:ext cx="2560320" cy="320040"/>
          </a:xfrm>
          <a:prstGeom prst="rect">
            <a:avLst/>
          </a:prstGeom>
          <a:solidFill>
            <a:srgbClr val="E8EDF5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Sensor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1560" y="2670048"/>
            <a:ext cx="411480" cy="0"/>
          </a:xfrm>
          <a:prstGeom prst="line">
            <a:avLst/>
          </a:prstGeom>
          <a:noFill/>
          <a:ln w="12700">
            <a:solidFill>
              <a:srgbClr val="0097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463040" y="2971800"/>
            <a:ext cx="2560320" cy="320040"/>
          </a:xfrm>
          <a:prstGeom prst="rect">
            <a:avLst/>
          </a:prstGeom>
          <a:solidFill>
            <a:srgbClr val="E8EDF5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2990088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Carcasa base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1560" y="3127248"/>
            <a:ext cx="411480" cy="0"/>
          </a:xfrm>
          <a:prstGeom prst="line">
            <a:avLst/>
          </a:prstGeom>
          <a:noFill/>
          <a:ln w="12700">
            <a:solidFill>
              <a:srgbClr val="0097B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48640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¿Qué tiene que tener un despiece?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1554480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79008" y="14996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Cada pieza numerada, sin excepción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0" y="2011680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79008" y="1956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Referencia clara entre número y nombre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0" y="2468880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79008" y="2414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Piezas compradas y piezas fabricadas diferenciadas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0" y="2926080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79008" y="2871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Material de cada pieza especificado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0" y="3383280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79008" y="33284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Cantidad necesaria de cada una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Inventario completo y descriptivo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La lista maestra: cada pieza del despiece, con cantidad, material y origen.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143000"/>
            <a:ext cx="457200" cy="384048"/>
          </a:xfrm>
          <a:prstGeom prst="rect">
            <a:avLst/>
          </a:prstGeom>
          <a:solidFill>
            <a:srgbClr val="1A2550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43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#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63040" y="1143000"/>
            <a:ext cx="2377440" cy="384048"/>
          </a:xfrm>
          <a:prstGeom prst="rect">
            <a:avLst/>
          </a:prstGeom>
          <a:solidFill>
            <a:srgbClr val="1A2550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Pieza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0" y="1143000"/>
            <a:ext cx="2103120" cy="384048"/>
          </a:xfrm>
          <a:prstGeom prst="rect">
            <a:avLst/>
          </a:prstGeom>
          <a:solidFill>
            <a:srgbClr val="1A2550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143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Material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143000"/>
            <a:ext cx="731520" cy="384048"/>
          </a:xfrm>
          <a:prstGeom prst="rect">
            <a:avLst/>
          </a:prstGeom>
          <a:solidFill>
            <a:srgbClr val="1A2550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143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Cant.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1143000"/>
            <a:ext cx="1463040" cy="384048"/>
          </a:xfrm>
          <a:prstGeom prst="rect">
            <a:avLst/>
          </a:prstGeom>
          <a:solidFill>
            <a:srgbClr val="1A2550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143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Origen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" y="1527048"/>
            <a:ext cx="45720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5270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63040" y="1527048"/>
            <a:ext cx="237744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1527048"/>
            <a:ext cx="23774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Carcasa superior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527048"/>
            <a:ext cx="210312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527048"/>
            <a:ext cx="2103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PLA (impresión 3D)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527048"/>
            <a:ext cx="73152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270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527048"/>
            <a:ext cx="146304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27048"/>
            <a:ext cx="14630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Fabricada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1911096"/>
            <a:ext cx="45720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19110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63040" y="1911096"/>
            <a:ext cx="237744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1911096"/>
            <a:ext cx="23774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Arduino Uno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1911096"/>
            <a:ext cx="210312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1911096"/>
            <a:ext cx="2103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911096"/>
            <a:ext cx="73152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19110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1911096"/>
            <a:ext cx="146304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911096"/>
            <a:ext cx="14630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Comprada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" y="2295144"/>
            <a:ext cx="45720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22951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63040" y="2295144"/>
            <a:ext cx="237744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2295144"/>
            <a:ext cx="23774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Sensor de humedad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2295144"/>
            <a:ext cx="210312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2295144"/>
            <a:ext cx="2103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2295144"/>
            <a:ext cx="73152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22951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5120" y="2295144"/>
            <a:ext cx="146304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295144"/>
            <a:ext cx="14630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Comprada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5840" y="2679192"/>
            <a:ext cx="45720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2679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63040" y="2679192"/>
            <a:ext cx="237744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63040" y="2679192"/>
            <a:ext cx="23774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Carcasa base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0" y="2679192"/>
            <a:ext cx="210312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MDF 3mm (láser)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43600" y="2679192"/>
            <a:ext cx="73152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2679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75120" y="2679192"/>
            <a:ext cx="1463040" cy="384048"/>
          </a:xfrm>
          <a:prstGeom prst="rect">
            <a:avLst/>
          </a:prstGeom>
          <a:solidFill>
            <a:srgbClr val="1A2550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2679192"/>
            <a:ext cx="14630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Fabricada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05840" y="3063240"/>
            <a:ext cx="45720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3063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463040" y="3063240"/>
            <a:ext cx="237744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6304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Tornillo M3x10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840480" y="3063240"/>
            <a:ext cx="210312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3063240"/>
            <a:ext cx="2103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Acero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943600" y="3063240"/>
            <a:ext cx="73152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3063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6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75120" y="3063240"/>
            <a:ext cx="1463040" cy="384048"/>
          </a:xfrm>
          <a:prstGeom prst="rect">
            <a:avLst/>
          </a:prstGeom>
          <a:solidFill>
            <a:srgbClr val="131B3A"/>
          </a:solidFill>
          <a:ln w="6350">
            <a:solidFill>
              <a:srgbClr val="2A35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3063240"/>
            <a:ext cx="14630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Comprada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6510">
            <a:solidFill>
              <a:srgbClr val="9B59B6">
                <a:alpha val="7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💡  Clave: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la columna 'Origen' separa lo que hay que comprar de lo que hay que fabricar. Esto define directamente el presupuesto y el plan de compras.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BLOQUE 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20116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0E2A"/>
                </a:solidFill>
              </a:rPr>
              <a:t>Presupuesto y factibilidad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El inventario dice qué necesitás. El presupuesto dice si es viable conseguirlo a tiempo y al costo correcto.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572768" cy="23774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0704" y="1353312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1051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Investigación de mercado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¿Qué opciones existen? ¿Qué precios manejan distintos proveedores?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2377440"/>
            <a:ext cx="9144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21408" y="1188720"/>
            <a:ext cx="1572768" cy="23774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1353312"/>
            <a:ext cx="365760" cy="36576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181051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Identificación de proveedores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12848" y="24231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¿Dónde comprar cada pieza? Local, online, tiempo de entrega.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94176" y="2377440"/>
            <a:ext cx="91440" cy="0"/>
          </a:xfrm>
          <a:prstGeom prst="line">
            <a:avLst/>
          </a:prstGeom>
          <a:noFill/>
          <a:ln w="15240">
            <a:solidFill>
              <a:srgbClr val="FFB8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85616" y="1188720"/>
            <a:ext cx="1572768" cy="23774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1353312"/>
            <a:ext cx="365760" cy="36576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58768" y="181051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Análisis de cuellos de botella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77056" y="24231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¿Qué componente tarda más en llegar? Eso define tu cronograma real.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2377440"/>
            <a:ext cx="91440" cy="0"/>
          </a:xfrm>
          <a:prstGeom prst="line">
            <a:avLst/>
          </a:prstGeom>
          <a:noFill/>
          <a:ln w="15240">
            <a:solidFill>
              <a:srgbClr val="FF4D6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49824" y="1188720"/>
            <a:ext cx="1572768" cy="23774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3328" y="1353312"/>
            <a:ext cx="365760" cy="3657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22976" y="181051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Relación costo-beneficio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41264" y="24231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¿Vale la pena pagar más por algo que llega antes?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22592" y="2377440"/>
            <a:ext cx="91440" cy="0"/>
          </a:xfrm>
          <a:prstGeom prst="line">
            <a:avLst/>
          </a:prstGeom>
          <a:noFill/>
          <a:ln w="15240">
            <a:solidFill>
              <a:srgbClr val="00C89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4032" y="1188720"/>
            <a:ext cx="1572768" cy="23774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17536" y="1353312"/>
            <a:ext cx="365760" cy="36576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87184" y="181051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</a:rPr>
              <a:t>Decisión final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05472" y="24231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3A5C"/>
                </a:solidFill>
              </a:rPr>
              <a:t>Costo vs tiempo de espera. La decisión que balancea ambos.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A0E2A"/>
          </a:solidFill>
          <a:ln w="1651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⚠️  Ejemplo real: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un sensor específico puede ser el más barato pero tardar 3 semanas en llegar. Si tu proyecto tiene 2 semanas de plazo, el sensor 'más caro pero disponible ya' es la decisión correcta.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EJERCICIO GRUPAL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0116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B59B6"/>
                </a:solidFill>
              </a:rPr>
              <a:t>Ahora les toca a ustedes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Apliquen los 3 bloques de esta unidad a la solución que eligieron en la Unidad 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1B3A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1732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9B6"/>
                </a:solidFill>
              </a:rPr>
              <a:t>Definan roles y su MVP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</a:rPr>
              <a:t>⏱ 10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1801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Asignen los 4 roles de equipo. Escriban en una oración qué es el MVP de su proyecto.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1B3A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417320"/>
            <a:ext cx="457200" cy="45720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800"/>
                </a:solidFill>
              </a:rPr>
              <a:t>Armen su Gantt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26680" y="1417320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FFB800">
              <a:alpha val="18000"/>
            </a:srgbClr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</a:rPr>
              <a:t>⏱ 15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1801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Listen las tareas principales y estimen semanas. Marquen las dependencias.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297180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Bocetéen y modelen en Tinkercad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20440" y="2971800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971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</a:rPr>
              <a:t>⏱ 25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3355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Boceto a mano de su MVP, después el modelo 3D básico en Tinkercad.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788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297180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9496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96"/>
                </a:solidFill>
              </a:rPr>
              <a:t>Arranquen el inventario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26680" y="2971800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2971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</a:rPr>
              <a:t>⏱ 15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3355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Listen las piezas que necesitan, diferenciando compradas de fabricadas.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logramos?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9B59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43584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Organizamos el trabajo en equipo con Scrum y roles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FFB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709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Definimos nuestro MVP y armamos el Gantt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76856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276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Modelamos en Tinkercad y generamos planos con medidas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Armamos despiece, inventario y presupuesto viable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371600"/>
            <a:ext cx="2834640" cy="2743200"/>
          </a:xfrm>
          <a:prstGeom prst="roundRect">
            <a:avLst>
              <a:gd name="adj" fmla="val 4667"/>
            </a:avLst>
          </a:prstGeom>
          <a:solidFill>
            <a:srgbClr val="131B3A"/>
          </a:solidFill>
          <a:ln w="2286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36192"/>
            <a:ext cx="2468880" cy="365760"/>
          </a:xfrm>
          <a:prstGeom prst="roundRect">
            <a:avLst>
              <a:gd name="adj" fmla="val 17500"/>
            </a:avLst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536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🔮  LO QUE VIENE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BAA"/>
                </a:solidFill>
              </a:rPr>
              <a:t>Unidad 5: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4D6A"/>
                </a:solidFill>
              </a:rPr>
              <a:t>Materiales,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4D6A"/>
                </a:solidFill>
              </a:rPr>
              <a:t>Construcción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4D6A"/>
                </a:solidFill>
              </a:rPr>
              <a:t>y Validación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12648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Herramientas · Electrónica · Seguridad · Ensamblaje · MVP en vivo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59B6"/>
                </a:solidFill>
              </a:rPr>
              <a:t>Ya tenés el plano, el inventario y el presupuesto. Ahora vas a tocar las herramientas y construir de verdad.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y Diseño — Taller de Proyecto</dc:title>
  <dc:subject>PptxGenJS Presentation</dc:subject>
  <dc:creator>PptxGenJS</dc:creator>
  <cp:lastModifiedBy>PptxGenJS</cp:lastModifiedBy>
  <cp:revision>1</cp:revision>
  <dcterms:created xsi:type="dcterms:W3CDTF">2026-07-12T13:06:16Z</dcterms:created>
  <dcterms:modified xsi:type="dcterms:W3CDTF">2026-07-12T13:06:16Z</dcterms:modified>
</cp:coreProperties>
</file>